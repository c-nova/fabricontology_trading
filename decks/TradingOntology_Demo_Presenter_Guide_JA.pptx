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08" r:id="rId60"/>
    <p:sldId id="258" r:id="rId10"/>
    <p:sldId id="259" r:id="rId11"/>
    <p:sldId id="260" r:id="rId12"/>
    <p:sldId id="261" r:id="rId13"/>
    <p:sldId id="290" r:id="rId42"/>
    <p:sldId id="309" r:id="rId61"/>
    <p:sldId id="262" r:id="rId14"/>
    <p:sldId id="263" r:id="rId15"/>
    <p:sldId id="264" r:id="rId16"/>
    <p:sldId id="265" r:id="rId17"/>
    <p:sldId id="310" r:id="rId62"/>
    <p:sldId id="284" r:id="rId36"/>
    <p:sldId id="268" r:id="rId20"/>
    <p:sldId id="269" r:id="rId21"/>
    <p:sldId id="270" r:id="rId22"/>
    <p:sldId id="271" r:id="rId23"/>
    <p:sldId id="285" r:id="rId37"/>
    <p:sldId id="272" r:id="rId24"/>
    <p:sldId id="273" r:id="rId25"/>
    <p:sldId id="274" r:id="rId26"/>
    <p:sldId id="279" r:id="rId31"/>
    <p:sldId id="275" r:id="rId27"/>
    <p:sldId id="276" r:id="rId28"/>
    <p:sldId id="277" r:id="rId29"/>
    <p:sldId id="280" r:id="rId32"/>
    <p:sldId id="281" r:id="rId33"/>
    <p:sldId id="282" r:id="rId34"/>
    <p:sldId id="283" r:id="rId35"/>
    <p:sldId id="311" r:id="rId63"/>
    <p:sldId id="286" r:id="rId38"/>
    <p:sldId id="287" r:id="rId39"/>
    <p:sldId id="288" r:id="rId40"/>
    <p:sldId id="289" r:id="rId41"/>
    <p:sldId id="306" r:id="rId58"/>
    <p:sldId id="307" r:id="rId59"/>
    <p:sldId id="312" r:id="rId64"/>
    <p:sldId id="291" r:id="rId43"/>
    <p:sldId id="292" r:id="rId44"/>
    <p:sldId id="293" r:id="rId45"/>
    <p:sldId id="305" r:id="rId57"/>
    <p:sldId id="313" r:id="rId65"/>
    <p:sldId id="294" r:id="rId46"/>
    <p:sldId id="266" r:id="rId18"/>
    <p:sldId id="267" r:id="rId19"/>
    <p:sldId id="295" r:id="rId47"/>
    <p:sldId id="296" r:id="rId48"/>
    <p:sldId id="297" r:id="rId49"/>
    <p:sldId id="298" r:id="rId50"/>
    <p:sldId id="278" r:id="rId30"/>
    <p:sldId id="314" r:id="rId66"/>
    <p:sldId id="299" r:id="rId51"/>
    <p:sldId id="300" r:id="rId52"/>
    <p:sldId id="301" r:id="rId53"/>
    <p:sldId id="302" r:id="rId54"/>
    <p:sldId id="303" r:id="rId55"/>
    <p:sldId id="304" r:id="rId5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【操作】事前に「実演前の確認事項」のリンクで公開済みFabric Data AgentとStep03 Notebookを別タブで開きます。</a:t>
            </a:r>
          </a:p>
          <a:p>
            <a:r>
              <a:t>【避ける】実在企業の実データ、実世界の因果分析、自動の原因究明、正式な連結会計の完成版とは言いません。</a:t>
            </a:r>
          </a:p>
          <a:p>
            <a:r>
              <a:t>【つなぎ】「この順序なら、画面の移動も一度で済みます。」次のページで、この資料の章立てを確認します。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【目安】45秒。最初に、この資料の使い方を伝えます。</a:t>
            </a:r>
          </a:p>
          <a:p>
            <a:r>
              <a:t>【話す】「この資料は、デモを説明する人の準備用です。全ページを10分で見せるのではありません。実演で使うのは第3章で、前後の章は、準備と、質問への答え方です。」</a:t>
            </a:r>
          </a:p>
          <a:p>
            <a:r>
              <a:t>【指す】7つの章を上から順に指します。「使う場面」の列を見て、自分がいま使う章を選びます。</a:t>
            </a:r>
          </a:p>
          <a:p>
            <a:r>
              <a:t>【読む順】初めて読むときは、第1章から第3章までを順に読みます。経営指標になじみのない相手に説明する場合は、第2章を先に読みます。質疑の準備は第4章から、技術の質問への備えは第6章からです。</a:t>
            </a:r>
          </a:p>
          <a:p>
            <a:r>
              <a:t>【ページ番号】PowerPointのスライド番号です。各章の最初のページ（章扉）に、その章のページ一覧があります。</a:t>
            </a:r>
          </a:p>
          <a:p>
            <a:r>
              <a:t>【時間】実演の10分に使うのは第3章です。第1章は実演の前に、第2章は初めて説明する前に読みます。第4章から第7章は、質問が出たときに、必要なページだけを使います。</a:t>
            </a:r>
          </a:p>
          <a:p/>
          <a:p>
            <a:r>
              <a:t>【出典と照合先】</a:t>
            </a:r>
          </a:p>
          <a:p>
            <a:r>
              <a:t>この資料の構成（presentation/build_presenter_deck.py の CHAPTERS）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想定企業：架空の総合商社グループ」と「架空の8社を同じ尺度で比較」のページを、それぞれ20秒ほどで使います。「デモ環境」のページは、聞かれたときに使い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r>
              <a:t>【つなぎ】「最初に、このデモが想定する企業と場面を説明します。」</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【目安】準備時に60秒。ライブでは、表と右のカードを指して20秒ほどで話します（10分の進行の「0～1分」）。</a:t>
            </a:r>
          </a:p>
          <a:p>
            <a:r>
              <a:t>【話す】「今日のデモは、架空の総合商社グループです。金属、エネルギー、食品、金融の4つの事業があり、それぞれに日本の会社と米国の会社があります。全部で8社です。月次の経営会議で、全社の稼ぎが基準から動いた理由を問われた場面を想定しています。」</a:t>
            </a:r>
          </a:p>
          <a:p>
            <a:r>
              <a:t>【背景】経営会議では、全社の稼ぎ（EBITDA）が基準値から動くと、「なぜか」「どの契約が効いたか」「根拠の記録は何か」が問われます。事業、通貨、所有比率が違う会社の数字は、定義をそろえないと比べられません。根拠の確認にも、詳しい人が表をつなぎ直す手間がかかることが多い、という場面です。このデモは、その場面で、金額、つながり、根拠を同じデータから示します。</a:t>
            </a:r>
          </a:p>
          <a:p>
            <a:r>
              <a:t>【指す】表を上から順に読みます。事業ごとに、日本の会社、米国の会社の順です。次に、右上の「親会社」で、全社の管理データと、全額連結の扱いを伝えます。最後に、右下の「年間の規模」を指します。</a:t>
            </a:r>
          </a:p>
          <a:p>
            <a:r>
              <a:t>【所有比率】100%所有は4社（金属の日本、エネルギーの日本、食品の米国、金融の日本）、51%所有も4社です。国では決めていません。全8社は支配子会社なので、全額連結には100%を取り込み、所有比率を掛けた持分管理寄与は別の指標として持ちます。違いは「51%所有の金額を区別」のページで説明します。</a:t>
            </a:r>
          </a:p>
          <a:p>
            <a:r>
              <a:t>【規模】年間（2025-10-01～2026-09-30）の実績は、売上が約3,111億円、EBITDAが約448億円です。いずれも全額連結のJPYです。EBITDAはQ1の結果（447.57億円）と同じ値です。売上は保存データからの集計で、DAに聞いて確認した値ではありません。</a:t>
            </a:r>
          </a:p>
          <a:p>
            <a:r>
              <a:t>【取り扱い】銅合金、LNG、製粉用小麦、貿易金融は、このデモの設計上の取り扱いです。実際の総合商社の事業構成や規模を表すものではありません。</a:t>
            </a:r>
          </a:p>
          <a:p>
            <a:r>
              <a:t>【食品損失との関係】実演で追う食品損失（FOD_NEG）は、持分51%の日本の食品会社と、持分100%の米国の食品会社の2社に効きます（各42件、合計84件の影響明細）。そのため、全額（−1.1446億円）と持分管理（−0.8763億円）は、異なる値になります。</a:t>
            </a:r>
          </a:p>
          <a:p>
            <a:r>
              <a:t>【避ける】社名は架空で、実在の会社を指しません。「実際の総合商社の規模」「業界の標準的な利益率」とは言いません。</a:t>
            </a:r>
          </a:p>
          <a:p>
            <a:r>
              <a:t>【つなぎ】「次に、このデータが、Fabricのどこで動いているかを見ます。」</a:t>
            </a:r>
          </a:p>
          <a:p/>
          <a:p>
            <a:r>
              <a:t>【出典と照合先】</a:t>
            </a:r>
          </a:p>
          <a:p>
            <a:r>
              <a:t>config/subsidiaries.json</a:t>
            </a:r>
          </a:p>
          <a:p>
            <a:r>
              <a:t>data/demo_dataset.json:semantic_financial_metrics_daily（actual）</a:t>
            </a:r>
          </a:p>
          <a:p>
            <a:r>
              <a:t>data/demo_dataset.json:semantic_event_financial_effects（FOD_NEG）</a:t>
            </a:r>
          </a:p>
          <a:p>
            <a:r>
              <a:t>config/deployment_manifest.json:annual_actual_jpy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【目安】準備時に60秒。ライブでは使わず、「どこで動いているのか」「何が答えを出しているのか」と聞かれたときに使います。</a:t>
            </a:r>
          </a:p>
          <a:p>
            <a:r>
              <a:t>【話す】「このデモは、Fabricの1つのワークスペースで動いています。データは9つのLakehouseに置き、その上にOntologyとGraphを作ります。Data Agentが日本語の質問に答え、食品損失の経路はNotebookで図にします。」</a:t>
            </a:r>
          </a:p>
          <a:p>
            <a:r>
              <a:t>【指す】下の段から上へ、データ、意味と関係、画面の順に指します。実演で開くのは、一番上の2つの画面です。</a:t>
            </a:r>
          </a:p>
          <a:p>
            <a:r>
              <a:t>【データ】9つのLakehouse（親1、子会社8）に、物理表が95、行数が90,424あります。親は17表とショートカット8本で、SAP風の管理データ、全社の分析用の表、全社KPIを置いています。子会社は78表で、各社の原本です。詳細は第6章の「9つのLakehouseの役割分担」です。</a:t>
            </a:r>
          </a:p>
          <a:p>
            <a:r>
              <a:t>【意味と関係】Ontologyは、実体の種類が17、関係の種類が39です。データは持たず、表に対応付けます。Graphは、Ontologyの定義から作った、実体と関係のグラフです。実体の1行が1つのノード（点）、関係の1行が1本の矢印（線）になり、ノードが33,960、矢印が65,684本あります。</a:t>
            </a:r>
          </a:p>
          <a:p>
            <a:r>
              <a:t>【画面】Data Agentは公開済みで、ランタイムはPreviewです。Ontologyと親Lakehouseの表（25本）を参照し、日本語の質問に、金額と説明で答えます。Notebook（Step03）は、Graphで関係をたどり、金額をDeltaの表で照合して、食品損失の経路を図にします。実演の入口は、公開済みのFabric DAの画面です。Microsoft 365 Copilotには公開していません。</a:t>
            </a:r>
          </a:p>
          <a:p>
            <a:r>
              <a:t>【規模】期間は365日（2025-10-01～2026-09-30）です。契約は96件（各社12件）、活動は8,760件（各社1日3件。金融の2社は手数料の計上）、イベントは10件、根拠は64件、効果は1,344件です。容量はF16、ワークスペースの名前はTradingです。</a:t>
            </a:r>
          </a:p>
          <a:p>
            <a:r>
              <a:t>【避ける】「本番の基幹システムとつないでいる」とは言いません。データは架空で、為替だけが実データです。</a:t>
            </a:r>
          </a:p>
          <a:p>
            <a:r>
              <a:t>【つなぎ】「次に、8社を同じ尺度で比べるための前提を確認します。」</a:t>
            </a:r>
          </a:p>
          <a:p/>
          <a:p>
            <a:r>
              <a:t>【出典と照合先】</a:t>
            </a:r>
          </a:p>
          <a:p>
            <a:r>
              <a:t>config/deployment_manifest.json</a:t>
            </a:r>
          </a:p>
          <a:p>
            <a:r>
              <a:t>reports/cloud_validation.json</a:t>
            </a:r>
          </a:p>
          <a:p>
            <a:r>
              <a:t>reports/graph_node_counts.json</a:t>
            </a:r>
          </a:p>
          <a:p>
            <a:r>
              <a:t>reports/graph_edge_counts.json</a:t>
            </a:r>
          </a:p>
          <a:p>
            <a:r>
              <a:t>docs/architecture.md</a:t>
            </a:r>
          </a:p>
          <a:p>
            <a:r>
              <a:t>config/lakehouse_inventory.json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【目安】準備時に45秒。ライブでは、通貨と所有比率だけを20秒ほどで話します（10分の進行の「0～1分」）。</a:t>
            </a:r>
          </a:p>
          <a:p>
            <a:r>
              <a:t>【話す】「ここまでに紹介した8社を、同じ尺度で比べます。日本円とドルの会社は円にそろえ、所有比率が100%の会社と51%の会社は、全額と持分で分けて持ちます。各社の原本は別のLakehouseに残し、共通の分析用データを用意しています。」</a:t>
            </a:r>
          </a:p>
          <a:p>
            <a:r>
              <a:t>【指す】左から、通貨、所有比率、対象年度の3つのカードを指します。会社の一覧は、「想定企業：架空の総合商社グループ」のページの表です。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【つなぎ】「次に、実演の前に確認しておく環境と、製品の状態を見ます。」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【目安】60秒。「データはコピーしているのか」「全部ゼロコピーか」と聞かれたときに使います。</a:t>
            </a:r>
          </a:p>
          <a:p>
            <a:r>
              <a:t>【話す】「左が8社の原本です。上の経路は、全社分析用の表で、8社分を1つにまとめてコピーして作っています。これを実体化と呼んでいます。下の経路は、業種ごとの固有の8表です。こちらはコピーせず、ショートカットで参照するだけです。これがゼロコピーです。両者を同じものとして説明しないでください。」</a:t>
            </a:r>
          </a:p>
          <a:p>
            <a:r>
              <a:t>【用語】ゼロコピー：OneLakeのショートカットで、元の場所のデータを複製せずに、別のLakehouseから見る仕組みです。実体化：分析用に統合や集計をした表や、グラフを、データとして作って保持することです。</a:t>
            </a:r>
          </a:p>
          <a:p>
            <a:r>
              <a:t>【指す】色の凡例、左の原本（灰色）、中央の上（紫、実体化）と下（青緑、ゼロコピー）、Ontology（定義だけ）、GraphModel（紫、実体化）の順です。親LakehouseはSAP風の管理データも持ち、子会社8個と合わせて9個です。物理表95個とショートカット8個を足して物理表103個とは数えません。</a:t>
            </a:r>
          </a:p>
          <a:p>
            <a:r>
              <a:t>【Ontology】共通の実体名と関係を定義し、各表へ対応付けます。Ontology自体はデータを持たず、定義と対応付けだけで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【Q：全部ゼロコピー？】A：「いいえ。ゼロコピーは業種拡張8表のショートカットだけです。分析用の投影とGraphModelは、コピーして作っています。」</a:t>
            </a:r>
          </a:p>
          <a:p>
            <a:r>
              <a:t>【つなぎ】「ここで登場した4つの用語を食品の例に置き換えます。」</a:t>
            </a:r>
          </a:p>
          <a:p/>
          <a:p>
            <a:r>
              <a:t>【出典と照合先】</a:t>
            </a:r>
          </a:p>
          <a:p>
            <a:r>
              <a:t>docs/architecture.md:81-123</a:t>
            </a:r>
          </a:p>
          <a:p>
            <a:r>
              <a:t>config/deployment_manifest.json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全社に波及するケースも扱えるか」と聞かれたら、第4章の「全社に及ぶイベントの影響範囲」（p.35〜36）を使います。</a:t>
            </a:r>
          </a:p>
          <a:p>
            <a:r>
              <a:t>【大きく見える理由】1効果あたりの平均は、横断混乱で約202万円です。10イベントでは約136〜250万円の範囲です。合計が大きいのは、336効果に配賦されているためです（固有イベントは84効果）。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【つなぎ】「次のページは、DAの金額を照合する表です。そのあと、入力③で、食品損失がどの記録や販売活動と結び付くかを確認します。」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【目安】60秒。「経営者は、この記録から何ができるのか」と聞かれたときに使います。</a:t>
            </a:r>
          </a:p>
          <a:p>
            <a:r>
              <a:t>【話す】「この代表記録から言えるのは、いつ、どこで、何が記録され、いくらの影響が出たかまでです。原因は、この記録だけでは決められません。経営者が取れる行動は、調べる先を絞って、担当部門に事実確認を依頼するところまでです。」</a:t>
            </a:r>
          </a:p>
          <a:p>
            <a:r>
              <a:t>【わかること】2026年2月11日、日本の食品会社の外部販売、製粉用小麦（商品コードmilling_wheat）、契約SUB_FOD_JP_01_C04。観測は、温度マイナス18.0度、廃棄率3.5%です。この1効果は−3,003,488.94円（約−300万円）です。</a:t>
            </a:r>
          </a:p>
          <a:p>
            <a:r>
              <a:t>【わからないこと】許容温度や契約上の閾値は記録にありません。マイナス18度が異常かどうかは判断できず、「高温障害」「小麦が冷凍必須」といった現実世界の知識で補いません。根拠は、SIM://SUB_FOD_JP_01/FOD_NEG/operations_logという合成業務ログで、原文にSYNTHETICと書かれています。実在の監査証憑ではなく、実世界の因果の証明でもありません。代表1件だけでは、同じ事象が他の取引にも起きたかはわかりません。</a:t>
            </a:r>
          </a:p>
          <a:p>
            <a:r>
              <a:t>【取れる行動】該当の契約と活動のIDで調べる先を指名し、担当部門に事実確認を依頼できます。たとえば、温度ログ、出荷記録、クレームや保険対応の有無です（説明用の例で、このデモのデータにはありません）。影響が大きい契約の比較は、Step04で行います。</a:t>
            </a:r>
          </a:p>
          <a:p>
            <a:r>
              <a:t>【まだ取れない行動】原因の断定と、再発防止策の決定です。許容温度などの追加の記録が要ります。</a:t>
            </a:r>
          </a:p>
          <a:p>
            <a:r>
              <a:t>【ID】活動SUB_FOD_JP_01_A133_0、契約SUB_FOD_JP_01_C04、根拠SUB_FOD_JP_01_FOD_NEG_0です。長いIDは口頭で読み上げず、「食品損失の回答を読む」のページのID表を指します。</a:t>
            </a:r>
          </a:p>
          <a:p>
            <a:r>
              <a:t>【日付】イベント期間は2月9日から3月1日、代表活動と効果は2月11日です。イベント開始日と個別の効果日を同一視しません。</a:t>
            </a:r>
          </a:p>
          <a:p>
            <a:r>
              <a:t>【つなぎ】「同じ図に出てくる4つの金額は、測っている範囲が違います。」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【目安】60秒。質疑で最も間違えやすい箇所です。</a:t>
            </a:r>
          </a:p>
          <a:p>
            <a:r>
              <a:t>【話す】「4つの金額は、どれも正しい数字です。ただし、何の合計かが違います。一番外側が、その日の全8社のEBITDA。その中に日本食品会社のEBITDA。さらにその中に、食品損失の代表1効果があります。右の食品損失の全体は、代表1効果を含む84件の合計です。足したり、1つを別の1つと比べたりしません。」</a:t>
            </a:r>
          </a:p>
          <a:p>
            <a:r>
              <a:t>【指す】外側の枠から内側へ、④、③、②の順に指し、最後に右の①を指します。</a:t>
            </a:r>
          </a:p>
          <a:p>
            <a:r>
              <a:t>【金額】①FOD_NEG全体（84効果、期間全体）：-114,461,186.25円（持分管理なら-87,630,294.31円）。②代表効果SUB_FOD_JP_01_A133_0_FOD_NEG_F：-3,003,488.94円（所有比率51%、持分管理は-1,531,779.36円）。③2026-02-11の日本食品会社のactual EBITDA：+3,711,231.19円。④同日の全8社のactual EBITDA：+113,069,201.90円。</a:t>
            </a:r>
          </a:p>
          <a:p>
            <a:r>
              <a:t>【包含関係】②の押し下げは、③のactualにすでに反映されています。2026-02-11の日本食品会社には、食品損失の効果が3件あり（-3,003,488.94円、-2,466,144.46円、-1,422,653.08円）、合計は-6,892,286.48円です。損失がなければ、この日のbaselineは+10,603,517.67円で、actualは+3,711,231.19円です（差は-6,892,286.48円で、3件の合計と一致します）。③は④に含まれます。①は、②を含む84効果の合計で、期間はイベント期間（2月9日から3月1日）に広がります。</a:t>
            </a:r>
          </a:p>
          <a:p>
            <a:r>
              <a:t>【よくある読み違い】「食品損失があるので、2月11日の全社は1.13億円の損失」と言う、「-1.14億円と+1.13億円を足す」、「84効果×代表効果＝全体」と計算する。</a:t>
            </a:r>
          </a:p>
          <a:p>
            <a:r>
              <a:t>【精度】画面の億円表記は丸めています。厳密な照合には円の表示や監査JSONを使います。効果の粒度と日次の粒度では、換算の丸めに微差があり得るので、別粒度の差を機械的に不整合と断定しません。</a:t>
            </a:r>
          </a:p>
          <a:p>
            <a:r>
              <a:t>【つなぎ】「関係の取得と金額の照合を別処理にすることで、この違いを保っています（第6章）。」</a:t>
            </a:r>
          </a:p>
          <a:p/>
          <a:p>
            <a:r>
              <a:t>【出典と照合先】</a:t>
            </a:r>
          </a:p>
          <a:p>
            <a:r>
              <a:t>reports/step3_live_audit.json:exact_*</a:t>
            </a:r>
          </a:p>
          <a:p>
            <a:r>
              <a:t>data/demo_dataset.json:semantic_financial_metrics_daily、semantic_event_financial_effects（2026-02-11の照合）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【目安】60秒。「なぜGraphだけで金額を出さないのか」「図の数字はどう保証しているのか」と聞かれたときに使います。非技術者にはカードの見出しだけで足ります。</a:t>
            </a:r>
          </a:p>
          <a:p>
            <a:r>
              <a:t>【話す】「NotebookはGraphで本物の関係を読み、その84効果が、Delta側の84効果と一致するかを調べます。金額の合計は、小数を正確に扱うDeltaのDECIMALで計算します。2つが一致したときだけ、図を保存します。」</a:t>
            </a:r>
          </a:p>
          <a:p>
            <a:r>
              <a:t>【なぜ分けるか】Graphの数値は浮動小数点で、会計の合計の唯一の根拠にはしません。一方、Deltaの表は、効果、会社の日次、全社の日次を区別して、重複なく合計できます。Microsoft Learn（Ontology概要、2026-10-16更新）も、Graphは関係の経路が重要な場面のための任意の実行層で、通常の参照や集計、メトリクスは元のデータで実行できる、と説明しています。このデモの分担は、その説明に沿っています。</a:t>
            </a:r>
          </a:p>
          <a:p>
            <a:r>
              <a:t>【指す】左のGraph、右のDelta、下の一致の検査の順です。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【つなぎ】「構成の説明は以上です。新しいOntologyの機能は、第7章で説明します。」</a:t>
            </a:r>
          </a:p>
          <a:p/>
          <a:p>
            <a:r>
              <a:t>【出典と照合先】</a:t>
            </a:r>
          </a:p>
          <a:p>
            <a:r>
              <a:t>scripts/step3_food_loss_runtime.py:85-182</a:t>
            </a:r>
          </a:p>
          <a:p>
            <a:r>
              <a:t>reports/step3_live_audit.json</a:t>
            </a:r>
          </a:p>
          <a:p>
            <a:r>
              <a:t>Microsoft Learn：fabric/iq/ontology/overview（2026-10-16更新、Optional 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【つなぎ】「次に、図の矢印の意味を説明します。」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までで見せたのは、金額そのものよりも、金額の意味と、金額どうしのつながりと、根拠の記録を、質問のたびに作り直さずに使える状態です。全額と持分管理、基準値と実績の区別は、定義として決めてあります。食品損失から契約、会社、全社の指標までは、定義した関係をたどりました。答えには、根拠と契約のIDを添えています。」</a:t>
            </a:r>
          </a:p>
          <a:p>
            <a:r>
              <a:t>【指す】3つのカード。上から「ふだんの困りごと」と「このデモでは」を順に読みます。</a:t>
            </a:r>
          </a:p>
          <a:p>
            <a:r>
              <a:t>【価値の根拠】Microsoft Learn（Ontology概要、2026-10-16更新）は、Ontologyを、データの物理的な保存の形と、業務での理解の差を埋める層と説明しています。利用者ごとに、表、列、メジャー、結合を解釈する代わりに、再利用できる業務の概念と、データへの対応付けを与えます。</a:t>
            </a:r>
          </a:p>
          <a:p>
            <a:r>
              <a:t>【SQLとの比較】SQLでも同じ数値は作れます。比較が出たら、第4章の「SQLとOntologyの違い」のページを使います。OntologyだけがJOINできる、SQLでは不可能、という説明はしません。</a:t>
            </a:r>
          </a:p>
          <a:p>
            <a:r>
              <a:t>【現状】このデモでOntologyが担っているのは、実体と関係の定義（17実体、39関係）とGraphです。全額連結などの言葉の定義の多くは、いまはDAの指示文にあります。</a:t>
            </a:r>
          </a:p>
          <a:p>
            <a:r>
              <a:t>【追加の質問】時間があれば、ENE_POSの好影響と、横断2件の業種別比較を聞きます。入力文は、第3章の「4つの入力の使い分け」のページにあります。</a:t>
            </a:r>
          </a:p>
          <a:p>
            <a:r>
              <a:t>【避ける】画面操作を自動業務判断や本番会計の完成形と結び付けること。因果の証明、全面ゼロコピー、自動最新化とも言いません。</a:t>
            </a:r>
          </a:p>
          <a:p/>
          <a:p>
            <a:r>
              <a:t>【出典と照合先】</a:t>
            </a:r>
          </a:p>
          <a:p>
            <a:r>
              <a:t>docs/architecture.md:112-143</a:t>
            </a:r>
          </a:p>
          <a:p>
            <a:r>
              <a:t>reports/qa_expected_event_totals.json</a:t>
            </a:r>
          </a:p>
          <a:p>
            <a:r>
              <a:t>Microsoft Learn：fabric/iq/ontology/overview（2026-10-16更新）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【目安】60秒。実演の前に、この表で順序と代わりの手段を確認します。</a:t>
            </a:r>
          </a:p>
          <a:p>
            <a:r>
              <a:t>【使い方】PowerPointのノートペイン／発表者ツールでこのページを開きます。各入力の全文は、本編の「入力①」から「入力④」のページ（編集できる文字）と、このノートにあります。</a:t>
            </a:r>
          </a:p>
          <a:p>
            <a:r>
              <a:t>【実行順】Q1 → Q2 → Q3 → Q4。Q4はNotebookの前後どちらでも実行できます。画面の切替を減らしたい場合は、Q3の直後にDAでQ4を実行してからNotebookへ移ります。</a:t>
            </a:r>
          </a:p>
          <a:p>
            <a:r>
              <a:t>【うまくいかないとき】Q1とQ2は、グラフの崩れに対する追い指示が、各入力の参考結果のページにあります。Q3は、Notebookが動かない場合に保存済みのHTMLを使い、「保存時点の結果です」と断ります。Q4は、参考結果のページを使い、ライブの回答とは呼びません。</a:t>
            </a:r>
          </a:p>
          <a:p>
            <a:r>
              <a:t>【追加の質問】時間があれば、ENE_POSの好影響（全額+210,155,445.28円、約+2.10億円）と、CROSS_NEGとCROSS_POSの業種別の比較を聞きます。Step03はFOD_NEG専用なので、イベントIDを変えてエネルギーの図は作りません。横断2件は、primary_sector='all'を落とさずに会社の業種で分けます。負と正の時期が違うので、回復率とは説明しません。</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の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【追加A全文】</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p>
            <a:r>
              <a:t>【追加B全文】</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prompts/presenter_prompts_ja.txt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【使う場面】入力②の回答、棒グラフの数値、短いラベルとevent_idの対応を確認するとき。入力③の食品損失（FOD_NEG）も、この表の金額と一致します。</a:t>
            </a:r>
          </a:p>
          <a:p>
            <a:r>
              <a:t>【読み方】各行はeffect_idを一度だけ集計した全額JPYのdeltaです。actualに追加する金額ではありません。固有イベントは各84効果、横断イベントは各336効果、合計1,344効果です。</a:t>
            </a:r>
          </a:p>
          <a:p>
            <a:r>
              <a:t>【DAの金額が違うとき】①対象期間が2025-10-01から2026-09-30か。②全額連結か持分管理か。③primary_sector='all'の横断2件（CROSS_NEGとCROSS_POS）を除外していないか。④同じeffect_idを二重に合計していないか。この4点を順に確認しま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QLでもできる？】A：「この集計だけなら、SQLでも同じ数字を出せます。違いは、意味とつながりを一度定義して、質問やツールをまたいで使い回せることです。」詳しくは、次のページ（SQLとOntologyの違い）を使います。OntologyだけがJOINできる、とは言い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【Q：なぜマイナスの損失とプラスのKPIが同じ図に？】A：「前者はイベントの差分、後者は他の取引も含む当日の総額だからです。」詳しくは、第3章の「4つの金額は範囲が違う」を使います。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【Q：イベントのデータは社内にない？】A：「整った形では、ないのが普通です。差分の理由コメントや事故や契約の記録、業務データの異常から拾い、小さな台帳から始めます。」詳細は第5章にあります。</a:t>
            </a:r>
          </a:p>
          <a:p>
            <a:r>
              <a:t>【Q：取引先の名前は出せる？】A：「このデモのデータに取引先名はありません。契約IDで特定し、実務では取引先マスタを契約につなぎます。」</a:t>
            </a:r>
          </a:p>
          <a:p>
            <a:r>
              <a:t>【Q：日本語は公式にサポートされている？】A：「公式には、英語以外は現在サポートされていません（Microsoft Learn、2026-10-21更新）。このデモは日本語で入力し、日本語で答えが返ることを確認しています。」詳細は、第1章の「実演前の確認事項」にあります。</a:t>
            </a:r>
          </a:p>
          <a:p>
            <a:r>
              <a:t>【Q：全社に波及するケースは扱える？】A：「全社に同時に及ぶ形は扱えます。横断の2件が、8社すべてに当たります。会社から会社へ連鎖する形は、会社同士を結ぶ関係をまだ持っていないので、このデモでは扱えていません。」詳細は、p.35〜36にあります。</a:t>
            </a:r>
          </a:p>
          <a:p>
            <a:r>
              <a:t>【Q：もっとカジュアルに聞ける？】A：「短い質問でも答えられるよう、言い回しの読み替えをDAの指示文に書きました。ただし、LLMなので毎回同じ答えにはなりません。」詳細は、p.37〜38にあります。</a:t>
            </a:r>
          </a:p>
          <a:p>
            <a:r>
              <a:t>【Q：全部ゼロコピー？】A：「いいえ。ゼロコピーは業種拡張8表のショートカットです。分析用の投影とGraphModelは、コピーして作っています。」詳しくは、第6章の「ゼロコピーと実体化の使い分け」を使います。</a:t>
            </a:r>
          </a:p>
          <a:p/>
          <a:p>
            <a:r>
              <a:t>【出典と照合先】</a:t>
            </a:r>
          </a:p>
          <a:p>
            <a:r>
              <a:t>docs/architecture.md</a:t>
            </a:r>
          </a:p>
          <a:p>
            <a:r>
              <a:t>reports/step3_live_audit.json</a:t>
            </a:r>
          </a:p>
          <a:p>
            <a:r>
              <a:t>scripts/step3_food_loss_runtime.py</a:t>
            </a:r>
          </a:p>
          <a:p>
            <a:r>
              <a:t>Microsoft Learn：fabric/data-science/concept-data-agent（2026-10-21更新）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【目安】90秒。「SQLでもできるのでは」「何が違うのか」と聞かれたときに使います。</a:t>
            </a:r>
          </a:p>
          <a:p>
            <a:r>
              <a:t>【話す】「このデモの集計だけなら、SQLでも同じ数字を出せます。SQLのビューやPower BIのセマンティックモデルで、共通化することもできます。そのうえで、Ontologyが加えるのは、業務の言葉、つながり、複数のデータ元への対応付けを、ひとつの定義として持たせることです。人にも、エージェントにも、同じ定義を渡せます。」</a:t>
            </a:r>
          </a:p>
          <a:p>
            <a:r>
              <a:t>【言葉の意味】ビューやセマンティックモデルでは、意味が、列名、計算式、メジャーに持たされます。利用者は、表、列、メジャーの意味を読み解いて使います。Ontologyでは、実体、関係、ルールとして、業務の言葉で定義します。</a:t>
            </a:r>
          </a:p>
          <a:p>
            <a:r>
              <a:t>【つながり】ビュー、クエリ、セマンティックモデルのリレーションに、結合条件を書きます。表をたどる質問では、利用者やツールが、結合の意味を理解して使います。条件を誤ると、金額が二重に数えられます（このデモでも、根拠をevent_idだけで結ぶと金額が根拠件数倍になる落とし穴を、指示文に書いています）。Ontologyでは、関係に名前を付けて定義します（このデモは39種類）。</a:t>
            </a:r>
          </a:p>
          <a:p>
            <a:r>
              <a:t>【複数のデータ元】複数のデータ元をまたぐ共通化は、データ元ごと、ツールごとの作業になりやすくなります。Ontologyでは、実体の定義を、複数のデータ元の表に対応付けられます（Learn：Ontologyは、データの上の仮想的な意味と文脈の層で、データはそれぞれの元の場所にあります）。エージェントに同じ文脈を渡せますが、対応状況は、利用するエージェントごとに違います（Learn：Availability and supported functionality can vary by agent experience）。</a:t>
            </a:r>
          </a:p>
          <a:p>
            <a:r>
              <a:t>【既存のセマンティックモデルとの関係】OntologyはPower BIのセマンティックモデルから生成でき、既存のテーブル、リレーション、計算列、メジャーを引き継げます。セマンティックモデルを置き換えるものではなく、その上に業務の概念と関係を重ねる層です（Learn）。</a:t>
            </a:r>
          </a:p>
          <a:p>
            <a:r>
              <a:t>【公式の説明】Microsoft Learn（Ontology概要、2026-10-16更新）は、利用者ごとに、表、列、メジャー、結合を解釈する代わりに、再利用できる業務の概念とデータへの対応付けを与えることを、Ontologyの役割と説明しています。また、エージェントには、生のスキーマやプロンプトだけに頼らず、定義、関係、メトリック、ルール、データへの対応付けで文脈を与えられる、と説明しています。</a:t>
            </a:r>
          </a:p>
          <a:p>
            <a:r>
              <a:t>【このデモの現状】Ontologyが担っているのは、実体と関係の定義（17実体、39関係）と、そこから作ったGraphです。全額連結などの言葉の定義の多くは、いまはDAの指示文に書いてあり、Ontologyのルールへ移す余地があります（第7章）。「Ontologyが、このデモの言葉の定義をすべて担っている」とは言いません。</a:t>
            </a:r>
          </a:p>
          <a:p>
            <a:r>
              <a:t>【避ける】「SQLでは不可能」「OntologyがJOINを置き換える」と言いません。定義を直したとき、参照する側にどう反映されるかは、バインディングの再適用やグラフの更新が要る場合があります（第6章）。このデモの4つの質問だけを見れば、差は小さいと認めます。</a:t>
            </a:r>
          </a:p>
          <a:p/>
          <a:p>
            <a:r>
              <a:t>【出典と照合先】</a:t>
            </a:r>
          </a:p>
          <a:p>
            <a:r>
              <a:t>Microsoft Learn：fabric/iq/ontology/overview（2026-10-16更新）</a:t>
            </a:r>
          </a:p>
          <a:p>
            <a:r>
              <a:t>reports/ontology_runtime_current.json</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【目安】90秒。「全社に及ぶ話も扱えるのか」と聞かれたときに使います。ライブの10分には含めません。</a:t>
            </a:r>
          </a:p>
          <a:p>
            <a:r>
              <a:t>【話す】「実演で追った食品損失は、影響が2社に限られた出来事です。このデモには、全社に同時に及ぶ出来事も2件入れてあります。港の混乱と資金繰りの悪化が、業種を問わず起きた想定の『横断混乱』です。8社すべてに当たり、EBITDAを約6.8億円押し下げます。食品損失と同じ経路で、根拠から全社KPIまでたどれます。」</a:t>
            </a:r>
          </a:p>
          <a:p>
            <a:r>
              <a:t>【指す】左の表を、上から読みます。会社は2社から8社、影響明細は84件から336件に増えています。次に、右の図で、8社すべてに影響が出ている点と、各社の年間EBITDAに対する比率が約1.4〜1.6%でそろっている点を指します。</a:t>
            </a:r>
          </a:p>
          <a:p>
            <a:r>
              <a:t>【全額と持分管理】全額は、8社を100%で足した額（−6.80億円）です。持分管理は、所有比率を掛けた額（−5.16億円）で、51%所有の4社の分が小さくなるため、全額の約76%です。</a:t>
            </a:r>
          </a:p>
          <a:p>
            <a:r>
              <a:t>【年間EBITDA比】年間のEBITDA（実績、447.57億円）に対する比率です。横断混乱は−1.52%、食品損失は−0.26%で、前者は後者の約5.9倍です。ただし、横断混乱でも年間の約1.5%で、これより大きな規模の出来事は、このデモに収録していません。この割合を「小さい」「軽微」とは評価しません。重大性を判定する基準は、このデモにありません。次のページで、収録していない範囲も伝えます。</a:t>
            </a:r>
          </a:p>
          <a:p>
            <a:r>
              <a:t>【数字の出どころ】</a:t>
            </a:r>
          </a:p>
          <a:p>
            <a:r>
              <a:t>DAが返したもの：横断2件を含む全10イベントの、イベントごとの金額（横断混乱 -680,035,231.24円、横断回復 +584,435,114.92円）。さらに、2026-10-27の実測で、業種別、会社別、年間EBITDA比、最大のイベントも、公開済みDAが返しました。</a:t>
            </a:r>
          </a:p>
          <a:p>
            <a:r>
              <a:t>Graphで確認したもの：全1,344効果が、根拠から全社KPIまでの経路でたどれること。横断混乱は336件すべてです。2026-10-23のGraph更新後に確認しました。</a:t>
            </a:r>
          </a:p>
          <a:p>
            <a:r>
              <a:t>保存データから集計したもの：食品損失の年間EBITDA比（−0.26%）。DAには、年間EBITDA比を、最大のイベント（横断混乱）についてだけ聞きました。</a:t>
            </a:r>
          </a:p>
          <a:p>
            <a:r>
              <a:t>【2026-10-27の実測（修正前の8回）】公開済みDAで、チャットを空にして、1問ずつ聞きました（記録：reports/da_group_wide_2026-10-27.json）。①追加B（横断2件の業種別比較、46秒）、②横断混乱の会社別（年間EBITDA比つき、46秒）、③「全社に同時に響いたマイナスの出来事は？会社ごとにどれくらい影響した？」（49秒）、④「このデータで、グループのEBITDAにいちばん大きく響いた出来事は？年間のEBITDAの何%くらい？」（26秒）です。表の金額は、すべて保存データの集計と、小数第2位まで一致しました。③は、聞き方が短くても、横断混乱を選び、8社を返しました。④は、横断混乱の−6.80億円、年間447.57億円の−1.52%と答えました。</a:t>
            </a:r>
          </a:p>
          <a:p>
            <a:r>
              <a:t>【DAの文章の注意】表の数字は一致しましたが、表のまわりの文章には誤りが出ることがあります。追加Bの答えは、持分管理の金融と食品の大小を説明しましたが、横断混乱の値（食品−1.01億円、金融−1.00億円）と合いませんでした。会社別の答えは、DAが自分で置いた基準（1億円超、または年間EBITDA比−1.55%超）で、優先度が「高」の会社を挙げましたが、基準に当てはまる3社が漏れていました。この基準は、デモの定義ではありません。実演では、表の数字を指して説明し、補足の文章は読み上げません。</a:t>
            </a:r>
          </a:p>
          <a:p>
            <a:r>
              <a:t>【DAの経路】この日の最初の8回では、DAがOntologyの経路探索を試した6回すべてで「経路なし」が返り、答えは、Lakehouseの表へのSQLで求めたものでした。原因は、Ontologyの42のリレーションシップがすべて無効に設定されていたことです。DAに渡る文脈で、どの関係も結合条件が空欄でした。同じ日に、リレーションシップを有効にし、接続情報を再適用し、Graphを更新したあと、同じ8問を聞き直しました。経路探索を試した6回すべてで経路が見つかり（最大で6つの結合をたどる道筋）、金額は変わりませんでした（記録：reports/da_traversal_fix_2026-10-27.json）。ただし、答えは今もLakehouseの表へのSQLで求めたものです。Ontologyは、どの表をどの列で結ぶかの道筋をDAに示す役目です。「DAがGraphをたどって答えた」とは言いません。関係をたどる場面は、Step03のNotebook（Graph）で見せます。</a:t>
            </a:r>
          </a:p>
          <a:p>
            <a:r>
              <a:t>【照合用の業種別の値（億円）】横断混乱の全額：金属 −2.12、エネルギー −2.05、食品 −1.30、金融 −1.34。持分管理：金属 −1.59、エネルギー −1.55、食品 −1.01、金融 −1.00。横断回復の全額：金属 +1.84、エネルギー +1.69、食品 +1.13、金融 +1.18。持分管理：金属 +1.36、エネルギー +1.28、食品 +0.86、金融 +0.89。丸めのため、足すと合計と0.01ずれることがあります。</a:t>
            </a:r>
          </a:p>
          <a:p>
            <a:r>
              <a:t>【避ける】横断回復÷横断混乱を、回復率と呼ぶこと。別の時期に設計した、独立のイベントです。各社の年間EBITDA比がそろっているのは、データの設計によるもので、現実の波及の姿を示すものではありません。実世界の因果の証明でもありません。</a:t>
            </a:r>
          </a:p>
          <a:p>
            <a:r>
              <a:t>【つなぎ】「同時に全社へ及ぶ形は、ここまでです。次のページで、連鎖する形や、大きな規模の想定まで扱えるかを整理します。」</a:t>
            </a:r>
          </a:p>
          <a:p>
            <a:r>
              <a:t>【コピー用Q5】</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reports/qa_expected_event_totals.json</a:t>
            </a:r>
          </a:p>
          <a:p>
            <a:r>
              <a:t>reports/graph_all_event_paths.json</a:t>
            </a:r>
          </a:p>
          <a:p>
            <a:r>
              <a:t>reports/da_qa_published.json</a:t>
            </a:r>
          </a:p>
          <a:p>
            <a:r>
              <a:t>reports/da_group_wide_2026-10-27.json</a:t>
            </a:r>
          </a:p>
          <a:p>
            <a:r>
              <a:t>reports/da_traversal_fix_2026-10-27.json</a:t>
            </a:r>
          </a:p>
          <a:p>
            <a:r>
              <a:t>data/demo_dataset.json:semantic_event_financial_effects、semantic_financial_metrics_daily（actual）</a:t>
            </a:r>
          </a:p>
          <a:p>
            <a:r>
              <a:t>config/event_generation_rules.yaml:event_mix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【目安】90秒。「全社に波及するリスクも扱えるのか」「連鎖はどうなのか」と聞かれたときに使います。</a:t>
            </a:r>
          </a:p>
          <a:p>
            <a:r>
              <a:t>【話す】「『全社に波及する』には、大きく2つの形があります。1つは、港の混乱のように、全社に同時に当たる形です。これはこのデモに入っていて、食品損失と同じ経路で追えます。もう1つは、ある会社の問題が、取引を通じて別の会社に伝わる連鎖です。こちらは今のデモでは扱えていません。会社と会社を結ぶ関係を、Ontologyにまだ持っていないからです。」</a:t>
            </a:r>
          </a:p>
          <a:p>
            <a:r>
              <a:t>【指す】表を上から指します。「このデモ」の列で、扱えるのは1行目だけです。2行目以降は、足りない点を、そのまま伝えます。</a:t>
            </a:r>
          </a:p>
          <a:p>
            <a:r>
              <a:t>【連鎖が扱えない理由】Ontologyの関係は、17種類の実体の間の39種類で、会社同士を結ぶものはありません。内部取引の表（48行、24組）は親Lakehouseにあり、DAはSQLで読めますが、Ontologyの関係にはしていません。内部取引は、金融の会社とエネルギーの会社の間の2経路（日本同士、米国同士）だけで、売り手側の年間の額は約3.6億円です。横断の2件は、8社の各活動に直接配賦した記録で、1社の問題が別の社へ伝わる過程を計算したものではありません。</a:t>
            </a:r>
          </a:p>
          <a:p>
            <a:r>
              <a:t>【DAの実測：連鎖】2026-10-27に、「食品の損失が、ほかの子会社にも連鎖した影響はある？グループ内の取引を通じた影響も見たい。」と、チャットを空にして2回聞きました（100秒、62秒）。どちらも、食品以外の子会社への配賦はなく、内部取引経由の影響は定量できないと答えました。1回目は、内部取引経由の影響を「未検証」としました。2回目は、内部取引の表に活動と契約の対応がなく、食品損失の効果に結べないためと説明し、「影響なし」とは判定しませんでした。ただし、2回目は、食品以外の子会社について、対象0件、0.00億円と表に出しました。聞き手には、「データに配賦がない」という意味だと添えます。Ontologyのリレーションシップを有効にした後の聞き直し（2回、66秒、60秒）も、同じ結論でした。内部取引の表に、食品の会社の行がないためです（金融とエネルギーの組だけ）。「連鎖は起きない」とは言いません。</a:t>
            </a:r>
          </a:p>
          <a:p>
            <a:r>
              <a:t>【Microsoft Learnの記述】Graphは、複数のつながりを順にたどる問い、依存関係の分析、到達可能性、最短経路の問いに使う実行層です。集計や指標は、元のデータでの実行を続けられます（Ontology概要、2026-10-16更新）。関係型は、始点と終点の実体の種類を指定して作り、対応表で結べます（関係型の作成、2026-09-04更新）。同じ種類の実体の間（会社と会社）の関係を作れるかは、この資料では確認していません。実行する前に、Previewの画面で確認します。</a:t>
            </a:r>
          </a:p>
          <a:p>
            <a:r>
              <a:t>【連鎖を扱う場合の一案】内部取引の表を、会社と会社の関係として足し、金融の会社の問題が、取引でつながるエネルギーの会社へ及ぶ様子を、2社の小さな範囲で試します。ただし、伝わる大きさを決める規則とデータは、いまありません。関係を足すだけでは、金額は出ません。</a:t>
            </a:r>
          </a:p>
          <a:p>
            <a:r>
              <a:t>【規模】最大の横断混乱で、全額−6.80億円、年間EBITDA（実績）の約1.5%です。これより大きな規模の出来事は、収録していません。8社それぞれの年間EBITDAに対する比率は、約1.4〜1.6%でそろっています。会社ごとの差が大きい例や、より大きな規模の例を見せる場合は、影響データの追加とGraphの更新が要ります。実体や関係の種類を変える場合は、Ontologyの定義も更新します。DAに「このデータで、グループのEBITDAにいちばん大きく響いた出来事は？年間のEBITDAの何%くらい？」と聞くと、横断混乱の−6.80億円、年間447.57億円の−1.52%と答えました（2026-10-27の実測）。</a:t>
            </a:r>
          </a:p>
          <a:p>
            <a:r>
              <a:t>【もしもの試算】2026-10-27に、「もし円が10円高くなったら、グループのEBITDAはいくら変わる？」と、チャットを空にして2回聞きました（21秒、33秒）。1回目は、ドル建てEBITDAに−10円を掛けた単純な感応度で、−14.80億円と答えました（保存データからの概算と同じ値です）。2回目は、「ショック後のレートや感応度の定義がデータにないため、算定できない」と答え、ドル建てEBITDAの実績（約148百万ドル、232.88億円）だけを示しました。Ontologyのリレーションシップを有効にした後に、同じ質問をさらに2回聞くと（29秒、24秒）、2回とも−14.80億円と答えました。同じ日の4回のうち3回が数字、1回が算定不可で、答えが分かれるので、実演では使いません。聞かれたら、「このデモのDAは、記録済みのデータを集計して答えます。もしもの計算は、前提を決めて別に行います」と答えます。目安は、米国の4社のEBITDAが年間で約148百万ドル（全額で約233億円、全社の52%）なので、円高が10円進むと、換算だけで約15億円（全社の3.3%）の押し下げです。ヘッジや価格への転嫁は考慮していません。数字を出すときは「概算」と断ります。</a:t>
            </a:r>
          </a:p>
          <a:p>
            <a:r>
              <a:t>【避ける】「全社波及もすべて扱える」「連鎖も追える」と言いません。DAが答えた円高の概算を、シミュレーションの結果として紹介することも、しません。年間の約1.5%を「小さい」「軽微」と評価することも、しません（重大性を判定する基準は、このデモにありません）。「Ontologyでは連鎖を扱えない」とも言いません。会社間の関係を足せば扱える見込みはありますが、このデモでは未検証です。いずれも設計した配賦で、実世界の因果の証明ではありません。</a:t>
            </a:r>
          </a:p>
          <a:p>
            <a:r>
              <a:t>【つなぎ】「お客様のデータで連鎖を見たい場合は、会社間の取引表から、小さく始めます。進め方は、第5章にあります。」</a:t>
            </a:r>
          </a:p>
          <a:p/>
          <a:p>
            <a:r>
              <a:t>【出典と照合先】</a:t>
            </a:r>
          </a:p>
          <a:p>
            <a:r>
              <a:t>config/subsidiaries.json</a:t>
            </a:r>
          </a:p>
          <a:p>
            <a:r>
              <a:t>ontology_tmdl/entityRelationships.tmdl（会社同士の関係なし）</a:t>
            </a:r>
          </a:p>
          <a:p>
            <a:r>
              <a:t>data/demo_dataset.json:intercompany_transactions、semantic_financial_metrics_daily（actual）</a:t>
            </a:r>
          </a:p>
          <a:p>
            <a:r>
              <a:t>config/data_agent_create.json（DAが参照する表）</a:t>
            </a:r>
          </a:p>
          <a:p>
            <a:r>
              <a:t>reports/graph_all_event_paths.json</a:t>
            </a:r>
          </a:p>
          <a:p>
            <a:r>
              <a:t>reports/da_group_wide_2026-10-27.json</a:t>
            </a:r>
          </a:p>
          <a:p>
            <a:r>
              <a:t>reports/da_traversal_fix_2026-10-27.json</a:t>
            </a:r>
          </a:p>
          <a:p>
            <a:r>
              <a:t>Microsoft Learn：fabric/iq/ontology/overview（2026-10-16更新）</a:t>
            </a:r>
          </a:p>
          <a:p>
            <a:r>
              <a:t>Microsoft Learn：fabric/iq/ontology/how-to-create-relationship-types（2026-09-04更新）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【目安】60秒。実演の前日までに一度確認します。</a:t>
            </a:r>
          </a:p>
          <a:p>
            <a:r>
              <a:t>【環境の前提】Fabric Data Agentは、有料のFabric容量（F2以上）、またはPower BI Premium（P1以上）でFabricを有効にした容量が前提です（Microsoft Learn、Fabric data agent concepts、2026-10-21更新）。このデモのワークスペースの容量はF16です。管理者のテナント設定で、Copilotの利用、Azure OpenAI、Ontology（Preview）アイテムの作成を有効にします。反映まで最大1時間かかります。利用者には、DA、Ontology、Lakehouseの閲覧権限が必要です。</a:t>
            </a:r>
          </a:p>
          <a:p>
            <a:r>
              <a:t>【製品の状態】Data Agentは一般提供（GA）です。実行基盤（ランタイム）には標準（GA）とプレビューの2種類があり、このデモのDAはプレビューで動いています（Learn、Fabric data agent runtime、2026-10-22更新）。公開済みのDAは、公開した時点のランタイムで動き続けます。標準ランタイムでの動作は、このデモでは確認していません。OntologyはPreviewで、Graph（GQL）の公開APIはbetaです。</a:t>
            </a:r>
          </a:p>
          <a:p>
            <a:r>
              <a:t>【日本語】Learnは「The Fabric data agent doesn't currently support non-English languages. For optimal performance, provide questions, instructions, and example queries in English.」と記載しています（2026-10-21更新）。日本語は公式のサポート対象ではありません。このデモは、日本語で入力し、日本語で答えが返ることを、公開済みDAで確認しました。お客様には「日本語でも動作を確認しているが、公式のサポート対象ではない」と伝えます。</a:t>
            </a:r>
          </a:p>
          <a:p>
            <a:r>
              <a:t>【確認済みと保証しない範囲】確認済みなのは、公開済みDAの日本語QA、実GraphのGQL照会と金額照合、Notebookの保存出力の再表示です。保証しないのは、日本語の公式サポート、標準ランタイムで同じ結果が出ること、M365 Copilot経由で同じグラフが表示されること、正式会計と実世界の因果の証明です。</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PowerPointなど実際に使う環境で、フォント、改行、ノート表示を最終確認します。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p>
            <a:r>
              <a:t>【出典と照合先】</a:t>
            </a:r>
          </a:p>
          <a:p>
            <a:r>
              <a:t>config/deployment_manifest.json:workspace.capacity_sku、data_agent.runtime</a:t>
            </a:r>
          </a:p>
          <a:p>
            <a:r>
              <a:t>config/step3_deployment.json</a:t>
            </a:r>
          </a:p>
          <a:p>
            <a:r>
              <a:t>Microsoft Learn：fabric/data-science/concept-data-agent（2026-10-21更新）</a:t>
            </a:r>
          </a:p>
          <a:p>
            <a:r>
              <a:t>Microsoft Learn：fabric/data-science/data-agent-runtime（2026-10-22更新）</a:t>
            </a:r>
          </a:p>
          <a:p>
            <a:r>
              <a:t>Microsoft Learn：fabric/data-science/data-agent-tenant-settings、fabric/iq/ontology/overview-tenant-settings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や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も、台帳の記録だけでは、イベントが原因だと証明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【目安】60秒。「台帳には、何を書けばよいのか」と聞かれたときに使います。</a:t>
            </a:r>
          </a:p>
          <a:p>
            <a:r>
              <a:t>【話す】「イベントの台帳は、1つの出来事につき1行です。最低限必要なのは、ID、何が起きたか、期間、好影響か悪影響か、影響が及ぶ範囲の5つです。重大度や確度、担当者は、あとから足せます。」</a:t>
            </a:r>
          </a:p>
          <a:p>
            <a:r>
              <a:t>【指す】表の左から、列、入れる内容、このデモでの例（食品損失）、必須か推奨か、このデモに同じ列があるか、の順です。</a:t>
            </a:r>
          </a:p>
          <a:p>
            <a:r>
              <a:t>【例の出どころ】例の値は、このデモのリスクイベントの表（risk_events）の、FOD_NEGの行です。event_idはFOD_NEG、期間は2026-02-09から2026-03-01、severityは5、confidenceは0.95、causal_statusはdesigned_attribution_not_observational_proof、narrativeはSYNTHETIC: cold chain spoilage incidentです。</a:t>
            </a:r>
          </a:p>
          <a:p>
            <a:r>
              <a:t>【デモにない列】event_name（何が起きたかを一言で）、status（調査中、確定、終了）、owner（担当者）は、実務で足す列の例です。このデモの表にはありません。</a:t>
            </a:r>
          </a:p>
          <a:p>
            <a:r>
              <a:t>【因果の扱い】causal_statusは、因果を確認済みか、仮説か、設計上の配賦かを区別する列です。このデモの金額は設計上の配賦で、観測による因果の証明ではありません。実務でも、台帳の記録だけでは、イベントが原因だと証明できないので、この列で扱いを明示します。</a:t>
            </a:r>
          </a:p>
          <a:p>
            <a:r>
              <a:t>【横断】影響が複数の事業に及ぶ場合は、別の種類として管理せず、事業の欄（primary_sector）に、横断を意味する値を入れます。このデモは、primary_sector='all'で表しています。</a:t>
            </a:r>
          </a:p>
          <a:p>
            <a:r>
              <a:t>【つなぎ】「次のページは、影響額と根拠の台帳です。」</a:t>
            </a:r>
          </a:p>
          <a:p>
            <a:r>
              <a:t>【列名と「デモの表」の列】列名は、このデモの表（risk_events）の列名に合わせています。「デモの表：あり」は、同じ名前の列がデモの表にあることを示し、「なし」は、実務で足す列の例です。</a:t>
            </a:r>
          </a:p>
          <a:p/>
          <a:p>
            <a:r>
              <a:t>【出典と照合先】</a:t>
            </a:r>
          </a:p>
          <a:p>
            <a:r>
              <a:t>ddl/10_common_subsidiary_tables.sql:risk_events</a:t>
            </a:r>
          </a:p>
          <a:p>
            <a:r>
              <a:t>data/demo_dataset.json:semantic_risk_events（FOD_NEG）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【目安】75秒。前のページのイベントの台帳に続けて使います。</a:t>
            </a:r>
          </a:p>
          <a:p>
            <a:r>
              <a:t>【話す】「影響額の台帳は、イベントと契約の組ごとに1行です。いつの影響か、いくらか、何と比べた差か、どう推定したかを持ちます。根拠の台帳は、元の文書やログの所在を持ち、金額から元の記録までたどれるようにします。」</a:t>
            </a:r>
          </a:p>
          <a:p>
            <a:r>
              <a:t>【影響額の例】例の値は、このデモの食品損失の代表効果（effect_id SUB_FOD_JP_01_A133_0_FOD_NEG_F）です。契約SUB_FOD_JP_01_C04、効果日2026-02-11、影響額-3,003,488.94円（費用の増加3,003,488.94円で、EBITDAへの影響はマイナス）、attribution_methodはunique_event_activity_additive（イベントと活動の組ごとに1回だけ加算）です。経路は、cost、遅れは2日、減衰の半減期は7日です。</a:t>
            </a:r>
          </a:p>
          <a:p>
            <a:r>
              <a:t>【根拠の例】evidence_id SUB_FOD_JP_01_FOD_NEG_0、元の記録の所在はSIM://SUB_FOD_JP_01/FOD_NEG/operations_log、記録日は2026-02-09、種類はoperations_logです。いずれも合成データです。</a:t>
            </a:r>
          </a:p>
          <a:p>
            <a:r>
              <a:t>【デモにない列】baseline_ref（何と比べた差か。予算や見通し）と、reliability（信頼度）は、実務で足す列の例です。このデモでは、基準値（baseline）のシナリオとの差として金額を持っています。</a:t>
            </a:r>
          </a:p>
          <a:p>
            <a:r>
              <a:t>【推定の注意】実務では、影響額は推定です。方法（予算差異の配賦、前後比較など）と確度を、必ず添えます。イベントが原因だと証明するものではありません。</a:t>
            </a:r>
          </a:p>
          <a:p>
            <a:r>
              <a:t>【列名と「デモの表」の列】列名は、このデモの表（event_financial_effects、event_impact_bridge、event_evidence）の列名に合わせています。「あり」は同じ名前の列がデモの表にあること、「なし」は実務で足す列の例です。金額の列は、デモではEBITDAへの影響額（delta_ebitda_local）と通貨（currency_code）の2列です。</a:t>
            </a:r>
          </a:p>
          <a:p>
            <a:r>
              <a:t>【つなぎ】「最初から全部は不要です。必須の列から、小さく始めます。」</a:t>
            </a:r>
          </a:p>
          <a:p/>
          <a:p>
            <a:r>
              <a:t>【出典と照合先】</a:t>
            </a:r>
          </a:p>
          <a:p>
            <a:r>
              <a:t>ddl/10_common_subsidiary_tables.sql:event_financial_effects,event_impact_bridge,event_evidence</a:t>
            </a:r>
          </a:p>
          <a:p>
            <a:r>
              <a:t>data/demo_dataset.json:semantic_event_financial_effects、semantic_event_evidence、semantic_event_impact_bridge（FOD_NEG）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色は、お客様のデータに当てはめたときの整備状況です。青緑は、基幹システムや会計、契約管理に既にあることが多いデータ。赤は、多くの会社でまだ整っていないデータで、これから整備します。」</a:t>
            </a:r>
          </a:p>
          <a:p>
            <a:r>
              <a:t>【指す】上段を左から右へ（根拠、イベント、効果、日次指標、全社KPI）。次に中段（業種拡張、活動、契約）、下段（出荷、会社）の順です。各ノードの3行目は、お客様の元データの例です。</a:t>
            </a:r>
          </a:p>
          <a:p>
            <a:r>
              <a:t>【整備が必要な3つ】イベント、効果、根拠です。多くの会社には、イベントを一覧にした台帳も、イベントごとの影響額の推定も、根拠の記録を元データにつなぐ表もありません。第5章の「社内にないイベントを集める方法」と「イベントの列の例」「影響額と根拠の列の例」で、台帳の作り方を説明します。</a:t>
            </a:r>
          </a:p>
          <a:p>
            <a:r>
              <a:t>【既存のデータ】会社（会社マスタ）、契約（契約管理）、活動（受注や売上の明細）、出荷（物流の実績）、日次指標（管理会計や月次決算）、全社KPI（経営ダッシュボード）、業種拡張（現場のシステムの業種固有データ）です。元データの例は、一般的な想定で、お客様ごとに確認します。</a:t>
            </a:r>
          </a:p>
          <a:p>
            <a:r>
              <a:t>【数】実体は17種類（本体9、業種拡張8）、関係は39種類（本体15、業種拡張24）です。</a:t>
            </a:r>
          </a:p>
          <a:p>
            <a:r>
              <a:t>【色】矢印の灰色は関連、紫は影響の配賦、緑は対応と集約です。Step03の図（食品損失のDAG）と同じ色分けです。矢印の向きは関係の定義の向きで、因果の方向を証明するものではありません。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【目安】90秒。技術に詳しい方への補足です。</a:t>
            </a:r>
          </a:p>
          <a:p>
            <a:r>
              <a:t>【話す】「Ontologyの実体は、主なデータ元の1つの表の行から作ります。ほかの表は、共通の列で結んで列を足す使い方です。8社の同じ形の表を、縦に積む用途ではありません。8社の原本をそのまま使うと、同じ種類の実体を、会社ごとに別々に定義することになります。そこで3つの判断をしました。」</a:t>
            </a:r>
          </a:p>
          <a:p>
            <a:r>
              <a:t>【根拠】Microsoft Learn（Bind data、2026-10-21更新）は、実体の2つ目以降のデータ元を「副のデータ元」として追加し、主のデータ元との共通の列で関係付けて、列（プロパティ）を足すと説明しています。この構成は、2026年10月の実機確認で、実体ごとの静的なデータ元を1つにする必要があった結果です。Previewなので、将来変わる可能性があります。</a:t>
            </a:r>
          </a:p>
          <a:p>
            <a:r>
              <a:t>【判断1：8社分を親の投影表に統合】親のLakehouseのsemantic_*の表に8社分を統合し、source_lakehouse列で原本の場所を残しました。原本は子会社のLakehouseに残り、投影は分析用のコピーです。困りごとは、同じ形の表が8社に別々にあり、そのまま結ぶと「契約」の定義が8個になることでした。得られるのは、実体、関係、質問を全社で1回ずつ書けば済むことです。代償は、コピーなので原本が変わったら作り直すことです。</a:t>
            </a:r>
          </a:p>
          <a:p>
            <a:r>
              <a:t>【判断2：業種拡張は別の実体にして、ショートカットで参照】金属の純度、エネルギーの貯蔵率、食品の温度、金融のスプレッドなど、項目が業種ごとに違います。1つの表にまとめると、空欄だらけになり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1つのイベントが多くの活動に影響し、1つの活動が複数のイベントの影響を受けます。イベントと活動、効果と日次指標、日次指標と全社KPIの3本は、IDの対応を持つ表で結びます。日付だけで結ぶと、別の行どうしが結び付いて、金額が二重に数えられます。対応表の整備が要り、イベント台帳と同じ課題になり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a:p>
            <a:r>
              <a:t>Microsoft Learn：fabric/iq/ontology/how-to-bind-data（2026-10-21更新）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ルール】ビジネスルールのページ（第7章）のとおりです。DAが読むかを確認するまでは、DAの指示文と併用します。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【つなぎ】「進め方の全体は、第5章の「小さく始める」のページにまとめています。」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第7章のビジネスルール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【この章】デモの進行、想定企業、環境と、実演前に確認する事項を示します。</a:t>
            </a:r>
          </a:p>
          <a:p>
            <a:r>
              <a:t>【使う場面】実演の前</a:t>
            </a:r>
          </a:p>
          <a:p>
            <a:r>
              <a:t>【ページ】p.4〜8（5ページ）</a:t>
            </a:r>
          </a:p>
          <a:p>
            <a:r>
              <a:t>【進め方】最初に、10分の進行を確認します。続いて、デモが想定する企業と場面、Fabricの環境の構成を押さえます。さらに、8社を同じ尺度で比べる前提（8社、JPY、対象年度）と、「実演前の確認事項」（環境、製品の状態、日本語の扱い、リンク）を点検します。</a:t>
            </a:r>
          </a:p>
          <a:p>
            <a:r>
              <a:t>【所要】読むだけなら8分ほどです。確認事項は、実演の前日までに済ませます。</a:t>
            </a:r>
          </a:p>
          <a:p>
            <a:r>
              <a:t>【つなぎ】前提がそろったら、経営指標になじみのない相手に説明する場合は第2章、すぐ実演する場合は第3章へ進みます。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【この章】経営指標になじみのない相手に、EBITDAなどの意味を数値例で説明します。</a:t>
            </a:r>
          </a:p>
          <a:p>
            <a:r>
              <a:t>【使う場面】経営指標になじみのない相手に説明する前。事前学習用で、実演の10分には含めません</a:t>
            </a:r>
          </a:p>
          <a:p>
            <a:r>
              <a:t>【ページ】p.10〜13（4ページ）</a:t>
            </a:r>
          </a:p>
          <a:p>
            <a:r>
              <a:t>【進め方】EBITDA、baselineとactual、51%所有、通貨と現金の4ページです。各ページの数値例は説明用で、8社デモの集計結果ではありません。</a:t>
            </a:r>
          </a:p>
          <a:p>
            <a:r>
              <a:t>【所要】読むのに10分ほどです。実演の10分には含めず、事前学習や、相手に合わせた補足に使います。</a:t>
            </a:r>
          </a:p>
          <a:p>
            <a:r>
              <a:t>【つなぎ】相手が経営指標に詳しければ、この章は飛ばして第3章へ進みます。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【この章】4つの入力をDAに順に入れ、結果の読み方、食品損失の経路、金額の区別を示します。</a:t>
            </a:r>
          </a:p>
          <a:p>
            <a:r>
              <a:t>【使う場面】ライブの10分（Step04は時間があるときだけ）</a:t>
            </a:r>
          </a:p>
          <a:p>
            <a:r>
              <a:t>【ページ】p.15〜31（17ページ）</a:t>
            </a:r>
          </a:p>
          <a:p>
            <a:r>
              <a:t>【進め方】4つの入力を、DAに順に入れます。必須はStep01からStep03で、Step04は時間があるときだけ実行します。各入力のページに全文があり、次のページに参考結果と読み方があります。</a:t>
            </a:r>
          </a:p>
          <a:p>
            <a:r>
              <a:t>【所要】ライブは10分です。ページは、説明者が実演の前に読む順に並んでいます。</a:t>
            </a:r>
          </a:p>
          <a:p>
            <a:r>
              <a:t>【注意】参考結果のページは、保存データから作った照合用です。ライブの回答とは呼びません。</a:t>
            </a:r>
          </a:p>
          <a:p>
            <a:r>
              <a:t>【つなぎ】実演のあとに質問が出たら、第4章へ進みます。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【この章】質疑でよく出る質問への短い答え、Ontologyの価値、全社波及の扱い、カジュアルな聞き方への対応です。</a:t>
            </a:r>
          </a:p>
          <a:p>
            <a:r>
              <a:t>【使う場面】質疑のとき</a:t>
            </a:r>
          </a:p>
          <a:p>
            <a:r>
              <a:t>【ページ】p.33〜38（6ページ）</a:t>
            </a:r>
          </a:p>
          <a:p>
            <a:r>
              <a:t>【進め方】質疑でよく出る質問に、短く答えるための章です。SQLとの違いは、Ontologyの価値を問われたときに、1ページを使って説明します。全社波及の2ページは、「全社に及ぶ出来事も扱えるか」と聞かれたときに使います。カジュアルな質問の2ページは、質問の自由度を聞かれたときに使います。</a:t>
            </a:r>
          </a:p>
          <a:p>
            <a:r>
              <a:t>【所要】必要なページだけを選んで使います。</a:t>
            </a:r>
          </a:p>
          <a:p>
            <a:r>
              <a:t>【つなぎ】お客様のデータで進めたい場合は第5章、技術の詳細を聞かれたら第6章へ進みます。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【この章】お客様のデータで同じことをするときの、イベントの集め方、台帳の列、進め方です。</a:t>
            </a:r>
          </a:p>
          <a:p>
            <a:r>
              <a:t>【使う場面】お客様と次の一歩を話すとき</a:t>
            </a:r>
          </a:p>
          <a:p>
            <a:r>
              <a:t>【ページ】p.40〜43（4ページ）</a:t>
            </a:r>
          </a:p>
          <a:p>
            <a:r>
              <a:t>【進め方】お客様から「そんなデータは社内にない」と言われたときの進め方です。イベントの拾い先、台帳に持たせる列、最小の構成からの始め方を説明します。</a:t>
            </a:r>
          </a:p>
          <a:p>
            <a:r>
              <a:t>【所要】10分から15分の個別の打ち合わせを想定します。</a:t>
            </a:r>
          </a:p>
          <a:p>
            <a:r>
              <a:t>【つなぎ】どの実体が既存のデータで、どの実体が整備の対象かは、第6章の「Ontologyの全体マップ」にあります。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【この章】どのデータを、どう分け、どう結んで作ったかを説明します。</a:t>
            </a:r>
          </a:p>
          <a:p>
            <a:r>
              <a:t>【使う場面】技術の質問が出たとき</a:t>
            </a:r>
          </a:p>
          <a:p>
            <a:r>
              <a:t>【ページ】p.45〜52（8ページ）</a:t>
            </a:r>
          </a:p>
          <a:p>
            <a:r>
              <a:t>【進め方】データをどう分け、どう結んで作ったかを説明する章です。技術に詳しい相手や、実装の質問が出たときに使います。営業向けの説明では、各ページの見出しだけで足ります。</a:t>
            </a:r>
          </a:p>
          <a:p>
            <a:r>
              <a:t>【所要】ページごとに60秒から90秒です。</a:t>
            </a:r>
          </a:p>
          <a:p>
            <a:r>
              <a:t>【つなぎ】新しい機能について聞かれたら、第7章へ進みます。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【この章】新しいOntologyの機能と、入れる順番です。いずれもPreviewです。</a:t>
            </a:r>
          </a:p>
          <a:p>
            <a:r>
              <a:t>【使う場面】今後の拡張を聞かれたとき</a:t>
            </a:r>
          </a:p>
          <a:p>
            <a:r>
              <a:t>【ページ】p.54〜59（6ページ）</a:t>
            </a:r>
          </a:p>
          <a:p>
            <a:r>
              <a:t>【進め方】新しいOntologyの機能と、このデモに入れる順番を説明します。いずれもPreviewで、このデモのOntologyには、まだ入れていません。</a:t>
            </a:r>
          </a:p>
          <a:p>
            <a:r>
              <a:t>【所要】全体像の1ページと、聞かれた機能の1ページで足ります。</a:t>
            </a:r>
          </a:p>
          <a:p>
            <a:r>
              <a:t>【注意】現在の製品の挙動は、実演の前に画面で確認します。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説明者ガイド  |  営業とSE向け</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はじめに  |  資料の使い方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資料の使い方と章立て</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この資料は、デモを説明する人の準備用です。全ページを10分で見せる構成ではありません。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場面によって使う章が違うので、最初に章立てで、自分が使う章を選びます。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初めて読むときは第1章から第3章まで。質疑の準備は第4章から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TextBox 8"/>
          <p:cNvSpPr txBox="1"/>
          <p:nvPr/>
        </p:nvSpPr>
        <p:spPr>
          <a:xfrm>
            <a:off x="731520" y="2340864"/>
            <a:ext cx="82296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章</a:t>
            </a:r>
          </a:p>
        </p:txBody>
      </p:sp>
      <p:sp>
        <p:nvSpPr>
          <p:cNvPr id="10" name="TextBox 9"/>
          <p:cNvSpPr txBox="1"/>
          <p:nvPr/>
        </p:nvSpPr>
        <p:spPr>
          <a:xfrm>
            <a:off x="4663440" y="2340864"/>
            <a:ext cx="27432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内容</a:t>
            </a:r>
          </a:p>
        </p:txBody>
      </p:sp>
      <p:sp>
        <p:nvSpPr>
          <p:cNvPr id="11" name="TextBox 10"/>
          <p:cNvSpPr txBox="1"/>
          <p:nvPr/>
        </p:nvSpPr>
        <p:spPr>
          <a:xfrm>
            <a:off x="8275320" y="2340864"/>
            <a:ext cx="201168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使う場面</a:t>
            </a:r>
          </a:p>
        </p:txBody>
      </p:sp>
      <p:sp>
        <p:nvSpPr>
          <p:cNvPr id="12" name="TextBox 11"/>
          <p:cNvSpPr txBox="1"/>
          <p:nvPr/>
        </p:nvSpPr>
        <p:spPr>
          <a:xfrm>
            <a:off x="10515600" y="2340864"/>
            <a:ext cx="960120" cy="237744"/>
          </a:xfrm>
          <a:prstGeom prst="rect">
            <a:avLst/>
          </a:prstGeom>
          <a:noFill/>
        </p:spPr>
        <p:txBody>
          <a:bodyPr wrap="square" lIns="0" rIns="0" tIns="0" bIns="0">
            <a:spAutoFit/>
          </a:bodyPr>
          <a:lstStyle/>
          <a:p>
            <a:pPr algn="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ページ</a:t>
            </a:r>
          </a:p>
        </p:txBody>
      </p:sp>
      <p:sp>
        <p:nvSpPr>
          <p:cNvPr id="13" name="Rounded Rectangle 12"/>
          <p:cNvSpPr/>
          <p:nvPr/>
        </p:nvSpPr>
        <p:spPr>
          <a:xfrm>
            <a:off x="566928" y="261518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8833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第1章</a:t>
            </a:r>
          </a:p>
        </p:txBody>
      </p:sp>
      <p:sp>
        <p:nvSpPr>
          <p:cNvPr id="15" name="TextBox 14"/>
          <p:cNvSpPr txBox="1"/>
          <p:nvPr/>
        </p:nvSpPr>
        <p:spPr>
          <a:xfrm>
            <a:off x="1600200" y="268833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全体像と準備</a:t>
            </a:r>
          </a:p>
        </p:txBody>
      </p:sp>
      <p:sp>
        <p:nvSpPr>
          <p:cNvPr id="16" name="TextBox 15"/>
          <p:cNvSpPr txBox="1"/>
          <p:nvPr/>
        </p:nvSpPr>
        <p:spPr>
          <a:xfrm>
            <a:off x="4663440" y="270662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10分の進行、企業、環境、前提、確認事項</a:t>
            </a:r>
          </a:p>
        </p:txBody>
      </p:sp>
      <p:sp>
        <p:nvSpPr>
          <p:cNvPr id="17" name="TextBox 16"/>
          <p:cNvSpPr txBox="1"/>
          <p:nvPr/>
        </p:nvSpPr>
        <p:spPr>
          <a:xfrm>
            <a:off x="8275320" y="270662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実演の前</a:t>
            </a:r>
          </a:p>
        </p:txBody>
      </p:sp>
      <p:sp>
        <p:nvSpPr>
          <p:cNvPr id="18" name="TextBox 17"/>
          <p:cNvSpPr txBox="1"/>
          <p:nvPr/>
        </p:nvSpPr>
        <p:spPr>
          <a:xfrm>
            <a:off x="10515600" y="270662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p.4〜8</a:t>
            </a:r>
          </a:p>
        </p:txBody>
      </p:sp>
      <p:sp>
        <p:nvSpPr>
          <p:cNvPr id="19" name="Rounded Rectangle 18"/>
          <p:cNvSpPr/>
          <p:nvPr/>
        </p:nvSpPr>
        <p:spPr>
          <a:xfrm>
            <a:off x="566928" y="309067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6382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第2章</a:t>
            </a:r>
          </a:p>
        </p:txBody>
      </p:sp>
      <p:sp>
        <p:nvSpPr>
          <p:cNvPr id="21" name="TextBox 20"/>
          <p:cNvSpPr txBox="1"/>
          <p:nvPr/>
        </p:nvSpPr>
        <p:spPr>
          <a:xfrm>
            <a:off x="1600200" y="316382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営業向け基礎</a:t>
            </a:r>
          </a:p>
        </p:txBody>
      </p:sp>
      <p:sp>
        <p:nvSpPr>
          <p:cNvPr id="22" name="TextBox 21"/>
          <p:cNvSpPr txBox="1"/>
          <p:nvPr/>
        </p:nvSpPr>
        <p:spPr>
          <a:xfrm>
            <a:off x="4663440" y="318211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EBITDA、baselineとactual、51%所有、通貨と現金</a:t>
            </a:r>
          </a:p>
        </p:txBody>
      </p:sp>
      <p:sp>
        <p:nvSpPr>
          <p:cNvPr id="23" name="TextBox 22"/>
          <p:cNvSpPr txBox="1"/>
          <p:nvPr/>
        </p:nvSpPr>
        <p:spPr>
          <a:xfrm>
            <a:off x="8275320" y="318211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初めて説明する前</a:t>
            </a:r>
          </a:p>
        </p:txBody>
      </p:sp>
      <p:sp>
        <p:nvSpPr>
          <p:cNvPr id="24" name="TextBox 23"/>
          <p:cNvSpPr txBox="1"/>
          <p:nvPr/>
        </p:nvSpPr>
        <p:spPr>
          <a:xfrm>
            <a:off x="10515600" y="318211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p.10〜13</a:t>
            </a:r>
          </a:p>
        </p:txBody>
      </p:sp>
      <p:sp>
        <p:nvSpPr>
          <p:cNvPr id="25" name="Rounded Rectangle 24"/>
          <p:cNvSpPr/>
          <p:nvPr/>
        </p:nvSpPr>
        <p:spPr>
          <a:xfrm>
            <a:off x="566928" y="3566160"/>
            <a:ext cx="11045952" cy="4206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639312"/>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第3章</a:t>
            </a:r>
          </a:p>
        </p:txBody>
      </p:sp>
      <p:sp>
        <p:nvSpPr>
          <p:cNvPr id="27" name="TextBox 26"/>
          <p:cNvSpPr txBox="1"/>
          <p:nvPr/>
        </p:nvSpPr>
        <p:spPr>
          <a:xfrm>
            <a:off x="1600200" y="3639312"/>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実演</a:t>
            </a:r>
          </a:p>
        </p:txBody>
      </p:sp>
      <p:sp>
        <p:nvSpPr>
          <p:cNvPr id="28" name="TextBox 27"/>
          <p:cNvSpPr txBox="1"/>
          <p:nvPr/>
        </p:nvSpPr>
        <p:spPr>
          <a:xfrm>
            <a:off x="4663440" y="3657600"/>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4つの入力、結果と図の読み方、金額の区別</a:t>
            </a:r>
          </a:p>
        </p:txBody>
      </p:sp>
      <p:sp>
        <p:nvSpPr>
          <p:cNvPr id="29" name="TextBox 28"/>
          <p:cNvSpPr txBox="1"/>
          <p:nvPr/>
        </p:nvSpPr>
        <p:spPr>
          <a:xfrm>
            <a:off x="8275320" y="3657600"/>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ライブの10分（④は任意）</a:t>
            </a:r>
          </a:p>
        </p:txBody>
      </p:sp>
      <p:sp>
        <p:nvSpPr>
          <p:cNvPr id="30" name="TextBox 29"/>
          <p:cNvSpPr txBox="1"/>
          <p:nvPr/>
        </p:nvSpPr>
        <p:spPr>
          <a:xfrm>
            <a:off x="10515600" y="3657600"/>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p.15〜31</a:t>
            </a:r>
          </a:p>
        </p:txBody>
      </p:sp>
      <p:sp>
        <p:nvSpPr>
          <p:cNvPr id="31" name="Rounded Rectangle 30"/>
          <p:cNvSpPr/>
          <p:nvPr/>
        </p:nvSpPr>
        <p:spPr>
          <a:xfrm>
            <a:off x="566928" y="4041648"/>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114800"/>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第4章</a:t>
            </a:r>
          </a:p>
        </p:txBody>
      </p:sp>
      <p:sp>
        <p:nvSpPr>
          <p:cNvPr id="33" name="TextBox 32"/>
          <p:cNvSpPr txBox="1"/>
          <p:nvPr/>
        </p:nvSpPr>
        <p:spPr>
          <a:xfrm>
            <a:off x="1600200" y="4114800"/>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想定質問と答え方</a:t>
            </a:r>
          </a:p>
        </p:txBody>
      </p:sp>
      <p:sp>
        <p:nvSpPr>
          <p:cNvPr id="34" name="TextBox 33"/>
          <p:cNvSpPr txBox="1"/>
          <p:nvPr/>
        </p:nvSpPr>
        <p:spPr>
          <a:xfrm>
            <a:off x="4663440" y="4133087"/>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短い回答、SQL、全社波及、カジュアルな質問</a:t>
            </a:r>
          </a:p>
        </p:txBody>
      </p:sp>
      <p:sp>
        <p:nvSpPr>
          <p:cNvPr id="35" name="TextBox 34"/>
          <p:cNvSpPr txBox="1"/>
          <p:nvPr/>
        </p:nvSpPr>
        <p:spPr>
          <a:xfrm>
            <a:off x="8275320" y="4133087"/>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質疑のとき</a:t>
            </a:r>
          </a:p>
        </p:txBody>
      </p:sp>
      <p:sp>
        <p:nvSpPr>
          <p:cNvPr id="36" name="TextBox 35"/>
          <p:cNvSpPr txBox="1"/>
          <p:nvPr/>
        </p:nvSpPr>
        <p:spPr>
          <a:xfrm>
            <a:off x="10515600" y="4133087"/>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p.33〜38</a:t>
            </a:r>
          </a:p>
        </p:txBody>
      </p:sp>
      <p:sp>
        <p:nvSpPr>
          <p:cNvPr id="37" name="Rounded Rectangle 36"/>
          <p:cNvSpPr/>
          <p:nvPr/>
        </p:nvSpPr>
        <p:spPr>
          <a:xfrm>
            <a:off x="566928" y="4517136"/>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590288"/>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第5章</a:t>
            </a:r>
          </a:p>
        </p:txBody>
      </p:sp>
      <p:sp>
        <p:nvSpPr>
          <p:cNvPr id="39" name="TextBox 38"/>
          <p:cNvSpPr txBox="1"/>
          <p:nvPr/>
        </p:nvSpPr>
        <p:spPr>
          <a:xfrm>
            <a:off x="1600200" y="4590288"/>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お客様データへの当てはめ</a:t>
            </a:r>
          </a:p>
        </p:txBody>
      </p:sp>
      <p:sp>
        <p:nvSpPr>
          <p:cNvPr id="40" name="TextBox 39"/>
          <p:cNvSpPr txBox="1"/>
          <p:nvPr/>
        </p:nvSpPr>
        <p:spPr>
          <a:xfrm>
            <a:off x="4663440" y="4608575"/>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イベントの集め方、台帳の列、小さく始める</a:t>
            </a:r>
          </a:p>
        </p:txBody>
      </p:sp>
      <p:sp>
        <p:nvSpPr>
          <p:cNvPr id="41" name="TextBox 40"/>
          <p:cNvSpPr txBox="1"/>
          <p:nvPr/>
        </p:nvSpPr>
        <p:spPr>
          <a:xfrm>
            <a:off x="8275320" y="4608575"/>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お客様と次の一歩を話すとき</a:t>
            </a:r>
          </a:p>
        </p:txBody>
      </p:sp>
      <p:sp>
        <p:nvSpPr>
          <p:cNvPr id="42" name="TextBox 41"/>
          <p:cNvSpPr txBox="1"/>
          <p:nvPr/>
        </p:nvSpPr>
        <p:spPr>
          <a:xfrm>
            <a:off x="10515600" y="4608575"/>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p.40〜43</a:t>
            </a:r>
          </a:p>
        </p:txBody>
      </p:sp>
      <p:sp>
        <p:nvSpPr>
          <p:cNvPr id="43" name="Rounded Rectangle 42"/>
          <p:cNvSpPr/>
          <p:nvPr/>
        </p:nvSpPr>
        <p:spPr>
          <a:xfrm>
            <a:off x="566928" y="499262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06577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第6章</a:t>
            </a:r>
          </a:p>
        </p:txBody>
      </p:sp>
      <p:sp>
        <p:nvSpPr>
          <p:cNvPr id="45" name="TextBox 44"/>
          <p:cNvSpPr txBox="1"/>
          <p:nvPr/>
        </p:nvSpPr>
        <p:spPr>
          <a:xfrm>
            <a:off x="1600200" y="506577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構成の解説</a:t>
            </a:r>
          </a:p>
        </p:txBody>
      </p:sp>
      <p:sp>
        <p:nvSpPr>
          <p:cNvPr id="46" name="TextBox 45"/>
          <p:cNvSpPr txBox="1"/>
          <p:nvPr/>
        </p:nvSpPr>
        <p:spPr>
          <a:xfrm>
            <a:off x="4663440" y="508406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Lakehouse、データの流れ、Ontology、設計の理由</a:t>
            </a:r>
          </a:p>
        </p:txBody>
      </p:sp>
      <p:sp>
        <p:nvSpPr>
          <p:cNvPr id="47" name="TextBox 46"/>
          <p:cNvSpPr txBox="1"/>
          <p:nvPr/>
        </p:nvSpPr>
        <p:spPr>
          <a:xfrm>
            <a:off x="8275320" y="508406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技術の質問が出たとき</a:t>
            </a:r>
          </a:p>
        </p:txBody>
      </p:sp>
      <p:sp>
        <p:nvSpPr>
          <p:cNvPr id="48" name="TextBox 47"/>
          <p:cNvSpPr txBox="1"/>
          <p:nvPr/>
        </p:nvSpPr>
        <p:spPr>
          <a:xfrm>
            <a:off x="10515600" y="508406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p.45〜52</a:t>
            </a:r>
          </a:p>
        </p:txBody>
      </p:sp>
      <p:sp>
        <p:nvSpPr>
          <p:cNvPr id="49" name="Rounded Rectangle 48"/>
          <p:cNvSpPr/>
          <p:nvPr/>
        </p:nvSpPr>
        <p:spPr>
          <a:xfrm>
            <a:off x="566928" y="546811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54126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第7章</a:t>
            </a:r>
          </a:p>
        </p:txBody>
      </p:sp>
      <p:sp>
        <p:nvSpPr>
          <p:cNvPr id="51" name="TextBox 50"/>
          <p:cNvSpPr txBox="1"/>
          <p:nvPr/>
        </p:nvSpPr>
        <p:spPr>
          <a:xfrm>
            <a:off x="1600200" y="554126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Ontologyの新機能</a:t>
            </a:r>
          </a:p>
        </p:txBody>
      </p:sp>
      <p:sp>
        <p:nvSpPr>
          <p:cNvPr id="52" name="TextBox 51"/>
          <p:cNvSpPr txBox="1"/>
          <p:nvPr/>
        </p:nvSpPr>
        <p:spPr>
          <a:xfrm>
            <a:off x="4663440" y="555955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名前空間、ルール、共有プロパティ、継承</a:t>
            </a:r>
          </a:p>
        </p:txBody>
      </p:sp>
      <p:sp>
        <p:nvSpPr>
          <p:cNvPr id="53" name="TextBox 52"/>
          <p:cNvSpPr txBox="1"/>
          <p:nvPr/>
        </p:nvSpPr>
        <p:spPr>
          <a:xfrm>
            <a:off x="8275320" y="555955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今後の拡張を聞かれたとき</a:t>
            </a:r>
          </a:p>
        </p:txBody>
      </p:sp>
      <p:sp>
        <p:nvSpPr>
          <p:cNvPr id="54" name="TextBox 53"/>
          <p:cNvSpPr txBox="1"/>
          <p:nvPr/>
        </p:nvSpPr>
        <p:spPr>
          <a:xfrm>
            <a:off x="10515600" y="555955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p.54〜59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10分の進行表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想定企業と場面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想定企業：架空の総合商社グループ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月次の経営会議で、全社の稼ぎが基準から動いた理由を問われる場面を想定します。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事業も通貨も所有比率も違う8社の数字を、同じ定義で説明できることが前提です。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実演で追う食品損失は、持分51%の日本の会社と、持分100%の米国の会社に影響する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TextBox 8"/>
          <p:cNvSpPr txBox="1"/>
          <p:nvPr/>
        </p:nvSpPr>
        <p:spPr>
          <a:xfrm>
            <a:off x="676656" y="2359152"/>
            <a:ext cx="8778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事業</a:t>
            </a:r>
          </a:p>
        </p:txBody>
      </p:sp>
      <p:sp>
        <p:nvSpPr>
          <p:cNvPr id="10" name="TextBox 9"/>
          <p:cNvSpPr txBox="1"/>
          <p:nvPr/>
        </p:nvSpPr>
        <p:spPr>
          <a:xfrm>
            <a:off x="1773936" y="2359152"/>
            <a:ext cx="24323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会社名</a:t>
            </a:r>
          </a:p>
        </p:txBody>
      </p:sp>
      <p:sp>
        <p:nvSpPr>
          <p:cNvPr id="11" name="TextBox 10"/>
          <p:cNvSpPr txBox="1"/>
          <p:nvPr/>
        </p:nvSpPr>
        <p:spPr>
          <a:xfrm>
            <a:off x="4425696" y="2359152"/>
            <a:ext cx="10607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取り扱い</a:t>
            </a:r>
          </a:p>
        </p:txBody>
      </p:sp>
      <p:sp>
        <p:nvSpPr>
          <p:cNvPr id="12" name="TextBox 11"/>
          <p:cNvSpPr txBox="1"/>
          <p:nvPr/>
        </p:nvSpPr>
        <p:spPr>
          <a:xfrm>
            <a:off x="5705855" y="2359152"/>
            <a:ext cx="9235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国／通貨</a:t>
            </a:r>
          </a:p>
        </p:txBody>
      </p:sp>
      <p:sp>
        <p:nvSpPr>
          <p:cNvPr id="13" name="TextBox 12"/>
          <p:cNvSpPr txBox="1"/>
          <p:nvPr/>
        </p:nvSpPr>
        <p:spPr>
          <a:xfrm>
            <a:off x="6848855" y="2359152"/>
            <a:ext cx="649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所有比率</a:t>
            </a:r>
          </a:p>
        </p:txBody>
      </p:sp>
      <p:sp>
        <p:nvSpPr>
          <p:cNvPr id="14" name="Rounded Rectangle 13"/>
          <p:cNvSpPr/>
          <p:nvPr/>
        </p:nvSpPr>
        <p:spPr>
          <a:xfrm>
            <a:off x="566928" y="266090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72491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16" name="TextBox 15"/>
          <p:cNvSpPr txBox="1"/>
          <p:nvPr/>
        </p:nvSpPr>
        <p:spPr>
          <a:xfrm>
            <a:off x="1773936" y="272491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Japan KK</a:t>
            </a:r>
          </a:p>
        </p:txBody>
      </p:sp>
      <p:sp>
        <p:nvSpPr>
          <p:cNvPr id="17" name="TextBox 16"/>
          <p:cNvSpPr txBox="1"/>
          <p:nvPr/>
        </p:nvSpPr>
        <p:spPr>
          <a:xfrm>
            <a:off x="4425696" y="272491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18" name="TextBox 17"/>
          <p:cNvSpPr txBox="1"/>
          <p:nvPr/>
        </p:nvSpPr>
        <p:spPr>
          <a:xfrm>
            <a:off x="5705855" y="272491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19" name="TextBox 18"/>
          <p:cNvSpPr txBox="1"/>
          <p:nvPr/>
        </p:nvSpPr>
        <p:spPr>
          <a:xfrm>
            <a:off x="6848855" y="272491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20" name="Rounded Rectangle 19"/>
          <p:cNvSpPr/>
          <p:nvPr/>
        </p:nvSpPr>
        <p:spPr>
          <a:xfrm>
            <a:off x="566928" y="3054096"/>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1810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22" name="TextBox 21"/>
          <p:cNvSpPr txBox="1"/>
          <p:nvPr/>
        </p:nvSpPr>
        <p:spPr>
          <a:xfrm>
            <a:off x="1773936" y="311810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USA Inc.</a:t>
            </a:r>
          </a:p>
        </p:txBody>
      </p:sp>
      <p:sp>
        <p:nvSpPr>
          <p:cNvPr id="23" name="TextBox 22"/>
          <p:cNvSpPr txBox="1"/>
          <p:nvPr/>
        </p:nvSpPr>
        <p:spPr>
          <a:xfrm>
            <a:off x="4425696" y="311810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24" name="TextBox 23"/>
          <p:cNvSpPr txBox="1"/>
          <p:nvPr/>
        </p:nvSpPr>
        <p:spPr>
          <a:xfrm>
            <a:off x="5705855" y="311810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25" name="TextBox 24"/>
          <p:cNvSpPr txBox="1"/>
          <p:nvPr/>
        </p:nvSpPr>
        <p:spPr>
          <a:xfrm>
            <a:off x="6848855" y="311810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26" name="Rounded Rectangle 25"/>
          <p:cNvSpPr/>
          <p:nvPr/>
        </p:nvSpPr>
        <p:spPr>
          <a:xfrm>
            <a:off x="566928" y="3447288"/>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511296"/>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28" name="TextBox 27"/>
          <p:cNvSpPr txBox="1"/>
          <p:nvPr/>
        </p:nvSpPr>
        <p:spPr>
          <a:xfrm>
            <a:off x="1773936" y="3511296"/>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Japan KK</a:t>
            </a:r>
          </a:p>
        </p:txBody>
      </p:sp>
      <p:sp>
        <p:nvSpPr>
          <p:cNvPr id="29" name="TextBox 28"/>
          <p:cNvSpPr txBox="1"/>
          <p:nvPr/>
        </p:nvSpPr>
        <p:spPr>
          <a:xfrm>
            <a:off x="4425696" y="3511296"/>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0" name="TextBox 29"/>
          <p:cNvSpPr txBox="1"/>
          <p:nvPr/>
        </p:nvSpPr>
        <p:spPr>
          <a:xfrm>
            <a:off x="5705855" y="3511296"/>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31" name="TextBox 30"/>
          <p:cNvSpPr txBox="1"/>
          <p:nvPr/>
        </p:nvSpPr>
        <p:spPr>
          <a:xfrm>
            <a:off x="6848855" y="3511296"/>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32" name="Rounded Rectangle 31"/>
          <p:cNvSpPr/>
          <p:nvPr/>
        </p:nvSpPr>
        <p:spPr>
          <a:xfrm>
            <a:off x="566928" y="3840480"/>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904488"/>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34" name="TextBox 33"/>
          <p:cNvSpPr txBox="1"/>
          <p:nvPr/>
        </p:nvSpPr>
        <p:spPr>
          <a:xfrm>
            <a:off x="1773936" y="3904488"/>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USA Inc.</a:t>
            </a:r>
          </a:p>
        </p:txBody>
      </p:sp>
      <p:sp>
        <p:nvSpPr>
          <p:cNvPr id="35" name="TextBox 34"/>
          <p:cNvSpPr txBox="1"/>
          <p:nvPr/>
        </p:nvSpPr>
        <p:spPr>
          <a:xfrm>
            <a:off x="4425696" y="3904488"/>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6" name="TextBox 35"/>
          <p:cNvSpPr txBox="1"/>
          <p:nvPr/>
        </p:nvSpPr>
        <p:spPr>
          <a:xfrm>
            <a:off x="5705855" y="3904488"/>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37" name="TextBox 36"/>
          <p:cNvSpPr txBox="1"/>
          <p:nvPr/>
        </p:nvSpPr>
        <p:spPr>
          <a:xfrm>
            <a:off x="6848855" y="3904488"/>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38" name="Rounded Rectangle 37"/>
          <p:cNvSpPr/>
          <p:nvPr/>
        </p:nvSpPr>
        <p:spPr>
          <a:xfrm>
            <a:off x="566928" y="4233672"/>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4297680"/>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0" name="TextBox 39"/>
          <p:cNvSpPr txBox="1"/>
          <p:nvPr/>
        </p:nvSpPr>
        <p:spPr>
          <a:xfrm>
            <a:off x="1773936" y="4297680"/>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Japan KK</a:t>
            </a:r>
          </a:p>
        </p:txBody>
      </p:sp>
      <p:sp>
        <p:nvSpPr>
          <p:cNvPr id="41" name="TextBox 40"/>
          <p:cNvSpPr txBox="1"/>
          <p:nvPr/>
        </p:nvSpPr>
        <p:spPr>
          <a:xfrm>
            <a:off x="4425696" y="4297680"/>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2" name="TextBox 41"/>
          <p:cNvSpPr txBox="1"/>
          <p:nvPr/>
        </p:nvSpPr>
        <p:spPr>
          <a:xfrm>
            <a:off x="5705855" y="4297680"/>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43" name="TextBox 42"/>
          <p:cNvSpPr txBox="1"/>
          <p:nvPr/>
        </p:nvSpPr>
        <p:spPr>
          <a:xfrm>
            <a:off x="6848855" y="4297680"/>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44" name="Rounded Rectangle 43"/>
          <p:cNvSpPr/>
          <p:nvPr/>
        </p:nvSpPr>
        <p:spPr>
          <a:xfrm>
            <a:off x="566928" y="462686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69087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6" name="TextBox 45"/>
          <p:cNvSpPr txBox="1"/>
          <p:nvPr/>
        </p:nvSpPr>
        <p:spPr>
          <a:xfrm>
            <a:off x="1773936" y="469087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USA Inc.</a:t>
            </a:r>
          </a:p>
        </p:txBody>
      </p:sp>
      <p:sp>
        <p:nvSpPr>
          <p:cNvPr id="47" name="TextBox 46"/>
          <p:cNvSpPr txBox="1"/>
          <p:nvPr/>
        </p:nvSpPr>
        <p:spPr>
          <a:xfrm>
            <a:off x="4425696" y="469087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8" name="TextBox 47"/>
          <p:cNvSpPr txBox="1"/>
          <p:nvPr/>
        </p:nvSpPr>
        <p:spPr>
          <a:xfrm>
            <a:off x="5705855" y="469087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49" name="TextBox 48"/>
          <p:cNvSpPr txBox="1"/>
          <p:nvPr/>
        </p:nvSpPr>
        <p:spPr>
          <a:xfrm>
            <a:off x="6848855" y="469087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0" name="Rounded Rectangle 49"/>
          <p:cNvSpPr/>
          <p:nvPr/>
        </p:nvSpPr>
        <p:spPr>
          <a:xfrm>
            <a:off x="566928" y="5020055"/>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508406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2" name="TextBox 51"/>
          <p:cNvSpPr txBox="1"/>
          <p:nvPr/>
        </p:nvSpPr>
        <p:spPr>
          <a:xfrm>
            <a:off x="1773936" y="508406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Japan KK</a:t>
            </a:r>
          </a:p>
        </p:txBody>
      </p:sp>
      <p:sp>
        <p:nvSpPr>
          <p:cNvPr id="53" name="TextBox 52"/>
          <p:cNvSpPr txBox="1"/>
          <p:nvPr/>
        </p:nvSpPr>
        <p:spPr>
          <a:xfrm>
            <a:off x="4425696" y="508406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54" name="TextBox 53"/>
          <p:cNvSpPr txBox="1"/>
          <p:nvPr/>
        </p:nvSpPr>
        <p:spPr>
          <a:xfrm>
            <a:off x="5705855" y="508406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55" name="TextBox 54"/>
          <p:cNvSpPr txBox="1"/>
          <p:nvPr/>
        </p:nvSpPr>
        <p:spPr>
          <a:xfrm>
            <a:off x="6848855" y="508406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6" name="Rounded Rectangle 55"/>
          <p:cNvSpPr/>
          <p:nvPr/>
        </p:nvSpPr>
        <p:spPr>
          <a:xfrm>
            <a:off x="566928" y="5413247"/>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5477255"/>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8" name="TextBox 57"/>
          <p:cNvSpPr txBox="1"/>
          <p:nvPr/>
        </p:nvSpPr>
        <p:spPr>
          <a:xfrm>
            <a:off x="1773936" y="5477255"/>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USA Inc.</a:t>
            </a:r>
          </a:p>
        </p:txBody>
      </p:sp>
      <p:sp>
        <p:nvSpPr>
          <p:cNvPr id="59" name="TextBox 58"/>
          <p:cNvSpPr txBox="1"/>
          <p:nvPr/>
        </p:nvSpPr>
        <p:spPr>
          <a:xfrm>
            <a:off x="4425696" y="5477255"/>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60" name="TextBox 59"/>
          <p:cNvSpPr txBox="1"/>
          <p:nvPr/>
        </p:nvSpPr>
        <p:spPr>
          <a:xfrm>
            <a:off x="5705855" y="5477255"/>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61" name="TextBox 60"/>
          <p:cNvSpPr txBox="1"/>
          <p:nvPr/>
        </p:nvSpPr>
        <p:spPr>
          <a:xfrm>
            <a:off x="6848855" y="5477255"/>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62" name="Rounded Rectangle 61"/>
          <p:cNvSpPr/>
          <p:nvPr/>
        </p:nvSpPr>
        <p:spPr>
          <a:xfrm>
            <a:off x="7790688" y="2359152"/>
            <a:ext cx="3822191"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19288" y="248716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親会社：全社の管理</a:t>
            </a:r>
          </a:p>
        </p:txBody>
      </p:sp>
      <p:sp>
        <p:nvSpPr>
          <p:cNvPr id="64" name="TextBox 63"/>
          <p:cNvSpPr txBox="1"/>
          <p:nvPr/>
        </p:nvSpPr>
        <p:spPr>
          <a:xfrm>
            <a:off x="8019288" y="2862072"/>
            <a:ext cx="3383280" cy="10515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SAP風の管理データを持つ。会社マスタ、為替、仕訳、内部取引、連結消去。</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全8社を支配子会社として全額連結する。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所有比率を掛けた持分管理寄与は、別の指標。</a:t>
            </a:r>
          </a:p>
        </p:txBody>
      </p:sp>
      <p:sp>
        <p:nvSpPr>
          <p:cNvPr id="65" name="Rounded Rectangle 64"/>
          <p:cNvSpPr/>
          <p:nvPr/>
        </p:nvSpPr>
        <p:spPr>
          <a:xfrm>
            <a:off x="7790688" y="4050791"/>
            <a:ext cx="3822191"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19288" y="417880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年間の規模（実績）</a:t>
            </a:r>
          </a:p>
        </p:txBody>
      </p:sp>
      <p:sp>
        <p:nvSpPr>
          <p:cNvPr id="67" name="TextBox 66"/>
          <p:cNvSpPr txBox="1"/>
          <p:nvPr/>
        </p:nvSpPr>
        <p:spPr>
          <a:xfrm>
            <a:off x="8019288" y="4572000"/>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売上　約3,111億円</a:t>
            </a:r>
          </a:p>
        </p:txBody>
      </p:sp>
      <p:sp>
        <p:nvSpPr>
          <p:cNvPr id="68" name="TextBox 67"/>
          <p:cNvSpPr txBox="1"/>
          <p:nvPr/>
        </p:nvSpPr>
        <p:spPr>
          <a:xfrm>
            <a:off x="8019288" y="4956048"/>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EBITDA　約448億円</a:t>
            </a:r>
          </a:p>
        </p:txBody>
      </p:sp>
      <p:sp>
        <p:nvSpPr>
          <p:cNvPr id="69" name="TextBox 68"/>
          <p:cNvSpPr txBox="1"/>
          <p:nvPr/>
        </p:nvSpPr>
        <p:spPr>
          <a:xfrm>
            <a:off x="8019288" y="5349240"/>
            <a:ext cx="3383280" cy="36576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全額連結のJPY。2025-10-01から2026-09-30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デモ環境</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デモ環境：データから画面までの構成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実演中は、「このデータはどこにあるのか」「何が答えを出しているのか」と聞かれます。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答えの出どころを、データ、意味と関係、画面の3層で言い分けられるようにします。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容量（F2以上）、Previewの扱い、日本語の対応は、実演前の確認事項で点検する。構成の詳細は第6章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66928" y="2359152"/>
            <a:ext cx="1325880" cy="804672"/>
          </a:xfrm>
          <a:prstGeom prst="roundRect">
            <a:avLst>
              <a:gd name="adj" fmla="val 8000"/>
            </a:avLst>
          </a:prstGeom>
          <a:solidFill>
            <a:srgbClr val="173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96896"/>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画面</a:t>
            </a:r>
          </a:p>
        </p:txBody>
      </p:sp>
      <p:sp>
        <p:nvSpPr>
          <p:cNvPr id="11" name="Rounded Rectangle 10"/>
          <p:cNvSpPr/>
          <p:nvPr/>
        </p:nvSpPr>
        <p:spPr>
          <a:xfrm>
            <a:off x="2011680" y="2359152"/>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2423160"/>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Data Agent</a:t>
            </a:r>
          </a:p>
        </p:txBody>
      </p:sp>
      <p:sp>
        <p:nvSpPr>
          <p:cNvPr id="13" name="TextBox 12"/>
          <p:cNvSpPr txBox="1"/>
          <p:nvPr/>
        </p:nvSpPr>
        <p:spPr>
          <a:xfrm>
            <a:off x="2176272" y="2432304"/>
            <a:ext cx="42885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公開済み、Preview</a:t>
            </a:r>
          </a:p>
        </p:txBody>
      </p:sp>
      <p:sp>
        <p:nvSpPr>
          <p:cNvPr id="14" name="TextBox 13"/>
          <p:cNvSpPr txBox="1"/>
          <p:nvPr/>
        </p:nvSpPr>
        <p:spPr>
          <a:xfrm>
            <a:off x="2176272" y="2670048"/>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Ontologyと親Lakehouseの表25本を参照し、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日本語の質問に、金額と説明で答える</a:t>
            </a:r>
          </a:p>
        </p:txBody>
      </p:sp>
      <p:sp>
        <p:nvSpPr>
          <p:cNvPr id="15" name="Rounded Rectangle 14"/>
          <p:cNvSpPr/>
          <p:nvPr/>
        </p:nvSpPr>
        <p:spPr>
          <a:xfrm>
            <a:off x="6766560" y="2359152"/>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31152" y="2423160"/>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Notebook（Step03）</a:t>
            </a:r>
          </a:p>
        </p:txBody>
      </p:sp>
      <p:sp>
        <p:nvSpPr>
          <p:cNvPr id="17" name="TextBox 16"/>
          <p:cNvSpPr txBox="1"/>
          <p:nvPr/>
        </p:nvSpPr>
        <p:spPr>
          <a:xfrm>
            <a:off x="6931152" y="2432304"/>
            <a:ext cx="45171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保存済みの図から開始</a:t>
            </a:r>
          </a:p>
        </p:txBody>
      </p:sp>
      <p:sp>
        <p:nvSpPr>
          <p:cNvPr id="18" name="TextBox 17"/>
          <p:cNvSpPr txBox="1"/>
          <p:nvPr/>
        </p:nvSpPr>
        <p:spPr>
          <a:xfrm>
            <a:off x="6931152" y="2670048"/>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Graphで関係をたどり、金額をDeltaの表で照合して、</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食品損失の経路を図にする</a:t>
            </a:r>
          </a:p>
        </p:txBody>
      </p:sp>
      <p:sp>
        <p:nvSpPr>
          <p:cNvPr id="19" name="Rounded Rectangle 18"/>
          <p:cNvSpPr/>
          <p:nvPr/>
        </p:nvSpPr>
        <p:spPr>
          <a:xfrm>
            <a:off x="566928" y="3236976"/>
            <a:ext cx="1325880" cy="804672"/>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474720"/>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意味と関係</a:t>
            </a:r>
          </a:p>
        </p:txBody>
      </p:sp>
      <p:sp>
        <p:nvSpPr>
          <p:cNvPr id="21" name="Rounded Rectangle 20"/>
          <p:cNvSpPr/>
          <p:nvPr/>
        </p:nvSpPr>
        <p:spPr>
          <a:xfrm>
            <a:off x="2011680" y="3236976"/>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3300984"/>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Ontology</a:t>
            </a:r>
          </a:p>
        </p:txBody>
      </p:sp>
      <p:sp>
        <p:nvSpPr>
          <p:cNvPr id="23" name="TextBox 22"/>
          <p:cNvSpPr txBox="1"/>
          <p:nvPr/>
        </p:nvSpPr>
        <p:spPr>
          <a:xfrm>
            <a:off x="2176272" y="3310128"/>
            <a:ext cx="42885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17種類の実体、39種類の関係</a:t>
            </a:r>
          </a:p>
        </p:txBody>
      </p:sp>
      <p:sp>
        <p:nvSpPr>
          <p:cNvPr id="24" name="TextBox 23"/>
          <p:cNvSpPr txBox="1"/>
          <p:nvPr/>
        </p:nvSpPr>
        <p:spPr>
          <a:xfrm>
            <a:off x="2176272" y="3547872"/>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業務の言葉と、つながりを定義する。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データは持たず、表に対応付ける</a:t>
            </a:r>
          </a:p>
        </p:txBody>
      </p:sp>
      <p:sp>
        <p:nvSpPr>
          <p:cNvPr id="25" name="Rounded Rectangle 24"/>
          <p:cNvSpPr/>
          <p:nvPr/>
        </p:nvSpPr>
        <p:spPr>
          <a:xfrm>
            <a:off x="6766560" y="3236976"/>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31152" y="3300984"/>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Graph</a:t>
            </a:r>
          </a:p>
        </p:txBody>
      </p:sp>
      <p:sp>
        <p:nvSpPr>
          <p:cNvPr id="27" name="TextBox 26"/>
          <p:cNvSpPr txBox="1"/>
          <p:nvPr/>
        </p:nvSpPr>
        <p:spPr>
          <a:xfrm>
            <a:off x="6931152" y="3310128"/>
            <a:ext cx="45171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ノード33,960、矢印65,684本</a:t>
            </a:r>
          </a:p>
        </p:txBody>
      </p:sp>
      <p:sp>
        <p:nvSpPr>
          <p:cNvPr id="28" name="TextBox 27"/>
          <p:cNvSpPr txBox="1"/>
          <p:nvPr/>
        </p:nvSpPr>
        <p:spPr>
          <a:xfrm>
            <a:off x="6931152" y="3547872"/>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Ontologyの定義から作った、実体と関係のグラフ。</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経路をたどる質問に使う</a:t>
            </a:r>
          </a:p>
        </p:txBody>
      </p:sp>
      <p:sp>
        <p:nvSpPr>
          <p:cNvPr id="29" name="Rounded Rectangle 28"/>
          <p:cNvSpPr/>
          <p:nvPr/>
        </p:nvSpPr>
        <p:spPr>
          <a:xfrm>
            <a:off x="566928" y="4114800"/>
            <a:ext cx="1325880" cy="804672"/>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352544"/>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データ</a:t>
            </a:r>
          </a:p>
        </p:txBody>
      </p:sp>
      <p:sp>
        <p:nvSpPr>
          <p:cNvPr id="31" name="Rounded Rectangle 30"/>
          <p:cNvSpPr/>
          <p:nvPr/>
        </p:nvSpPr>
        <p:spPr>
          <a:xfrm>
            <a:off x="2011680" y="4114800"/>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76272" y="4178808"/>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親のLakehouse</a:t>
            </a:r>
          </a:p>
        </p:txBody>
      </p:sp>
      <p:sp>
        <p:nvSpPr>
          <p:cNvPr id="33" name="TextBox 32"/>
          <p:cNvSpPr txBox="1"/>
          <p:nvPr/>
        </p:nvSpPr>
        <p:spPr>
          <a:xfrm>
            <a:off x="2176272" y="4187952"/>
            <a:ext cx="42885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17表、ショートカット8本</a:t>
            </a:r>
          </a:p>
        </p:txBody>
      </p:sp>
      <p:sp>
        <p:nvSpPr>
          <p:cNvPr id="34" name="TextBox 33"/>
          <p:cNvSpPr txBox="1"/>
          <p:nvPr/>
        </p:nvSpPr>
        <p:spPr>
          <a:xfrm>
            <a:off x="2176272" y="4425696"/>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SAP風の管理データ、全社の分析用の表、全社KPI。</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業種拡張は、子会社の表を参照する</a:t>
            </a:r>
          </a:p>
        </p:txBody>
      </p:sp>
      <p:sp>
        <p:nvSpPr>
          <p:cNvPr id="35" name="Rounded Rectangle 34"/>
          <p:cNvSpPr/>
          <p:nvPr/>
        </p:nvSpPr>
        <p:spPr>
          <a:xfrm>
            <a:off x="6766560" y="4114800"/>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31152" y="4178808"/>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子会社8社のLakehouse</a:t>
            </a:r>
          </a:p>
        </p:txBody>
      </p:sp>
      <p:sp>
        <p:nvSpPr>
          <p:cNvPr id="37" name="TextBox 36"/>
          <p:cNvSpPr txBox="1"/>
          <p:nvPr/>
        </p:nvSpPr>
        <p:spPr>
          <a:xfrm>
            <a:off x="6931152" y="4187952"/>
            <a:ext cx="45171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78表</a:t>
            </a:r>
          </a:p>
        </p:txBody>
      </p:sp>
      <p:sp>
        <p:nvSpPr>
          <p:cNvPr id="38" name="TextBox 37"/>
          <p:cNvSpPr txBox="1"/>
          <p:nvPr/>
        </p:nvSpPr>
        <p:spPr>
          <a:xfrm>
            <a:off x="6931152" y="4425696"/>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各社の原本。会社ごとに分けたまま残し、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書き換えない</a:t>
            </a:r>
          </a:p>
        </p:txBody>
      </p:sp>
      <p:sp>
        <p:nvSpPr>
          <p:cNvPr id="39" name="Rounded Rectangle 38"/>
          <p:cNvSpPr/>
          <p:nvPr/>
        </p:nvSpPr>
        <p:spPr>
          <a:xfrm>
            <a:off x="566928"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365日</a:t>
            </a:r>
          </a:p>
        </p:txBody>
      </p:sp>
      <p:sp>
        <p:nvSpPr>
          <p:cNvPr id="41" name="TextBox 40"/>
          <p:cNvSpPr txBox="1"/>
          <p:nvPr/>
        </p:nvSpPr>
        <p:spPr>
          <a:xfrm>
            <a:off x="713232"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2025-10-01から2026-09-30</a:t>
            </a:r>
          </a:p>
        </p:txBody>
      </p:sp>
      <p:sp>
        <p:nvSpPr>
          <p:cNvPr id="42" name="Rounded Rectangle 41"/>
          <p:cNvSpPr/>
          <p:nvPr/>
        </p:nvSpPr>
        <p:spPr>
          <a:xfrm>
            <a:off x="2802636"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48940"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契約96件</a:t>
            </a:r>
          </a:p>
        </p:txBody>
      </p:sp>
      <p:sp>
        <p:nvSpPr>
          <p:cNvPr id="44" name="TextBox 43"/>
          <p:cNvSpPr txBox="1"/>
          <p:nvPr/>
        </p:nvSpPr>
        <p:spPr>
          <a:xfrm>
            <a:off x="2948940"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各社12件</a:t>
            </a:r>
          </a:p>
        </p:txBody>
      </p:sp>
      <p:sp>
        <p:nvSpPr>
          <p:cNvPr id="45" name="Rounded Rectangle 44"/>
          <p:cNvSpPr/>
          <p:nvPr/>
        </p:nvSpPr>
        <p:spPr>
          <a:xfrm>
            <a:off x="5038344"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84648"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活動8,760件</a:t>
            </a:r>
          </a:p>
        </p:txBody>
      </p:sp>
      <p:sp>
        <p:nvSpPr>
          <p:cNvPr id="47" name="TextBox 46"/>
          <p:cNvSpPr txBox="1"/>
          <p:nvPr/>
        </p:nvSpPr>
        <p:spPr>
          <a:xfrm>
            <a:off x="5184648"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受注や売上の明細</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各社1日3件</a:t>
            </a:r>
          </a:p>
        </p:txBody>
      </p:sp>
      <p:sp>
        <p:nvSpPr>
          <p:cNvPr id="48" name="Rounded Rectangle 47"/>
          <p:cNvSpPr/>
          <p:nvPr/>
        </p:nvSpPr>
        <p:spPr>
          <a:xfrm>
            <a:off x="7274051"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20355"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イベント10件</a:t>
            </a:r>
          </a:p>
        </p:txBody>
      </p:sp>
      <p:sp>
        <p:nvSpPr>
          <p:cNvPr id="50" name="TextBox 49"/>
          <p:cNvSpPr txBox="1"/>
          <p:nvPr/>
        </p:nvSpPr>
        <p:spPr>
          <a:xfrm>
            <a:off x="7420355"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根拠64件、効果1,344件</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効果は影響額の明細</a:t>
            </a:r>
          </a:p>
        </p:txBody>
      </p:sp>
      <p:sp>
        <p:nvSpPr>
          <p:cNvPr id="51" name="Rounded Rectangle 50"/>
          <p:cNvSpPr/>
          <p:nvPr/>
        </p:nvSpPr>
        <p:spPr>
          <a:xfrm>
            <a:off x="9509759"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56063"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容量F16</a:t>
            </a:r>
          </a:p>
        </p:txBody>
      </p:sp>
      <p:sp>
        <p:nvSpPr>
          <p:cNvPr id="53" name="TextBox 52"/>
          <p:cNvSpPr txBox="1"/>
          <p:nvPr/>
        </p:nvSpPr>
        <p:spPr>
          <a:xfrm>
            <a:off x="9656063"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ワークスペース　Trading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デモの前提（8社、通貨、年度）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休日は直前の観測値を最大5日まで補完。ECBの参考レートは、決算で使う換算レートではない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66928"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通貨</a:t>
            </a:r>
          </a:p>
        </p:txBody>
      </p:sp>
      <p:sp>
        <p:nvSpPr>
          <p:cNvPr id="11" name="TextBox 10"/>
          <p:cNvSpPr txBox="1"/>
          <p:nvPr/>
        </p:nvSpPr>
        <p:spPr>
          <a:xfrm>
            <a:off x="795528"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JPY／USD → JPY</a:t>
            </a:r>
          </a:p>
        </p:txBody>
      </p:sp>
      <p:sp>
        <p:nvSpPr>
          <p:cNvPr id="12" name="TextBox 11"/>
          <p:cNvSpPr txBox="1"/>
          <p:nvPr/>
        </p:nvSpPr>
        <p:spPr>
          <a:xfrm>
            <a:off x="795528"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為替は実データ。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ECBが公開する日次の参考レートを使う。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対象年度のUSD/JPYは、</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約147円から約164円。</a:t>
            </a:r>
          </a:p>
        </p:txBody>
      </p:sp>
      <p:sp>
        <p:nvSpPr>
          <p:cNvPr id="13" name="Rounded Rectangle 12"/>
          <p:cNvSpPr/>
          <p:nvPr/>
        </p:nvSpPr>
        <p:spPr>
          <a:xfrm>
            <a:off x="4306824"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所有比率</a:t>
            </a:r>
          </a:p>
        </p:txBody>
      </p:sp>
      <p:sp>
        <p:nvSpPr>
          <p:cNvPr id="15" name="TextBox 14"/>
          <p:cNvSpPr txBox="1"/>
          <p:nvPr/>
        </p:nvSpPr>
        <p:spPr>
          <a:xfrm>
            <a:off x="4535424"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100%×4社／51%×4社</a:t>
            </a:r>
          </a:p>
        </p:txBody>
      </p:sp>
      <p:sp>
        <p:nvSpPr>
          <p:cNvPr id="16" name="TextBox 15"/>
          <p:cNvSpPr txBox="1"/>
          <p:nvPr/>
        </p:nvSpPr>
        <p:spPr>
          <a:xfrm>
            <a:off x="4535424"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国では決めていない。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全額連結と、所有比率を掛けた</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持分管理寄与を分けて持つ。</a:t>
            </a:r>
          </a:p>
        </p:txBody>
      </p:sp>
      <p:sp>
        <p:nvSpPr>
          <p:cNvPr id="17" name="Rounded Rectangle 16"/>
          <p:cNvSpPr/>
          <p:nvPr/>
        </p:nvSpPr>
        <p:spPr>
          <a:xfrm>
            <a:off x="8046719"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対象年度</a:t>
            </a:r>
          </a:p>
        </p:txBody>
      </p:sp>
      <p:sp>
        <p:nvSpPr>
          <p:cNvPr id="19" name="TextBox 18"/>
          <p:cNvSpPr txBox="1"/>
          <p:nvPr/>
        </p:nvSpPr>
        <p:spPr>
          <a:xfrm>
            <a:off x="8275319"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2025-10-01〜2026-09-30</a:t>
            </a:r>
          </a:p>
        </p:txBody>
      </p:sp>
      <p:sp>
        <p:nvSpPr>
          <p:cNvPr id="20" name="TextBox 19"/>
          <p:cNvSpPr txBox="1"/>
          <p:nvPr/>
        </p:nvSpPr>
        <p:spPr>
          <a:xfrm>
            <a:off x="8275319"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365日分。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最新データ日は2026-09-30。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1 EBITDA（金額は説明用の例）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100万円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−60万円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−25万円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2 baselineとactual</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lnSpc>
                <a:spcPts val="3120"/>
              </a:lnSpc>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3 全額連結と持分管理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4 通貨とキャッシュフロー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2 データの流れ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ゼロコピーと実体化の使い分け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8社の原本をどこまでコピーし、どこから参照にするかで、データの重複と更新の手間が変わります。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この構成は、業種固有の8表だけを参照にし、全社分析用の表とグラフはコピーして作っています。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投影、GraphModel、保存HTMLは、更新のタイミングが別。原本の変更が、すぐ全部に反映されるとは限らない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46</a:t>
            </a:r>
          </a:p>
        </p:txBody>
      </p:sp>
      <p:sp>
        <p:nvSpPr>
          <p:cNvPr id="9" name="Rounded Rectangle 8"/>
          <p:cNvSpPr/>
          <p:nvPr/>
        </p:nvSpPr>
        <p:spPr>
          <a:xfrm>
            <a:off x="566928" y="2395728"/>
            <a:ext cx="2286000" cy="2743200"/>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05456"/>
            <a:ext cx="195681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子会社の原本</a:t>
            </a:r>
          </a:p>
        </p:txBody>
      </p:sp>
      <p:sp>
        <p:nvSpPr>
          <p:cNvPr id="11" name="TextBox 10"/>
          <p:cNvSpPr txBox="1"/>
          <p:nvPr/>
        </p:nvSpPr>
        <p:spPr>
          <a:xfrm>
            <a:off x="731520" y="2852928"/>
            <a:ext cx="1956816" cy="221284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8つのLakehouse</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会社ごとに分離</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書き換えない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親を含め計9個</a:t>
            </a:r>
          </a:p>
        </p:txBody>
      </p:sp>
      <p:sp>
        <p:nvSpPr>
          <p:cNvPr id="12" name="Rounded Rectangle 11"/>
          <p:cNvSpPr/>
          <p:nvPr/>
        </p:nvSpPr>
        <p:spPr>
          <a:xfrm>
            <a:off x="3337560" y="2395728"/>
            <a:ext cx="301752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505456"/>
            <a:ext cx="268833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全社分析用の表（12表）</a:t>
            </a:r>
          </a:p>
        </p:txBody>
      </p:sp>
      <p:sp>
        <p:nvSpPr>
          <p:cNvPr id="14" name="TextBox 13"/>
          <p:cNvSpPr txBox="1"/>
          <p:nvPr/>
        </p:nvSpPr>
        <p:spPr>
          <a:xfrm>
            <a:off x="3502152" y="285292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semantic_*の11表とkpi_snapshot。</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8社分を1表にまとめて、コピーして作る</a:t>
            </a:r>
          </a:p>
        </p:txBody>
      </p:sp>
      <p:sp>
        <p:nvSpPr>
          <p:cNvPr id="15" name="Rounded Rectangle 14"/>
          <p:cNvSpPr/>
          <p:nvPr/>
        </p:nvSpPr>
        <p:spPr>
          <a:xfrm>
            <a:off x="3337560" y="3904487"/>
            <a:ext cx="3017520" cy="1234440"/>
          </a:xfrm>
          <a:prstGeom prst="roundRect">
            <a:avLst>
              <a:gd name="adj" fmla="val 8000"/>
            </a:avLst>
          </a:prstGeom>
          <a:solidFill>
            <a:srgbClr val="D8EDE9"/>
          </a:solidFill>
          <a:ln w="22225">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4014215"/>
            <a:ext cx="2688336" cy="292608"/>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業種拡張の表（8表）</a:t>
            </a:r>
          </a:p>
        </p:txBody>
      </p:sp>
      <p:sp>
        <p:nvSpPr>
          <p:cNvPr id="17" name="TextBox 16"/>
          <p:cNvSpPr txBox="1"/>
          <p:nvPr/>
        </p:nvSpPr>
        <p:spPr>
          <a:xfrm>
            <a:off x="3502152" y="436168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raw_*_extension。</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原本の表を、コピーせず参照する</a:t>
            </a:r>
          </a:p>
        </p:txBody>
      </p:sp>
      <p:cxnSp>
        <p:nvCxnSpPr>
          <p:cNvPr id="18" name="Connector 17"/>
          <p:cNvCxnSpPr/>
          <p:nvPr/>
        </p:nvCxnSpPr>
        <p:spPr>
          <a:xfrm>
            <a:off x="2871216" y="3017520"/>
            <a:ext cx="42062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71216" y="4526280"/>
            <a:ext cx="420624" cy="0"/>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0" y="2395728"/>
            <a:ext cx="214884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2505456"/>
            <a:ext cx="181965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Ontology</a:t>
            </a:r>
          </a:p>
        </p:txBody>
      </p:sp>
      <p:sp>
        <p:nvSpPr>
          <p:cNvPr id="22" name="TextBox 21"/>
          <p:cNvSpPr txBox="1"/>
          <p:nvPr/>
        </p:nvSpPr>
        <p:spPr>
          <a:xfrm>
            <a:off x="7022592" y="285292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実体と関係の定義、</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表への対応付け。</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データは持たない</a:t>
            </a:r>
          </a:p>
        </p:txBody>
      </p:sp>
      <p:sp>
        <p:nvSpPr>
          <p:cNvPr id="23" name="Rounded Rectangle 22"/>
          <p:cNvSpPr/>
          <p:nvPr/>
        </p:nvSpPr>
        <p:spPr>
          <a:xfrm>
            <a:off x="6858000" y="3904487"/>
            <a:ext cx="214884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4014215"/>
            <a:ext cx="181965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GraphModel</a:t>
            </a:r>
          </a:p>
        </p:txBody>
      </p:sp>
      <p:sp>
        <p:nvSpPr>
          <p:cNvPr id="25" name="TextBox 24"/>
          <p:cNvSpPr txBox="1"/>
          <p:nvPr/>
        </p:nvSpPr>
        <p:spPr>
          <a:xfrm>
            <a:off x="7022592" y="436168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Ontologyの定義から作った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実体のグラフ。</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コピーして作る</a:t>
            </a:r>
          </a:p>
        </p:txBody>
      </p:sp>
      <p:cxnSp>
        <p:nvCxnSpPr>
          <p:cNvPr id="26" name="Connector 25"/>
          <p:cNvCxnSpPr/>
          <p:nvPr/>
        </p:nvCxnSpPr>
        <p:spPr>
          <a:xfrm>
            <a:off x="6382512" y="3017520"/>
            <a:ext cx="429768"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382512" y="3657600"/>
            <a:ext cx="676656" cy="713232"/>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3648456"/>
            <a:ext cx="0" cy="237744"/>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09760" y="2395728"/>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505456"/>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Fabric DA</a:t>
            </a:r>
          </a:p>
        </p:txBody>
      </p:sp>
      <p:sp>
        <p:nvSpPr>
          <p:cNvPr id="31" name="TextBox 30"/>
          <p:cNvSpPr txBox="1"/>
          <p:nvPr/>
        </p:nvSpPr>
        <p:spPr>
          <a:xfrm>
            <a:off x="9674352" y="285292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金額集計と説明</a:t>
            </a:r>
          </a:p>
        </p:txBody>
      </p:sp>
      <p:sp>
        <p:nvSpPr>
          <p:cNvPr id="32" name="Rounded Rectangle 31"/>
          <p:cNvSpPr/>
          <p:nvPr/>
        </p:nvSpPr>
        <p:spPr>
          <a:xfrm>
            <a:off x="9509760" y="3904487"/>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352" y="4014215"/>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Notebook</a:t>
            </a:r>
          </a:p>
        </p:txBody>
      </p:sp>
      <p:sp>
        <p:nvSpPr>
          <p:cNvPr id="34" name="TextBox 33"/>
          <p:cNvSpPr txBox="1"/>
          <p:nvPr/>
        </p:nvSpPr>
        <p:spPr>
          <a:xfrm>
            <a:off x="9674352" y="436168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GQLで経路をたどり、</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DAGを表示</a:t>
            </a:r>
          </a:p>
        </p:txBody>
      </p:sp>
      <p:cxnSp>
        <p:nvCxnSpPr>
          <p:cNvPr id="35" name="Connector 34"/>
          <p:cNvCxnSpPr/>
          <p:nvPr/>
        </p:nvCxnSpPr>
        <p:spPr>
          <a:xfrm>
            <a:off x="9034272" y="301752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34272" y="452628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285232"/>
            <a:ext cx="548640" cy="237744"/>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凡例</a:t>
            </a:r>
          </a:p>
        </p:txBody>
      </p:sp>
      <p:sp>
        <p:nvSpPr>
          <p:cNvPr id="38" name="Rounded Rectangle 37"/>
          <p:cNvSpPr/>
          <p:nvPr/>
        </p:nvSpPr>
        <p:spPr>
          <a:xfrm>
            <a:off x="1143000" y="5303520"/>
            <a:ext cx="274320" cy="219456"/>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原本（そのまま残す）</a:t>
            </a:r>
          </a:p>
        </p:txBody>
      </p:sp>
      <p:sp>
        <p:nvSpPr>
          <p:cNvPr id="40" name="Rounded Rectangle 39"/>
          <p:cNvSpPr/>
          <p:nvPr/>
        </p:nvSpPr>
        <p:spPr>
          <a:xfrm>
            <a:off x="3520440" y="5303520"/>
            <a:ext cx="274320" cy="219456"/>
          </a:xfrm>
          <a:prstGeom prst="roundRect">
            <a:avLst>
              <a:gd name="adj" fmla="val 8000"/>
            </a:avLst>
          </a:prstGeom>
          <a:solidFill>
            <a:srgbClr val="D8EDE9"/>
          </a:solidFill>
          <a:ln>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ゼロコピー（参照だけ）</a:t>
            </a:r>
          </a:p>
        </p:txBody>
      </p:sp>
      <p:sp>
        <p:nvSpPr>
          <p:cNvPr id="42" name="Rounded Rectangle 41"/>
          <p:cNvSpPr/>
          <p:nvPr/>
        </p:nvSpPr>
        <p:spPr>
          <a:xfrm>
            <a:off x="5897880" y="5303520"/>
            <a:ext cx="274320" cy="219456"/>
          </a:xfrm>
          <a:prstGeom prst="roundRect">
            <a:avLst>
              <a:gd name="adj" fmla="val 8000"/>
            </a:avLst>
          </a:prstGeom>
          <a:solidFill>
            <a:srgbClr val="ECE6F6"/>
          </a:solidFill>
          <a:ln>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303520"/>
            <a:ext cx="2194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実体化（コピーして作る）</a:t>
            </a:r>
          </a:p>
        </p:txBody>
      </p:sp>
      <p:sp>
        <p:nvSpPr>
          <p:cNvPr id="44" name="Rounded Rectangle 43"/>
          <p:cNvSpPr/>
          <p:nvPr/>
        </p:nvSpPr>
        <p:spPr>
          <a:xfrm>
            <a:off x="8503920" y="5303520"/>
            <a:ext cx="274320" cy="219456"/>
          </a:xfrm>
          <a:prstGeom prst="roundRect">
            <a:avLst>
              <a:gd name="adj" fmla="val 8000"/>
            </a:avLst>
          </a:prstGeom>
          <a:solidFill>
            <a:srgbClr val="FFFFFF"/>
          </a:solidFill>
          <a:ln>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5303520"/>
            <a:ext cx="301752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定義と利用する側（データなし）</a:t>
            </a:r>
          </a:p>
        </p:txBody>
      </p:sp>
      <p:sp>
        <p:nvSpPr>
          <p:cNvPr id="46" name="TextBox 45"/>
          <p:cNvSpPr txBox="1"/>
          <p:nvPr/>
        </p:nvSpPr>
        <p:spPr>
          <a:xfrm>
            <a:off x="594360" y="5614416"/>
            <a:ext cx="109728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ゼロコピー：OneLakeのショートカットで、元の場所のデータを複製せずに参照する。実体化：分析用に統合や集計をして、表やグラフとして作る。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3 用語の整理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47</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17</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lnSpc>
                <a:spcPts val="2880"/>
              </a:lnSpc>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lnSpc>
                <a:spcPts val="4750"/>
              </a:lnSpc>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食品損失の根拠（回答の読み方）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84効果</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lnSpc>
                <a:spcPts val="2000"/>
              </a:lnSpc>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09744"/>
            <a:ext cx="10515600" cy="1005840"/>
          </a:xfrm>
          <a:prstGeom prst="rect">
            <a:avLst/>
          </a:prstGeom>
          <a:noFill/>
        </p:spPr>
        <p:txBody>
          <a:bodyPr wrap="square" lIns="0" rIns="0" tIns="0" bIns="0">
            <a:spAutoFit/>
          </a:bodyPr>
          <a:lstStyle/>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根拠：SUB_FOD_JP_01_FOD_NEG_0    活動：SUB_FOD_JP_01_A133_0</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契約：SUB_FOD_JP_01_C04    効果：SUB_FOD_JP_01_A133_0_FOD_NEG_F</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日次指標：SUB_FOD_JP_01_2026-02-11_ebitda_actual</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全社KPI：2026-02-11_EBITDA_FULL_CONSOLIDATED_actual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食品損失の根拠（Notebookで表示）</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23</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lnSpc>
                <a:spcPts val="4000"/>
              </a:lnSpc>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食品損失の根拠（図の読み方）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lnSpc>
                <a:spcPts val="1620"/>
              </a:lnSpc>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90872"/>
            <a:ext cx="2971800" cy="365760"/>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822960"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記録や対象との関連。</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原因を示すとは限らない</a:t>
            </a:r>
          </a:p>
        </p:txBody>
      </p:sp>
      <p:sp>
        <p:nvSpPr>
          <p:cNvPr id="30" name="TextBox 29"/>
          <p:cNvSpPr txBox="1"/>
          <p:nvPr/>
        </p:nvSpPr>
        <p:spPr>
          <a:xfrm>
            <a:off x="4407408"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1" name="TextBox 30"/>
          <p:cNvSpPr txBox="1"/>
          <p:nvPr/>
        </p:nvSpPr>
        <p:spPr>
          <a:xfrm>
            <a:off x="4407408"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このデモで設計した、影響額の割り当て</a:t>
            </a:r>
          </a:p>
        </p:txBody>
      </p:sp>
      <p:sp>
        <p:nvSpPr>
          <p:cNvPr id="32" name="TextBox 31"/>
          <p:cNvSpPr txBox="1"/>
          <p:nvPr/>
        </p:nvSpPr>
        <p:spPr>
          <a:xfrm>
            <a:off x="8055864"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
        <p:nvSpPr>
          <p:cNvPr id="33" name="TextBox 32"/>
          <p:cNvSpPr txBox="1"/>
          <p:nvPr/>
        </p:nvSpPr>
        <p:spPr>
          <a:xfrm>
            <a:off x="8055864" y="5120640"/>
            <a:ext cx="320040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日次指標への対応と、全社の合計への集約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食品損失の根拠（記録の読み方）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代表記録でわかること、取れる行動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食品損失の記録を1件見ても、経営者は、それで何をしてよいのかが分からないことがあります。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この記録で言えること、言えないことを分けて、取れる行動を示します。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調べる先は、契約と活動のIDで特定できる。原因の断定には、許容温度などの追加の記録が要る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66928"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記録からわかること</a:t>
            </a:r>
          </a:p>
        </p:txBody>
      </p:sp>
      <p:sp>
        <p:nvSpPr>
          <p:cNvPr id="11" name="TextBox 10"/>
          <p:cNvSpPr txBox="1"/>
          <p:nvPr/>
        </p:nvSpPr>
        <p:spPr>
          <a:xfrm>
            <a:off x="768096"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いつ</a:t>
            </a:r>
          </a:p>
        </p:txBody>
      </p:sp>
      <p:sp>
        <p:nvSpPr>
          <p:cNvPr id="12" name="TextBox 11"/>
          <p:cNvSpPr txBox="1"/>
          <p:nvPr/>
        </p:nvSpPr>
        <p:spPr>
          <a:xfrm>
            <a:off x="768096"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2026-02-11</a:t>
            </a:r>
          </a:p>
        </p:txBody>
      </p:sp>
      <p:sp>
        <p:nvSpPr>
          <p:cNvPr id="13" name="TextBox 12"/>
          <p:cNvSpPr txBox="1"/>
          <p:nvPr/>
        </p:nvSpPr>
        <p:spPr>
          <a:xfrm>
            <a:off x="768096"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どこで</a:t>
            </a:r>
          </a:p>
        </p:txBody>
      </p:sp>
      <p:sp>
        <p:nvSpPr>
          <p:cNvPr id="14" name="TextBox 13"/>
          <p:cNvSpPr txBox="1"/>
          <p:nvPr/>
        </p:nvSpPr>
        <p:spPr>
          <a:xfrm>
            <a:off x="768096" y="370941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日本の食品会社の外部販売（製粉用小麦）</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契約：SUB_FOD_JP_01_C04</a:t>
            </a:r>
          </a:p>
        </p:txBody>
      </p:sp>
      <p:sp>
        <p:nvSpPr>
          <p:cNvPr id="15" name="TextBox 14"/>
          <p:cNvSpPr txBox="1"/>
          <p:nvPr/>
        </p:nvSpPr>
        <p:spPr>
          <a:xfrm>
            <a:off x="768096" y="4450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何が記録されたか</a:t>
            </a:r>
          </a:p>
        </p:txBody>
      </p:sp>
      <p:sp>
        <p:nvSpPr>
          <p:cNvPr id="16" name="TextBox 15"/>
          <p:cNvSpPr txBox="1"/>
          <p:nvPr/>
        </p:nvSpPr>
        <p:spPr>
          <a:xfrm>
            <a:off x="768096" y="4669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温度 −18.0℃、廃棄率 3.5%</a:t>
            </a:r>
          </a:p>
        </p:txBody>
      </p:sp>
      <p:sp>
        <p:nvSpPr>
          <p:cNvPr id="17" name="TextBox 16"/>
          <p:cNvSpPr txBox="1"/>
          <p:nvPr/>
        </p:nvSpPr>
        <p:spPr>
          <a:xfrm>
            <a:off x="768096" y="5013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いくら</a:t>
            </a:r>
          </a:p>
        </p:txBody>
      </p:sp>
      <p:sp>
        <p:nvSpPr>
          <p:cNvPr id="18" name="TextBox 17"/>
          <p:cNvSpPr txBox="1"/>
          <p:nvPr/>
        </p:nvSpPr>
        <p:spPr>
          <a:xfrm>
            <a:off x="768096" y="5233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この1効果で約−300万円</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（−3,003,488.94円）</a:t>
            </a:r>
          </a:p>
        </p:txBody>
      </p:sp>
      <p:sp>
        <p:nvSpPr>
          <p:cNvPr id="19" name="Rounded Rectangle 18"/>
          <p:cNvSpPr/>
          <p:nvPr/>
        </p:nvSpPr>
        <p:spPr>
          <a:xfrm>
            <a:off x="4306824"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BD4354"/>
                </a:solidFill>
                <a:latin typeface="Yu Gothic"/>
              </a:defRPr>
            </a:pPr>
            <a:r>
              <a:rPr sz="1700" b="1" lang="ja-JP">
                <a:solidFill>
                  <a:srgbClr val="BD4354"/>
                </a:solidFill>
                <a:latin typeface="Yu Gothic"/>
                <a:ea typeface="Yu Gothic"/>
              </a:rPr>
              <a:t>記録だけではわからないこと</a:t>
            </a:r>
          </a:p>
        </p:txBody>
      </p:sp>
      <p:sp>
        <p:nvSpPr>
          <p:cNvPr id="21" name="TextBox 20"/>
          <p:cNvSpPr txBox="1"/>
          <p:nvPr/>
        </p:nvSpPr>
        <p:spPr>
          <a:xfrm>
            <a:off x="4507992"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許容温度と閾値</a:t>
            </a:r>
          </a:p>
        </p:txBody>
      </p:sp>
      <p:sp>
        <p:nvSpPr>
          <p:cNvPr id="22" name="TextBox 21"/>
          <p:cNvSpPr txBox="1"/>
          <p:nvPr/>
        </p:nvSpPr>
        <p:spPr>
          <a:xfrm>
            <a:off x="4507992"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未記録。−18℃が異常かは判断できない</a:t>
            </a:r>
          </a:p>
        </p:txBody>
      </p:sp>
      <p:sp>
        <p:nvSpPr>
          <p:cNvPr id="23" name="TextBox 22"/>
          <p:cNvSpPr txBox="1"/>
          <p:nvPr/>
        </p:nvSpPr>
        <p:spPr>
          <a:xfrm>
            <a:off x="4507992"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腐敗の原因</a:t>
            </a:r>
          </a:p>
        </p:txBody>
      </p:sp>
      <p:sp>
        <p:nvSpPr>
          <p:cNvPr id="24" name="TextBox 23"/>
          <p:cNvSpPr txBox="1"/>
          <p:nvPr/>
        </p:nvSpPr>
        <p:spPr>
          <a:xfrm>
            <a:off x="4507992" y="3709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設備か運用かは特定できない。根拠は架空の業務ログで、因果の証明ではない</a:t>
            </a:r>
          </a:p>
        </p:txBody>
      </p:sp>
      <p:sp>
        <p:nvSpPr>
          <p:cNvPr id="25" name="TextBox 24"/>
          <p:cNvSpPr txBox="1"/>
          <p:nvPr/>
        </p:nvSpPr>
        <p:spPr>
          <a:xfrm>
            <a:off x="4507992" y="4251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広がり</a:t>
            </a:r>
          </a:p>
        </p:txBody>
      </p:sp>
      <p:sp>
        <p:nvSpPr>
          <p:cNvPr id="26" name="TextBox 25"/>
          <p:cNvSpPr txBox="1"/>
          <p:nvPr/>
        </p:nvSpPr>
        <p:spPr>
          <a:xfrm>
            <a:off x="4507992" y="4471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代表1件では、他の取引の状況はわからない</a:t>
            </a:r>
          </a:p>
        </p:txBody>
      </p:sp>
      <p:sp>
        <p:nvSpPr>
          <p:cNvPr id="27" name="Rounded Rectangle 26"/>
          <p:cNvSpPr/>
          <p:nvPr/>
        </p:nvSpPr>
        <p:spPr>
          <a:xfrm>
            <a:off x="8046719"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47888"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7352AD"/>
                </a:solidFill>
                <a:latin typeface="Yu Gothic"/>
              </a:defRPr>
            </a:pPr>
            <a:r>
              <a:rPr sz="1700" b="1" lang="ja-JP">
                <a:solidFill>
                  <a:srgbClr val="7352AD"/>
                </a:solidFill>
                <a:latin typeface="Yu Gothic"/>
                <a:ea typeface="Yu Gothic"/>
              </a:rPr>
              <a:t>経営者が取れる行動</a:t>
            </a:r>
          </a:p>
        </p:txBody>
      </p:sp>
      <p:sp>
        <p:nvSpPr>
          <p:cNvPr id="29" name="TextBox 28"/>
          <p:cNvSpPr txBox="1"/>
          <p:nvPr/>
        </p:nvSpPr>
        <p:spPr>
          <a:xfrm>
            <a:off x="8247888"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0" name="TextBox 29"/>
          <p:cNvSpPr txBox="1"/>
          <p:nvPr/>
        </p:nvSpPr>
        <p:spPr>
          <a:xfrm>
            <a:off x="8247888" y="314553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該当の契約と活動を指名し、担当部門に事実確認を依頼する（温度ログ、出荷記録、クレーム対応の有無）</a:t>
            </a:r>
          </a:p>
        </p:txBody>
      </p:sp>
      <p:sp>
        <p:nvSpPr>
          <p:cNvPr id="31" name="TextBox 30"/>
          <p:cNvSpPr txBox="1"/>
          <p:nvPr/>
        </p:nvSpPr>
        <p:spPr>
          <a:xfrm>
            <a:off x="8247888" y="3886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2" name="TextBox 31"/>
          <p:cNvSpPr txBox="1"/>
          <p:nvPr/>
        </p:nvSpPr>
        <p:spPr>
          <a:xfrm>
            <a:off x="8247888" y="410565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影響が大きい契約を比べて、優先順位を付ける（Step04）</a:t>
            </a:r>
          </a:p>
        </p:txBody>
      </p:sp>
      <p:sp>
        <p:nvSpPr>
          <p:cNvPr id="33" name="TextBox 32"/>
          <p:cNvSpPr txBox="1"/>
          <p:nvPr/>
        </p:nvSpPr>
        <p:spPr>
          <a:xfrm>
            <a:off x="8247888" y="4648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まだ取れない</a:t>
            </a:r>
          </a:p>
        </p:txBody>
      </p:sp>
      <p:sp>
        <p:nvSpPr>
          <p:cNvPr id="34" name="TextBox 33"/>
          <p:cNvSpPr txBox="1"/>
          <p:nvPr/>
        </p:nvSpPr>
        <p:spPr>
          <a:xfrm>
            <a:off x="8247888" y="486765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原因の断定と、再発防止策の決定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食品損失の根拠（金額の読み方）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4つの金額は範囲が違う</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食品損失の説明には、似た4つの金額が出てきますが、何の合計かが違います。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足したり、直接比べたりせず、何の合計かを添えて話します。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画面の億円表示は丸めた値。厳密に照合するときは、円単位の値を使う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66928" y="2377440"/>
            <a:ext cx="6949440" cy="3493008"/>
          </a:xfrm>
          <a:prstGeom prst="roundRect">
            <a:avLst>
              <a:gd name="adj" fmla="val 8000"/>
            </a:avLst>
          </a:prstGeom>
          <a:solidFill>
            <a:srgbClr val="D8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487168"/>
            <a:ext cx="42062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④ 同じ日の全8社のEBITDA</a:t>
            </a:r>
          </a:p>
        </p:txBody>
      </p:sp>
      <p:sp>
        <p:nvSpPr>
          <p:cNvPr id="11" name="TextBox 10"/>
          <p:cNvSpPr txBox="1"/>
          <p:nvPr/>
        </p:nvSpPr>
        <p:spPr>
          <a:xfrm>
            <a:off x="5120640" y="2450592"/>
            <a:ext cx="219456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+1.13億円</a:t>
            </a:r>
          </a:p>
        </p:txBody>
      </p:sp>
      <p:sp>
        <p:nvSpPr>
          <p:cNvPr id="12" name="TextBox 11"/>
          <p:cNvSpPr txBox="1"/>
          <p:nvPr/>
        </p:nvSpPr>
        <p:spPr>
          <a:xfrm>
            <a:off x="804672" y="2798064"/>
            <a:ext cx="64008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+113,069,201.90円</a:t>
            </a:r>
          </a:p>
        </p:txBody>
      </p:sp>
      <p:sp>
        <p:nvSpPr>
          <p:cNvPr id="13" name="Rounded Rectangle 12"/>
          <p:cNvSpPr/>
          <p:nvPr/>
        </p:nvSpPr>
        <p:spPr>
          <a:xfrm>
            <a:off x="896112" y="3200400"/>
            <a:ext cx="6291072" cy="2542032"/>
          </a:xfrm>
          <a:prstGeom prst="roundRect">
            <a:avLst>
              <a:gd name="adj" fmla="val 8000"/>
            </a:avLst>
          </a:prstGeom>
          <a:solidFill>
            <a:srgbClr val="EA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291840"/>
            <a:ext cx="402336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③ その日の日本食品会社のEBITDA</a:t>
            </a:r>
          </a:p>
        </p:txBody>
      </p:sp>
      <p:sp>
        <p:nvSpPr>
          <p:cNvPr id="15" name="TextBox 14"/>
          <p:cNvSpPr txBox="1"/>
          <p:nvPr/>
        </p:nvSpPr>
        <p:spPr>
          <a:xfrm>
            <a:off x="5029200" y="3255264"/>
            <a:ext cx="192024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+371万円</a:t>
            </a:r>
          </a:p>
        </p:txBody>
      </p:sp>
      <p:sp>
        <p:nvSpPr>
          <p:cNvPr id="16" name="TextBox 15"/>
          <p:cNvSpPr txBox="1"/>
          <p:nvPr/>
        </p:nvSpPr>
        <p:spPr>
          <a:xfrm>
            <a:off x="1115568" y="3602736"/>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+3,711,231.19円</a:t>
            </a:r>
          </a:p>
        </p:txBody>
      </p:sp>
      <p:sp>
        <p:nvSpPr>
          <p:cNvPr id="17" name="TextBox 16"/>
          <p:cNvSpPr txBox="1"/>
          <p:nvPr/>
        </p:nvSpPr>
        <p:spPr>
          <a:xfrm>
            <a:off x="1115568" y="3822191"/>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食品損失3効果（計−689万円）を反映した後の値。反映前は+1,060万円</a:t>
            </a:r>
          </a:p>
        </p:txBody>
      </p:sp>
      <p:sp>
        <p:nvSpPr>
          <p:cNvPr id="18" name="Rounded Rectangle 17"/>
          <p:cNvSpPr/>
          <p:nvPr/>
        </p:nvSpPr>
        <p:spPr>
          <a:xfrm>
            <a:off x="1225296" y="4334256"/>
            <a:ext cx="5650992"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4752" y="4425696"/>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② 食品損失の代表1効果</a:t>
            </a:r>
          </a:p>
        </p:txBody>
      </p:sp>
      <p:sp>
        <p:nvSpPr>
          <p:cNvPr id="20" name="TextBox 19"/>
          <p:cNvSpPr txBox="1"/>
          <p:nvPr/>
        </p:nvSpPr>
        <p:spPr>
          <a:xfrm>
            <a:off x="4754880" y="4389120"/>
            <a:ext cx="1920240" cy="329184"/>
          </a:xfrm>
          <a:prstGeom prst="rect">
            <a:avLst/>
          </a:prstGeom>
          <a:noFill/>
        </p:spPr>
        <p:txBody>
          <a:bodyPr wrap="square" lIns="0" rIns="0" tIns="0" bIns="0">
            <a:spAutoFit/>
          </a:bodyPr>
          <a:lstStyle/>
          <a:p>
            <a:pPr algn="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−300万円</a:t>
            </a:r>
          </a:p>
        </p:txBody>
      </p:sp>
      <p:sp>
        <p:nvSpPr>
          <p:cNvPr id="21" name="TextBox 20"/>
          <p:cNvSpPr txBox="1"/>
          <p:nvPr/>
        </p:nvSpPr>
        <p:spPr>
          <a:xfrm>
            <a:off x="1444752" y="4736592"/>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SUB_FOD_JP_01_A133_0_FOD_NEG_F　−3,003,488.94円</a:t>
            </a:r>
          </a:p>
        </p:txBody>
      </p:sp>
      <p:sp>
        <p:nvSpPr>
          <p:cNvPr id="22" name="TextBox 21"/>
          <p:cNvSpPr txBox="1"/>
          <p:nvPr/>
        </p:nvSpPr>
        <p:spPr>
          <a:xfrm>
            <a:off x="1444752" y="5029200"/>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③に反映されている押し下げ分の1つ</a:t>
            </a:r>
          </a:p>
        </p:txBody>
      </p:sp>
      <p:sp>
        <p:nvSpPr>
          <p:cNvPr id="23" name="Rounded Rectangle 22"/>
          <p:cNvSpPr/>
          <p:nvPr/>
        </p:nvSpPr>
        <p:spPr>
          <a:xfrm>
            <a:off x="7772400" y="2377440"/>
            <a:ext cx="3840480" cy="1783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6" y="2487168"/>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① 食品損失の全体（84効果）</a:t>
            </a:r>
          </a:p>
        </p:txBody>
      </p:sp>
      <p:sp>
        <p:nvSpPr>
          <p:cNvPr id="25" name="TextBox 24"/>
          <p:cNvSpPr txBox="1"/>
          <p:nvPr/>
        </p:nvSpPr>
        <p:spPr>
          <a:xfrm>
            <a:off x="7991856" y="2816352"/>
            <a:ext cx="3474720" cy="384048"/>
          </a:xfrm>
          <a:prstGeom prst="rect">
            <a:avLst/>
          </a:prstGeom>
          <a:noFill/>
        </p:spPr>
        <p:txBody>
          <a:bodyPr wrap="square" lIns="0" rIns="0" tIns="0" bIns="0">
            <a:spAutoFit/>
          </a:bodyPr>
          <a:lstStyle/>
          <a:p>
            <a:pPr>
              <a:lnSpc>
                <a:spcPts val="3250"/>
              </a:lnSpc>
              <a:spcAft>
                <a:spcPts val="500"/>
              </a:spcAft>
              <a:defRPr sz="2600" b="1">
                <a:solidFill>
                  <a:srgbClr val="BD4354"/>
                </a:solidFill>
                <a:latin typeface="Yu Gothic"/>
              </a:defRPr>
            </a:pPr>
            <a:r>
              <a:rPr sz="2600" b="1" lang="ja-JP">
                <a:solidFill>
                  <a:srgbClr val="BD4354"/>
                </a:solidFill>
                <a:latin typeface="Yu Gothic"/>
                <a:ea typeface="Yu Gothic"/>
              </a:rPr>
              <a:t>−1.14億円</a:t>
            </a:r>
          </a:p>
        </p:txBody>
      </p:sp>
      <p:sp>
        <p:nvSpPr>
          <p:cNvPr id="26" name="TextBox 25"/>
          <p:cNvSpPr txBox="1"/>
          <p:nvPr/>
        </p:nvSpPr>
        <p:spPr>
          <a:xfrm>
            <a:off x="7991856" y="3310128"/>
            <a:ext cx="3429000" cy="36576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期間全体（イベント期間は2月9日から3月1日）の合計　−114,461,186.25円</a:t>
            </a:r>
          </a:p>
        </p:txBody>
      </p:sp>
      <p:sp>
        <p:nvSpPr>
          <p:cNvPr id="27" name="TextBox 26"/>
          <p:cNvSpPr txBox="1"/>
          <p:nvPr/>
        </p:nvSpPr>
        <p:spPr>
          <a:xfrm>
            <a:off x="7991856" y="3767328"/>
            <a:ext cx="34290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②を含む84件の合計</a:t>
            </a:r>
          </a:p>
        </p:txBody>
      </p:sp>
      <p:sp>
        <p:nvSpPr>
          <p:cNvPr id="28" name="Rounded Rectangle 27"/>
          <p:cNvSpPr/>
          <p:nvPr/>
        </p:nvSpPr>
        <p:spPr>
          <a:xfrm>
            <a:off x="7772400" y="4279392"/>
            <a:ext cx="384048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91856" y="4370832"/>
            <a:ext cx="3474720" cy="256032"/>
          </a:xfrm>
          <a:prstGeom prst="rect">
            <a:avLst/>
          </a:prstGeom>
          <a:noFill/>
        </p:spPr>
        <p:txBody>
          <a:bodyPr wrap="square" lIns="0" rIns="0" tIns="0" bIns="0">
            <a:spAutoFit/>
          </a:bodyPr>
          <a:lstStyle/>
          <a:p>
            <a:pPr>
              <a:lnSpc>
                <a:spcPts val="1620"/>
              </a:lnSpc>
              <a:spcAft>
                <a:spcPts val="500"/>
              </a:spcAft>
              <a:defRPr sz="1300" b="1">
                <a:solidFill>
                  <a:srgbClr val="7352AD"/>
                </a:solidFill>
                <a:latin typeface="Yu Gothic"/>
              </a:defRPr>
            </a:pPr>
            <a:r>
              <a:rPr sz="1300" b="1" lang="ja-JP">
                <a:solidFill>
                  <a:srgbClr val="7352AD"/>
                </a:solidFill>
                <a:latin typeface="Yu Gothic"/>
                <a:ea typeface="Yu Gothic"/>
              </a:rPr>
              <a:t>読み違いの例</a:t>
            </a:r>
          </a:p>
        </p:txBody>
      </p:sp>
      <p:sp>
        <p:nvSpPr>
          <p:cNvPr id="30" name="TextBox 29"/>
          <p:cNvSpPr txBox="1"/>
          <p:nvPr/>
        </p:nvSpPr>
        <p:spPr>
          <a:xfrm>
            <a:off x="7991856" y="4663440"/>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誤</a:t>
            </a:r>
          </a:p>
        </p:txBody>
      </p:sp>
      <p:sp>
        <p:nvSpPr>
          <p:cNvPr id="31" name="TextBox 30"/>
          <p:cNvSpPr txBox="1"/>
          <p:nvPr/>
        </p:nvSpPr>
        <p:spPr>
          <a:xfrm>
            <a:off x="7991856" y="4864607"/>
            <a:ext cx="3456432" cy="3632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食品損失があるので、2/11の全社は1.13億円の損失</a:t>
            </a:r>
          </a:p>
        </p:txBody>
      </p:sp>
      <p:sp>
        <p:nvSpPr>
          <p:cNvPr id="32" name="TextBox 31"/>
          <p:cNvSpPr txBox="1"/>
          <p:nvPr/>
        </p:nvSpPr>
        <p:spPr>
          <a:xfrm>
            <a:off x="7991856" y="5273547"/>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正</a:t>
            </a:r>
          </a:p>
        </p:txBody>
      </p:sp>
      <p:sp>
        <p:nvSpPr>
          <p:cNvPr id="33" name="TextBox 32"/>
          <p:cNvSpPr txBox="1"/>
          <p:nvPr/>
        </p:nvSpPr>
        <p:spPr>
          <a:xfrm>
            <a:off x="7991856" y="5474715"/>
            <a:ext cx="3456432" cy="18161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1.13億円は損失ではなく、その日の全取引の合計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8 GraphとDeltaの役割分担</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関係はGraph、金額はDeltaで照合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Graphの数値は浮動小数点で、金額の合計を会計の根拠にはできません。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それでも関係はGraphでたどるので、2つを別々に確認して照合しています。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このページを使う場面：Graphだけで金額を出さない理由や、図の数字をどう保証しているかを聞かれたとき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52</a:t>
            </a:r>
          </a:p>
        </p:txBody>
      </p:sp>
      <p:sp>
        <p:nvSpPr>
          <p:cNvPr id="9" name="Rounded Rectangle 8"/>
          <p:cNvSpPr/>
          <p:nvPr/>
        </p:nvSpPr>
        <p:spPr>
          <a:xfrm>
            <a:off x="566928"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Graph（GQL）：つながりをたどる</a:t>
            </a:r>
          </a:p>
        </p:txBody>
      </p:sp>
      <p:sp>
        <p:nvSpPr>
          <p:cNvPr id="11" name="TextBox 10"/>
          <p:cNvSpPr txBox="1"/>
          <p:nvPr/>
        </p:nvSpPr>
        <p:spPr>
          <a:xfrm>
            <a:off x="786384"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食品損失の84効果と、その関係（活動、契約、会社）を取得する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代表1活動の観測値（温度、廃棄率）を取得する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向かないこと：金額の合計（数値が浮動小数点）</a:t>
            </a:r>
          </a:p>
        </p:txBody>
      </p:sp>
      <p:sp>
        <p:nvSpPr>
          <p:cNvPr id="12" name="Rounded Rectangle 11"/>
          <p:cNvSpPr/>
          <p:nvPr/>
        </p:nvSpPr>
        <p:spPr>
          <a:xfrm>
            <a:off x="6254496"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Delta（Spark）：金額を正確に合計する</a:t>
            </a:r>
          </a:p>
        </p:txBody>
      </p:sp>
      <p:sp>
        <p:nvSpPr>
          <p:cNvPr id="14" name="TextBox 13"/>
          <p:cNvSpPr txBox="1"/>
          <p:nvPr/>
        </p:nvSpPr>
        <p:spPr>
          <a:xfrm>
            <a:off x="6473952"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84効果の金額を、DECIMALで重複なく合計する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効果、会社の日次、全社の日次を区別して読む</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向かないこと：関係の経路をたどること</a:t>
            </a:r>
          </a:p>
        </p:txBody>
      </p:sp>
      <p:cxnSp>
        <p:nvCxnSpPr>
          <p:cNvPr id="15" name="Connector 14"/>
          <p:cNvCxnSpPr/>
          <p:nvPr/>
        </p:nvCxnSpPr>
        <p:spPr>
          <a:xfrm>
            <a:off x="3246120"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Graphで取得した84効果のID</a:t>
            </a:r>
          </a:p>
        </p:txBody>
      </p:sp>
      <p:sp>
        <p:nvSpPr>
          <p:cNvPr id="19" name="Rounded Rectangle 18"/>
          <p:cNvSpPr/>
          <p:nvPr/>
        </p:nvSpPr>
        <p:spPr>
          <a:xfrm>
            <a:off x="6254496"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Deltaで合計した84効果のIDと金額</a:t>
            </a:r>
          </a:p>
        </p:txBody>
      </p:sp>
      <p:sp>
        <p:nvSpPr>
          <p:cNvPr id="21" name="TextBox 20"/>
          <p:cNvSpPr txBox="1"/>
          <p:nvPr/>
        </p:nvSpPr>
        <p:spPr>
          <a:xfrm>
            <a:off x="5943600" y="4626864"/>
            <a:ext cx="274320" cy="365760"/>
          </a:xfrm>
          <a:prstGeom prst="rect">
            <a:avLst/>
          </a:prstGeom>
          <a:noFill/>
        </p:spPr>
        <p:txBody>
          <a:bodyPr wrap="square" lIns="0" rIns="0" tIns="0" bIns="0">
            <a:spAutoFit/>
          </a:bodyPr>
          <a:lstStyle/>
          <a:p>
            <a:pPr algn="ctr">
              <a:lnSpc>
                <a:spcPts val="2500"/>
              </a:lnSpc>
              <a:spcAft>
                <a:spcPts val="500"/>
              </a:spcAft>
              <a:defRPr sz="2000" b="1">
                <a:solidFill>
                  <a:srgbClr val="17334A"/>
                </a:solidFill>
                <a:latin typeface="Yu Gothic"/>
              </a:defRPr>
            </a:pPr>
            <a:r>
              <a:rPr sz="2000" b="1" lang="ja-JP">
                <a:solidFill>
                  <a:srgbClr val="17334A"/>
                </a:solidFill>
                <a:latin typeface="Yu Gothic"/>
                <a:ea typeface="Yu Gothic"/>
              </a:rPr>
              <a:t>＝</a:t>
            </a:r>
          </a:p>
        </p:txBody>
      </p:sp>
      <p:sp>
        <p:nvSpPr>
          <p:cNvPr id="22" name="TextBox 21"/>
          <p:cNvSpPr txBox="1"/>
          <p:nvPr/>
        </p:nvSpPr>
        <p:spPr>
          <a:xfrm>
            <a:off x="585216" y="5248656"/>
            <a:ext cx="10972800" cy="274320"/>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一致したときだけ、代表経路のHTMLとSVGを保存する。不一致、認証失敗、空の結果では停止する。</a:t>
            </a:r>
          </a:p>
        </p:txBody>
      </p:sp>
      <p:sp>
        <p:nvSpPr>
          <p:cNvPr id="23" name="TextBox 22"/>
          <p:cNvSpPr txBox="1"/>
          <p:nvPr/>
        </p:nvSpPr>
        <p:spPr>
          <a:xfrm>
            <a:off x="585216" y="5559552"/>
            <a:ext cx="10972800" cy="27432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Learn：Graphは、関係の経路が重要な場面のための任意の実行層。通常の参照、集計、メトリクスは、元のデータで実行できる。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食品損失の根拠（Notebookの操作）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Notebookは保存済みの結果から始める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Notebookは実行済みの結果（HTML）を先頭に置いているので、再実行を待たずに説明できます。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最新のGraphを読み直す操作は、保存結果を見せる操作とは別に、必要なときだけ行います。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
        <p:nvSpPr>
          <p:cNvPr id="21" name="TextBox 20"/>
          <p:cNvSpPr txBox="1"/>
          <p:nvPr/>
        </p:nvSpPr>
        <p:spPr>
          <a:xfrm>
            <a:off x="804672"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2" name="TextBox 21"/>
          <p:cNvSpPr txBox="1"/>
          <p:nvPr/>
        </p:nvSpPr>
        <p:spPr>
          <a:xfrm>
            <a:off x="804672"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普段のデモ。保存済みの結果を、そのまま説明する。</a:t>
            </a:r>
          </a:p>
        </p:txBody>
      </p:sp>
      <p:sp>
        <p:nvSpPr>
          <p:cNvPr id="23" name="TextBox 22"/>
          <p:cNvSpPr txBox="1"/>
          <p:nvPr/>
        </p:nvSpPr>
        <p:spPr>
          <a:xfrm>
            <a:off x="4590288"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4" name="TextBox 23"/>
          <p:cNvSpPr txBox="1"/>
          <p:nvPr/>
        </p:nvSpPr>
        <p:spPr>
          <a:xfrm>
            <a:off x="4590288"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保存日時より新しい値を、見せたいとき。</a:t>
            </a:r>
          </a:p>
        </p:txBody>
      </p:sp>
      <p:sp>
        <p:nvSpPr>
          <p:cNvPr id="25" name="TextBox 24"/>
          <p:cNvSpPr txBox="1"/>
          <p:nvPr/>
        </p:nvSpPr>
        <p:spPr>
          <a:xfrm>
            <a:off x="8375904"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使う場面</a:t>
            </a:r>
          </a:p>
        </p:txBody>
      </p:sp>
      <p:sp>
        <p:nvSpPr>
          <p:cNvPr id="26" name="TextBox 25"/>
          <p:cNvSpPr txBox="1"/>
          <p:nvPr/>
        </p:nvSpPr>
        <p:spPr>
          <a:xfrm>
            <a:off x="8375904"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実行が失敗した、結果が出ないとき。</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1880"/>
              </a:lnSpc>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影響点と対応案（DAの実行例）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締め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デモで見せた3つの価値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経営の数字は、会社や部署によって言葉の意味が違い、根拠を確認するにも手間がかかります。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Ontologyは、意味とつながりを一度定義して、質問のたびに作り直さずに使えるようにします。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次の一歩：お客様のイベントを1件選び、同じ形で定義できるかを確かめる（第5章）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意味をそろえる</a:t>
            </a:r>
          </a:p>
        </p:txBody>
      </p:sp>
      <p:sp>
        <p:nvSpPr>
          <p:cNvPr id="11" name="TextBox 10"/>
          <p:cNvSpPr txBox="1"/>
          <p:nvPr/>
        </p:nvSpPr>
        <p:spPr>
          <a:xfrm>
            <a:off x="786384"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2" name="TextBox 11"/>
          <p:cNvSpPr txBox="1"/>
          <p:nvPr/>
        </p:nvSpPr>
        <p:spPr>
          <a:xfrm>
            <a:off x="786384"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全額か持分か、基準値か実績かの意味が、人によって違うことがある。</a:t>
            </a:r>
          </a:p>
        </p:txBody>
      </p:sp>
      <p:sp>
        <p:nvSpPr>
          <p:cNvPr id="13" name="TextBox 12"/>
          <p:cNvSpPr txBox="1"/>
          <p:nvPr/>
        </p:nvSpPr>
        <p:spPr>
          <a:xfrm>
            <a:off x="786384"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このデモでは</a:t>
            </a:r>
          </a:p>
        </p:txBody>
      </p:sp>
      <p:sp>
        <p:nvSpPr>
          <p:cNvPr id="14" name="TextBox 13"/>
          <p:cNvSpPr txBox="1"/>
          <p:nvPr/>
        </p:nvSpPr>
        <p:spPr>
          <a:xfrm>
            <a:off x="786384"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全額連結と持分管理、baselineとactualを区別して定義し、8社をJPYの同じ尺度で比べた。</a:t>
            </a:r>
          </a:p>
        </p:txBody>
      </p:sp>
      <p:sp>
        <p:nvSpPr>
          <p:cNvPr id="15" name="Rounded Rectangle 14"/>
          <p:cNvSpPr/>
          <p:nvPr/>
        </p:nvSpPr>
        <p:spPr>
          <a:xfrm>
            <a:off x="4306824"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つながりをたどる</a:t>
            </a:r>
          </a:p>
        </p:txBody>
      </p:sp>
      <p:sp>
        <p:nvSpPr>
          <p:cNvPr id="17" name="TextBox 16"/>
          <p:cNvSpPr txBox="1"/>
          <p:nvPr/>
        </p:nvSpPr>
        <p:spPr>
          <a:xfrm>
            <a:off x="4526280"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8" name="TextBox 17"/>
          <p:cNvSpPr txBox="1"/>
          <p:nvPr/>
        </p:nvSpPr>
        <p:spPr>
          <a:xfrm>
            <a:off x="4526280"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「この損失はどの契約に効いたか」と聞くたびに、詳しい人が表をつなぎ直すことが多い。</a:t>
            </a:r>
          </a:p>
        </p:txBody>
      </p:sp>
      <p:sp>
        <p:nvSpPr>
          <p:cNvPr id="19" name="TextBox 18"/>
          <p:cNvSpPr txBox="1"/>
          <p:nvPr/>
        </p:nvSpPr>
        <p:spPr>
          <a:xfrm>
            <a:off x="4526280"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このデモでは</a:t>
            </a:r>
          </a:p>
        </p:txBody>
      </p:sp>
      <p:sp>
        <p:nvSpPr>
          <p:cNvPr id="20" name="TextBox 19"/>
          <p:cNvSpPr txBox="1"/>
          <p:nvPr/>
        </p:nvSpPr>
        <p:spPr>
          <a:xfrm>
            <a:off x="4526280"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イベント、効果、活動、契約、会社、全社KPIのつながりを関係として定義し、食品損失から契約までたどった。</a:t>
            </a:r>
          </a:p>
        </p:txBody>
      </p:sp>
      <p:sp>
        <p:nvSpPr>
          <p:cNvPr id="21" name="Rounded Rectangle 20"/>
          <p:cNvSpPr/>
          <p:nvPr/>
        </p:nvSpPr>
        <p:spPr>
          <a:xfrm>
            <a:off x="8046719"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根拠を添える</a:t>
            </a:r>
          </a:p>
        </p:txBody>
      </p:sp>
      <p:sp>
        <p:nvSpPr>
          <p:cNvPr id="23" name="TextBox 22"/>
          <p:cNvSpPr txBox="1"/>
          <p:nvPr/>
        </p:nvSpPr>
        <p:spPr>
          <a:xfrm>
            <a:off x="8266175"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24" name="TextBox 23"/>
          <p:cNvSpPr txBox="1"/>
          <p:nvPr/>
        </p:nvSpPr>
        <p:spPr>
          <a:xfrm>
            <a:off x="8266175"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数字は出ても、元の記録を確かめるのに時間がかかることが多い。</a:t>
            </a:r>
          </a:p>
        </p:txBody>
      </p:sp>
      <p:sp>
        <p:nvSpPr>
          <p:cNvPr id="25" name="TextBox 24"/>
          <p:cNvSpPr txBox="1"/>
          <p:nvPr/>
        </p:nvSpPr>
        <p:spPr>
          <a:xfrm>
            <a:off x="8266175"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このデモでは</a:t>
            </a:r>
          </a:p>
        </p:txBody>
      </p:sp>
      <p:sp>
        <p:nvSpPr>
          <p:cNvPr id="26" name="TextBox 25"/>
          <p:cNvSpPr txBox="1"/>
          <p:nvPr/>
        </p:nvSpPr>
        <p:spPr>
          <a:xfrm>
            <a:off x="8266175"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答えに、根拠、契約、効果のIDと金額を添えた。金額は別の集計で照合した。</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進め方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4つの入力の使い分け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実演でDAに4つの質問を入れる順番と、うまくいかないときの代わりの手段を、先に決めておきます。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各入力の全文は、このあとの「入力①」から「入力④」のページにあります。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迷ったら①②③の順。うまくいかないときは、保存済みの参考結果に切り替え、ライブの回答とは呼ばない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TextBox 8"/>
          <p:cNvSpPr txBox="1"/>
          <p:nvPr/>
        </p:nvSpPr>
        <p:spPr>
          <a:xfrm>
            <a:off x="676656"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入力</a:t>
            </a:r>
          </a:p>
        </p:txBody>
      </p:sp>
      <p:sp>
        <p:nvSpPr>
          <p:cNvPr id="10" name="TextBox 9"/>
          <p:cNvSpPr txBox="1"/>
          <p:nvPr/>
        </p:nvSpPr>
        <p:spPr>
          <a:xfrm>
            <a:off x="1225295" y="2359152"/>
            <a:ext cx="2798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営業向けの聞き方</a:t>
            </a:r>
          </a:p>
        </p:txBody>
      </p:sp>
      <p:sp>
        <p:nvSpPr>
          <p:cNvPr id="11" name="TextBox 10"/>
          <p:cNvSpPr txBox="1"/>
          <p:nvPr/>
        </p:nvSpPr>
        <p:spPr>
          <a:xfrm>
            <a:off x="4242816" y="2359152"/>
            <a:ext cx="2615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見せること</a:t>
            </a:r>
          </a:p>
        </p:txBody>
      </p:sp>
      <p:sp>
        <p:nvSpPr>
          <p:cNvPr id="12" name="TextBox 11"/>
          <p:cNvSpPr txBox="1"/>
          <p:nvPr/>
        </p:nvSpPr>
        <p:spPr>
          <a:xfrm>
            <a:off x="7077455" y="2359152"/>
            <a:ext cx="74066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画面</a:t>
            </a:r>
          </a:p>
        </p:txBody>
      </p:sp>
      <p:sp>
        <p:nvSpPr>
          <p:cNvPr id="13" name="TextBox 12"/>
          <p:cNvSpPr txBox="1"/>
          <p:nvPr/>
        </p:nvSpPr>
        <p:spPr>
          <a:xfrm>
            <a:off x="8037575"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区分</a:t>
            </a:r>
          </a:p>
        </p:txBody>
      </p:sp>
      <p:sp>
        <p:nvSpPr>
          <p:cNvPr id="14" name="TextBox 13"/>
          <p:cNvSpPr txBox="1"/>
          <p:nvPr/>
        </p:nvSpPr>
        <p:spPr>
          <a:xfrm>
            <a:off x="8586215" y="2359152"/>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うまくいかないとき</a:t>
            </a:r>
          </a:p>
        </p:txBody>
      </p:sp>
      <p:sp>
        <p:nvSpPr>
          <p:cNvPr id="15" name="Rounded Rectangle 14"/>
          <p:cNvSpPr/>
          <p:nvPr/>
        </p:nvSpPr>
        <p:spPr>
          <a:xfrm>
            <a:off x="566928" y="2660904"/>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724912"/>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①</a:t>
            </a:r>
          </a:p>
        </p:txBody>
      </p:sp>
      <p:sp>
        <p:nvSpPr>
          <p:cNvPr id="17" name="TextBox 16"/>
          <p:cNvSpPr txBox="1"/>
          <p:nvPr/>
        </p:nvSpPr>
        <p:spPr>
          <a:xfrm>
            <a:off x="1225295" y="2724912"/>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全社の稼ぎは、基準に対してどう動いた？</a:t>
            </a:r>
          </a:p>
        </p:txBody>
      </p:sp>
      <p:sp>
        <p:nvSpPr>
          <p:cNvPr id="18" name="TextBox 17"/>
          <p:cNvSpPr txBox="1"/>
          <p:nvPr/>
        </p:nvSpPr>
        <p:spPr>
          <a:xfrm>
            <a:off x="4242816" y="2724912"/>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月次のbaselineとactual、</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年間の全額と持分管理</a:t>
            </a:r>
          </a:p>
        </p:txBody>
      </p:sp>
      <p:sp>
        <p:nvSpPr>
          <p:cNvPr id="19" name="TextBox 18"/>
          <p:cNvSpPr txBox="1"/>
          <p:nvPr/>
        </p:nvSpPr>
        <p:spPr>
          <a:xfrm>
            <a:off x="7077455" y="2724912"/>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0" name="TextBox 19"/>
          <p:cNvSpPr txBox="1"/>
          <p:nvPr/>
        </p:nvSpPr>
        <p:spPr>
          <a:xfrm>
            <a:off x="8037575" y="2724912"/>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1" name="TextBox 20"/>
          <p:cNvSpPr txBox="1"/>
          <p:nvPr/>
        </p:nvSpPr>
        <p:spPr>
          <a:xfrm>
            <a:off x="8586215" y="2724912"/>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期間合計を外し、12か月、</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縦軸を億円にして作り直す</a:t>
            </a:r>
          </a:p>
        </p:txBody>
      </p:sp>
      <p:sp>
        <p:nvSpPr>
          <p:cNvPr id="22" name="Rounded Rectangle 21"/>
          <p:cNvSpPr/>
          <p:nvPr/>
        </p:nvSpPr>
        <p:spPr>
          <a:xfrm>
            <a:off x="566928" y="3282696"/>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46704"/>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②</a:t>
            </a:r>
          </a:p>
        </p:txBody>
      </p:sp>
      <p:sp>
        <p:nvSpPr>
          <p:cNvPr id="24" name="TextBox 23"/>
          <p:cNvSpPr txBox="1"/>
          <p:nvPr/>
        </p:nvSpPr>
        <p:spPr>
          <a:xfrm>
            <a:off x="1225295" y="3346704"/>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何が稼ぎを押し上げ、押し下げた？</a:t>
            </a:r>
          </a:p>
        </p:txBody>
      </p:sp>
      <p:sp>
        <p:nvSpPr>
          <p:cNvPr id="25" name="TextBox 24"/>
          <p:cNvSpPr txBox="1"/>
          <p:nvPr/>
        </p:nvSpPr>
        <p:spPr>
          <a:xfrm>
            <a:off x="4242816" y="3346704"/>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10イベントの符号付きの影響。</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食品損失は約−1.14億円</a:t>
            </a:r>
          </a:p>
        </p:txBody>
      </p:sp>
      <p:sp>
        <p:nvSpPr>
          <p:cNvPr id="26" name="TextBox 25"/>
          <p:cNvSpPr txBox="1"/>
          <p:nvPr/>
        </p:nvSpPr>
        <p:spPr>
          <a:xfrm>
            <a:off x="7077455" y="3346704"/>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7" name="TextBox 26"/>
          <p:cNvSpPr txBox="1"/>
          <p:nvPr/>
        </p:nvSpPr>
        <p:spPr>
          <a:xfrm>
            <a:off x="8037575" y="3346704"/>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8" name="TextBox 27"/>
          <p:cNvSpPr txBox="1"/>
          <p:nvPr/>
        </p:nvSpPr>
        <p:spPr>
          <a:xfrm>
            <a:off x="8586215" y="3346704"/>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色や縦横の指定を外す</a:t>
            </a:r>
          </a:p>
        </p:txBody>
      </p:sp>
      <p:sp>
        <p:nvSpPr>
          <p:cNvPr id="29" name="Rounded Rectangle 28"/>
          <p:cNvSpPr/>
          <p:nvPr/>
        </p:nvSpPr>
        <p:spPr>
          <a:xfrm>
            <a:off x="566928" y="3904488"/>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968496"/>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③</a:t>
            </a:r>
          </a:p>
        </p:txBody>
      </p:sp>
      <p:sp>
        <p:nvSpPr>
          <p:cNvPr id="31" name="TextBox 30"/>
          <p:cNvSpPr txBox="1"/>
          <p:nvPr/>
        </p:nvSpPr>
        <p:spPr>
          <a:xfrm>
            <a:off x="1225295" y="3968496"/>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食品損失は、どの記録、取引、</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契約につながる？</a:t>
            </a:r>
          </a:p>
        </p:txBody>
      </p:sp>
      <p:sp>
        <p:nvSpPr>
          <p:cNvPr id="32" name="TextBox 31"/>
          <p:cNvSpPr txBox="1"/>
          <p:nvPr/>
        </p:nvSpPr>
        <p:spPr>
          <a:xfrm>
            <a:off x="4242816" y="3968496"/>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金額とIDをDAで確認し、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関係の図をNotebookで見せる</a:t>
            </a:r>
          </a:p>
        </p:txBody>
      </p:sp>
      <p:sp>
        <p:nvSpPr>
          <p:cNvPr id="33" name="TextBox 32"/>
          <p:cNvSpPr txBox="1"/>
          <p:nvPr/>
        </p:nvSpPr>
        <p:spPr>
          <a:xfrm>
            <a:off x="7077455" y="3968496"/>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Notebook</a:t>
            </a:r>
          </a:p>
        </p:txBody>
      </p:sp>
      <p:sp>
        <p:nvSpPr>
          <p:cNvPr id="34" name="TextBox 33"/>
          <p:cNvSpPr txBox="1"/>
          <p:nvPr/>
        </p:nvSpPr>
        <p:spPr>
          <a:xfrm>
            <a:off x="8037575" y="3968496"/>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5" name="TextBox 34"/>
          <p:cNvSpPr txBox="1"/>
          <p:nvPr/>
        </p:nvSpPr>
        <p:spPr>
          <a:xfrm>
            <a:off x="8586215" y="3968496"/>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Notebookが動かなければ、</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保存済みHTMLを「保存時点」と断って使う</a:t>
            </a:r>
          </a:p>
        </p:txBody>
      </p:sp>
      <p:sp>
        <p:nvSpPr>
          <p:cNvPr id="36" name="Rounded Rectangle 35"/>
          <p:cNvSpPr/>
          <p:nvPr/>
        </p:nvSpPr>
        <p:spPr>
          <a:xfrm>
            <a:off x="566928" y="4526280"/>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590288"/>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④</a:t>
            </a:r>
          </a:p>
        </p:txBody>
      </p:sp>
      <p:sp>
        <p:nvSpPr>
          <p:cNvPr id="38" name="TextBox 37"/>
          <p:cNvSpPr txBox="1"/>
          <p:nvPr/>
        </p:nvSpPr>
        <p:spPr>
          <a:xfrm>
            <a:off x="1225295" y="4590288"/>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どの契約から手を打つ？</a:t>
            </a:r>
          </a:p>
        </p:txBody>
      </p:sp>
      <p:sp>
        <p:nvSpPr>
          <p:cNvPr id="39" name="TextBox 38"/>
          <p:cNvSpPr txBox="1"/>
          <p:nvPr/>
        </p:nvSpPr>
        <p:spPr>
          <a:xfrm>
            <a:off x="4242816" y="4590288"/>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契約別の影響額と、優先度つきの対応案</a:t>
            </a:r>
          </a:p>
        </p:txBody>
      </p:sp>
      <p:sp>
        <p:nvSpPr>
          <p:cNvPr id="40" name="TextBox 39"/>
          <p:cNvSpPr txBox="1"/>
          <p:nvPr/>
        </p:nvSpPr>
        <p:spPr>
          <a:xfrm>
            <a:off x="7077455" y="4590288"/>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1" name="TextBox 40"/>
          <p:cNvSpPr txBox="1"/>
          <p:nvPr/>
        </p:nvSpPr>
        <p:spPr>
          <a:xfrm>
            <a:off x="8037575" y="4590288"/>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2" name="TextBox 41"/>
          <p:cNvSpPr txBox="1"/>
          <p:nvPr/>
        </p:nvSpPr>
        <p:spPr>
          <a:xfrm>
            <a:off x="8586215" y="4590288"/>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参考結果のページを使う</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（ライブの回答とは呼ばない）</a:t>
            </a:r>
          </a:p>
        </p:txBody>
      </p:sp>
      <p:sp>
        <p:nvSpPr>
          <p:cNvPr id="43" name="Rounded Rectangle 42"/>
          <p:cNvSpPr/>
          <p:nvPr/>
        </p:nvSpPr>
        <p:spPr>
          <a:xfrm>
            <a:off x="566928" y="5148072"/>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5212080"/>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追加</a:t>
            </a:r>
          </a:p>
        </p:txBody>
      </p:sp>
      <p:sp>
        <p:nvSpPr>
          <p:cNvPr id="45" name="TextBox 44"/>
          <p:cNvSpPr txBox="1"/>
          <p:nvPr/>
        </p:nvSpPr>
        <p:spPr>
          <a:xfrm>
            <a:off x="1225295" y="5212080"/>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エネルギーの好影響は？</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横断の2件を業種別に見ると？</a:t>
            </a:r>
          </a:p>
        </p:txBody>
      </p:sp>
      <p:sp>
        <p:nvSpPr>
          <p:cNvPr id="46" name="TextBox 45"/>
          <p:cNvSpPr txBox="1"/>
          <p:nvPr/>
        </p:nvSpPr>
        <p:spPr>
          <a:xfrm>
            <a:off x="4242816" y="5212080"/>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ENE_POSの+2.10億円と、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横断2件の業種別比較</a:t>
            </a:r>
          </a:p>
        </p:txBody>
      </p:sp>
      <p:sp>
        <p:nvSpPr>
          <p:cNvPr id="47" name="TextBox 46"/>
          <p:cNvSpPr txBox="1"/>
          <p:nvPr/>
        </p:nvSpPr>
        <p:spPr>
          <a:xfrm>
            <a:off x="7077455" y="5212080"/>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8" name="TextBox 47"/>
          <p:cNvSpPr txBox="1"/>
          <p:nvPr/>
        </p:nvSpPr>
        <p:spPr>
          <a:xfrm>
            <a:off x="8037575" y="5212080"/>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9" name="TextBox 48"/>
          <p:cNvSpPr txBox="1"/>
          <p:nvPr/>
        </p:nvSpPr>
        <p:spPr>
          <a:xfrm>
            <a:off x="8586215" y="5212080"/>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時間がなければ実行しない</a:t>
            </a:r>
          </a:p>
        </p:txBody>
      </p:sp>
      <p:sp>
        <p:nvSpPr>
          <p:cNvPr id="50" name="Rounded Rectangle 49">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イベントの比較（照合用）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DAの金額を照合する正解表</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DAが示した10イベントの金額が合っているかは、この表で確認します。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億円の表示は丸めた値なので、厳密に照合するときは円の列を使います。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固有イベントは84効果×8件、横断は336効果×2件。合計1,344効果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6858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event_id</a:t>
            </a:r>
          </a:p>
        </p:txBody>
      </p:sp>
      <p:sp>
        <p:nvSpPr>
          <p:cNvPr id="10" name="TextBox 9"/>
          <p:cNvSpPr txBox="1"/>
          <p:nvPr/>
        </p:nvSpPr>
        <p:spPr>
          <a:xfrm>
            <a:off x="22860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短いラベル</a:t>
            </a:r>
          </a:p>
        </p:txBody>
      </p:sp>
      <p:sp>
        <p:nvSpPr>
          <p:cNvPr id="11" name="TextBox 10"/>
          <p:cNvSpPr txBox="1"/>
          <p:nvPr/>
        </p:nvSpPr>
        <p:spPr>
          <a:xfrm>
            <a:off x="3840480" y="2432304"/>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全額影響（円）</a:t>
            </a:r>
          </a:p>
        </p:txBody>
      </p:sp>
      <p:sp>
        <p:nvSpPr>
          <p:cNvPr id="12" name="TextBox 11"/>
          <p:cNvSpPr txBox="1"/>
          <p:nvPr/>
        </p:nvSpPr>
        <p:spPr>
          <a:xfrm>
            <a:off x="6172200" y="2432304"/>
            <a:ext cx="10972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億円</a:t>
            </a:r>
          </a:p>
        </p:txBody>
      </p:sp>
      <p:sp>
        <p:nvSpPr>
          <p:cNvPr id="13" name="TextBox 12"/>
          <p:cNvSpPr txBox="1"/>
          <p:nvPr/>
        </p:nvSpPr>
        <p:spPr>
          <a:xfrm>
            <a:off x="7269480" y="2432304"/>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効果数</a:t>
            </a:r>
          </a:p>
        </p:txBody>
      </p:sp>
      <p:sp>
        <p:nvSpPr>
          <p:cNvPr id="14" name="Rectangle 13"/>
          <p:cNvSpPr/>
          <p:nvPr/>
        </p:nvSpPr>
        <p:spPr>
          <a:xfrm>
            <a:off x="594360" y="2761488"/>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MTL_NEG</a:t>
            </a:r>
          </a:p>
        </p:txBody>
      </p:sp>
      <p:sp>
        <p:nvSpPr>
          <p:cNvPr id="16" name="TextBox 15"/>
          <p:cNvSpPr txBox="1"/>
          <p:nvPr/>
        </p:nvSpPr>
        <p:spPr>
          <a:xfrm>
            <a:off x="22860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製錬停止</a:t>
            </a:r>
          </a:p>
        </p:txBody>
      </p:sp>
      <p:sp>
        <p:nvSpPr>
          <p:cNvPr id="17" name="TextBox 16"/>
          <p:cNvSpPr txBox="1"/>
          <p:nvPr/>
        </p:nvSpPr>
        <p:spPr>
          <a:xfrm>
            <a:off x="3840480" y="2788920"/>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-208,722,530.97</a:t>
            </a:r>
          </a:p>
        </p:txBody>
      </p:sp>
      <p:sp>
        <p:nvSpPr>
          <p:cNvPr id="18" name="TextBox 17"/>
          <p:cNvSpPr txBox="1"/>
          <p:nvPr/>
        </p:nvSpPr>
        <p:spPr>
          <a:xfrm>
            <a:off x="6172200" y="2788920"/>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a:t>
            </a:r>
          </a:p>
        </p:txBody>
      </p:sp>
      <p:sp>
        <p:nvSpPr>
          <p:cNvPr id="19" name="TextBox 18"/>
          <p:cNvSpPr txBox="1"/>
          <p:nvPr/>
        </p:nvSpPr>
        <p:spPr>
          <a:xfrm>
            <a:off x="7269480" y="2788920"/>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20" name="TextBox 19"/>
          <p:cNvSpPr txBox="1"/>
          <p:nvPr/>
        </p:nvSpPr>
        <p:spPr>
          <a:xfrm>
            <a:off x="6858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MTL_POS</a:t>
            </a:r>
          </a:p>
        </p:txBody>
      </p:sp>
      <p:sp>
        <p:nvSpPr>
          <p:cNvPr id="21" name="TextBox 20"/>
          <p:cNvSpPr txBox="1"/>
          <p:nvPr/>
        </p:nvSpPr>
        <p:spPr>
          <a:xfrm>
            <a:off x="22860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再生合金</a:t>
            </a:r>
          </a:p>
        </p:txBody>
      </p:sp>
      <p:sp>
        <p:nvSpPr>
          <p:cNvPr id="22" name="TextBox 21"/>
          <p:cNvSpPr txBox="1"/>
          <p:nvPr/>
        </p:nvSpPr>
        <p:spPr>
          <a:xfrm>
            <a:off x="3840480" y="3090672"/>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+182,646,287.72</a:t>
            </a:r>
          </a:p>
        </p:txBody>
      </p:sp>
      <p:sp>
        <p:nvSpPr>
          <p:cNvPr id="23" name="TextBox 22"/>
          <p:cNvSpPr txBox="1"/>
          <p:nvPr/>
        </p:nvSpPr>
        <p:spPr>
          <a:xfrm>
            <a:off x="6172200" y="3090672"/>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+1.8265</a:t>
            </a:r>
          </a:p>
        </p:txBody>
      </p:sp>
      <p:sp>
        <p:nvSpPr>
          <p:cNvPr id="24" name="TextBox 23"/>
          <p:cNvSpPr txBox="1"/>
          <p:nvPr/>
        </p:nvSpPr>
        <p:spPr>
          <a:xfrm>
            <a:off x="7269480" y="3090672"/>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25" name="Rectangle 24"/>
          <p:cNvSpPr/>
          <p:nvPr/>
        </p:nvSpPr>
        <p:spPr>
          <a:xfrm>
            <a:off x="594360" y="3364992"/>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ENE_NEG</a:t>
            </a:r>
          </a:p>
        </p:txBody>
      </p:sp>
      <p:sp>
        <p:nvSpPr>
          <p:cNvPr id="27" name="TextBox 26"/>
          <p:cNvSpPr txBox="1"/>
          <p:nvPr/>
        </p:nvSpPr>
        <p:spPr>
          <a:xfrm>
            <a:off x="22860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LNG遅延</a:t>
            </a:r>
          </a:p>
        </p:txBody>
      </p:sp>
      <p:sp>
        <p:nvSpPr>
          <p:cNvPr id="28" name="TextBox 27"/>
          <p:cNvSpPr txBox="1"/>
          <p:nvPr/>
        </p:nvSpPr>
        <p:spPr>
          <a:xfrm>
            <a:off x="3840480" y="3392424"/>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-188,475,012.78</a:t>
            </a:r>
          </a:p>
        </p:txBody>
      </p:sp>
      <p:sp>
        <p:nvSpPr>
          <p:cNvPr id="29" name="TextBox 28"/>
          <p:cNvSpPr txBox="1"/>
          <p:nvPr/>
        </p:nvSpPr>
        <p:spPr>
          <a:xfrm>
            <a:off x="6172200" y="3392424"/>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-1.8848</a:t>
            </a:r>
          </a:p>
        </p:txBody>
      </p:sp>
      <p:sp>
        <p:nvSpPr>
          <p:cNvPr id="30" name="TextBox 29"/>
          <p:cNvSpPr txBox="1"/>
          <p:nvPr/>
        </p:nvSpPr>
        <p:spPr>
          <a:xfrm>
            <a:off x="7269480" y="3392424"/>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31" name="TextBox 30"/>
          <p:cNvSpPr txBox="1"/>
          <p:nvPr/>
        </p:nvSpPr>
        <p:spPr>
          <a:xfrm>
            <a:off x="6858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ENE_POS</a:t>
            </a:r>
          </a:p>
        </p:txBody>
      </p:sp>
      <p:sp>
        <p:nvSpPr>
          <p:cNvPr id="32" name="TextBox 31"/>
          <p:cNvSpPr txBox="1"/>
          <p:nvPr/>
        </p:nvSpPr>
        <p:spPr>
          <a:xfrm>
            <a:off x="22860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配分最適化</a:t>
            </a:r>
          </a:p>
        </p:txBody>
      </p:sp>
      <p:sp>
        <p:nvSpPr>
          <p:cNvPr id="33" name="TextBox 32"/>
          <p:cNvSpPr txBox="1"/>
          <p:nvPr/>
        </p:nvSpPr>
        <p:spPr>
          <a:xfrm>
            <a:off x="3840480" y="3694176"/>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+210,155,445.28</a:t>
            </a:r>
          </a:p>
        </p:txBody>
      </p:sp>
      <p:sp>
        <p:nvSpPr>
          <p:cNvPr id="34" name="TextBox 33"/>
          <p:cNvSpPr txBox="1"/>
          <p:nvPr/>
        </p:nvSpPr>
        <p:spPr>
          <a:xfrm>
            <a:off x="6172200" y="3694176"/>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+2.1016</a:t>
            </a:r>
          </a:p>
        </p:txBody>
      </p:sp>
      <p:sp>
        <p:nvSpPr>
          <p:cNvPr id="35" name="TextBox 34"/>
          <p:cNvSpPr txBox="1"/>
          <p:nvPr/>
        </p:nvSpPr>
        <p:spPr>
          <a:xfrm>
            <a:off x="7269480" y="3694176"/>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36" name="Rectangle 35"/>
          <p:cNvSpPr/>
          <p:nvPr/>
        </p:nvSpPr>
        <p:spPr>
          <a:xfrm>
            <a:off x="594360" y="3968496"/>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FOD_NEG</a:t>
            </a:r>
          </a:p>
        </p:txBody>
      </p:sp>
      <p:sp>
        <p:nvSpPr>
          <p:cNvPr id="38" name="TextBox 37"/>
          <p:cNvSpPr txBox="1"/>
          <p:nvPr/>
        </p:nvSpPr>
        <p:spPr>
          <a:xfrm>
            <a:off x="22860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食品損失</a:t>
            </a:r>
          </a:p>
        </p:txBody>
      </p:sp>
      <p:sp>
        <p:nvSpPr>
          <p:cNvPr id="39" name="TextBox 38"/>
          <p:cNvSpPr txBox="1"/>
          <p:nvPr/>
        </p:nvSpPr>
        <p:spPr>
          <a:xfrm>
            <a:off x="3840480" y="3995928"/>
            <a:ext cx="228600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-114,461,186.25</a:t>
            </a:r>
          </a:p>
        </p:txBody>
      </p:sp>
      <p:sp>
        <p:nvSpPr>
          <p:cNvPr id="40" name="TextBox 39"/>
          <p:cNvSpPr txBox="1"/>
          <p:nvPr/>
        </p:nvSpPr>
        <p:spPr>
          <a:xfrm>
            <a:off x="6172200" y="3995928"/>
            <a:ext cx="10972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a:t>
            </a:r>
          </a:p>
        </p:txBody>
      </p:sp>
      <p:sp>
        <p:nvSpPr>
          <p:cNvPr id="41" name="TextBox 40"/>
          <p:cNvSpPr txBox="1"/>
          <p:nvPr/>
        </p:nvSpPr>
        <p:spPr>
          <a:xfrm>
            <a:off x="7269480" y="3995928"/>
            <a:ext cx="73152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84</a:t>
            </a:r>
          </a:p>
        </p:txBody>
      </p:sp>
      <p:sp>
        <p:nvSpPr>
          <p:cNvPr id="42" name="TextBox 41"/>
          <p:cNvSpPr txBox="1"/>
          <p:nvPr/>
        </p:nvSpPr>
        <p:spPr>
          <a:xfrm>
            <a:off x="6858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FOD_POS</a:t>
            </a:r>
          </a:p>
        </p:txBody>
      </p:sp>
      <p:sp>
        <p:nvSpPr>
          <p:cNvPr id="43" name="TextBox 42"/>
          <p:cNvSpPr txBox="1"/>
          <p:nvPr/>
        </p:nvSpPr>
        <p:spPr>
          <a:xfrm>
            <a:off x="22860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調達改善</a:t>
            </a:r>
          </a:p>
        </p:txBody>
      </p:sp>
      <p:sp>
        <p:nvSpPr>
          <p:cNvPr id="44" name="TextBox 43"/>
          <p:cNvSpPr txBox="1"/>
          <p:nvPr/>
        </p:nvSpPr>
        <p:spPr>
          <a:xfrm>
            <a:off x="3840480" y="4297680"/>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+119,698,730.65</a:t>
            </a:r>
          </a:p>
        </p:txBody>
      </p:sp>
      <p:sp>
        <p:nvSpPr>
          <p:cNvPr id="45" name="TextBox 44"/>
          <p:cNvSpPr txBox="1"/>
          <p:nvPr/>
        </p:nvSpPr>
        <p:spPr>
          <a:xfrm>
            <a:off x="6172200" y="4297680"/>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+1.1970</a:t>
            </a:r>
          </a:p>
        </p:txBody>
      </p:sp>
      <p:sp>
        <p:nvSpPr>
          <p:cNvPr id="46" name="TextBox 45"/>
          <p:cNvSpPr txBox="1"/>
          <p:nvPr/>
        </p:nvSpPr>
        <p:spPr>
          <a:xfrm>
            <a:off x="7269480" y="4297680"/>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47" name="Rectangle 46"/>
          <p:cNvSpPr/>
          <p:nvPr/>
        </p:nvSpPr>
        <p:spPr>
          <a:xfrm>
            <a:off x="594360" y="4571999"/>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FIN_NEG</a:t>
            </a:r>
          </a:p>
        </p:txBody>
      </p:sp>
      <p:sp>
        <p:nvSpPr>
          <p:cNvPr id="49" name="TextBox 48"/>
          <p:cNvSpPr txBox="1"/>
          <p:nvPr/>
        </p:nvSpPr>
        <p:spPr>
          <a:xfrm>
            <a:off x="22860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与信費増</a:t>
            </a:r>
          </a:p>
        </p:txBody>
      </p:sp>
      <p:sp>
        <p:nvSpPr>
          <p:cNvPr id="50" name="TextBox 49"/>
          <p:cNvSpPr txBox="1"/>
          <p:nvPr/>
        </p:nvSpPr>
        <p:spPr>
          <a:xfrm>
            <a:off x="3840480" y="4599431"/>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-124,852,353.72</a:t>
            </a:r>
          </a:p>
        </p:txBody>
      </p:sp>
      <p:sp>
        <p:nvSpPr>
          <p:cNvPr id="51" name="TextBox 50"/>
          <p:cNvSpPr txBox="1"/>
          <p:nvPr/>
        </p:nvSpPr>
        <p:spPr>
          <a:xfrm>
            <a:off x="6172200" y="4599431"/>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a:t>
            </a:r>
          </a:p>
        </p:txBody>
      </p:sp>
      <p:sp>
        <p:nvSpPr>
          <p:cNvPr id="52" name="TextBox 51"/>
          <p:cNvSpPr txBox="1"/>
          <p:nvPr/>
        </p:nvSpPr>
        <p:spPr>
          <a:xfrm>
            <a:off x="7269480" y="4599431"/>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53" name="TextBox 52"/>
          <p:cNvSpPr txBox="1"/>
          <p:nvPr/>
        </p:nvSpPr>
        <p:spPr>
          <a:xfrm>
            <a:off x="6858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FIN_POS</a:t>
            </a:r>
          </a:p>
        </p:txBody>
      </p:sp>
      <p:sp>
        <p:nvSpPr>
          <p:cNvPr id="54" name="TextBox 53"/>
          <p:cNvSpPr txBox="1"/>
          <p:nvPr/>
        </p:nvSpPr>
        <p:spPr>
          <a:xfrm>
            <a:off x="22860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ヘッジ手数料</a:t>
            </a:r>
          </a:p>
        </p:txBody>
      </p:sp>
      <p:sp>
        <p:nvSpPr>
          <p:cNvPr id="55" name="TextBox 54"/>
          <p:cNvSpPr txBox="1"/>
          <p:nvPr/>
        </p:nvSpPr>
        <p:spPr>
          <a:xfrm>
            <a:off x="3840480" y="4901183"/>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+116,692,616.68</a:t>
            </a:r>
          </a:p>
        </p:txBody>
      </p:sp>
      <p:sp>
        <p:nvSpPr>
          <p:cNvPr id="56" name="TextBox 55"/>
          <p:cNvSpPr txBox="1"/>
          <p:nvPr/>
        </p:nvSpPr>
        <p:spPr>
          <a:xfrm>
            <a:off x="6172200" y="4901183"/>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a:t>
            </a:r>
          </a:p>
        </p:txBody>
      </p:sp>
      <p:sp>
        <p:nvSpPr>
          <p:cNvPr id="57" name="TextBox 56"/>
          <p:cNvSpPr txBox="1"/>
          <p:nvPr/>
        </p:nvSpPr>
        <p:spPr>
          <a:xfrm>
            <a:off x="7269480" y="4901183"/>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58" name="Rectangle 57"/>
          <p:cNvSpPr/>
          <p:nvPr/>
        </p:nvSpPr>
        <p:spPr>
          <a:xfrm>
            <a:off x="594360" y="5175503"/>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CROSS_NEG</a:t>
            </a:r>
          </a:p>
        </p:txBody>
      </p:sp>
      <p:sp>
        <p:nvSpPr>
          <p:cNvPr id="60" name="TextBox 59"/>
          <p:cNvSpPr txBox="1"/>
          <p:nvPr/>
        </p:nvSpPr>
        <p:spPr>
          <a:xfrm>
            <a:off x="22860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横断混乱</a:t>
            </a:r>
          </a:p>
        </p:txBody>
      </p:sp>
      <p:sp>
        <p:nvSpPr>
          <p:cNvPr id="61" name="TextBox 60"/>
          <p:cNvSpPr txBox="1"/>
          <p:nvPr/>
        </p:nvSpPr>
        <p:spPr>
          <a:xfrm>
            <a:off x="3840480" y="5202936"/>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-680,035,231.24</a:t>
            </a:r>
          </a:p>
        </p:txBody>
      </p:sp>
      <p:sp>
        <p:nvSpPr>
          <p:cNvPr id="62" name="TextBox 61"/>
          <p:cNvSpPr txBox="1"/>
          <p:nvPr/>
        </p:nvSpPr>
        <p:spPr>
          <a:xfrm>
            <a:off x="6172200" y="5202936"/>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-6.8004</a:t>
            </a:r>
          </a:p>
        </p:txBody>
      </p:sp>
      <p:sp>
        <p:nvSpPr>
          <p:cNvPr id="63" name="TextBox 62"/>
          <p:cNvSpPr txBox="1"/>
          <p:nvPr/>
        </p:nvSpPr>
        <p:spPr>
          <a:xfrm>
            <a:off x="7269480" y="5202936"/>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336</a:t>
            </a:r>
          </a:p>
        </p:txBody>
      </p:sp>
      <p:sp>
        <p:nvSpPr>
          <p:cNvPr id="64" name="TextBox 63"/>
          <p:cNvSpPr txBox="1"/>
          <p:nvPr/>
        </p:nvSpPr>
        <p:spPr>
          <a:xfrm>
            <a:off x="6858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CROSS_POS</a:t>
            </a:r>
          </a:p>
        </p:txBody>
      </p:sp>
      <p:sp>
        <p:nvSpPr>
          <p:cNvPr id="65" name="TextBox 64"/>
          <p:cNvSpPr txBox="1"/>
          <p:nvPr/>
        </p:nvSpPr>
        <p:spPr>
          <a:xfrm>
            <a:off x="22860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横断回復</a:t>
            </a:r>
          </a:p>
        </p:txBody>
      </p:sp>
      <p:sp>
        <p:nvSpPr>
          <p:cNvPr id="66" name="TextBox 65"/>
          <p:cNvSpPr txBox="1"/>
          <p:nvPr/>
        </p:nvSpPr>
        <p:spPr>
          <a:xfrm>
            <a:off x="3840480" y="5504688"/>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+584,435,114.92</a:t>
            </a:r>
          </a:p>
        </p:txBody>
      </p:sp>
      <p:sp>
        <p:nvSpPr>
          <p:cNvPr id="67" name="TextBox 66"/>
          <p:cNvSpPr txBox="1"/>
          <p:nvPr/>
        </p:nvSpPr>
        <p:spPr>
          <a:xfrm>
            <a:off x="6172200" y="5504688"/>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+5.8444</a:t>
            </a:r>
          </a:p>
        </p:txBody>
      </p:sp>
      <p:sp>
        <p:nvSpPr>
          <p:cNvPr id="68" name="TextBox 67"/>
          <p:cNvSpPr txBox="1"/>
          <p:nvPr/>
        </p:nvSpPr>
        <p:spPr>
          <a:xfrm>
            <a:off x="7269480" y="5504688"/>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336</a:t>
            </a:r>
          </a:p>
        </p:txBody>
      </p:sp>
      <p:sp>
        <p:nvSpPr>
          <p:cNvPr id="69" name="Rounded Rectangle 68"/>
          <p:cNvSpPr/>
          <p:nvPr/>
        </p:nvSpPr>
        <p:spPr>
          <a:xfrm>
            <a:off x="8503920" y="2377440"/>
            <a:ext cx="3108960"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05088" y="2487168"/>
            <a:ext cx="27432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DAの金額が違うとき</a:t>
            </a:r>
          </a:p>
        </p:txBody>
      </p:sp>
      <p:sp>
        <p:nvSpPr>
          <p:cNvPr id="71" name="TextBox 70"/>
          <p:cNvSpPr txBox="1"/>
          <p:nvPr/>
        </p:nvSpPr>
        <p:spPr>
          <a:xfrm>
            <a:off x="8705088" y="2852928"/>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 対象期間</a:t>
            </a:r>
          </a:p>
        </p:txBody>
      </p:sp>
      <p:sp>
        <p:nvSpPr>
          <p:cNvPr id="72" name="TextBox 71"/>
          <p:cNvSpPr txBox="1"/>
          <p:nvPr/>
        </p:nvSpPr>
        <p:spPr>
          <a:xfrm>
            <a:off x="8705088" y="3072384"/>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2025-10-01から2026-09-30か</a:t>
            </a:r>
          </a:p>
        </p:txBody>
      </p:sp>
      <p:sp>
        <p:nvSpPr>
          <p:cNvPr id="73" name="TextBox 72"/>
          <p:cNvSpPr txBox="1"/>
          <p:nvPr/>
        </p:nvSpPr>
        <p:spPr>
          <a:xfrm>
            <a:off x="8705088" y="3353689"/>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2 全額か持分か</a:t>
            </a:r>
          </a:p>
        </p:txBody>
      </p:sp>
      <p:sp>
        <p:nvSpPr>
          <p:cNvPr id="74" name="TextBox 73"/>
          <p:cNvSpPr txBox="1"/>
          <p:nvPr/>
        </p:nvSpPr>
        <p:spPr>
          <a:xfrm>
            <a:off x="8705088" y="3573145"/>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全額と持分を取り違えていないか</a:t>
            </a:r>
          </a:p>
        </p:txBody>
      </p:sp>
      <p:sp>
        <p:nvSpPr>
          <p:cNvPr id="75" name="TextBox 74"/>
          <p:cNvSpPr txBox="1"/>
          <p:nvPr/>
        </p:nvSpPr>
        <p:spPr>
          <a:xfrm>
            <a:off x="8705088" y="3854450"/>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3 横断の2件</a:t>
            </a:r>
          </a:p>
        </p:txBody>
      </p:sp>
      <p:sp>
        <p:nvSpPr>
          <p:cNvPr id="76" name="TextBox 75"/>
          <p:cNvSpPr txBox="1"/>
          <p:nvPr/>
        </p:nvSpPr>
        <p:spPr>
          <a:xfrm>
            <a:off x="8705088" y="4073906"/>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横断の2件を除外していないか</a:t>
            </a:r>
          </a:p>
        </p:txBody>
      </p:sp>
      <p:sp>
        <p:nvSpPr>
          <p:cNvPr id="77" name="TextBox 76"/>
          <p:cNvSpPr txBox="1"/>
          <p:nvPr/>
        </p:nvSpPr>
        <p:spPr>
          <a:xfrm>
            <a:off x="8705088" y="4355211"/>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4 二重の合計</a:t>
            </a:r>
          </a:p>
        </p:txBody>
      </p:sp>
      <p:sp>
        <p:nvSpPr>
          <p:cNvPr id="78" name="TextBox 77"/>
          <p:cNvSpPr txBox="1"/>
          <p:nvPr/>
        </p:nvSpPr>
        <p:spPr>
          <a:xfrm>
            <a:off x="8705088" y="4574667"/>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同じeffect_idを2回足していないか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短い回答集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Rounded Rectangle 8"/>
          <p:cNvSpPr/>
          <p:nvPr/>
        </p:nvSpPr>
        <p:spPr>
          <a:xfrm>
            <a:off x="594360" y="235915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0030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SQLでもできる？</a:t>
            </a:r>
          </a:p>
        </p:txBody>
      </p:sp>
      <p:sp>
        <p:nvSpPr>
          <p:cNvPr id="11" name="TextBox 10"/>
          <p:cNvSpPr txBox="1"/>
          <p:nvPr/>
        </p:nvSpPr>
        <p:spPr>
          <a:xfrm>
            <a:off x="4480560" y="240944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集計は可能。違いは、意味とつながりを使い回せること（次ページ）</a:t>
            </a:r>
          </a:p>
        </p:txBody>
      </p:sp>
      <p:sp>
        <p:nvSpPr>
          <p:cNvPr id="12" name="Rounded Rectangle 11"/>
          <p:cNvSpPr/>
          <p:nvPr/>
        </p:nvSpPr>
        <p:spPr>
          <a:xfrm>
            <a:off x="594360" y="271576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75691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矢印は因果の証明？</a:t>
            </a:r>
          </a:p>
        </p:txBody>
      </p:sp>
      <p:sp>
        <p:nvSpPr>
          <p:cNvPr id="14" name="TextBox 13"/>
          <p:cNvSpPr txBox="1"/>
          <p:nvPr/>
        </p:nvSpPr>
        <p:spPr>
          <a:xfrm>
            <a:off x="4480560" y="276606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いいえ。関連、設計上の配賦、集約先の区別</a:t>
            </a:r>
          </a:p>
        </p:txBody>
      </p:sp>
      <p:sp>
        <p:nvSpPr>
          <p:cNvPr id="15" name="Rounded Rectangle 14"/>
          <p:cNvSpPr/>
          <p:nvPr/>
        </p:nvSpPr>
        <p:spPr>
          <a:xfrm>
            <a:off x="594360" y="307238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11353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51%なら半分を連結？</a:t>
            </a:r>
          </a:p>
        </p:txBody>
      </p:sp>
      <p:sp>
        <p:nvSpPr>
          <p:cNvPr id="17" name="TextBox 16"/>
          <p:cNvSpPr txBox="1"/>
          <p:nvPr/>
        </p:nvSpPr>
        <p:spPr>
          <a:xfrm>
            <a:off x="4480560" y="312267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全額は100%で集計。持分管理は別の指標</a:t>
            </a:r>
          </a:p>
        </p:txBody>
      </p:sp>
      <p:sp>
        <p:nvSpPr>
          <p:cNvPr id="18" name="Rounded Rectangle 17"/>
          <p:cNvSpPr/>
          <p:nvPr/>
        </p:nvSpPr>
        <p:spPr>
          <a:xfrm>
            <a:off x="594360" y="342900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47014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温度が損失の原因？</a:t>
            </a:r>
          </a:p>
        </p:txBody>
      </p:sp>
      <p:sp>
        <p:nvSpPr>
          <p:cNvPr id="20" name="TextBox 19"/>
          <p:cNvSpPr txBox="1"/>
          <p:nvPr/>
        </p:nvSpPr>
        <p:spPr>
          <a:xfrm>
            <a:off x="4480560" y="347929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許容温度や閾値は未記録。観測値から断定しない</a:t>
            </a:r>
          </a:p>
        </p:txBody>
      </p:sp>
      <p:sp>
        <p:nvSpPr>
          <p:cNvPr id="21" name="Rounded Rectangle 20"/>
          <p:cNvSpPr/>
          <p:nvPr/>
        </p:nvSpPr>
        <p:spPr>
          <a:xfrm>
            <a:off x="594360" y="378561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82676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開くだけで最新？</a:t>
            </a:r>
          </a:p>
        </p:txBody>
      </p:sp>
      <p:sp>
        <p:nvSpPr>
          <p:cNvPr id="23" name="TextBox 22"/>
          <p:cNvSpPr txBox="1"/>
          <p:nvPr/>
        </p:nvSpPr>
        <p:spPr>
          <a:xfrm>
            <a:off x="4480560" y="383590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保存時点の結果。更新は再実行して、日時を確認</a:t>
            </a:r>
          </a:p>
        </p:txBody>
      </p:sp>
      <p:sp>
        <p:nvSpPr>
          <p:cNvPr id="24" name="Rounded Rectangle 23"/>
          <p:cNvSpPr/>
          <p:nvPr/>
        </p:nvSpPr>
        <p:spPr>
          <a:xfrm>
            <a:off x="594360" y="414223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18338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イベントのデータは社内にない？</a:t>
            </a:r>
          </a:p>
        </p:txBody>
      </p:sp>
      <p:sp>
        <p:nvSpPr>
          <p:cNvPr id="26" name="TextBox 25"/>
          <p:cNvSpPr txBox="1"/>
          <p:nvPr/>
        </p:nvSpPr>
        <p:spPr>
          <a:xfrm>
            <a:off x="4480560" y="419252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差分の理由や事故の記録から拾い、小さく始める（第5章）</a:t>
            </a:r>
          </a:p>
        </p:txBody>
      </p:sp>
      <p:sp>
        <p:nvSpPr>
          <p:cNvPr id="27" name="Rounded Rectangle 26"/>
          <p:cNvSpPr/>
          <p:nvPr/>
        </p:nvSpPr>
        <p:spPr>
          <a:xfrm>
            <a:off x="594360" y="449884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453999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取引先名は出せる？</a:t>
            </a:r>
          </a:p>
        </p:txBody>
      </p:sp>
      <p:sp>
        <p:nvSpPr>
          <p:cNvPr id="29" name="TextBox 28"/>
          <p:cNvSpPr txBox="1"/>
          <p:nvPr/>
        </p:nvSpPr>
        <p:spPr>
          <a:xfrm>
            <a:off x="4480560" y="454914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データに取引先名はない。契約IDで特定する</a:t>
            </a:r>
          </a:p>
        </p:txBody>
      </p:sp>
      <p:sp>
        <p:nvSpPr>
          <p:cNvPr id="30" name="Rounded Rectangle 29"/>
          <p:cNvSpPr/>
          <p:nvPr/>
        </p:nvSpPr>
        <p:spPr>
          <a:xfrm>
            <a:off x="594360" y="485546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489661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日本語は公式サポート？</a:t>
            </a:r>
          </a:p>
        </p:txBody>
      </p:sp>
      <p:sp>
        <p:nvSpPr>
          <p:cNvPr id="32" name="TextBox 31"/>
          <p:cNvSpPr txBox="1"/>
          <p:nvPr/>
        </p:nvSpPr>
        <p:spPr>
          <a:xfrm>
            <a:off x="4480560" y="490575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公式には英語以外は未サポート。このデモは日本語で動作確認済み</a:t>
            </a:r>
          </a:p>
        </p:txBody>
      </p:sp>
      <p:sp>
        <p:nvSpPr>
          <p:cNvPr id="33" name="Rounded Rectangle 32"/>
          <p:cNvSpPr/>
          <p:nvPr/>
        </p:nvSpPr>
        <p:spPr>
          <a:xfrm>
            <a:off x="594360" y="521208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525322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全社に波及するケースは？</a:t>
            </a:r>
          </a:p>
        </p:txBody>
      </p:sp>
      <p:sp>
        <p:nvSpPr>
          <p:cNvPr id="35" name="TextBox 34"/>
          <p:cNvSpPr txBox="1"/>
          <p:nvPr/>
        </p:nvSpPr>
        <p:spPr>
          <a:xfrm>
            <a:off x="4480560" y="526237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同時に全社へ及ぶ形は扱える。連鎖は未対応（p.35〜36）</a:t>
            </a:r>
          </a:p>
        </p:txBody>
      </p:sp>
      <p:sp>
        <p:nvSpPr>
          <p:cNvPr id="36" name="Rounded Rectangle 35"/>
          <p:cNvSpPr/>
          <p:nvPr/>
        </p:nvSpPr>
        <p:spPr>
          <a:xfrm>
            <a:off x="594360" y="556869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560984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もっとカジュアルに聞ける？</a:t>
            </a:r>
          </a:p>
        </p:txBody>
      </p:sp>
      <p:sp>
        <p:nvSpPr>
          <p:cNvPr id="38" name="TextBox 37"/>
          <p:cNvSpPr txBox="1"/>
          <p:nvPr/>
        </p:nvSpPr>
        <p:spPr>
          <a:xfrm>
            <a:off x="4480560" y="561898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短い質問も可。ただし結果は毎回変わりうる（p.37〜38）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価値の説明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SQLとOntologyの違い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このデモの集計だけなら、SQLでも同じ数字を出せます。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差が出やすいのは、質問、利用者、ツールが増えて、定義を使い回す場面です。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答え方：SQLでも作れると認め、質問、利用者、ツールが増えたときの、定義の使い回しを示す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TextBox 8"/>
          <p:cNvSpPr txBox="1"/>
          <p:nvPr/>
        </p:nvSpPr>
        <p:spPr>
          <a:xfrm>
            <a:off x="676656" y="2359152"/>
            <a:ext cx="13807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違い</a:t>
            </a:r>
          </a:p>
        </p:txBody>
      </p:sp>
      <p:sp>
        <p:nvSpPr>
          <p:cNvPr id="10" name="TextBox 9"/>
          <p:cNvSpPr txBox="1"/>
          <p:nvPr/>
        </p:nvSpPr>
        <p:spPr>
          <a:xfrm>
            <a:off x="2276856" y="2359152"/>
            <a:ext cx="45354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SQLのビューやセマンティックモデルで共通化した場合</a:t>
            </a:r>
          </a:p>
        </p:txBody>
      </p:sp>
      <p:sp>
        <p:nvSpPr>
          <p:cNvPr id="11" name="TextBox 10"/>
          <p:cNvSpPr txBox="1"/>
          <p:nvPr/>
        </p:nvSpPr>
        <p:spPr>
          <a:xfrm>
            <a:off x="7031736" y="2359152"/>
            <a:ext cx="447141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Ontologyで定義した場合</a:t>
            </a:r>
          </a:p>
        </p:txBody>
      </p:sp>
      <p:sp>
        <p:nvSpPr>
          <p:cNvPr id="12" name="Rounded Rectangle 11"/>
          <p:cNvSpPr/>
          <p:nvPr/>
        </p:nvSpPr>
        <p:spPr>
          <a:xfrm>
            <a:off x="566928" y="2660904"/>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言葉の意味</a:t>
            </a:r>
          </a:p>
        </p:txBody>
      </p:sp>
      <p:sp>
        <p:nvSpPr>
          <p:cNvPr id="14" name="TextBox 13"/>
          <p:cNvSpPr txBox="1"/>
          <p:nvPr/>
        </p:nvSpPr>
        <p:spPr>
          <a:xfrm>
            <a:off x="2276856" y="2724912"/>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意味は、列名、計算式、メジャーに持たせる。利用者は、表、列、メジャーの意味を読み解いて使う。</a:t>
            </a:r>
          </a:p>
        </p:txBody>
      </p:sp>
      <p:sp>
        <p:nvSpPr>
          <p:cNvPr id="15" name="TextBox 14"/>
          <p:cNvSpPr txBox="1"/>
          <p:nvPr/>
        </p:nvSpPr>
        <p:spPr>
          <a:xfrm>
            <a:off x="7031736" y="2724912"/>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実体、関係、ルールとして、業務の言葉で定義する。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人もエージェントも、同じ定義を参照する。</a:t>
            </a:r>
          </a:p>
        </p:txBody>
      </p:sp>
      <p:sp>
        <p:nvSpPr>
          <p:cNvPr id="16" name="Rounded Rectangle 15"/>
          <p:cNvSpPr/>
          <p:nvPr/>
        </p:nvSpPr>
        <p:spPr>
          <a:xfrm>
            <a:off x="566928" y="3511296"/>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575304"/>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つながり</a:t>
            </a:r>
          </a:p>
        </p:txBody>
      </p:sp>
      <p:sp>
        <p:nvSpPr>
          <p:cNvPr id="18" name="TextBox 17"/>
          <p:cNvSpPr txBox="1"/>
          <p:nvPr/>
        </p:nvSpPr>
        <p:spPr>
          <a:xfrm>
            <a:off x="2276856" y="3575304"/>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結合条件は、ビュー、クエリ、セマンティックモデルのリレーションに書く。表をたどる質問では、利用者やツールが、結合の意味を理解して使う。</a:t>
            </a:r>
          </a:p>
        </p:txBody>
      </p:sp>
      <p:sp>
        <p:nvSpPr>
          <p:cNvPr id="19" name="TextBox 18"/>
          <p:cNvSpPr txBox="1"/>
          <p:nvPr/>
        </p:nvSpPr>
        <p:spPr>
          <a:xfrm>
            <a:off x="7031736" y="3575304"/>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関係に名前を付けて定義する（このデモは39種類）。</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経路をたどる質問を、定義した関係で扱える。</a:t>
            </a:r>
          </a:p>
        </p:txBody>
      </p:sp>
      <p:sp>
        <p:nvSpPr>
          <p:cNvPr id="20" name="Rounded Rectangle 19"/>
          <p:cNvSpPr/>
          <p:nvPr/>
        </p:nvSpPr>
        <p:spPr>
          <a:xfrm>
            <a:off x="566928" y="4361688"/>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425696"/>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複数のデータ元</a:t>
            </a:r>
          </a:p>
        </p:txBody>
      </p:sp>
      <p:sp>
        <p:nvSpPr>
          <p:cNvPr id="22" name="TextBox 21"/>
          <p:cNvSpPr txBox="1"/>
          <p:nvPr/>
        </p:nvSpPr>
        <p:spPr>
          <a:xfrm>
            <a:off x="2276856" y="4425696"/>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複数のデータ元をまたぐ共通化は、データ元ごと、ツールごとの作業になりやすい。</a:t>
            </a:r>
          </a:p>
        </p:txBody>
      </p:sp>
      <p:sp>
        <p:nvSpPr>
          <p:cNvPr id="23" name="TextBox 22"/>
          <p:cNvSpPr txBox="1"/>
          <p:nvPr/>
        </p:nvSpPr>
        <p:spPr>
          <a:xfrm>
            <a:off x="7031736" y="4425696"/>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実体の定義を、複数のデータ元の表に対応付けられる。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エージェントに同じ文脈を渡せる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（対応状況はエージェントごとに違う）。</a:t>
            </a:r>
          </a:p>
        </p:txBody>
      </p:sp>
      <p:sp>
        <p:nvSpPr>
          <p:cNvPr id="24" name="Rounded Rectangle 23"/>
          <p:cNvSpPr/>
          <p:nvPr/>
        </p:nvSpPr>
        <p:spPr>
          <a:xfrm>
            <a:off x="566928" y="5285232"/>
            <a:ext cx="11045952" cy="60350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340096"/>
            <a:ext cx="10698480" cy="475488"/>
          </a:xfrm>
          <a:prstGeom prst="rect">
            <a:avLst/>
          </a:prstGeom>
          <a:noFill/>
        </p:spPr>
        <p:txBody>
          <a:bodyPr wrap="square" lIns="0" rIns="0" tIns="0" bIns="0">
            <a:spAutoFit/>
          </a:bodyPr>
          <a:lstStyle/>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このデモの現状：Ontologyが担っているのは、実体と関係の定義（17実体、39関係）とGraphです。</a:t>
            </a:r>
          </a:p>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全額連結などの言葉の定義の多くは、いまはDAの指示文にあり、Ontologyのルールへ移す余地があります（第7章）。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全社波及（影響範囲）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全社に及ぶイベントの影響範囲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実演で追う食品損失は、影響が一部の会社に限られた出来事です。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聞かれやすいのは、全社に同時に及ぶ出来事も、同じ経路で追えるかどうかです。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公開済みDAで聞いた業種別と会社別の金額は、元データの集計と一致した（2026-10-27）。説明では表の数字を示す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TextBox 8"/>
          <p:cNvSpPr txBox="1"/>
          <p:nvPr/>
        </p:nvSpPr>
        <p:spPr>
          <a:xfrm>
            <a:off x="676656" y="2359152"/>
            <a:ext cx="13350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比べる点</a:t>
            </a:r>
          </a:p>
        </p:txBody>
      </p:sp>
      <p:sp>
        <p:nvSpPr>
          <p:cNvPr id="10" name="TextBox 9"/>
          <p:cNvSpPr txBox="1"/>
          <p:nvPr/>
        </p:nvSpPr>
        <p:spPr>
          <a:xfrm>
            <a:off x="2231136" y="2359152"/>
            <a:ext cx="1655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食品損失</a:t>
            </a:r>
          </a:p>
        </p:txBody>
      </p:sp>
      <p:sp>
        <p:nvSpPr>
          <p:cNvPr id="11" name="TextBox 10"/>
          <p:cNvSpPr txBox="1"/>
          <p:nvPr/>
        </p:nvSpPr>
        <p:spPr>
          <a:xfrm>
            <a:off x="4105655" y="2359152"/>
            <a:ext cx="18836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横断混乱</a:t>
            </a:r>
          </a:p>
        </p:txBody>
      </p:sp>
      <p:sp>
        <p:nvSpPr>
          <p:cNvPr id="12" name="Rounded Rectangle 11"/>
          <p:cNvSpPr/>
          <p:nvPr/>
        </p:nvSpPr>
        <p:spPr>
          <a:xfrm>
            <a:off x="566928" y="2660904"/>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イベントID</a:t>
            </a:r>
          </a:p>
        </p:txBody>
      </p:sp>
      <p:sp>
        <p:nvSpPr>
          <p:cNvPr id="14" name="TextBox 13"/>
          <p:cNvSpPr txBox="1"/>
          <p:nvPr/>
        </p:nvSpPr>
        <p:spPr>
          <a:xfrm>
            <a:off x="2231136" y="2724912"/>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FOD_NEG</a:t>
            </a:r>
          </a:p>
        </p:txBody>
      </p:sp>
      <p:sp>
        <p:nvSpPr>
          <p:cNvPr id="15" name="TextBox 14"/>
          <p:cNvSpPr txBox="1"/>
          <p:nvPr/>
        </p:nvSpPr>
        <p:spPr>
          <a:xfrm>
            <a:off x="4105655" y="2724912"/>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CROSS_NEG</a:t>
            </a:r>
          </a:p>
        </p:txBody>
      </p:sp>
      <p:sp>
        <p:nvSpPr>
          <p:cNvPr id="16" name="Rounded Rectangle 15"/>
          <p:cNvSpPr/>
          <p:nvPr/>
        </p:nvSpPr>
        <p:spPr>
          <a:xfrm>
            <a:off x="566928" y="3044952"/>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10896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影響を受けた会社</a:t>
            </a:r>
          </a:p>
        </p:txBody>
      </p:sp>
      <p:sp>
        <p:nvSpPr>
          <p:cNvPr id="18" name="TextBox 17"/>
          <p:cNvSpPr txBox="1"/>
          <p:nvPr/>
        </p:nvSpPr>
        <p:spPr>
          <a:xfrm>
            <a:off x="2231136" y="3108960"/>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2社（食品の日米）</a:t>
            </a:r>
          </a:p>
        </p:txBody>
      </p:sp>
      <p:sp>
        <p:nvSpPr>
          <p:cNvPr id="19" name="TextBox 18"/>
          <p:cNvSpPr txBox="1"/>
          <p:nvPr/>
        </p:nvSpPr>
        <p:spPr>
          <a:xfrm>
            <a:off x="4105655" y="3108960"/>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8社（4業種すべて）</a:t>
            </a:r>
          </a:p>
        </p:txBody>
      </p:sp>
      <p:sp>
        <p:nvSpPr>
          <p:cNvPr id="20" name="Rounded Rectangle 19"/>
          <p:cNvSpPr/>
          <p:nvPr/>
        </p:nvSpPr>
        <p:spPr>
          <a:xfrm>
            <a:off x="566928" y="3429000"/>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49300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契約</a:t>
            </a:r>
          </a:p>
        </p:txBody>
      </p:sp>
      <p:sp>
        <p:nvSpPr>
          <p:cNvPr id="22" name="TextBox 21"/>
          <p:cNvSpPr txBox="1"/>
          <p:nvPr/>
        </p:nvSpPr>
        <p:spPr>
          <a:xfrm>
            <a:off x="2231136" y="349300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6件</a:t>
            </a:r>
          </a:p>
        </p:txBody>
      </p:sp>
      <p:sp>
        <p:nvSpPr>
          <p:cNvPr id="23" name="TextBox 22"/>
          <p:cNvSpPr txBox="1"/>
          <p:nvPr/>
        </p:nvSpPr>
        <p:spPr>
          <a:xfrm>
            <a:off x="4105655" y="349300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26件</a:t>
            </a:r>
          </a:p>
        </p:txBody>
      </p:sp>
      <p:sp>
        <p:nvSpPr>
          <p:cNvPr id="24" name="Rounded Rectangle 23"/>
          <p:cNvSpPr/>
          <p:nvPr/>
        </p:nvSpPr>
        <p:spPr>
          <a:xfrm>
            <a:off x="566928" y="3813048"/>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3877056"/>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活動と影響明細</a:t>
            </a:r>
          </a:p>
        </p:txBody>
      </p:sp>
      <p:sp>
        <p:nvSpPr>
          <p:cNvPr id="26" name="TextBox 25"/>
          <p:cNvSpPr txBox="1"/>
          <p:nvPr/>
        </p:nvSpPr>
        <p:spPr>
          <a:xfrm>
            <a:off x="2231136" y="3877056"/>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a:t>
            </a:r>
          </a:p>
        </p:txBody>
      </p:sp>
      <p:sp>
        <p:nvSpPr>
          <p:cNvPr id="27" name="TextBox 26"/>
          <p:cNvSpPr txBox="1"/>
          <p:nvPr/>
        </p:nvSpPr>
        <p:spPr>
          <a:xfrm>
            <a:off x="4105655" y="3877056"/>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a:t>
            </a:r>
          </a:p>
        </p:txBody>
      </p:sp>
      <p:sp>
        <p:nvSpPr>
          <p:cNvPr id="28" name="Rounded Rectangle 27"/>
          <p:cNvSpPr/>
          <p:nvPr/>
        </p:nvSpPr>
        <p:spPr>
          <a:xfrm>
            <a:off x="566928" y="4197096"/>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261104"/>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全額EBITDA</a:t>
            </a:r>
          </a:p>
        </p:txBody>
      </p:sp>
      <p:sp>
        <p:nvSpPr>
          <p:cNvPr id="30" name="TextBox 29"/>
          <p:cNvSpPr txBox="1"/>
          <p:nvPr/>
        </p:nvSpPr>
        <p:spPr>
          <a:xfrm>
            <a:off x="2231136" y="4261104"/>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−1.14億円</a:t>
            </a:r>
          </a:p>
        </p:txBody>
      </p:sp>
      <p:sp>
        <p:nvSpPr>
          <p:cNvPr id="31" name="TextBox 30"/>
          <p:cNvSpPr txBox="1"/>
          <p:nvPr/>
        </p:nvSpPr>
        <p:spPr>
          <a:xfrm>
            <a:off x="4105655" y="4261104"/>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−6.80億円</a:t>
            </a:r>
          </a:p>
        </p:txBody>
      </p:sp>
      <p:sp>
        <p:nvSpPr>
          <p:cNvPr id="32" name="Rounded Rectangle 31"/>
          <p:cNvSpPr/>
          <p:nvPr/>
        </p:nvSpPr>
        <p:spPr>
          <a:xfrm>
            <a:off x="566928" y="4581144"/>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464515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持分管理</a:t>
            </a:r>
          </a:p>
        </p:txBody>
      </p:sp>
      <p:sp>
        <p:nvSpPr>
          <p:cNvPr id="34" name="TextBox 33"/>
          <p:cNvSpPr txBox="1"/>
          <p:nvPr/>
        </p:nvSpPr>
        <p:spPr>
          <a:xfrm>
            <a:off x="2231136" y="4645152"/>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−0.88億円</a:t>
            </a:r>
          </a:p>
        </p:txBody>
      </p:sp>
      <p:sp>
        <p:nvSpPr>
          <p:cNvPr id="35" name="TextBox 34"/>
          <p:cNvSpPr txBox="1"/>
          <p:nvPr/>
        </p:nvSpPr>
        <p:spPr>
          <a:xfrm>
            <a:off x="4105655" y="4645152"/>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−5.16億円</a:t>
            </a:r>
          </a:p>
        </p:txBody>
      </p:sp>
      <p:sp>
        <p:nvSpPr>
          <p:cNvPr id="36" name="Rounded Rectangle 35"/>
          <p:cNvSpPr/>
          <p:nvPr/>
        </p:nvSpPr>
        <p:spPr>
          <a:xfrm>
            <a:off x="566928" y="4965192"/>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502920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年間EBITDA比</a:t>
            </a:r>
          </a:p>
        </p:txBody>
      </p:sp>
      <p:sp>
        <p:nvSpPr>
          <p:cNvPr id="38" name="TextBox 37"/>
          <p:cNvSpPr txBox="1"/>
          <p:nvPr/>
        </p:nvSpPr>
        <p:spPr>
          <a:xfrm>
            <a:off x="2231136" y="5029200"/>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−0.26%</a:t>
            </a:r>
          </a:p>
        </p:txBody>
      </p:sp>
      <p:sp>
        <p:nvSpPr>
          <p:cNvPr id="39" name="TextBox 38"/>
          <p:cNvSpPr txBox="1"/>
          <p:nvPr/>
        </p:nvSpPr>
        <p:spPr>
          <a:xfrm>
            <a:off x="4105655" y="5029200"/>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−1.52%</a:t>
            </a:r>
          </a:p>
        </p:txBody>
      </p:sp>
      <p:sp>
        <p:nvSpPr>
          <p:cNvPr id="40" name="Rounded Rectangle 39"/>
          <p:cNvSpPr/>
          <p:nvPr/>
        </p:nvSpPr>
        <p:spPr>
          <a:xfrm>
            <a:off x="566928" y="5349240"/>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1324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全社KPIまでの経路</a:t>
            </a:r>
          </a:p>
        </p:txBody>
      </p:sp>
      <p:sp>
        <p:nvSpPr>
          <p:cNvPr id="42" name="TextBox 41"/>
          <p:cNvSpPr txBox="1"/>
          <p:nvPr/>
        </p:nvSpPr>
        <p:spPr>
          <a:xfrm>
            <a:off x="2231136" y="541324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84件すべてたどれる</a:t>
            </a:r>
          </a:p>
        </p:txBody>
      </p:sp>
      <p:sp>
        <p:nvSpPr>
          <p:cNvPr id="43" name="TextBox 42"/>
          <p:cNvSpPr txBox="1"/>
          <p:nvPr/>
        </p:nvSpPr>
        <p:spPr>
          <a:xfrm>
            <a:off x="4105655" y="541324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336件すべてたどれる</a:t>
            </a:r>
          </a:p>
        </p:txBody>
      </p:sp>
      <p:sp>
        <p:nvSpPr>
          <p:cNvPr id="44" name="TextBox 43"/>
          <p:cNvSpPr txBox="1"/>
          <p:nvPr/>
        </p:nvSpPr>
        <p:spPr>
          <a:xfrm>
            <a:off x="6400800" y="2395728"/>
            <a:ext cx="52120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横断混乱：会社別の全額EBITDA影響（億円）</a:t>
            </a:r>
          </a:p>
        </p:txBody>
      </p:sp>
      <p:sp>
        <p:nvSpPr>
          <p:cNvPr id="45" name="TextBox 44"/>
          <p:cNvSpPr txBox="1"/>
          <p:nvPr/>
        </p:nvSpPr>
        <p:spPr>
          <a:xfrm>
            <a:off x="6400800" y="2688336"/>
            <a:ext cx="52120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各社の年間EBITDA比は約1.4〜1.6%です。DAの実測と一致しました。</a:t>
            </a:r>
          </a:p>
        </p:txBody>
      </p:sp>
      <p:sp>
        <p:nvSpPr>
          <p:cNvPr id="46" name="Rectangle 45"/>
          <p:cNvSpPr/>
          <p:nvPr/>
        </p:nvSpPr>
        <p:spPr>
          <a:xfrm>
            <a:off x="6400800" y="3200400"/>
            <a:ext cx="5212080"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16243" y="3211372"/>
            <a:ext cx="420624" cy="1925028"/>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6515" y="5163833"/>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−1.05</a:t>
            </a:r>
          </a:p>
        </p:txBody>
      </p:sp>
      <p:sp>
        <p:nvSpPr>
          <p:cNvPr id="49" name="TextBox 48"/>
          <p:cNvSpPr txBox="1"/>
          <p:nvPr/>
        </p:nvSpPr>
        <p:spPr>
          <a:xfrm>
            <a:off x="640651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0" name="Rectangle 49"/>
          <p:cNvSpPr/>
          <p:nvPr/>
        </p:nvSpPr>
        <p:spPr>
          <a:xfrm>
            <a:off x="7167753" y="3211372"/>
            <a:ext cx="420624" cy="19442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58025" y="518306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−1.06</a:t>
            </a:r>
          </a:p>
        </p:txBody>
      </p:sp>
      <p:sp>
        <p:nvSpPr>
          <p:cNvPr id="52" name="TextBox 51"/>
          <p:cNvSpPr txBox="1"/>
          <p:nvPr/>
        </p:nvSpPr>
        <p:spPr>
          <a:xfrm>
            <a:off x="705802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3" name="Rectangle 52"/>
          <p:cNvSpPr/>
          <p:nvPr/>
        </p:nvSpPr>
        <p:spPr>
          <a:xfrm>
            <a:off x="7819263" y="3211372"/>
            <a:ext cx="420624" cy="18928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09535" y="5131666"/>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−1.04</a:t>
            </a:r>
          </a:p>
        </p:txBody>
      </p:sp>
      <p:sp>
        <p:nvSpPr>
          <p:cNvPr id="55" name="TextBox 54"/>
          <p:cNvSpPr txBox="1"/>
          <p:nvPr/>
        </p:nvSpPr>
        <p:spPr>
          <a:xfrm>
            <a:off x="770953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6" name="Rectangle 55"/>
          <p:cNvSpPr/>
          <p:nvPr/>
        </p:nvSpPr>
        <p:spPr>
          <a:xfrm>
            <a:off x="8470773" y="3211372"/>
            <a:ext cx="420624" cy="1849193"/>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1045" y="5087998"/>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−1.01</a:t>
            </a:r>
          </a:p>
        </p:txBody>
      </p:sp>
      <p:sp>
        <p:nvSpPr>
          <p:cNvPr id="58" name="TextBox 57"/>
          <p:cNvSpPr txBox="1"/>
          <p:nvPr/>
        </p:nvSpPr>
        <p:spPr>
          <a:xfrm>
            <a:off x="836104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9" name="Rectangle 58"/>
          <p:cNvSpPr/>
          <p:nvPr/>
        </p:nvSpPr>
        <p:spPr>
          <a:xfrm>
            <a:off x="9122283" y="3211372"/>
            <a:ext cx="420624" cy="108595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12555" y="432475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−0.59</a:t>
            </a:r>
          </a:p>
        </p:txBody>
      </p:sp>
      <p:sp>
        <p:nvSpPr>
          <p:cNvPr id="61" name="TextBox 60"/>
          <p:cNvSpPr txBox="1"/>
          <p:nvPr/>
        </p:nvSpPr>
        <p:spPr>
          <a:xfrm>
            <a:off x="901255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2" name="Rectangle 61"/>
          <p:cNvSpPr/>
          <p:nvPr/>
        </p:nvSpPr>
        <p:spPr>
          <a:xfrm>
            <a:off x="9773793" y="3211372"/>
            <a:ext cx="420624" cy="129518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64065" y="453399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−0.71</a:t>
            </a:r>
          </a:p>
        </p:txBody>
      </p:sp>
      <p:sp>
        <p:nvSpPr>
          <p:cNvPr id="64" name="TextBox 63"/>
          <p:cNvSpPr txBox="1"/>
          <p:nvPr/>
        </p:nvSpPr>
        <p:spPr>
          <a:xfrm>
            <a:off x="966406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65" name="Rectangle 64"/>
          <p:cNvSpPr/>
          <p:nvPr/>
        </p:nvSpPr>
        <p:spPr>
          <a:xfrm>
            <a:off x="10425303" y="3211372"/>
            <a:ext cx="420624" cy="11882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315575" y="442700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−0.65</a:t>
            </a:r>
          </a:p>
        </p:txBody>
      </p:sp>
      <p:sp>
        <p:nvSpPr>
          <p:cNvPr id="67" name="TextBox 66"/>
          <p:cNvSpPr txBox="1"/>
          <p:nvPr/>
        </p:nvSpPr>
        <p:spPr>
          <a:xfrm>
            <a:off x="1031557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8" name="Rectangle 67"/>
          <p:cNvSpPr/>
          <p:nvPr/>
        </p:nvSpPr>
        <p:spPr>
          <a:xfrm>
            <a:off x="11076813" y="3211372"/>
            <a:ext cx="420624" cy="125579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967085" y="449460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−0.69</a:t>
            </a:r>
          </a:p>
        </p:txBody>
      </p:sp>
      <p:sp>
        <p:nvSpPr>
          <p:cNvPr id="70" name="TextBox 69"/>
          <p:cNvSpPr txBox="1"/>
          <p:nvPr/>
        </p:nvSpPr>
        <p:spPr>
          <a:xfrm>
            <a:off x="1096708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71" name="Rectangle 70"/>
          <p:cNvSpPr/>
          <p:nvPr/>
        </p:nvSpPr>
        <p:spPr>
          <a:xfrm>
            <a:off x="647395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0080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金属</a:t>
            </a:r>
          </a:p>
        </p:txBody>
      </p:sp>
      <p:sp>
        <p:nvSpPr>
          <p:cNvPr id="73" name="Rectangle 72"/>
          <p:cNvSpPr/>
          <p:nvPr/>
        </p:nvSpPr>
        <p:spPr>
          <a:xfrm>
            <a:off x="777697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0382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エネルギー</a:t>
            </a:r>
          </a:p>
        </p:txBody>
      </p:sp>
      <p:sp>
        <p:nvSpPr>
          <p:cNvPr id="75" name="Rectangle 74"/>
          <p:cNvSpPr/>
          <p:nvPr/>
        </p:nvSpPr>
        <p:spPr>
          <a:xfrm>
            <a:off x="907999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00684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食品</a:t>
            </a:r>
          </a:p>
        </p:txBody>
      </p:sp>
      <p:sp>
        <p:nvSpPr>
          <p:cNvPr id="77" name="Rectangle 76"/>
          <p:cNvSpPr/>
          <p:nvPr/>
        </p:nvSpPr>
        <p:spPr>
          <a:xfrm>
            <a:off x="1038301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30986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金融</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全社波及（扱える範囲）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全社波及で扱える範囲と未対応の範囲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「全社に波及する」が指す出来事は、聞き手によって違います。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指すものが違えば、このデモで見せられるかどうかの答えも変わります。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聞き返す例：「全社に同時に及ぶ話ですか。会社から会社へ連鎖する話ですか」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TextBox 8"/>
          <p:cNvSpPr txBox="1"/>
          <p:nvPr/>
        </p:nvSpPr>
        <p:spPr>
          <a:xfrm>
            <a:off x="731520" y="2359152"/>
            <a:ext cx="237744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聞かれ方</a:t>
            </a:r>
          </a:p>
        </p:txBody>
      </p:sp>
      <p:sp>
        <p:nvSpPr>
          <p:cNvPr id="10" name="TextBox 9"/>
          <p:cNvSpPr txBox="1"/>
          <p:nvPr/>
        </p:nvSpPr>
        <p:spPr>
          <a:xfrm>
            <a:off x="3246120" y="2359152"/>
            <a:ext cx="1097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このデモ</a:t>
            </a:r>
          </a:p>
        </p:txBody>
      </p:sp>
      <p:sp>
        <p:nvSpPr>
          <p:cNvPr id="11" name="TextBox 10"/>
          <p:cNvSpPr txBox="1"/>
          <p:nvPr/>
        </p:nvSpPr>
        <p:spPr>
          <a:xfrm>
            <a:off x="4526280" y="2359152"/>
            <a:ext cx="685800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根拠と、足りない点</a:t>
            </a:r>
          </a:p>
        </p:txBody>
      </p:sp>
      <p:sp>
        <p:nvSpPr>
          <p:cNvPr id="12" name="Rounded Rectangle 11"/>
          <p:cNvSpPr/>
          <p:nvPr/>
        </p:nvSpPr>
        <p:spPr>
          <a:xfrm>
            <a:off x="566928" y="2670048"/>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同時に全社へ及ぶ</a:t>
            </a:r>
          </a:p>
        </p:txBody>
      </p:sp>
      <p:sp>
        <p:nvSpPr>
          <p:cNvPr id="14" name="TextBox 13"/>
          <p:cNvSpPr txBox="1"/>
          <p:nvPr/>
        </p:nvSpPr>
        <p:spPr>
          <a:xfrm>
            <a:off x="731520" y="303580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例：港の混乱、資金繰りの悪化</a:t>
            </a:r>
          </a:p>
        </p:txBody>
      </p:sp>
      <p:sp>
        <p:nvSpPr>
          <p:cNvPr id="15" name="Rounded Rectangle 14"/>
          <p:cNvSpPr/>
          <p:nvPr/>
        </p:nvSpPr>
        <p:spPr>
          <a:xfrm>
            <a:off x="3246120" y="2834640"/>
            <a:ext cx="960120" cy="329184"/>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2898648"/>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扱える</a:t>
            </a:r>
          </a:p>
        </p:txBody>
      </p:sp>
      <p:sp>
        <p:nvSpPr>
          <p:cNvPr id="17" name="TextBox 16"/>
          <p:cNvSpPr txBox="1"/>
          <p:nvPr/>
        </p:nvSpPr>
        <p:spPr>
          <a:xfrm>
            <a:off x="4526280" y="2761488"/>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横断の2件が8社に同時に当たり、全社KPIまでの経路もすべてたどれます。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DAは、イベント別、業種別、会社別の金額を、保存データと同じ値で返しました（実測）。</a:t>
            </a:r>
          </a:p>
        </p:txBody>
      </p:sp>
      <p:sp>
        <p:nvSpPr>
          <p:cNvPr id="18" name="Rounded Rectangle 17"/>
          <p:cNvSpPr/>
          <p:nvPr/>
        </p:nvSpPr>
        <p:spPr>
          <a:xfrm>
            <a:off x="566928" y="3401568"/>
            <a:ext cx="11045952" cy="8768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9300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会社から会社へ連鎖する</a:t>
            </a:r>
          </a:p>
        </p:txBody>
      </p:sp>
      <p:sp>
        <p:nvSpPr>
          <p:cNvPr id="20" name="TextBox 19"/>
          <p:cNvSpPr txBox="1"/>
          <p:nvPr/>
        </p:nvSpPr>
        <p:spPr>
          <a:xfrm>
            <a:off x="731520" y="376732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例：金融の問題がエネルギーに及ぶ</a:t>
            </a:r>
          </a:p>
        </p:txBody>
      </p:sp>
      <p:sp>
        <p:nvSpPr>
          <p:cNvPr id="21" name="Rounded Rectangle 20"/>
          <p:cNvSpPr/>
          <p:nvPr/>
        </p:nvSpPr>
        <p:spPr>
          <a:xfrm>
            <a:off x="3246120" y="3675411"/>
            <a:ext cx="960120" cy="329184"/>
          </a:xfrm>
          <a:prstGeom prst="roundRect">
            <a:avLst>
              <a:gd name="adj" fmla="val 8000"/>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3739419"/>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未対応</a:t>
            </a:r>
          </a:p>
        </p:txBody>
      </p:sp>
      <p:sp>
        <p:nvSpPr>
          <p:cNvPr id="23" name="TextBox 22"/>
          <p:cNvSpPr txBox="1"/>
          <p:nvPr/>
        </p:nvSpPr>
        <p:spPr>
          <a:xfrm>
            <a:off x="4526280" y="3493008"/>
            <a:ext cx="6949440" cy="739711"/>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会社同士の関係がOntologyになく、内部取引の表も金融とエネルギーの2経路だけです。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DAは4回とも「他の子会社への配賦なし、内部取引経由は確認できない」と答えました。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表の0.00億円は、データに配賦がないことを示し、影響なしの確認にはなりません。</a:t>
            </a:r>
          </a:p>
        </p:txBody>
      </p:sp>
      <p:sp>
        <p:nvSpPr>
          <p:cNvPr id="24" name="Rounded Rectangle 23"/>
          <p:cNvSpPr/>
          <p:nvPr/>
        </p:nvSpPr>
        <p:spPr>
          <a:xfrm>
            <a:off x="566928" y="435159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44303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もっと大きな規模の出来事</a:t>
            </a:r>
          </a:p>
        </p:txBody>
      </p:sp>
      <p:sp>
        <p:nvSpPr>
          <p:cNvPr id="26" name="TextBox 25"/>
          <p:cNvSpPr txBox="1"/>
          <p:nvPr/>
        </p:nvSpPr>
        <p:spPr>
          <a:xfrm>
            <a:off x="731520" y="471735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例：全社の稼ぎが大きく動く出来事</a:t>
            </a:r>
          </a:p>
        </p:txBody>
      </p:sp>
      <p:sp>
        <p:nvSpPr>
          <p:cNvPr id="27" name="Rounded Rectangle 26"/>
          <p:cNvSpPr/>
          <p:nvPr/>
        </p:nvSpPr>
        <p:spPr>
          <a:xfrm>
            <a:off x="3246120" y="4516183"/>
            <a:ext cx="960120" cy="329184"/>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6120" y="458019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未収録</a:t>
            </a:r>
          </a:p>
        </p:txBody>
      </p:sp>
      <p:sp>
        <p:nvSpPr>
          <p:cNvPr id="29" name="TextBox 28"/>
          <p:cNvSpPr txBox="1"/>
          <p:nvPr/>
        </p:nvSpPr>
        <p:spPr>
          <a:xfrm>
            <a:off x="4526280" y="444303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最大の横断混乱で、年間EBITDAの約1.5%です。これより大きな出来事は、収録していません。</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大きな出来事の追加には、影響データの追加とGraphの更新が要ります。</a:t>
            </a:r>
          </a:p>
        </p:txBody>
      </p:sp>
      <p:sp>
        <p:nvSpPr>
          <p:cNvPr id="30" name="Rounded Rectangle 29"/>
          <p:cNvSpPr/>
          <p:nvPr/>
        </p:nvSpPr>
        <p:spPr>
          <a:xfrm>
            <a:off x="566928" y="508311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17455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もしもの試算</a:t>
            </a:r>
          </a:p>
        </p:txBody>
      </p:sp>
      <p:sp>
        <p:nvSpPr>
          <p:cNvPr id="32" name="TextBox 31"/>
          <p:cNvSpPr txBox="1"/>
          <p:nvPr/>
        </p:nvSpPr>
        <p:spPr>
          <a:xfrm>
            <a:off x="731520" y="544887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例：円高が10円進んだら</a:t>
            </a:r>
          </a:p>
        </p:txBody>
      </p:sp>
      <p:sp>
        <p:nvSpPr>
          <p:cNvPr id="33" name="Rounded Rectangle 32"/>
          <p:cNvSpPr/>
          <p:nvPr/>
        </p:nvSpPr>
        <p:spPr>
          <a:xfrm>
            <a:off x="3246120" y="5247703"/>
            <a:ext cx="960120" cy="329184"/>
          </a:xfrm>
          <a:prstGeom prst="roundRect">
            <a:avLst>
              <a:gd name="adj" fmla="val 8000"/>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6120" y="531171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要注意</a:t>
            </a:r>
          </a:p>
        </p:txBody>
      </p:sp>
      <p:sp>
        <p:nvSpPr>
          <p:cNvPr id="35" name="TextBox 34"/>
          <p:cNvSpPr txBox="1"/>
          <p:nvPr/>
        </p:nvSpPr>
        <p:spPr>
          <a:xfrm>
            <a:off x="4526280" y="517455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同じ日に4回聞くと、3回は「円高10円で全額EBITDAは約14.8億円減る」と単純計算で答え、</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1回は「感応度の定義がない」と答え、算定しませんでした。実演では使いません。</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環境と制約の確認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実演前の確認事項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デモが動く環境の前提、製品の状態、日本語の扱いを、実演の前に確認します。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日本語の対応状況と、DAのランタイムは、お客様から聞かれやすい項目です。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66928"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必要な環境</a:t>
            </a:r>
          </a:p>
        </p:txBody>
      </p:sp>
      <p:sp>
        <p:nvSpPr>
          <p:cNvPr id="11" name="TextBox 10"/>
          <p:cNvSpPr txBox="1"/>
          <p:nvPr/>
        </p:nvSpPr>
        <p:spPr>
          <a:xfrm>
            <a:off x="768096"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容量</a:t>
            </a:r>
          </a:p>
        </p:txBody>
      </p:sp>
      <p:sp>
        <p:nvSpPr>
          <p:cNvPr id="12" name="TextBox 11"/>
          <p:cNvSpPr txBox="1"/>
          <p:nvPr/>
        </p:nvSpPr>
        <p:spPr>
          <a:xfrm>
            <a:off x="768096"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有料のFabric容量（F2以上、またはP1以上でFabricを有効化）。このデモの容量はF16</a:t>
            </a:r>
          </a:p>
        </p:txBody>
      </p:sp>
      <p:sp>
        <p:nvSpPr>
          <p:cNvPr id="13" name="TextBox 12"/>
          <p:cNvSpPr txBox="1"/>
          <p:nvPr/>
        </p:nvSpPr>
        <p:spPr>
          <a:xfrm>
            <a:off x="768096"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管理者の設定</a:t>
            </a:r>
          </a:p>
        </p:txBody>
      </p:sp>
      <p:sp>
        <p:nvSpPr>
          <p:cNvPr id="14" name="TextBox 13"/>
          <p:cNvSpPr txBox="1"/>
          <p:nvPr/>
        </p:nvSpPr>
        <p:spPr>
          <a:xfrm>
            <a:off x="768096" y="3962019"/>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テナント設定で、Copilotの利用、Azure OpenAI、Ontology（Preview）の作成を有効にする。反映まで最大1時間</a:t>
            </a:r>
          </a:p>
        </p:txBody>
      </p:sp>
      <p:sp>
        <p:nvSpPr>
          <p:cNvPr id="15" name="TextBox 14"/>
          <p:cNvSpPr txBox="1"/>
          <p:nvPr/>
        </p:nvSpPr>
        <p:spPr>
          <a:xfrm>
            <a:off x="768096" y="4650486"/>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利用者</a:t>
            </a:r>
          </a:p>
        </p:txBody>
      </p:sp>
      <p:sp>
        <p:nvSpPr>
          <p:cNvPr id="16" name="TextBox 15"/>
          <p:cNvSpPr txBox="1"/>
          <p:nvPr/>
        </p:nvSpPr>
        <p:spPr>
          <a:xfrm>
            <a:off x="768096" y="4869942"/>
            <a:ext cx="315468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DA、Ontology、Lakehouseの閲覧権限</a:t>
            </a:r>
          </a:p>
        </p:txBody>
      </p:sp>
      <p:sp>
        <p:nvSpPr>
          <p:cNvPr id="17" name="Rounded Rectangle 16"/>
          <p:cNvSpPr/>
          <p:nvPr/>
        </p:nvSpPr>
        <p:spPr>
          <a:xfrm>
            <a:off x="4306824"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製品の状態（2026-10時点）</a:t>
            </a:r>
          </a:p>
        </p:txBody>
      </p:sp>
      <p:sp>
        <p:nvSpPr>
          <p:cNvPr id="19" name="TextBox 18"/>
          <p:cNvSpPr txBox="1"/>
          <p:nvPr/>
        </p:nvSpPr>
        <p:spPr>
          <a:xfrm>
            <a:off x="4507992"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Data Agent</a:t>
            </a:r>
          </a:p>
        </p:txBody>
      </p:sp>
      <p:sp>
        <p:nvSpPr>
          <p:cNvPr id="20" name="TextBox 19"/>
          <p:cNvSpPr txBox="1"/>
          <p:nvPr/>
        </p:nvSpPr>
        <p:spPr>
          <a:xfrm>
            <a:off x="4507992"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一般提供（GA）。ランタイムは標準（GA）とプレビューの2種類で、このデモはプレビュー</a:t>
            </a:r>
          </a:p>
        </p:txBody>
      </p:sp>
      <p:sp>
        <p:nvSpPr>
          <p:cNvPr id="21" name="TextBox 20"/>
          <p:cNvSpPr txBox="1"/>
          <p:nvPr/>
        </p:nvSpPr>
        <p:spPr>
          <a:xfrm>
            <a:off x="4507992"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OntologyとGraph</a:t>
            </a:r>
          </a:p>
        </p:txBody>
      </p:sp>
      <p:sp>
        <p:nvSpPr>
          <p:cNvPr id="22" name="TextBox 21"/>
          <p:cNvSpPr txBox="1"/>
          <p:nvPr/>
        </p:nvSpPr>
        <p:spPr>
          <a:xfrm>
            <a:off x="4507992" y="3962019"/>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OntologyはPreview。Graph（GQL）の公開APIはbeta</a:t>
            </a:r>
          </a:p>
        </p:txBody>
      </p:sp>
      <p:sp>
        <p:nvSpPr>
          <p:cNvPr id="23" name="TextBox 22"/>
          <p:cNvSpPr txBox="1"/>
          <p:nvPr/>
        </p:nvSpPr>
        <p:spPr>
          <a:xfrm>
            <a:off x="4507992" y="4460621"/>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日本語</a:t>
            </a:r>
          </a:p>
        </p:txBody>
      </p:sp>
      <p:sp>
        <p:nvSpPr>
          <p:cNvPr id="24" name="TextBox 23"/>
          <p:cNvSpPr txBox="1"/>
          <p:nvPr/>
        </p:nvSpPr>
        <p:spPr>
          <a:xfrm>
            <a:off x="4507992" y="4680077"/>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公式には英語以外は未サポート（Learn）。このデモは日本語で動作を確認済み</a:t>
            </a:r>
          </a:p>
        </p:txBody>
      </p:sp>
      <p:sp>
        <p:nvSpPr>
          <p:cNvPr id="25" name="Rounded Rectangle 24"/>
          <p:cNvSpPr/>
          <p:nvPr/>
        </p:nvSpPr>
        <p:spPr>
          <a:xfrm>
            <a:off x="8046719"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BD4354"/>
                </a:solidFill>
                <a:latin typeface="Yu Gothic"/>
              </a:defRPr>
            </a:pPr>
            <a:r>
              <a:rPr sz="1600" b="1" lang="ja-JP">
                <a:solidFill>
                  <a:srgbClr val="BD4354"/>
                </a:solidFill>
                <a:latin typeface="Yu Gothic"/>
                <a:ea typeface="Yu Gothic"/>
              </a:rPr>
              <a:t>説明できる範囲</a:t>
            </a:r>
          </a:p>
        </p:txBody>
      </p:sp>
      <p:sp>
        <p:nvSpPr>
          <p:cNvPr id="27" name="TextBox 26"/>
          <p:cNvSpPr txBox="1"/>
          <p:nvPr/>
        </p:nvSpPr>
        <p:spPr>
          <a:xfrm>
            <a:off x="8247888"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確認済み</a:t>
            </a:r>
          </a:p>
        </p:txBody>
      </p:sp>
      <p:sp>
        <p:nvSpPr>
          <p:cNvPr id="28" name="TextBox 27"/>
          <p:cNvSpPr txBox="1"/>
          <p:nvPr/>
        </p:nvSpPr>
        <p:spPr>
          <a:xfrm>
            <a:off x="8247888" y="3054096"/>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公開済みDAの日本語QA、実GraphのGQL照会と金額照合、Notebookの保存出力の再表示</a:t>
            </a:r>
          </a:p>
        </p:txBody>
      </p:sp>
      <p:sp>
        <p:nvSpPr>
          <p:cNvPr id="29" name="TextBox 28"/>
          <p:cNvSpPr txBox="1"/>
          <p:nvPr/>
        </p:nvSpPr>
        <p:spPr>
          <a:xfrm>
            <a:off x="8247888" y="3552698"/>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保証しない</a:t>
            </a:r>
          </a:p>
        </p:txBody>
      </p:sp>
      <p:sp>
        <p:nvSpPr>
          <p:cNvPr id="30" name="TextBox 29"/>
          <p:cNvSpPr txBox="1"/>
          <p:nvPr/>
        </p:nvSpPr>
        <p:spPr>
          <a:xfrm>
            <a:off x="8247888" y="3772154"/>
            <a:ext cx="3154680" cy="75946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日本語の公式サポート、標準ランタイムで同じ結果になること、M365 Copilot経由で同じグラフが出ること、正式会計と実世界の因果の証明</a:t>
            </a:r>
          </a:p>
        </p:txBody>
      </p:sp>
      <p:sp>
        <p:nvSpPr>
          <p:cNvPr id="31" name="Rounded Rectangle 30">
            <a:hlinkClick r:id="rId3"/>
          </p:cNvPr>
          <p:cNvSpPr/>
          <p:nvPr/>
        </p:nvSpPr>
        <p:spPr>
          <a:xfrm>
            <a:off x="566928"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r:id="rId3"/>
          </p:cNvPr>
          <p:cNvSpPr txBox="1"/>
          <p:nvPr/>
        </p:nvSpPr>
        <p:spPr>
          <a:xfrm>
            <a:off x="685800"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33" name="Rounded Rectangle 32">
            <a:hlinkClick r:id="rId4"/>
          </p:cNvPr>
          <p:cNvSpPr/>
          <p:nvPr/>
        </p:nvSpPr>
        <p:spPr>
          <a:xfrm>
            <a:off x="3337560"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r:id="rId4"/>
          </p:cNvPr>
          <p:cNvSpPr txBox="1"/>
          <p:nvPr/>
        </p:nvSpPr>
        <p:spPr>
          <a:xfrm>
            <a:off x="3456432"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35" name="Rounded Rectangle 34">
            <a:hlinkClick r:id="rId5"/>
          </p:cNvPr>
          <p:cNvSpPr/>
          <p:nvPr/>
        </p:nvSpPr>
        <p:spPr>
          <a:xfrm>
            <a:off x="6108192"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r:id="rId5"/>
          </p:cNvPr>
          <p:cNvSpPr txBox="1"/>
          <p:nvPr/>
        </p:nvSpPr>
        <p:spPr>
          <a:xfrm>
            <a:off x="6227064"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37" name="Rounded Rectangle 36">
            <a:hlinkClick r:id="rId6"/>
          </p:cNvPr>
          <p:cNvSpPr/>
          <p:nvPr/>
        </p:nvSpPr>
        <p:spPr>
          <a:xfrm>
            <a:off x="8878824"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r:id="rId6"/>
          </p:cNvPr>
          <p:cNvSpPr txBox="1"/>
          <p:nvPr/>
        </p:nvSpPr>
        <p:spPr>
          <a:xfrm>
            <a:off x="8997696"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1 イベントを集める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既にある文書と業務データから拾い、小さな台帳として育てます。列の例は次の2ページです。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予実差異の分析、経営会議や営業会議の資料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事故やクレームの報告、納期遅延、</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lnSpc>
                <a:spcPts val="1620"/>
              </a:lnSpc>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2 台帳の列（イベント）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イベントの列の例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台帳は、イベント、影響額、根拠の3つに分けて持ちます。このページはイベントの台帳です。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列名は、このデモの表（risk_events）に合わせ、デモにない列は「デモの表：なし」と示します。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最初は必須の5列だけでよい。因果の扱いと確度は、早めに列として持つ</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TextBox 8"/>
          <p:cNvSpPr txBox="1"/>
          <p:nvPr/>
        </p:nvSpPr>
        <p:spPr>
          <a:xfrm>
            <a:off x="676656" y="2286000"/>
            <a:ext cx="229514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列</a:t>
            </a:r>
          </a:p>
        </p:txBody>
      </p:sp>
      <p:sp>
        <p:nvSpPr>
          <p:cNvPr id="10" name="TextBox 9"/>
          <p:cNvSpPr txBox="1"/>
          <p:nvPr/>
        </p:nvSpPr>
        <p:spPr>
          <a:xfrm>
            <a:off x="3191256" y="2286000"/>
            <a:ext cx="2798063"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入れる内容</a:t>
            </a:r>
          </a:p>
        </p:txBody>
      </p:sp>
      <p:sp>
        <p:nvSpPr>
          <p:cNvPr id="11" name="TextBox 10"/>
          <p:cNvSpPr txBox="1"/>
          <p:nvPr/>
        </p:nvSpPr>
        <p:spPr>
          <a:xfrm>
            <a:off x="6208776" y="2286000"/>
            <a:ext cx="330098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例（食品損失）</a:t>
            </a:r>
          </a:p>
        </p:txBody>
      </p:sp>
      <p:sp>
        <p:nvSpPr>
          <p:cNvPr id="12" name="TextBox 11"/>
          <p:cNvSpPr txBox="1"/>
          <p:nvPr/>
        </p:nvSpPr>
        <p:spPr>
          <a:xfrm>
            <a:off x="9729215" y="2286000"/>
            <a:ext cx="51206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区分</a:t>
            </a:r>
          </a:p>
        </p:txBody>
      </p:sp>
      <p:sp>
        <p:nvSpPr>
          <p:cNvPr id="13" name="TextBox 12"/>
          <p:cNvSpPr txBox="1"/>
          <p:nvPr/>
        </p:nvSpPr>
        <p:spPr>
          <a:xfrm>
            <a:off x="10460736" y="2286000"/>
            <a:ext cx="1042415"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デモの表</a:t>
            </a:r>
          </a:p>
        </p:txBody>
      </p:sp>
      <p:sp>
        <p:nvSpPr>
          <p:cNvPr id="14" name="Rounded Rectangle 13"/>
          <p:cNvSpPr/>
          <p:nvPr/>
        </p:nvSpPr>
        <p:spPr>
          <a:xfrm>
            <a:off x="566928" y="25877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6517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event_id</a:t>
            </a:r>
          </a:p>
        </p:txBody>
      </p:sp>
      <p:sp>
        <p:nvSpPr>
          <p:cNvPr id="16" name="TextBox 15"/>
          <p:cNvSpPr txBox="1"/>
          <p:nvPr/>
        </p:nvSpPr>
        <p:spPr>
          <a:xfrm>
            <a:off x="3191256" y="26517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イベントを区別するID</a:t>
            </a:r>
          </a:p>
        </p:txBody>
      </p:sp>
      <p:sp>
        <p:nvSpPr>
          <p:cNvPr id="17" name="TextBox 16"/>
          <p:cNvSpPr txBox="1"/>
          <p:nvPr/>
        </p:nvSpPr>
        <p:spPr>
          <a:xfrm>
            <a:off x="6208776" y="26517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FOD_NEG</a:t>
            </a:r>
          </a:p>
        </p:txBody>
      </p:sp>
      <p:sp>
        <p:nvSpPr>
          <p:cNvPr id="18" name="TextBox 17"/>
          <p:cNvSpPr txBox="1"/>
          <p:nvPr/>
        </p:nvSpPr>
        <p:spPr>
          <a:xfrm>
            <a:off x="9729215" y="26517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19" name="TextBox 18"/>
          <p:cNvSpPr txBox="1"/>
          <p:nvPr/>
        </p:nvSpPr>
        <p:spPr>
          <a:xfrm>
            <a:off x="10460736" y="26517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20" name="Rounded Rectangle 19"/>
          <p:cNvSpPr/>
          <p:nvPr/>
        </p:nvSpPr>
        <p:spPr>
          <a:xfrm>
            <a:off x="566928" y="29077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29718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event_name</a:t>
            </a:r>
          </a:p>
        </p:txBody>
      </p:sp>
      <p:sp>
        <p:nvSpPr>
          <p:cNvPr id="22" name="TextBox 21"/>
          <p:cNvSpPr txBox="1"/>
          <p:nvPr/>
        </p:nvSpPr>
        <p:spPr>
          <a:xfrm>
            <a:off x="3191256" y="29718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何が起きたかを一言で</a:t>
            </a:r>
          </a:p>
        </p:txBody>
      </p:sp>
      <p:sp>
        <p:nvSpPr>
          <p:cNvPr id="23" name="TextBox 22"/>
          <p:cNvSpPr txBox="1"/>
          <p:nvPr/>
        </p:nvSpPr>
        <p:spPr>
          <a:xfrm>
            <a:off x="6208776" y="29718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食品の廃棄事故（コールドチェーン）</a:t>
            </a:r>
          </a:p>
        </p:txBody>
      </p:sp>
      <p:sp>
        <p:nvSpPr>
          <p:cNvPr id="24" name="TextBox 23"/>
          <p:cNvSpPr txBox="1"/>
          <p:nvPr/>
        </p:nvSpPr>
        <p:spPr>
          <a:xfrm>
            <a:off x="9729215" y="29718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5" name="TextBox 24"/>
          <p:cNvSpPr txBox="1"/>
          <p:nvPr/>
        </p:nvSpPr>
        <p:spPr>
          <a:xfrm>
            <a:off x="10460736" y="29718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26" name="Rounded Rectangle 25"/>
          <p:cNvSpPr/>
          <p:nvPr/>
        </p:nvSpPr>
        <p:spPr>
          <a:xfrm>
            <a:off x="566928" y="322783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2918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start_date、end_date</a:t>
            </a:r>
          </a:p>
        </p:txBody>
      </p:sp>
      <p:sp>
        <p:nvSpPr>
          <p:cNvPr id="28" name="TextBox 27"/>
          <p:cNvSpPr txBox="1"/>
          <p:nvPr/>
        </p:nvSpPr>
        <p:spPr>
          <a:xfrm>
            <a:off x="3191256" y="32918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起きた期間。終わっていなければ空欄</a:t>
            </a:r>
          </a:p>
        </p:txBody>
      </p:sp>
      <p:sp>
        <p:nvSpPr>
          <p:cNvPr id="29" name="TextBox 28"/>
          <p:cNvSpPr txBox="1"/>
          <p:nvPr/>
        </p:nvSpPr>
        <p:spPr>
          <a:xfrm>
            <a:off x="6208776" y="32918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2026-02-09 から 2026-03-01</a:t>
            </a:r>
          </a:p>
        </p:txBody>
      </p:sp>
      <p:sp>
        <p:nvSpPr>
          <p:cNvPr id="30" name="TextBox 29"/>
          <p:cNvSpPr txBox="1"/>
          <p:nvPr/>
        </p:nvSpPr>
        <p:spPr>
          <a:xfrm>
            <a:off x="9729215" y="32918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1" name="TextBox 30"/>
          <p:cNvSpPr txBox="1"/>
          <p:nvPr/>
        </p:nvSpPr>
        <p:spPr>
          <a:xfrm>
            <a:off x="10460736" y="32918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2" name="Rounded Rectangle 31"/>
          <p:cNvSpPr/>
          <p:nvPr/>
        </p:nvSpPr>
        <p:spPr>
          <a:xfrm>
            <a:off x="566928" y="354787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61188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direction</a:t>
            </a:r>
          </a:p>
        </p:txBody>
      </p:sp>
      <p:sp>
        <p:nvSpPr>
          <p:cNvPr id="34" name="TextBox 33"/>
          <p:cNvSpPr txBox="1"/>
          <p:nvPr/>
        </p:nvSpPr>
        <p:spPr>
          <a:xfrm>
            <a:off x="3191256" y="361188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好影響か悪影響か</a:t>
            </a:r>
          </a:p>
        </p:txBody>
      </p:sp>
      <p:sp>
        <p:nvSpPr>
          <p:cNvPr id="35" name="TextBox 34"/>
          <p:cNvSpPr txBox="1"/>
          <p:nvPr/>
        </p:nvSpPr>
        <p:spPr>
          <a:xfrm>
            <a:off x="6208776" y="361188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悪影響（negative）</a:t>
            </a:r>
          </a:p>
        </p:txBody>
      </p:sp>
      <p:sp>
        <p:nvSpPr>
          <p:cNvPr id="36" name="TextBox 35"/>
          <p:cNvSpPr txBox="1"/>
          <p:nvPr/>
        </p:nvSpPr>
        <p:spPr>
          <a:xfrm>
            <a:off x="9729215" y="361188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7" name="TextBox 36"/>
          <p:cNvSpPr txBox="1"/>
          <p:nvPr/>
        </p:nvSpPr>
        <p:spPr>
          <a:xfrm>
            <a:off x="10460736" y="361188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8" name="Rounded Rectangle 37"/>
          <p:cNvSpPr/>
          <p:nvPr/>
        </p:nvSpPr>
        <p:spPr>
          <a:xfrm>
            <a:off x="566928" y="386791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393192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primary_sector、region_code</a:t>
            </a:r>
          </a:p>
        </p:txBody>
      </p:sp>
      <p:sp>
        <p:nvSpPr>
          <p:cNvPr id="40" name="TextBox 39"/>
          <p:cNvSpPr txBox="1"/>
          <p:nvPr/>
        </p:nvSpPr>
        <p:spPr>
          <a:xfrm>
            <a:off x="3191256" y="393192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影響が及ぶ事業と地域（複数なら横断）</a:t>
            </a:r>
          </a:p>
        </p:txBody>
      </p:sp>
      <p:sp>
        <p:nvSpPr>
          <p:cNvPr id="41" name="TextBox 40"/>
          <p:cNvSpPr txBox="1"/>
          <p:nvPr/>
        </p:nvSpPr>
        <p:spPr>
          <a:xfrm>
            <a:off x="6208776" y="393192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食品（日本と米国）</a:t>
            </a:r>
          </a:p>
        </p:txBody>
      </p:sp>
      <p:sp>
        <p:nvSpPr>
          <p:cNvPr id="42" name="TextBox 41"/>
          <p:cNvSpPr txBox="1"/>
          <p:nvPr/>
        </p:nvSpPr>
        <p:spPr>
          <a:xfrm>
            <a:off x="9729215" y="393192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43" name="TextBox 42"/>
          <p:cNvSpPr txBox="1"/>
          <p:nvPr/>
        </p:nvSpPr>
        <p:spPr>
          <a:xfrm>
            <a:off x="10460736" y="393192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44" name="Rounded Rectangle 43"/>
          <p:cNvSpPr/>
          <p:nvPr/>
        </p:nvSpPr>
        <p:spPr>
          <a:xfrm>
            <a:off x="566928" y="41879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2519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severity</a:t>
            </a:r>
          </a:p>
        </p:txBody>
      </p:sp>
      <p:sp>
        <p:nvSpPr>
          <p:cNvPr id="46" name="TextBox 45"/>
          <p:cNvSpPr txBox="1"/>
          <p:nvPr/>
        </p:nvSpPr>
        <p:spPr>
          <a:xfrm>
            <a:off x="3191256" y="42519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重大度（1から5など）</a:t>
            </a:r>
          </a:p>
        </p:txBody>
      </p:sp>
      <p:sp>
        <p:nvSpPr>
          <p:cNvPr id="47" name="TextBox 46"/>
          <p:cNvSpPr txBox="1"/>
          <p:nvPr/>
        </p:nvSpPr>
        <p:spPr>
          <a:xfrm>
            <a:off x="6208776" y="42519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5</a:t>
            </a:r>
          </a:p>
        </p:txBody>
      </p:sp>
      <p:sp>
        <p:nvSpPr>
          <p:cNvPr id="48" name="TextBox 47"/>
          <p:cNvSpPr txBox="1"/>
          <p:nvPr/>
        </p:nvSpPr>
        <p:spPr>
          <a:xfrm>
            <a:off x="9729215" y="42519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49" name="TextBox 48"/>
          <p:cNvSpPr txBox="1"/>
          <p:nvPr/>
        </p:nvSpPr>
        <p:spPr>
          <a:xfrm>
            <a:off x="10460736" y="42519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0" name="Rounded Rectangle 49"/>
          <p:cNvSpPr/>
          <p:nvPr/>
        </p:nvSpPr>
        <p:spPr>
          <a:xfrm>
            <a:off x="566928" y="45079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5720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confidence</a:t>
            </a:r>
          </a:p>
        </p:txBody>
      </p:sp>
      <p:sp>
        <p:nvSpPr>
          <p:cNvPr id="52" name="TextBox 51"/>
          <p:cNvSpPr txBox="1"/>
          <p:nvPr/>
        </p:nvSpPr>
        <p:spPr>
          <a:xfrm>
            <a:off x="3191256" y="45720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影響の見立ての確からしさ</a:t>
            </a:r>
          </a:p>
        </p:txBody>
      </p:sp>
      <p:sp>
        <p:nvSpPr>
          <p:cNvPr id="53" name="TextBox 52"/>
          <p:cNvSpPr txBox="1"/>
          <p:nvPr/>
        </p:nvSpPr>
        <p:spPr>
          <a:xfrm>
            <a:off x="6208776" y="45720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0.95</a:t>
            </a:r>
          </a:p>
        </p:txBody>
      </p:sp>
      <p:sp>
        <p:nvSpPr>
          <p:cNvPr id="54" name="TextBox 53"/>
          <p:cNvSpPr txBox="1"/>
          <p:nvPr/>
        </p:nvSpPr>
        <p:spPr>
          <a:xfrm>
            <a:off x="9729215" y="45720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55" name="TextBox 54"/>
          <p:cNvSpPr txBox="1"/>
          <p:nvPr/>
        </p:nvSpPr>
        <p:spPr>
          <a:xfrm>
            <a:off x="10460736" y="45720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6" name="Rounded Rectangle 55"/>
          <p:cNvSpPr/>
          <p:nvPr/>
        </p:nvSpPr>
        <p:spPr>
          <a:xfrm>
            <a:off x="566928" y="482803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48920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causal_status</a:t>
            </a:r>
          </a:p>
        </p:txBody>
      </p:sp>
      <p:sp>
        <p:nvSpPr>
          <p:cNvPr id="58" name="TextBox 57"/>
          <p:cNvSpPr txBox="1"/>
          <p:nvPr/>
        </p:nvSpPr>
        <p:spPr>
          <a:xfrm>
            <a:off x="3191256" y="48920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因果の扱い（確認済み、仮説、配賦）</a:t>
            </a:r>
          </a:p>
        </p:txBody>
      </p:sp>
      <p:sp>
        <p:nvSpPr>
          <p:cNvPr id="59" name="TextBox 58"/>
          <p:cNvSpPr txBox="1"/>
          <p:nvPr/>
        </p:nvSpPr>
        <p:spPr>
          <a:xfrm>
            <a:off x="6208776" y="48920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設計上の配賦。観測による証明ではない</a:t>
            </a:r>
          </a:p>
        </p:txBody>
      </p:sp>
      <p:sp>
        <p:nvSpPr>
          <p:cNvPr id="60" name="TextBox 59"/>
          <p:cNvSpPr txBox="1"/>
          <p:nvPr/>
        </p:nvSpPr>
        <p:spPr>
          <a:xfrm>
            <a:off x="9729215" y="48920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1" name="TextBox 60"/>
          <p:cNvSpPr txBox="1"/>
          <p:nvPr/>
        </p:nvSpPr>
        <p:spPr>
          <a:xfrm>
            <a:off x="10460736" y="48920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62" name="Rounded Rectangle 61"/>
          <p:cNvSpPr/>
          <p:nvPr/>
        </p:nvSpPr>
        <p:spPr>
          <a:xfrm>
            <a:off x="566928" y="514807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76656" y="521207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status、owner</a:t>
            </a:r>
          </a:p>
        </p:txBody>
      </p:sp>
      <p:sp>
        <p:nvSpPr>
          <p:cNvPr id="64" name="TextBox 63"/>
          <p:cNvSpPr txBox="1"/>
          <p:nvPr/>
        </p:nvSpPr>
        <p:spPr>
          <a:xfrm>
            <a:off x="3191256" y="521207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調査中、確定、終了と、担当者</a:t>
            </a:r>
          </a:p>
        </p:txBody>
      </p:sp>
      <p:sp>
        <p:nvSpPr>
          <p:cNvPr id="65" name="TextBox 64"/>
          <p:cNvSpPr txBox="1"/>
          <p:nvPr/>
        </p:nvSpPr>
        <p:spPr>
          <a:xfrm>
            <a:off x="6208776" y="521207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（このデモにはない）</a:t>
            </a:r>
          </a:p>
        </p:txBody>
      </p:sp>
      <p:sp>
        <p:nvSpPr>
          <p:cNvPr id="66" name="TextBox 65"/>
          <p:cNvSpPr txBox="1"/>
          <p:nvPr/>
        </p:nvSpPr>
        <p:spPr>
          <a:xfrm>
            <a:off x="9729215" y="521207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7" name="TextBox 66"/>
          <p:cNvSpPr txBox="1"/>
          <p:nvPr/>
        </p:nvSpPr>
        <p:spPr>
          <a:xfrm>
            <a:off x="10460736" y="521207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68" name="Rounded Rectangle 67"/>
          <p:cNvSpPr/>
          <p:nvPr/>
        </p:nvSpPr>
        <p:spPr>
          <a:xfrm>
            <a:off x="566928" y="546811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53211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narrative</a:t>
            </a:r>
          </a:p>
        </p:txBody>
      </p:sp>
      <p:sp>
        <p:nvSpPr>
          <p:cNvPr id="70" name="TextBox 69"/>
          <p:cNvSpPr txBox="1"/>
          <p:nvPr/>
        </p:nvSpPr>
        <p:spPr>
          <a:xfrm>
            <a:off x="3191256" y="553211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経緯の説明を1行から3行で</a:t>
            </a:r>
          </a:p>
        </p:txBody>
      </p:sp>
      <p:sp>
        <p:nvSpPr>
          <p:cNvPr id="71" name="TextBox 70"/>
          <p:cNvSpPr txBox="1"/>
          <p:nvPr/>
        </p:nvSpPr>
        <p:spPr>
          <a:xfrm>
            <a:off x="6208776" y="553211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SYNTHETIC: cold chain spoilage incident</a:t>
            </a:r>
          </a:p>
        </p:txBody>
      </p:sp>
      <p:sp>
        <p:nvSpPr>
          <p:cNvPr id="72" name="TextBox 71"/>
          <p:cNvSpPr txBox="1"/>
          <p:nvPr/>
        </p:nvSpPr>
        <p:spPr>
          <a:xfrm>
            <a:off x="9729215" y="553211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73" name="TextBox 72"/>
          <p:cNvSpPr txBox="1"/>
          <p:nvPr/>
        </p:nvSpPr>
        <p:spPr>
          <a:xfrm>
            <a:off x="10460736" y="553211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3 台帳の列（影響額と根拠）</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影響額と根拠の列の例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影響額の台帳は、1つのイベントが、どの契約に、いつ、いくら効いたかを、1行ずつ持ちます。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根拠の台帳は、その金額を裏付ける元の記録の所在を持ちます。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影響額は推定として持つ。方法と確度を添え、因果の証明とは書かない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42</a:t>
            </a:r>
          </a:p>
        </p:txBody>
      </p:sp>
      <p:sp>
        <p:nvSpPr>
          <p:cNvPr id="9" name="TextBox 8"/>
          <p:cNvSpPr txBox="1"/>
          <p:nvPr/>
        </p:nvSpPr>
        <p:spPr>
          <a:xfrm>
            <a:off x="676656" y="2286000"/>
            <a:ext cx="51206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台帳</a:t>
            </a:r>
          </a:p>
        </p:txBody>
      </p:sp>
      <p:sp>
        <p:nvSpPr>
          <p:cNvPr id="10" name="TextBox 9"/>
          <p:cNvSpPr txBox="1"/>
          <p:nvPr/>
        </p:nvSpPr>
        <p:spPr>
          <a:xfrm>
            <a:off x="1408176" y="2286000"/>
            <a:ext cx="243230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列</a:t>
            </a:r>
          </a:p>
        </p:txBody>
      </p:sp>
      <p:sp>
        <p:nvSpPr>
          <p:cNvPr id="11" name="TextBox 10"/>
          <p:cNvSpPr txBox="1"/>
          <p:nvPr/>
        </p:nvSpPr>
        <p:spPr>
          <a:xfrm>
            <a:off x="4059936" y="2286000"/>
            <a:ext cx="24780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入れる内容</a:t>
            </a:r>
          </a:p>
        </p:txBody>
      </p:sp>
      <p:sp>
        <p:nvSpPr>
          <p:cNvPr id="12" name="TextBox 11"/>
          <p:cNvSpPr txBox="1"/>
          <p:nvPr/>
        </p:nvSpPr>
        <p:spPr>
          <a:xfrm>
            <a:off x="6757416" y="2286000"/>
            <a:ext cx="31638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例（食品損失）</a:t>
            </a:r>
          </a:p>
        </p:txBody>
      </p:sp>
      <p:sp>
        <p:nvSpPr>
          <p:cNvPr id="13" name="TextBox 12"/>
          <p:cNvSpPr txBox="1"/>
          <p:nvPr/>
        </p:nvSpPr>
        <p:spPr>
          <a:xfrm>
            <a:off x="10140696" y="2286000"/>
            <a:ext cx="438912"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区分</a:t>
            </a:r>
          </a:p>
        </p:txBody>
      </p:sp>
      <p:sp>
        <p:nvSpPr>
          <p:cNvPr id="14" name="TextBox 13"/>
          <p:cNvSpPr txBox="1"/>
          <p:nvPr/>
        </p:nvSpPr>
        <p:spPr>
          <a:xfrm>
            <a:off x="10799064" y="2286000"/>
            <a:ext cx="704088"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デモの表</a:t>
            </a:r>
          </a:p>
        </p:txBody>
      </p:sp>
      <p:sp>
        <p:nvSpPr>
          <p:cNvPr id="15" name="Rounded Rectangle 14"/>
          <p:cNvSpPr/>
          <p:nvPr/>
        </p:nvSpPr>
        <p:spPr>
          <a:xfrm>
            <a:off x="566928" y="258775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65176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17" name="TextBox 16"/>
          <p:cNvSpPr txBox="1"/>
          <p:nvPr/>
        </p:nvSpPr>
        <p:spPr>
          <a:xfrm>
            <a:off x="1408176" y="265176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event_id、contract_id</a:t>
            </a:r>
          </a:p>
        </p:txBody>
      </p:sp>
      <p:sp>
        <p:nvSpPr>
          <p:cNvPr id="18" name="TextBox 17"/>
          <p:cNvSpPr txBox="1"/>
          <p:nvPr/>
        </p:nvSpPr>
        <p:spPr>
          <a:xfrm>
            <a:off x="4059936" y="265176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どのイベントが、どの契約に効いたか</a:t>
            </a:r>
          </a:p>
        </p:txBody>
      </p:sp>
      <p:sp>
        <p:nvSpPr>
          <p:cNvPr id="19" name="TextBox 18"/>
          <p:cNvSpPr txBox="1"/>
          <p:nvPr/>
        </p:nvSpPr>
        <p:spPr>
          <a:xfrm>
            <a:off x="6757416" y="265176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FOD_NEG、SUB_FOD_JP_01_C04</a:t>
            </a:r>
          </a:p>
        </p:txBody>
      </p:sp>
      <p:sp>
        <p:nvSpPr>
          <p:cNvPr id="20" name="TextBox 19"/>
          <p:cNvSpPr txBox="1"/>
          <p:nvPr/>
        </p:nvSpPr>
        <p:spPr>
          <a:xfrm>
            <a:off x="10140696" y="265176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1" name="TextBox 20"/>
          <p:cNvSpPr txBox="1"/>
          <p:nvPr/>
        </p:nvSpPr>
        <p:spPr>
          <a:xfrm>
            <a:off x="10799064" y="265176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2" name="Rounded Rectangle 21"/>
          <p:cNvSpPr/>
          <p:nvPr/>
        </p:nvSpPr>
        <p:spPr>
          <a:xfrm>
            <a:off x="566928" y="288950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95351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24" name="TextBox 23"/>
          <p:cNvSpPr txBox="1"/>
          <p:nvPr/>
        </p:nvSpPr>
        <p:spPr>
          <a:xfrm>
            <a:off x="1408176" y="295351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effect_date</a:t>
            </a:r>
          </a:p>
        </p:txBody>
      </p:sp>
      <p:sp>
        <p:nvSpPr>
          <p:cNvPr id="25" name="TextBox 24"/>
          <p:cNvSpPr txBox="1"/>
          <p:nvPr/>
        </p:nvSpPr>
        <p:spPr>
          <a:xfrm>
            <a:off x="4059936" y="295351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いつの影響か</a:t>
            </a:r>
          </a:p>
        </p:txBody>
      </p:sp>
      <p:sp>
        <p:nvSpPr>
          <p:cNvPr id="26" name="TextBox 25"/>
          <p:cNvSpPr txBox="1"/>
          <p:nvPr/>
        </p:nvSpPr>
        <p:spPr>
          <a:xfrm>
            <a:off x="6757416" y="295351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2026-02-11</a:t>
            </a:r>
          </a:p>
        </p:txBody>
      </p:sp>
      <p:sp>
        <p:nvSpPr>
          <p:cNvPr id="27" name="TextBox 26"/>
          <p:cNvSpPr txBox="1"/>
          <p:nvPr/>
        </p:nvSpPr>
        <p:spPr>
          <a:xfrm>
            <a:off x="10140696" y="295351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8" name="TextBox 27"/>
          <p:cNvSpPr txBox="1"/>
          <p:nvPr/>
        </p:nvSpPr>
        <p:spPr>
          <a:xfrm>
            <a:off x="10799064" y="295351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9" name="Rounded Rectangle 28"/>
          <p:cNvSpPr/>
          <p:nvPr/>
        </p:nvSpPr>
        <p:spPr>
          <a:xfrm>
            <a:off x="566928" y="319125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25526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1" name="TextBox 30"/>
          <p:cNvSpPr txBox="1"/>
          <p:nvPr/>
        </p:nvSpPr>
        <p:spPr>
          <a:xfrm>
            <a:off x="1408176" y="325526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delta_ebitda_local、currency_code</a:t>
            </a:r>
          </a:p>
        </p:txBody>
      </p:sp>
      <p:sp>
        <p:nvSpPr>
          <p:cNvPr id="32" name="TextBox 31"/>
          <p:cNvSpPr txBox="1"/>
          <p:nvPr/>
        </p:nvSpPr>
        <p:spPr>
          <a:xfrm>
            <a:off x="4059936" y="325526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EBITDAへの影響額（現地通貨）と通貨</a:t>
            </a:r>
          </a:p>
        </p:txBody>
      </p:sp>
      <p:sp>
        <p:nvSpPr>
          <p:cNvPr id="33" name="TextBox 32"/>
          <p:cNvSpPr txBox="1"/>
          <p:nvPr/>
        </p:nvSpPr>
        <p:spPr>
          <a:xfrm>
            <a:off x="6757416" y="325526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−3,003,488.94　JPY</a:t>
            </a:r>
          </a:p>
        </p:txBody>
      </p:sp>
      <p:sp>
        <p:nvSpPr>
          <p:cNvPr id="34" name="TextBox 33"/>
          <p:cNvSpPr txBox="1"/>
          <p:nvPr/>
        </p:nvSpPr>
        <p:spPr>
          <a:xfrm>
            <a:off x="10140696" y="325526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35" name="TextBox 34"/>
          <p:cNvSpPr txBox="1"/>
          <p:nvPr/>
        </p:nvSpPr>
        <p:spPr>
          <a:xfrm>
            <a:off x="10799064" y="325526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36" name="Rounded Rectangle 35"/>
          <p:cNvSpPr/>
          <p:nvPr/>
        </p:nvSpPr>
        <p:spPr>
          <a:xfrm>
            <a:off x="566928" y="349300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355701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8" name="TextBox 37"/>
          <p:cNvSpPr txBox="1"/>
          <p:nvPr/>
        </p:nvSpPr>
        <p:spPr>
          <a:xfrm>
            <a:off x="1408176" y="355701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baseline_ref</a:t>
            </a:r>
          </a:p>
        </p:txBody>
      </p:sp>
      <p:sp>
        <p:nvSpPr>
          <p:cNvPr id="39" name="TextBox 38"/>
          <p:cNvSpPr txBox="1"/>
          <p:nvPr/>
        </p:nvSpPr>
        <p:spPr>
          <a:xfrm>
            <a:off x="4059936" y="355701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何と比べた差か（予算、見通し）</a:t>
            </a:r>
          </a:p>
        </p:txBody>
      </p:sp>
      <p:sp>
        <p:nvSpPr>
          <p:cNvPr id="40" name="TextBox 39"/>
          <p:cNvSpPr txBox="1"/>
          <p:nvPr/>
        </p:nvSpPr>
        <p:spPr>
          <a:xfrm>
            <a:off x="6757416" y="355701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（baselineシナリオとの差）</a:t>
            </a:r>
          </a:p>
        </p:txBody>
      </p:sp>
      <p:sp>
        <p:nvSpPr>
          <p:cNvPr id="41" name="TextBox 40"/>
          <p:cNvSpPr txBox="1"/>
          <p:nvPr/>
        </p:nvSpPr>
        <p:spPr>
          <a:xfrm>
            <a:off x="10140696" y="355701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2" name="TextBox 41"/>
          <p:cNvSpPr txBox="1"/>
          <p:nvPr/>
        </p:nvSpPr>
        <p:spPr>
          <a:xfrm>
            <a:off x="10799064" y="355701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
        <p:nvSpPr>
          <p:cNvPr id="43" name="Rounded Rectangle 42"/>
          <p:cNvSpPr/>
          <p:nvPr/>
        </p:nvSpPr>
        <p:spPr>
          <a:xfrm>
            <a:off x="566928" y="379476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85876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45" name="TextBox 44"/>
          <p:cNvSpPr txBox="1"/>
          <p:nvPr/>
        </p:nvSpPr>
        <p:spPr>
          <a:xfrm>
            <a:off x="1408176" y="385876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attribution_method</a:t>
            </a:r>
          </a:p>
        </p:txBody>
      </p:sp>
      <p:sp>
        <p:nvSpPr>
          <p:cNvPr id="46" name="TextBox 45"/>
          <p:cNvSpPr txBox="1"/>
          <p:nvPr/>
        </p:nvSpPr>
        <p:spPr>
          <a:xfrm>
            <a:off x="4059936" y="385876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推定や配分の方法</a:t>
            </a:r>
          </a:p>
        </p:txBody>
      </p:sp>
      <p:sp>
        <p:nvSpPr>
          <p:cNvPr id="47" name="TextBox 46"/>
          <p:cNvSpPr txBox="1"/>
          <p:nvPr/>
        </p:nvSpPr>
        <p:spPr>
          <a:xfrm>
            <a:off x="6757416" y="385876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unique_event_activity_additive</a:t>
            </a:r>
          </a:p>
        </p:txBody>
      </p:sp>
      <p:sp>
        <p:nvSpPr>
          <p:cNvPr id="48" name="TextBox 47"/>
          <p:cNvSpPr txBox="1"/>
          <p:nvPr/>
        </p:nvSpPr>
        <p:spPr>
          <a:xfrm>
            <a:off x="10140696" y="385876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9" name="TextBox 48"/>
          <p:cNvSpPr txBox="1"/>
          <p:nvPr/>
        </p:nvSpPr>
        <p:spPr>
          <a:xfrm>
            <a:off x="10799064" y="385876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0" name="Rounded Rectangle 49"/>
          <p:cNvSpPr/>
          <p:nvPr/>
        </p:nvSpPr>
        <p:spPr>
          <a:xfrm>
            <a:off x="566928" y="409651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16052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52" name="TextBox 51"/>
          <p:cNvSpPr txBox="1"/>
          <p:nvPr/>
        </p:nvSpPr>
        <p:spPr>
          <a:xfrm>
            <a:off x="1408176" y="416052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impact_channel、lag_days</a:t>
            </a:r>
          </a:p>
        </p:txBody>
      </p:sp>
      <p:sp>
        <p:nvSpPr>
          <p:cNvPr id="53" name="TextBox 52"/>
          <p:cNvSpPr txBox="1"/>
          <p:nvPr/>
        </p:nvSpPr>
        <p:spPr>
          <a:xfrm>
            <a:off x="4059936" y="416052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影響の経路と、効くまでの遅れ</a:t>
            </a:r>
          </a:p>
        </p:txBody>
      </p:sp>
      <p:sp>
        <p:nvSpPr>
          <p:cNvPr id="54" name="TextBox 53"/>
          <p:cNvSpPr txBox="1"/>
          <p:nvPr/>
        </p:nvSpPr>
        <p:spPr>
          <a:xfrm>
            <a:off x="6757416" y="416052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cost、2日</a:t>
            </a:r>
          </a:p>
        </p:txBody>
      </p:sp>
      <p:sp>
        <p:nvSpPr>
          <p:cNvPr id="55" name="TextBox 54"/>
          <p:cNvSpPr txBox="1"/>
          <p:nvPr/>
        </p:nvSpPr>
        <p:spPr>
          <a:xfrm>
            <a:off x="10140696" y="416052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56" name="TextBox 55"/>
          <p:cNvSpPr txBox="1"/>
          <p:nvPr/>
        </p:nvSpPr>
        <p:spPr>
          <a:xfrm>
            <a:off x="10799064" y="416052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7" name="Rounded Rectangle 56"/>
          <p:cNvSpPr/>
          <p:nvPr/>
        </p:nvSpPr>
        <p:spPr>
          <a:xfrm>
            <a:off x="566928" y="439826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6656" y="446227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59" name="TextBox 58"/>
          <p:cNvSpPr txBox="1"/>
          <p:nvPr/>
        </p:nvSpPr>
        <p:spPr>
          <a:xfrm>
            <a:off x="1408176" y="446227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evidence_id、event_id</a:t>
            </a:r>
          </a:p>
        </p:txBody>
      </p:sp>
      <p:sp>
        <p:nvSpPr>
          <p:cNvPr id="60" name="TextBox 59"/>
          <p:cNvSpPr txBox="1"/>
          <p:nvPr/>
        </p:nvSpPr>
        <p:spPr>
          <a:xfrm>
            <a:off x="4059936" y="446227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根拠のIDと、結び付くイベント</a:t>
            </a:r>
          </a:p>
        </p:txBody>
      </p:sp>
      <p:sp>
        <p:nvSpPr>
          <p:cNvPr id="61" name="TextBox 60"/>
          <p:cNvSpPr txBox="1"/>
          <p:nvPr/>
        </p:nvSpPr>
        <p:spPr>
          <a:xfrm>
            <a:off x="6757416" y="446227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SUB_FOD_JP_01_FOD_NEG_0、FOD_NEG</a:t>
            </a:r>
          </a:p>
        </p:txBody>
      </p:sp>
      <p:sp>
        <p:nvSpPr>
          <p:cNvPr id="62" name="TextBox 61"/>
          <p:cNvSpPr txBox="1"/>
          <p:nvPr/>
        </p:nvSpPr>
        <p:spPr>
          <a:xfrm>
            <a:off x="10140696" y="446227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63" name="TextBox 62"/>
          <p:cNvSpPr txBox="1"/>
          <p:nvPr/>
        </p:nvSpPr>
        <p:spPr>
          <a:xfrm>
            <a:off x="10799064" y="446227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64" name="Rounded Rectangle 63"/>
          <p:cNvSpPr/>
          <p:nvPr/>
        </p:nvSpPr>
        <p:spPr>
          <a:xfrm>
            <a:off x="566928" y="470001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6656" y="476402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66" name="TextBox 65"/>
          <p:cNvSpPr txBox="1"/>
          <p:nvPr/>
        </p:nvSpPr>
        <p:spPr>
          <a:xfrm>
            <a:off x="1408176" y="476402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source_record</a:t>
            </a:r>
          </a:p>
        </p:txBody>
      </p:sp>
      <p:sp>
        <p:nvSpPr>
          <p:cNvPr id="67" name="TextBox 66"/>
          <p:cNvSpPr txBox="1"/>
          <p:nvPr/>
        </p:nvSpPr>
        <p:spPr>
          <a:xfrm>
            <a:off x="4059936" y="476402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元の記録の所在（ID、URLなど）</a:t>
            </a:r>
          </a:p>
        </p:txBody>
      </p:sp>
      <p:sp>
        <p:nvSpPr>
          <p:cNvPr id="68" name="TextBox 67"/>
          <p:cNvSpPr txBox="1"/>
          <p:nvPr/>
        </p:nvSpPr>
        <p:spPr>
          <a:xfrm>
            <a:off x="6757416" y="476402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SIM://SUB_FOD_JP_01/FOD_NEG/operations_log</a:t>
            </a:r>
          </a:p>
        </p:txBody>
      </p:sp>
      <p:sp>
        <p:nvSpPr>
          <p:cNvPr id="69" name="TextBox 68"/>
          <p:cNvSpPr txBox="1"/>
          <p:nvPr/>
        </p:nvSpPr>
        <p:spPr>
          <a:xfrm>
            <a:off x="10140696" y="476402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70" name="TextBox 69"/>
          <p:cNvSpPr txBox="1"/>
          <p:nvPr/>
        </p:nvSpPr>
        <p:spPr>
          <a:xfrm>
            <a:off x="10799064" y="476402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1" name="Rounded Rectangle 70"/>
          <p:cNvSpPr/>
          <p:nvPr/>
        </p:nvSpPr>
        <p:spPr>
          <a:xfrm>
            <a:off x="566928" y="500176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6656" y="506577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73" name="TextBox 72"/>
          <p:cNvSpPr txBox="1"/>
          <p:nvPr/>
        </p:nvSpPr>
        <p:spPr>
          <a:xfrm>
            <a:off x="1408176" y="506577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recorded_date、evidence_type</a:t>
            </a:r>
          </a:p>
        </p:txBody>
      </p:sp>
      <p:sp>
        <p:nvSpPr>
          <p:cNvPr id="74" name="TextBox 73"/>
          <p:cNvSpPr txBox="1"/>
          <p:nvPr/>
        </p:nvSpPr>
        <p:spPr>
          <a:xfrm>
            <a:off x="4059936" y="506577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記録された日と、記録の種類</a:t>
            </a:r>
          </a:p>
        </p:txBody>
      </p:sp>
      <p:sp>
        <p:nvSpPr>
          <p:cNvPr id="75" name="TextBox 74"/>
          <p:cNvSpPr txBox="1"/>
          <p:nvPr/>
        </p:nvSpPr>
        <p:spPr>
          <a:xfrm>
            <a:off x="6757416" y="506577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2026-02-09、operations_log</a:t>
            </a:r>
          </a:p>
        </p:txBody>
      </p:sp>
      <p:sp>
        <p:nvSpPr>
          <p:cNvPr id="76" name="TextBox 75"/>
          <p:cNvSpPr txBox="1"/>
          <p:nvPr/>
        </p:nvSpPr>
        <p:spPr>
          <a:xfrm>
            <a:off x="10140696" y="506577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77" name="TextBox 76"/>
          <p:cNvSpPr txBox="1"/>
          <p:nvPr/>
        </p:nvSpPr>
        <p:spPr>
          <a:xfrm>
            <a:off x="10799064" y="506577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8" name="Rounded Rectangle 77"/>
          <p:cNvSpPr/>
          <p:nvPr/>
        </p:nvSpPr>
        <p:spPr>
          <a:xfrm>
            <a:off x="566928" y="530352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76656" y="536752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80" name="TextBox 79"/>
          <p:cNvSpPr txBox="1"/>
          <p:nvPr/>
        </p:nvSpPr>
        <p:spPr>
          <a:xfrm>
            <a:off x="1408176" y="536752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reliability</a:t>
            </a:r>
          </a:p>
        </p:txBody>
      </p:sp>
      <p:sp>
        <p:nvSpPr>
          <p:cNvPr id="81" name="TextBox 80"/>
          <p:cNvSpPr txBox="1"/>
          <p:nvPr/>
        </p:nvSpPr>
        <p:spPr>
          <a:xfrm>
            <a:off x="4059936" y="536752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信頼度</a:t>
            </a:r>
          </a:p>
        </p:txBody>
      </p:sp>
      <p:sp>
        <p:nvSpPr>
          <p:cNvPr id="82" name="TextBox 81"/>
          <p:cNvSpPr txBox="1"/>
          <p:nvPr/>
        </p:nvSpPr>
        <p:spPr>
          <a:xfrm>
            <a:off x="6757416" y="536752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（このデモにはない）</a:t>
            </a:r>
          </a:p>
        </p:txBody>
      </p:sp>
      <p:sp>
        <p:nvSpPr>
          <p:cNvPr id="83" name="TextBox 82"/>
          <p:cNvSpPr txBox="1"/>
          <p:nvPr/>
        </p:nvSpPr>
        <p:spPr>
          <a:xfrm>
            <a:off x="10140696" y="536752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84" name="TextBox 83"/>
          <p:cNvSpPr txBox="1"/>
          <p:nvPr/>
        </p:nvSpPr>
        <p:spPr>
          <a:xfrm>
            <a:off x="10799064" y="536752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1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Rounded Rectangle 8"/>
          <p:cNvSpPr/>
          <p:nvPr/>
        </p:nvSpPr>
        <p:spPr>
          <a:xfrm>
            <a:off x="566928" y="2395728"/>
            <a:ext cx="4800600" cy="35112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lnSpc>
                <a:spcPts val="1560"/>
              </a:lnSpc>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00400"/>
            <a:ext cx="4480560" cy="521207"/>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3697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48386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79476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3133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07822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38912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2569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672583"/>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4983480"/>
            <a:ext cx="4480560" cy="521207"/>
          </a:xfrm>
          <a:prstGeom prst="roundRect">
            <a:avLst>
              <a:gd name="adj" fmla="val 8000"/>
            </a:avLst>
          </a:prstGeom>
          <a:solidFill>
            <a:srgbClr val="D8EDE9"/>
          </a:solidFill>
          <a:ln w="1587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02005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26694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Rounded Rectangle 23"/>
          <p:cNvSpPr/>
          <p:nvPr/>
        </p:nvSpPr>
        <p:spPr>
          <a:xfrm>
            <a:off x="777240" y="5641848"/>
            <a:ext cx="201168" cy="164592"/>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そのまま</a:t>
            </a:r>
          </a:p>
        </p:txBody>
      </p:sp>
      <p:sp>
        <p:nvSpPr>
          <p:cNvPr id="26" name="Rounded Rectangle 25"/>
          <p:cNvSpPr/>
          <p:nvPr/>
        </p:nvSpPr>
        <p:spPr>
          <a:xfrm>
            <a:off x="2011680" y="5641848"/>
            <a:ext cx="201168" cy="164592"/>
          </a:xfrm>
          <a:prstGeom prst="roundRect">
            <a:avLst>
              <a:gd name="adj" fmla="val 8000"/>
            </a:avLst>
          </a:prstGeom>
          <a:solidFill>
            <a:srgbClr val="ECE6F6"/>
          </a:solidFill>
          <a:ln>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実体化（コピー）</a:t>
            </a:r>
          </a:p>
        </p:txBody>
      </p:sp>
      <p:sp>
        <p:nvSpPr>
          <p:cNvPr id="28" name="Rounded Rectangle 27"/>
          <p:cNvSpPr/>
          <p:nvPr/>
        </p:nvSpPr>
        <p:spPr>
          <a:xfrm>
            <a:off x="3703320" y="5641848"/>
            <a:ext cx="201168" cy="164592"/>
          </a:xfrm>
          <a:prstGeom prst="roundRect">
            <a:avLst>
              <a:gd name="adj" fmla="val 8000"/>
            </a:avLst>
          </a:prstGeom>
          <a:solidFill>
            <a:srgbClr val="D8EDE9"/>
          </a:solidFill>
          <a:ln>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ゼロコピー（参照）</a:t>
            </a:r>
          </a:p>
        </p:txBody>
      </p:sp>
      <p:sp>
        <p:nvSpPr>
          <p:cNvPr id="30" name="TextBox 29"/>
          <p:cNvSpPr txBox="1"/>
          <p:nvPr/>
        </p:nvSpPr>
        <p:spPr>
          <a:xfrm>
            <a:off x="5623560" y="2432304"/>
            <a:ext cx="58521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31" name="TextBox 30"/>
          <p:cNvSpPr txBox="1"/>
          <p:nvPr/>
        </p:nvSpPr>
        <p:spPr>
          <a:xfrm>
            <a:off x="5623560"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32" name="Rounded Rectangle 31"/>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34" name="TextBox 33"/>
          <p:cNvSpPr txBox="1"/>
          <p:nvPr/>
        </p:nvSpPr>
        <p:spPr>
          <a:xfrm>
            <a:off x="5696712"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5" name="Rounded Rectangle 34"/>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96712"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7" name="TextBox 36"/>
          <p:cNvSpPr txBox="1"/>
          <p:nvPr/>
        </p:nvSpPr>
        <p:spPr>
          <a:xfrm>
            <a:off x="5696712"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8" name="TextBox 37"/>
          <p:cNvSpPr txBox="1"/>
          <p:nvPr/>
        </p:nvSpPr>
        <p:spPr>
          <a:xfrm>
            <a:off x="7150608"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9" name="Rounded Rectangle 38"/>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41" name="TextBox 40"/>
          <p:cNvSpPr txBox="1"/>
          <p:nvPr/>
        </p:nvSpPr>
        <p:spPr>
          <a:xfrm>
            <a:off x="7223760"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2" name="Rounded Rectangle 41"/>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0"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44" name="TextBox 43"/>
          <p:cNvSpPr txBox="1"/>
          <p:nvPr/>
        </p:nvSpPr>
        <p:spPr>
          <a:xfrm>
            <a:off x="7223760"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5" name="TextBox 44"/>
          <p:cNvSpPr txBox="1"/>
          <p:nvPr/>
        </p:nvSpPr>
        <p:spPr>
          <a:xfrm>
            <a:off x="8677656"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6" name="Rounded Rectangle 45"/>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0808"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8" name="TextBox 47"/>
          <p:cNvSpPr txBox="1"/>
          <p:nvPr/>
        </p:nvSpPr>
        <p:spPr>
          <a:xfrm>
            <a:off x="8750808"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9" name="Rounded Rectangle 48"/>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50808"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51" name="TextBox 50"/>
          <p:cNvSpPr txBox="1"/>
          <p:nvPr/>
        </p:nvSpPr>
        <p:spPr>
          <a:xfrm>
            <a:off x="8750808"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52" name="TextBox 51"/>
          <p:cNvSpPr txBox="1"/>
          <p:nvPr/>
        </p:nvSpPr>
        <p:spPr>
          <a:xfrm>
            <a:off x="10204704"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53" name="Rounded Rectangle 52"/>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77856"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55" name="TextBox 54"/>
          <p:cNvSpPr txBox="1"/>
          <p:nvPr/>
        </p:nvSpPr>
        <p:spPr>
          <a:xfrm>
            <a:off x="10277856"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6" name="Rounded Rectangle 55"/>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77856"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8" name="TextBox 57"/>
          <p:cNvSpPr txBox="1"/>
          <p:nvPr/>
        </p:nvSpPr>
        <p:spPr>
          <a:xfrm>
            <a:off x="10277856"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9" name="Rounded Rectangle 58"/>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79008" y="5029200"/>
            <a:ext cx="5715000"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4 全体マップと整備状況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色は、お客様が既に持っていることの多いデータ（青緑）と、これから整備するデータ（赤）を表します。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実体は17種類、関係は39種類で、整備が必要なのは、イベント、効果、根拠の3つです。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整備が必要な3つ（イベント、効果、根拠）は、第5章の台帳で作る。矢印は主な関係だけを描いている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48</a:t>
            </a:r>
          </a:p>
        </p:txBody>
      </p:sp>
      <p:sp>
        <p:nvSpPr>
          <p:cNvPr id="9" name="Rounded Rectangle 8"/>
          <p:cNvSpPr/>
          <p:nvPr/>
        </p:nvSpPr>
        <p:spPr>
          <a:xfrm>
            <a:off x="594360"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566A78"/>
                </a:solidFill>
                <a:latin typeface="Yu Gothic"/>
              </a:defRPr>
            </a:pPr>
            <a:r>
              <a:rPr sz="1400" b="1" lang="ja-JP">
                <a:solidFill>
                  <a:srgbClr val="566A78"/>
                </a:solidFill>
                <a:latin typeface="Yu Gothic"/>
                <a:ea typeface="Yu Gothic"/>
              </a:rPr>
              <a:t>根拠</a:t>
            </a:r>
          </a:p>
        </p:txBody>
      </p:sp>
      <p:sp>
        <p:nvSpPr>
          <p:cNvPr id="11" name="TextBox 10"/>
          <p:cNvSpPr txBox="1"/>
          <p:nvPr/>
        </p:nvSpPr>
        <p:spPr>
          <a:xfrm>
            <a:off x="685800"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Evidence</a:t>
            </a:r>
          </a:p>
        </p:txBody>
      </p:sp>
      <p:sp>
        <p:nvSpPr>
          <p:cNvPr id="12" name="TextBox 11"/>
          <p:cNvSpPr txBox="1"/>
          <p:nvPr/>
        </p:nvSpPr>
        <p:spPr>
          <a:xfrm>
            <a:off x="685800"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文書に点在</a:t>
            </a:r>
          </a:p>
        </p:txBody>
      </p:sp>
      <p:sp>
        <p:nvSpPr>
          <p:cNvPr id="13" name="Rounded Rectangle 12"/>
          <p:cNvSpPr/>
          <p:nvPr/>
        </p:nvSpPr>
        <p:spPr>
          <a:xfrm>
            <a:off x="2944368"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5808"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イベント</a:t>
            </a:r>
          </a:p>
        </p:txBody>
      </p:sp>
      <p:sp>
        <p:nvSpPr>
          <p:cNvPr id="15" name="TextBox 14"/>
          <p:cNvSpPr txBox="1"/>
          <p:nvPr/>
        </p:nvSpPr>
        <p:spPr>
          <a:xfrm>
            <a:off x="3035808"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RiskEvent</a:t>
            </a:r>
          </a:p>
        </p:txBody>
      </p:sp>
      <p:sp>
        <p:nvSpPr>
          <p:cNvPr id="16" name="TextBox 15"/>
          <p:cNvSpPr txBox="1"/>
          <p:nvPr/>
        </p:nvSpPr>
        <p:spPr>
          <a:xfrm>
            <a:off x="3035808"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台帳を新設</a:t>
            </a:r>
          </a:p>
        </p:txBody>
      </p:sp>
      <p:sp>
        <p:nvSpPr>
          <p:cNvPr id="17" name="Rounded Rectangle 16"/>
          <p:cNvSpPr/>
          <p:nvPr/>
        </p:nvSpPr>
        <p:spPr>
          <a:xfrm>
            <a:off x="5294376"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5816"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効果</a:t>
            </a:r>
          </a:p>
        </p:txBody>
      </p:sp>
      <p:sp>
        <p:nvSpPr>
          <p:cNvPr id="19" name="TextBox 18"/>
          <p:cNvSpPr txBox="1"/>
          <p:nvPr/>
        </p:nvSpPr>
        <p:spPr>
          <a:xfrm>
            <a:off x="5385816"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FinancialEffect</a:t>
            </a:r>
          </a:p>
        </p:txBody>
      </p:sp>
      <p:sp>
        <p:nvSpPr>
          <p:cNvPr id="20" name="TextBox 19"/>
          <p:cNvSpPr txBox="1"/>
          <p:nvPr/>
        </p:nvSpPr>
        <p:spPr>
          <a:xfrm>
            <a:off x="5385816"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影響額を推定</a:t>
            </a:r>
          </a:p>
        </p:txBody>
      </p:sp>
      <p:sp>
        <p:nvSpPr>
          <p:cNvPr id="21" name="Rounded Rectangle 20"/>
          <p:cNvSpPr/>
          <p:nvPr/>
        </p:nvSpPr>
        <p:spPr>
          <a:xfrm>
            <a:off x="7644383"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日次指標</a:t>
            </a:r>
          </a:p>
        </p:txBody>
      </p:sp>
      <p:sp>
        <p:nvSpPr>
          <p:cNvPr id="23" name="TextBox 22"/>
          <p:cNvSpPr txBox="1"/>
          <p:nvPr/>
        </p:nvSpPr>
        <p:spPr>
          <a:xfrm>
            <a:off x="7735823"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FinancialMetric</a:t>
            </a:r>
          </a:p>
        </p:txBody>
      </p:sp>
      <p:sp>
        <p:nvSpPr>
          <p:cNvPr id="24" name="TextBox 23"/>
          <p:cNvSpPr txBox="1"/>
          <p:nvPr/>
        </p:nvSpPr>
        <p:spPr>
          <a:xfrm>
            <a:off x="7735823"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管理会計、月次決算</a:t>
            </a:r>
          </a:p>
        </p:txBody>
      </p:sp>
      <p:sp>
        <p:nvSpPr>
          <p:cNvPr id="25" name="Rounded Rectangle 24"/>
          <p:cNvSpPr/>
          <p:nvPr/>
        </p:nvSpPr>
        <p:spPr>
          <a:xfrm>
            <a:off x="9994392"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85832"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全社KPI</a:t>
            </a:r>
          </a:p>
        </p:txBody>
      </p:sp>
      <p:sp>
        <p:nvSpPr>
          <p:cNvPr id="27" name="TextBox 26"/>
          <p:cNvSpPr txBox="1"/>
          <p:nvPr/>
        </p:nvSpPr>
        <p:spPr>
          <a:xfrm>
            <a:off x="10085832"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GroupKPI</a:t>
            </a:r>
          </a:p>
        </p:txBody>
      </p:sp>
      <p:sp>
        <p:nvSpPr>
          <p:cNvPr id="28" name="TextBox 27"/>
          <p:cNvSpPr txBox="1"/>
          <p:nvPr/>
        </p:nvSpPr>
        <p:spPr>
          <a:xfrm>
            <a:off x="10085832"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経営ダッシュボード</a:t>
            </a:r>
          </a:p>
        </p:txBody>
      </p:sp>
      <p:sp>
        <p:nvSpPr>
          <p:cNvPr id="29" name="Rounded Rectangle 28"/>
          <p:cNvSpPr/>
          <p:nvPr/>
        </p:nvSpPr>
        <p:spPr>
          <a:xfrm>
            <a:off x="594360"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 ×8</a:t>
            </a:r>
          </a:p>
        </p:txBody>
      </p:sp>
      <p:sp>
        <p:nvSpPr>
          <p:cNvPr id="31" name="TextBox 30"/>
          <p:cNvSpPr txBox="1"/>
          <p:nvPr/>
        </p:nvSpPr>
        <p:spPr>
          <a:xfrm>
            <a:off x="685800"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4業種 × 日米</a:t>
            </a:r>
          </a:p>
        </p:txBody>
      </p:sp>
      <p:sp>
        <p:nvSpPr>
          <p:cNvPr id="32" name="TextBox 31"/>
          <p:cNvSpPr txBox="1"/>
          <p:nvPr/>
        </p:nvSpPr>
        <p:spPr>
          <a:xfrm>
            <a:off x="685800"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現場システム</a:t>
            </a:r>
          </a:p>
        </p:txBody>
      </p:sp>
      <p:sp>
        <p:nvSpPr>
          <p:cNvPr id="33" name="Rounded Rectangle 32"/>
          <p:cNvSpPr/>
          <p:nvPr/>
        </p:nvSpPr>
        <p:spPr>
          <a:xfrm>
            <a:off x="2944368"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5808"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活動</a:t>
            </a:r>
          </a:p>
        </p:txBody>
      </p:sp>
      <p:sp>
        <p:nvSpPr>
          <p:cNvPr id="35" name="TextBox 34"/>
          <p:cNvSpPr txBox="1"/>
          <p:nvPr/>
        </p:nvSpPr>
        <p:spPr>
          <a:xfrm>
            <a:off x="3035808"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Activity</a:t>
            </a:r>
          </a:p>
        </p:txBody>
      </p:sp>
      <p:sp>
        <p:nvSpPr>
          <p:cNvPr id="36" name="TextBox 35"/>
          <p:cNvSpPr txBox="1"/>
          <p:nvPr/>
        </p:nvSpPr>
        <p:spPr>
          <a:xfrm>
            <a:off x="3035808"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受注、売上明細</a:t>
            </a:r>
          </a:p>
        </p:txBody>
      </p:sp>
      <p:sp>
        <p:nvSpPr>
          <p:cNvPr id="37" name="Rounded Rectangle 36"/>
          <p:cNvSpPr/>
          <p:nvPr/>
        </p:nvSpPr>
        <p:spPr>
          <a:xfrm>
            <a:off x="5294376"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85816"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契約</a:t>
            </a:r>
          </a:p>
        </p:txBody>
      </p:sp>
      <p:sp>
        <p:nvSpPr>
          <p:cNvPr id="39" name="TextBox 38"/>
          <p:cNvSpPr txBox="1"/>
          <p:nvPr/>
        </p:nvSpPr>
        <p:spPr>
          <a:xfrm>
            <a:off x="5385816"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Contract</a:t>
            </a:r>
          </a:p>
        </p:txBody>
      </p:sp>
      <p:sp>
        <p:nvSpPr>
          <p:cNvPr id="40" name="TextBox 39"/>
          <p:cNvSpPr txBox="1"/>
          <p:nvPr/>
        </p:nvSpPr>
        <p:spPr>
          <a:xfrm>
            <a:off x="5385816"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契約管理</a:t>
            </a:r>
          </a:p>
        </p:txBody>
      </p:sp>
      <p:sp>
        <p:nvSpPr>
          <p:cNvPr id="41" name="Rounded Rectangle 40"/>
          <p:cNvSpPr/>
          <p:nvPr/>
        </p:nvSpPr>
        <p:spPr>
          <a:xfrm>
            <a:off x="2944368" y="512064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35808" y="5166359"/>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出荷</a:t>
            </a:r>
          </a:p>
        </p:txBody>
      </p:sp>
      <p:sp>
        <p:nvSpPr>
          <p:cNvPr id="43" name="TextBox 42"/>
          <p:cNvSpPr txBox="1"/>
          <p:nvPr/>
        </p:nvSpPr>
        <p:spPr>
          <a:xfrm>
            <a:off x="3035808" y="5440679"/>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Shipment</a:t>
            </a:r>
          </a:p>
        </p:txBody>
      </p:sp>
      <p:sp>
        <p:nvSpPr>
          <p:cNvPr id="44" name="TextBox 43"/>
          <p:cNvSpPr txBox="1"/>
          <p:nvPr/>
        </p:nvSpPr>
        <p:spPr>
          <a:xfrm>
            <a:off x="3035808" y="5623559"/>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物流、出荷実績</a:t>
            </a:r>
          </a:p>
        </p:txBody>
      </p:sp>
      <p:cxnSp>
        <p:nvCxnSpPr>
          <p:cNvPr id="45" name="Connector 44"/>
          <p:cNvCxnSpPr/>
          <p:nvPr/>
        </p:nvCxnSpPr>
        <p:spPr>
          <a:xfrm>
            <a:off x="2103120" y="28437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5688"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47" name="Connector 46"/>
          <p:cNvCxnSpPr/>
          <p:nvPr/>
        </p:nvCxnSpPr>
        <p:spPr>
          <a:xfrm>
            <a:off x="4453128" y="2843784"/>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425696"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9" name="Connector 48"/>
          <p:cNvCxnSpPr/>
          <p:nvPr/>
        </p:nvCxnSpPr>
        <p:spPr>
          <a:xfrm>
            <a:off x="6803136" y="2843784"/>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775704"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51" name="Connector 50"/>
          <p:cNvCxnSpPr/>
          <p:nvPr/>
        </p:nvCxnSpPr>
        <p:spPr>
          <a:xfrm>
            <a:off x="9153144" y="2843784"/>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125712"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53" name="Connector 52"/>
          <p:cNvCxnSpPr/>
          <p:nvPr/>
        </p:nvCxnSpPr>
        <p:spPr>
          <a:xfrm>
            <a:off x="2103120"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075688"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55" name="Connector 54"/>
          <p:cNvCxnSpPr/>
          <p:nvPr/>
        </p:nvCxnSpPr>
        <p:spPr>
          <a:xfrm>
            <a:off x="4453128"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25696"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57" name="Connector 56"/>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96412" y="3447288"/>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6412" y="3474720"/>
            <a:ext cx="77724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60" name="Connector 59"/>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577840" y="34472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3474720"/>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63" name="Connector 62"/>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507992" y="351129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07992" y="353872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66" name="Connector 65"/>
          <p:cNvCxnSpPr/>
          <p:nvPr/>
        </p:nvCxnSpPr>
        <p:spPr>
          <a:xfrm flipV="1">
            <a:off x="3685032" y="4645152"/>
            <a:ext cx="0" cy="438912"/>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273552" y="4773168"/>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73552" y="4800600"/>
            <a:ext cx="82296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9" name="Connector 68"/>
          <p:cNvCxnSpPr/>
          <p:nvPr/>
        </p:nvCxnSpPr>
        <p:spPr>
          <a:xfrm flipV="1">
            <a:off x="4453128" y="4626864"/>
            <a:ext cx="941832" cy="61264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462272" y="483717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2272" y="486460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72" name="Rounded Rectangle 71"/>
          <p:cNvSpPr/>
          <p:nvPr/>
        </p:nvSpPr>
        <p:spPr>
          <a:xfrm>
            <a:off x="5760720" y="5120640"/>
            <a:ext cx="5715000"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0" y="5193792"/>
            <a:ext cx="914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会社</a:t>
            </a:r>
          </a:p>
        </p:txBody>
      </p:sp>
      <p:sp>
        <p:nvSpPr>
          <p:cNvPr id="74" name="TextBox 73"/>
          <p:cNvSpPr txBox="1"/>
          <p:nvPr/>
        </p:nvSpPr>
        <p:spPr>
          <a:xfrm>
            <a:off x="5943600" y="5486400"/>
            <a:ext cx="1097280"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Company</a:t>
            </a:r>
          </a:p>
        </p:txBody>
      </p:sp>
      <p:sp>
        <p:nvSpPr>
          <p:cNvPr id="75" name="TextBox 74"/>
          <p:cNvSpPr txBox="1"/>
          <p:nvPr/>
        </p:nvSpPr>
        <p:spPr>
          <a:xfrm>
            <a:off x="7086600" y="5212079"/>
            <a:ext cx="429768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契約、活動、効果、日次指標の持ち主（4種類の関係）</a:t>
            </a:r>
          </a:p>
        </p:txBody>
      </p:sp>
      <p:sp>
        <p:nvSpPr>
          <p:cNvPr id="76" name="TextBox 75"/>
          <p:cNvSpPr txBox="1"/>
          <p:nvPr/>
        </p:nvSpPr>
        <p:spPr>
          <a:xfrm>
            <a:off x="7086600" y="5532120"/>
            <a:ext cx="4297680" cy="219456"/>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元データの例：会社マスタ</a:t>
            </a:r>
          </a:p>
        </p:txBody>
      </p:sp>
      <p:sp>
        <p:nvSpPr>
          <p:cNvPr id="77" name="Rounded Rectangle 76"/>
          <p:cNvSpPr/>
          <p:nvPr/>
        </p:nvSpPr>
        <p:spPr>
          <a:xfrm>
            <a:off x="7644383" y="3840480"/>
            <a:ext cx="3831336"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27264" y="3904487"/>
            <a:ext cx="347472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色と矢印</a:t>
            </a:r>
          </a:p>
        </p:txBody>
      </p:sp>
      <p:sp>
        <p:nvSpPr>
          <p:cNvPr id="79" name="Rounded Rectangle 78"/>
          <p:cNvSpPr/>
          <p:nvPr/>
        </p:nvSpPr>
        <p:spPr>
          <a:xfrm>
            <a:off x="7827264" y="4206240"/>
            <a:ext cx="237744" cy="182880"/>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156448" y="4178808"/>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既存のデータで用意しやすい</a:t>
            </a:r>
          </a:p>
        </p:txBody>
      </p:sp>
      <p:sp>
        <p:nvSpPr>
          <p:cNvPr id="81" name="Rounded Rectangle 80"/>
          <p:cNvSpPr/>
          <p:nvPr/>
        </p:nvSpPr>
        <p:spPr>
          <a:xfrm>
            <a:off x="7827264" y="4462272"/>
            <a:ext cx="237744" cy="182880"/>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6448" y="4434840"/>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これから整備が必要（イベントの台帳）</a:t>
            </a:r>
          </a:p>
        </p:txBody>
      </p:sp>
      <p:sp>
        <p:nvSpPr>
          <p:cNvPr id="83" name="TextBox 82"/>
          <p:cNvSpPr txBox="1"/>
          <p:nvPr/>
        </p:nvSpPr>
        <p:spPr>
          <a:xfrm>
            <a:off x="7827264" y="4681728"/>
            <a:ext cx="352044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矢印：灰＝関連、紫＝配賦、緑＝集約（因果の証明ではない）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5 実体と表の対応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49</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6 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50</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7 設計の理由</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Ontologyの実体は、1つの主なデータ元（表）の行から作ります。8社に分かれた原本のままでは、</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同じ種類の実体（契約など）を、会社ごとに別々に定義することになります。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定義を差し替えたら、バインディングの再適用とグラフの更新が要る。取り込みが成功しただけでは照会できない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51</a:t>
            </a:r>
          </a:p>
        </p:txBody>
      </p:sp>
      <p:sp>
        <p:nvSpPr>
          <p:cNvPr id="9" name="TextBox 8"/>
          <p:cNvSpPr txBox="1"/>
          <p:nvPr/>
        </p:nvSpPr>
        <p:spPr>
          <a:xfrm>
            <a:off x="676656" y="2377440"/>
            <a:ext cx="17465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理由</a:t>
            </a:r>
          </a:p>
        </p:txBody>
      </p:sp>
      <p:sp>
        <p:nvSpPr>
          <p:cNvPr id="10" name="TextBox 9"/>
          <p:cNvSpPr txBox="1"/>
          <p:nvPr/>
        </p:nvSpPr>
        <p:spPr>
          <a:xfrm>
            <a:off x="2642616" y="2377440"/>
            <a:ext cx="25694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困りごと</a:t>
            </a:r>
          </a:p>
        </p:txBody>
      </p:sp>
      <p:sp>
        <p:nvSpPr>
          <p:cNvPr id="11" name="TextBox 10"/>
          <p:cNvSpPr txBox="1"/>
          <p:nvPr/>
        </p:nvSpPr>
        <p:spPr>
          <a:xfrm>
            <a:off x="5431536" y="2377440"/>
            <a:ext cx="2935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やったこと</a:t>
            </a:r>
          </a:p>
        </p:txBody>
      </p:sp>
      <p:sp>
        <p:nvSpPr>
          <p:cNvPr id="12" name="TextBox 11"/>
          <p:cNvSpPr txBox="1"/>
          <p:nvPr/>
        </p:nvSpPr>
        <p:spPr>
          <a:xfrm>
            <a:off x="8586215" y="2377440"/>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得られること、代償</a:t>
            </a:r>
          </a:p>
        </p:txBody>
      </p:sp>
      <p:sp>
        <p:nvSpPr>
          <p:cNvPr id="13" name="Rounded Rectangle 12"/>
          <p:cNvSpPr/>
          <p:nvPr/>
        </p:nvSpPr>
        <p:spPr>
          <a:xfrm>
            <a:off x="566928" y="2679192"/>
            <a:ext cx="11045951"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743200"/>
            <a:ext cx="1746504" cy="87782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　8社分を</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1つの表にまとめた</a:t>
            </a:r>
          </a:p>
        </p:txBody>
      </p:sp>
      <p:sp>
        <p:nvSpPr>
          <p:cNvPr id="15" name="TextBox 14"/>
          <p:cNvSpPr txBox="1"/>
          <p:nvPr/>
        </p:nvSpPr>
        <p:spPr>
          <a:xfrm>
            <a:off x="2642616" y="2743200"/>
            <a:ext cx="2569463"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同じ形の表が8社のLakehouseに別々にあり、そのまま結ぶと「契約」の定義が8個になる。</a:t>
            </a:r>
          </a:p>
        </p:txBody>
      </p:sp>
      <p:sp>
        <p:nvSpPr>
          <p:cNvPr id="16" name="TextBox 15"/>
          <p:cNvSpPr txBox="1"/>
          <p:nvPr/>
        </p:nvSpPr>
        <p:spPr>
          <a:xfrm>
            <a:off x="5431536" y="2743200"/>
            <a:ext cx="2935224"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親のLakehouseに、8社分を1つにまとめた分析用の表を作り、「契約」はその表に結ぶ。会社の区別は列（source_lakehouse）に残す。</a:t>
            </a:r>
          </a:p>
        </p:txBody>
      </p:sp>
      <p:sp>
        <p:nvSpPr>
          <p:cNvPr id="17" name="TextBox 16"/>
          <p:cNvSpPr txBox="1"/>
          <p:nvPr/>
        </p:nvSpPr>
        <p:spPr>
          <a:xfrm>
            <a:off x="8586215" y="2743200"/>
            <a:ext cx="2916936"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実体、関係、質問を、全社で1回ずつ書けば済む。コピーなので、原本が変わったら作り直す。</a:t>
            </a:r>
          </a:p>
        </p:txBody>
      </p:sp>
      <p:sp>
        <p:nvSpPr>
          <p:cNvPr id="18" name="Rounded Rectangle 17"/>
          <p:cNvSpPr/>
          <p:nvPr/>
        </p:nvSpPr>
        <p:spPr>
          <a:xfrm>
            <a:off x="566928" y="370332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376732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2　業種固有の項目は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別の実体に分けた</a:t>
            </a:r>
          </a:p>
        </p:txBody>
      </p:sp>
      <p:sp>
        <p:nvSpPr>
          <p:cNvPr id="20" name="TextBox 19"/>
          <p:cNvSpPr txBox="1"/>
          <p:nvPr/>
        </p:nvSpPr>
        <p:spPr>
          <a:xfrm>
            <a:off x="2642616" y="376732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項目が業種で違う（金属の純度、食品の温度、金融のスプレッドなど）。1表にまとめると空欄だらけになる。</a:t>
            </a:r>
          </a:p>
        </p:txBody>
      </p:sp>
      <p:sp>
        <p:nvSpPr>
          <p:cNvPr id="21" name="TextBox 20"/>
          <p:cNvSpPr txBox="1"/>
          <p:nvPr/>
        </p:nvSpPr>
        <p:spPr>
          <a:xfrm>
            <a:off x="5431536" y="376732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日米×4業種の8つの拡張実体に分け、親のショートカット（ゼロコピー）で各社の拡張表を参照する。</a:t>
            </a:r>
          </a:p>
        </p:txBody>
      </p:sp>
      <p:sp>
        <p:nvSpPr>
          <p:cNvPr id="22" name="TextBox 21"/>
          <p:cNvSpPr txBox="1"/>
          <p:nvPr/>
        </p:nvSpPr>
        <p:spPr>
          <a:xfrm>
            <a:off x="8586215" y="376732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共通の質問と業種固有の質問を、同じOntologyで扱える。子会社のLakehouseを直接結ぶ方式は、最初のテストで照会できなかった。</a:t>
            </a:r>
          </a:p>
        </p:txBody>
      </p:sp>
      <p:sp>
        <p:nvSpPr>
          <p:cNvPr id="23" name="Rounded Rectangle 22"/>
          <p:cNvSpPr/>
          <p:nvPr/>
        </p:nvSpPr>
        <p:spPr>
          <a:xfrm>
            <a:off x="566928" y="475488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481888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3　多対多の関係は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対応表で結んだ</a:t>
            </a:r>
          </a:p>
        </p:txBody>
      </p:sp>
      <p:sp>
        <p:nvSpPr>
          <p:cNvPr id="25" name="TextBox 24"/>
          <p:cNvSpPr txBox="1"/>
          <p:nvPr/>
        </p:nvSpPr>
        <p:spPr>
          <a:xfrm>
            <a:off x="2642616" y="481888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1つのイベントが多くの活動に影響する。日付だけで結ぶと、別の行どうしが結び付いて金額が二重に数えられる。</a:t>
            </a:r>
          </a:p>
        </p:txBody>
      </p:sp>
      <p:sp>
        <p:nvSpPr>
          <p:cNvPr id="26" name="TextBox 25"/>
          <p:cNvSpPr txBox="1"/>
          <p:nvPr/>
        </p:nvSpPr>
        <p:spPr>
          <a:xfrm>
            <a:off x="5431536" y="481888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IDの対応を持つ表（semantic_event_impact_bridgeなど3表）を作り、IDが一致する行だけを結ぶ。</a:t>
            </a:r>
          </a:p>
        </p:txBody>
      </p:sp>
      <p:sp>
        <p:nvSpPr>
          <p:cNvPr id="27" name="TextBox 26"/>
          <p:cNvSpPr txBox="1"/>
          <p:nvPr/>
        </p:nvSpPr>
        <p:spPr>
          <a:xfrm>
            <a:off x="8586215" y="481888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84効果が、84件として数えられる。対応表の整備が要り、イベント台帳と同じ課題になる。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1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54</a:t>
            </a:r>
          </a:p>
        </p:txBody>
      </p:sp>
      <p:sp>
        <p:nvSpPr>
          <p:cNvPr id="9" name="Rounded Rectangle 8"/>
          <p:cNvSpPr/>
          <p:nvPr/>
        </p:nvSpPr>
        <p:spPr>
          <a:xfrm>
            <a:off x="566928"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88950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9503"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88950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9503"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88950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9503"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88950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9503"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06824"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35424"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35424"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35424"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35424"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62940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35424"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35424"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62940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9400"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35424"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35424"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62940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0"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35424"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35424"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62940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0"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046719"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5319"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275319"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275319"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275319"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369296"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69296"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275319" y="391363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275319"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275319" y="455371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275319"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275319" y="519379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275319"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2 名前空間</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55</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金属</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金融</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3 ビジネスルール</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56</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4 共有プロパティ</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57</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lnSpc>
                <a:spcPts val="1440"/>
              </a:lnSpc>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lnSpc>
                <a:spcPts val="1250"/>
              </a:lnSpc>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5 継承</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58</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lnSpc>
                <a:spcPts val="1310"/>
              </a:lnSpc>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lnSpc>
                <a:spcPts val="1620"/>
              </a:lnSpc>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6 導入の順番</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59</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930207"/>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934176"/>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5083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551999"/>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55596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555968"/>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ビジネスルールのページの4件から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173791"/>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17776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177760"/>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795583"/>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71620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79955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417375"/>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3800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421344"/>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4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lnSpc>
                <a:spcPts val="1190"/>
              </a:lnSpc>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37</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第1章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全体像と準備</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デモの進行、想定企業、環境と、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実演前に確認する事項を示します。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実演の前</a:t>
            </a:r>
          </a:p>
        </p:txBody>
      </p:sp>
      <p:sp>
        <p:nvSpPr>
          <p:cNvPr id="8" name="Rounded Rectangle 7"/>
          <p:cNvSpPr/>
          <p:nvPr/>
        </p:nvSpPr>
        <p:spPr>
          <a:xfrm>
            <a:off x="5532120" y="502920"/>
            <a:ext cx="6126480" cy="37490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この章のページ（5ページ）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10分デモの進行と画面切替</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想定企業：架空の総合商社グループ</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デモ環境：データから画面までの構成</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架空の8社を同じ尺度で比較</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実演前の確認事項</a:t>
            </a:r>
          </a:p>
        </p:txBody>
      </p:sp>
      <p:sp>
        <p:nvSpPr>
          <p:cNvPr id="20" name="TextBox 19"/>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第2章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営業向け基礎</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経営指標になじみのない相手に、</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EBITDAなどの意味を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数値例で説明します。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経営指標になじみのない相手に説明する前。事前学習用で、実演の10分には含めません</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売上とEBITDAの違い</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食品損失によるEBITDAの変化</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51%所有の金額を区別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通貨と現金の読み違い</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第3章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実演</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4つの入力をDAに順に入れ、</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結果の読み方、食品損失の経路、</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金額の区別を示します。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ライブの10分（Step04は時間があるときだけ）</a:t>
            </a:r>
          </a:p>
        </p:txBody>
      </p:sp>
      <p:sp>
        <p:nvSpPr>
          <p:cNvPr id="8" name="Rounded Rectangle 7"/>
          <p:cNvSpPr/>
          <p:nvPr/>
        </p:nvSpPr>
        <p:spPr>
          <a:xfrm>
            <a:off x="5532120" y="502920"/>
            <a:ext cx="6126480" cy="5760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この章のページ（17ページ）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4つの入力の使い分け</a:t>
            </a:r>
          </a:p>
        </p:txBody>
      </p:sp>
      <p:sp>
        <p:nvSpPr>
          <p:cNvPr id="12" name="TextBox 11"/>
          <p:cNvSpPr txBox="1"/>
          <p:nvPr/>
        </p:nvSpPr>
        <p:spPr>
          <a:xfrm>
            <a:off x="5806440" y="149208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p.16</a:t>
            </a:r>
          </a:p>
        </p:txBody>
      </p:sp>
      <p:sp>
        <p:nvSpPr>
          <p:cNvPr id="13" name="TextBox 12"/>
          <p:cNvSpPr txBox="1"/>
          <p:nvPr/>
        </p:nvSpPr>
        <p:spPr>
          <a:xfrm>
            <a:off x="6583680" y="149208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入力① 年間と月次の稼ぎ</a:t>
            </a:r>
          </a:p>
        </p:txBody>
      </p:sp>
      <p:sp>
        <p:nvSpPr>
          <p:cNvPr id="14" name="TextBox 13"/>
          <p:cNvSpPr txBox="1"/>
          <p:nvPr/>
        </p:nvSpPr>
        <p:spPr>
          <a:xfrm>
            <a:off x="5806440" y="177716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p.17</a:t>
            </a:r>
          </a:p>
        </p:txBody>
      </p:sp>
      <p:sp>
        <p:nvSpPr>
          <p:cNvPr id="15" name="TextBox 14"/>
          <p:cNvSpPr txBox="1"/>
          <p:nvPr/>
        </p:nvSpPr>
        <p:spPr>
          <a:xfrm>
            <a:off x="6583680" y="177716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Step01は基準値と実績の比較</a:t>
            </a:r>
          </a:p>
        </p:txBody>
      </p:sp>
      <p:sp>
        <p:nvSpPr>
          <p:cNvPr id="16" name="TextBox 15"/>
          <p:cNvSpPr txBox="1"/>
          <p:nvPr/>
        </p:nvSpPr>
        <p:spPr>
          <a:xfrm>
            <a:off x="5806440" y="206224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p.18</a:t>
            </a:r>
          </a:p>
        </p:txBody>
      </p:sp>
      <p:sp>
        <p:nvSpPr>
          <p:cNvPr id="17" name="TextBox 16"/>
          <p:cNvSpPr txBox="1"/>
          <p:nvPr/>
        </p:nvSpPr>
        <p:spPr>
          <a:xfrm>
            <a:off x="6583680" y="206224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入力② 増減の理由を比較</a:t>
            </a:r>
          </a:p>
        </p:txBody>
      </p:sp>
      <p:sp>
        <p:nvSpPr>
          <p:cNvPr id="18" name="TextBox 17"/>
          <p:cNvSpPr txBox="1"/>
          <p:nvPr/>
        </p:nvSpPr>
        <p:spPr>
          <a:xfrm>
            <a:off x="5806440" y="234731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p.19</a:t>
            </a:r>
          </a:p>
        </p:txBody>
      </p:sp>
      <p:sp>
        <p:nvSpPr>
          <p:cNvPr id="19" name="TextBox 18"/>
          <p:cNvSpPr txBox="1"/>
          <p:nvPr/>
        </p:nvSpPr>
        <p:spPr>
          <a:xfrm>
            <a:off x="6583680" y="234731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Step02は10イベントの増減</a:t>
            </a:r>
          </a:p>
        </p:txBody>
      </p:sp>
      <p:sp>
        <p:nvSpPr>
          <p:cNvPr id="20" name="TextBox 19"/>
          <p:cNvSpPr txBox="1"/>
          <p:nvPr/>
        </p:nvSpPr>
        <p:spPr>
          <a:xfrm>
            <a:off x="5806440" y="263239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p.20</a:t>
            </a:r>
          </a:p>
        </p:txBody>
      </p:sp>
      <p:sp>
        <p:nvSpPr>
          <p:cNvPr id="21" name="TextBox 20"/>
          <p:cNvSpPr txBox="1"/>
          <p:nvPr/>
        </p:nvSpPr>
        <p:spPr>
          <a:xfrm>
            <a:off x="6583680" y="263239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DAの金額を照合する正解表</a:t>
            </a:r>
          </a:p>
        </p:txBody>
      </p:sp>
      <p:sp>
        <p:nvSpPr>
          <p:cNvPr id="22" name="TextBox 21"/>
          <p:cNvSpPr txBox="1"/>
          <p:nvPr/>
        </p:nvSpPr>
        <p:spPr>
          <a:xfrm>
            <a:off x="5806440" y="291747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p.21</a:t>
            </a:r>
          </a:p>
        </p:txBody>
      </p:sp>
      <p:sp>
        <p:nvSpPr>
          <p:cNvPr id="23" name="TextBox 22"/>
          <p:cNvSpPr txBox="1"/>
          <p:nvPr/>
        </p:nvSpPr>
        <p:spPr>
          <a:xfrm>
            <a:off x="6583680" y="291747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入力③ 食品損失の根拠</a:t>
            </a:r>
          </a:p>
        </p:txBody>
      </p:sp>
      <p:sp>
        <p:nvSpPr>
          <p:cNvPr id="24" name="TextBox 23"/>
          <p:cNvSpPr txBox="1"/>
          <p:nvPr/>
        </p:nvSpPr>
        <p:spPr>
          <a:xfrm>
            <a:off x="5806440" y="3202551"/>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p.22</a:t>
            </a:r>
          </a:p>
        </p:txBody>
      </p:sp>
      <p:sp>
        <p:nvSpPr>
          <p:cNvPr id="25" name="TextBox 24"/>
          <p:cNvSpPr txBox="1"/>
          <p:nvPr/>
        </p:nvSpPr>
        <p:spPr>
          <a:xfrm>
            <a:off x="6583680" y="3202551"/>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食品損失の回答を読む</a:t>
            </a:r>
          </a:p>
        </p:txBody>
      </p:sp>
      <p:sp>
        <p:nvSpPr>
          <p:cNvPr id="26" name="TextBox 25"/>
          <p:cNvSpPr txBox="1"/>
          <p:nvPr/>
        </p:nvSpPr>
        <p:spPr>
          <a:xfrm>
            <a:off x="5806440" y="348762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p.23</a:t>
            </a:r>
          </a:p>
        </p:txBody>
      </p:sp>
      <p:sp>
        <p:nvSpPr>
          <p:cNvPr id="27" name="TextBox 26"/>
          <p:cNvSpPr txBox="1"/>
          <p:nvPr/>
        </p:nvSpPr>
        <p:spPr>
          <a:xfrm>
            <a:off x="6583680" y="348762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Step03で食品損失の経路を表示</a:t>
            </a:r>
          </a:p>
        </p:txBody>
      </p:sp>
      <p:sp>
        <p:nvSpPr>
          <p:cNvPr id="28" name="TextBox 27"/>
          <p:cNvSpPr txBox="1"/>
          <p:nvPr/>
        </p:nvSpPr>
        <p:spPr>
          <a:xfrm>
            <a:off x="5806440" y="377270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p.24</a:t>
            </a:r>
          </a:p>
        </p:txBody>
      </p:sp>
      <p:sp>
        <p:nvSpPr>
          <p:cNvPr id="29" name="TextBox 28"/>
          <p:cNvSpPr txBox="1"/>
          <p:nvPr/>
        </p:nvSpPr>
        <p:spPr>
          <a:xfrm>
            <a:off x="6583680" y="377270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Notebookは保存済みの結果から始める</a:t>
            </a:r>
          </a:p>
        </p:txBody>
      </p:sp>
      <p:sp>
        <p:nvSpPr>
          <p:cNvPr id="30" name="TextBox 29"/>
          <p:cNvSpPr txBox="1"/>
          <p:nvPr/>
        </p:nvSpPr>
        <p:spPr>
          <a:xfrm>
            <a:off x="5806440" y="4057784"/>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p.25</a:t>
            </a:r>
          </a:p>
        </p:txBody>
      </p:sp>
      <p:sp>
        <p:nvSpPr>
          <p:cNvPr id="31" name="TextBox 30"/>
          <p:cNvSpPr txBox="1"/>
          <p:nvPr/>
        </p:nvSpPr>
        <p:spPr>
          <a:xfrm>
            <a:off x="6583680" y="4057784"/>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矢印は3種類の意味を持つ</a:t>
            </a:r>
          </a:p>
        </p:txBody>
      </p:sp>
      <p:sp>
        <p:nvSpPr>
          <p:cNvPr id="32" name="TextBox 31"/>
          <p:cNvSpPr txBox="1"/>
          <p:nvPr/>
        </p:nvSpPr>
        <p:spPr>
          <a:xfrm>
            <a:off x="5806440" y="434286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p.26</a:t>
            </a:r>
          </a:p>
        </p:txBody>
      </p:sp>
      <p:sp>
        <p:nvSpPr>
          <p:cNvPr id="33" name="TextBox 32"/>
          <p:cNvSpPr txBox="1"/>
          <p:nvPr/>
        </p:nvSpPr>
        <p:spPr>
          <a:xfrm>
            <a:off x="6583680" y="434286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代表記録でわかること、取れる行動</a:t>
            </a:r>
          </a:p>
        </p:txBody>
      </p:sp>
      <p:sp>
        <p:nvSpPr>
          <p:cNvPr id="34" name="TextBox 33"/>
          <p:cNvSpPr txBox="1"/>
          <p:nvPr/>
        </p:nvSpPr>
        <p:spPr>
          <a:xfrm>
            <a:off x="5806440" y="462793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p.27</a:t>
            </a:r>
          </a:p>
        </p:txBody>
      </p:sp>
      <p:sp>
        <p:nvSpPr>
          <p:cNvPr id="35" name="TextBox 34"/>
          <p:cNvSpPr txBox="1"/>
          <p:nvPr/>
        </p:nvSpPr>
        <p:spPr>
          <a:xfrm>
            <a:off x="6583680" y="462793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4つの金額は範囲が違う</a:t>
            </a:r>
          </a:p>
        </p:txBody>
      </p:sp>
      <p:sp>
        <p:nvSpPr>
          <p:cNvPr id="36" name="TextBox 35"/>
          <p:cNvSpPr txBox="1"/>
          <p:nvPr/>
        </p:nvSpPr>
        <p:spPr>
          <a:xfrm>
            <a:off x="5806440" y="4913017"/>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p.28</a:t>
            </a:r>
          </a:p>
        </p:txBody>
      </p:sp>
      <p:sp>
        <p:nvSpPr>
          <p:cNvPr id="37" name="TextBox 36"/>
          <p:cNvSpPr txBox="1"/>
          <p:nvPr/>
        </p:nvSpPr>
        <p:spPr>
          <a:xfrm>
            <a:off x="6583680" y="4913017"/>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入力④ 影響点の特定と対応案</a:t>
            </a:r>
          </a:p>
        </p:txBody>
      </p:sp>
      <p:sp>
        <p:nvSpPr>
          <p:cNvPr id="38" name="TextBox 37"/>
          <p:cNvSpPr txBox="1"/>
          <p:nvPr/>
        </p:nvSpPr>
        <p:spPr>
          <a:xfrm>
            <a:off x="5806440" y="519809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p.29</a:t>
            </a:r>
          </a:p>
        </p:txBody>
      </p:sp>
      <p:sp>
        <p:nvSpPr>
          <p:cNvPr id="39" name="TextBox 38"/>
          <p:cNvSpPr txBox="1"/>
          <p:nvPr/>
        </p:nvSpPr>
        <p:spPr>
          <a:xfrm>
            <a:off x="6583680" y="519809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影響が大きい契約と繰り返し影響を受けた契約</a:t>
            </a:r>
          </a:p>
        </p:txBody>
      </p:sp>
      <p:sp>
        <p:nvSpPr>
          <p:cNvPr id="40" name="TextBox 39"/>
          <p:cNvSpPr txBox="1"/>
          <p:nvPr/>
        </p:nvSpPr>
        <p:spPr>
          <a:xfrm>
            <a:off x="5806440" y="548317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p.30</a:t>
            </a:r>
          </a:p>
        </p:txBody>
      </p:sp>
      <p:sp>
        <p:nvSpPr>
          <p:cNvPr id="41" name="TextBox 40"/>
          <p:cNvSpPr txBox="1"/>
          <p:nvPr/>
        </p:nvSpPr>
        <p:spPr>
          <a:xfrm>
            <a:off x="6583680" y="548317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優先度別の対応案（DA実行例）</a:t>
            </a:r>
          </a:p>
        </p:txBody>
      </p:sp>
      <p:sp>
        <p:nvSpPr>
          <p:cNvPr id="42" name="TextBox 41"/>
          <p:cNvSpPr txBox="1"/>
          <p:nvPr/>
        </p:nvSpPr>
        <p:spPr>
          <a:xfrm>
            <a:off x="5806440" y="576825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p.31</a:t>
            </a:r>
          </a:p>
        </p:txBody>
      </p:sp>
      <p:sp>
        <p:nvSpPr>
          <p:cNvPr id="43" name="TextBox 42"/>
          <p:cNvSpPr txBox="1"/>
          <p:nvPr/>
        </p:nvSpPr>
        <p:spPr>
          <a:xfrm>
            <a:off x="6583680" y="576825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デモで見せた3つの価値</a:t>
            </a:r>
          </a:p>
        </p:txBody>
      </p:sp>
      <p:sp>
        <p:nvSpPr>
          <p:cNvPr id="44" name="TextBox 43"/>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14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第4章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想定質問と答え方</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質疑でよく出る質問への短い答え、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Ontologyの価値、全社波及の扱い、</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カジュアルな聞き方への対応です。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質疑のとき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p.33</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想定質問への短い回答</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p.34</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SQLとOntologyの違い</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p.35</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全社に及ぶイベントの影響範囲</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p.36</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全社波及で扱える範囲と未対応の範囲</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p.37</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カジュアルな質問に答えさせる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p.38</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カジュアルに聞くときの使い方と限界</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第5章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お客様データへの当てはめ</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お客様のデータで同じことを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するときの、イベントの集め方、</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台帳の列、進め方です。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お客様と次の一歩を話すとき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社内にないイベントを集める方法</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イベントの列の例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影響額と根拠の列の例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小さく始める：最小のOntologyから広げる</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第6章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構成の解説</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どのデータを、どう分け、</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どう結んで作ったかを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技術の質問が出たとき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9つのLakehouseの役割分担</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p.46</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ゼロコピーと実体化の使い分け</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p.47</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4つの用語を食品の例で区別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p.48</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Ontologyの全体マップ</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p.49</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実体と元の表の対応</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p.50</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39種類の関係と読み方</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p.51</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この構成にした3つの理由</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p.52</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関係はGraph、金額はDeltaで照合</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第7章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Ontologyの新機能</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新しいOntologyの機能と、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入れる順番です。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いずれもPreviewです。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今後の拡張を聞かれたとき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新しいOntologyで増えた機能</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名前空間：同じ名前を領域ごとに区別する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ビジネスルール：業務の決まりを文章で定義する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共有プロパティ：同じ定義を1回だけ書く</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継承：共通の親から実体を派生させる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p.59</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新機能を入れる順番と注意点</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