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12" r:id="rId64"/>
    <p:sldId id="258" r:id="rId10"/>
    <p:sldId id="259" r:id="rId11"/>
    <p:sldId id="260" r:id="rId12"/>
    <p:sldId id="261" r:id="rId13"/>
    <p:sldId id="294" r:id="rId46"/>
    <p:sldId id="313" r:id="rId65"/>
    <p:sldId id="262" r:id="rId14"/>
    <p:sldId id="263" r:id="rId15"/>
    <p:sldId id="264" r:id="rId16"/>
    <p:sldId id="265" r:id="rId17"/>
    <p:sldId id="314" r:id="rId66"/>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288" r:id="rId40"/>
    <p:sldId id="290" r:id="rId42"/>
    <p:sldId id="315" r:id="rId67"/>
    <p:sldId id="286" r:id="rId38"/>
    <p:sldId id="287" r:id="rId39"/>
    <p:sldId id="292" r:id="rId44"/>
    <p:sldId id="293" r:id="rId45"/>
    <p:sldId id="310" r:id="rId62"/>
    <p:sldId id="311" r:id="rId63"/>
    <p:sldId id="289" r:id="rId41"/>
    <p:sldId id="291" r:id="rId43"/>
    <p:sldId id="316" r:id="rId68"/>
    <p:sldId id="295" r:id="rId47"/>
    <p:sldId id="296" r:id="rId48"/>
    <p:sldId id="297" r:id="rId49"/>
    <p:sldId id="309" r:id="rId61"/>
    <p:sldId id="317" r:id="rId69"/>
    <p:sldId id="298" r:id="rId50"/>
    <p:sldId id="266" r:id="rId18"/>
    <p:sldId id="267" r:id="rId19"/>
    <p:sldId id="299" r:id="rId51"/>
    <p:sldId id="300" r:id="rId52"/>
    <p:sldId id="301" r:id="rId53"/>
    <p:sldId id="302" r:id="rId54"/>
    <p:sldId id="278" r:id="rId30"/>
    <p:sldId id="318" r:id="rId70"/>
    <p:sldId id="303" r:id="rId55"/>
    <p:sldId id="304" r:id="rId56"/>
    <p:sldId id="305" r:id="rId57"/>
    <p:sldId id="306" r:id="rId58"/>
    <p:sldId id="307" r:id="rId59"/>
    <p:sldId id="308" r:id="rId6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全社に波及するケースも扱えるか」と聞かれたら、第4章の「全社に及ぶイベントの影響範囲」（p.37〜38）を使います。</a:t>
            </a:r>
          </a:p>
          <a:p>
            <a:r>
              <a:t>【大きく見える理由】1効果あたりの平均は、横断混乱で約202万円です。10イベントでは約136〜250万円の範囲です。合計が大きいのは、336効果に配賦されているためです（固有イベントは84効果）。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https://app.fabric.microsoft.com/groups/__WORKSPACE_ID__/synapsenotebooks/__NOTEBOOK_ID_STEP3__</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https://app.fabric.microsoft.com/groups/__WORKSPACE_ID__/synapsenotebooks/__NOTEBOOK_ID_STEP3__</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https://app.fabric.microsoft.com/groups/__WORKSPACE_ID__/aiskills/__DATA_AGENT_ID__?experience=fabric-developer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全社に波及するケースは扱える？】A：「全社に同時に及ぶ形は扱えます。横断の2件が、8社すべてに当たります。会社から会社へ連鎖する形は、会社同士を結ぶ関係をまだ持っていないので、このデモでは扱えていません。」詳細は、p.37〜38にあります。</a:t>
            </a:r>
          </a:p>
          <a:p>
            <a:r>
              <a:t>【Q：もっとカジュアルに聞ける？】A：「短い質問でも答えられるよう、言い回しの読み替えをDAの指示文に書きました。ただし、LLMなので毎回同じ答えにはなりません。」詳細は、p.39〜40にあります。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r>
              <a:t>【Q：業務アプリでは、Ontologyが金額を計算しているの？】A：「いいえ。つながりはOntologyのグラフから取得し、金額はLakehouseの値を、決まった手順で計算しています。」詳細は、p.41にあります。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5分（任意）。10分の実演のあとで、お客様が「画面を持つアプリで使えるのか」に関心を示したときだけ使います。時間がなければ、お客様向け資料の第4章「業務アプリで使う」の実画面のページで代えます。</a:t>
            </a:r>
          </a:p>
          <a:p>
            <a:r>
              <a:t>【前準備】アプリは、見せる直前に開き、経路の表示まで待ちます。放置したあとの最初の呼び出しは、グラフの起動に約1分かかります（2026年10月27日と28日の実測、59秒から63秒）。2回目以降は、グラフへの問い合わせが約1.1〜1.6秒でした（一度だけ6.1秒）。アプリがFunctionsに保持するデータは、約10分で入れ替わります（アプリの実装の値）。グラフ側が、どのくらい放置すると再び遅くなるかは、未確認です。10分の実演の前に開いておくと、見せるときに、再び待つ場合があります。サインインが必要で、未サインインでは、アプリの内容にもFunctionsにも届かないことを確認済みです。利用者ごとの見え方は、未検証です。</a:t>
            </a:r>
          </a:p>
          <a:p>
            <a:r>
              <a:t>【手順】①画面を開き、実績を読みます（全額連結447.6億円、持分管理335.5億円、差は0）。画面の「実績」は、変えない状態の値で、第2章で見た実績と同じです。基準値（予算に相当する値）とは別です。②「食品損失を 50% 軽減」を押します（全額連結の差は+0.6億円）。③続けて「円高 10%」を押します（全額連結−22.7億円、持分管理−13.7億円）。④「差の内訳」を指します（イベント+57.2、為替−2,331.8、合計の差−2,274.6。いずれも百万円）。⑤「Ontologyの経路」で、イベントに食品損失（FOD_NEG）を選びます（影響額84件、取引活動84件、契約6件、日次指標28件、全社KPI15件。「影響額の件数が一致しています」と表示されます）。⑥終わったら「実績に戻す」を押します。</a:t>
            </a:r>
          </a:p>
          <a:p>
            <a:r>
              <a:t>【話す】「条件を画面で動かすと、差額と内訳がその場で変わります。つながりはOntologyのグラフから取得し、金額はLakehouseの値を、決まった手順で計算しています。」</a:t>
            </a:r>
          </a:p>
          <a:p>
            <a:r>
              <a:t>【待ち時間が出たら】最初の画面に、「オントロジーのグラフと Lakehouse に接続しています…」と、「使われていなかった後の初回は、グラフの起動に最大 1 分ほどかかります。」（経過秒数つき）が出ます。イベントを選び直したときは、経路の欄に「グラフに問い合わせています…（初回は最大 1 分ほどかかります）」と出ます。慌てずに、「グラフの起動を待っています」と伝え、その間に、お客様向け資料の第4章の最初のページ（役割分担）を使って、つながりと金額の担当の違いを話します。</a:t>
            </a:r>
          </a:p>
          <a:p>
            <a:r>
              <a:t>【応答しないとき】再試行を1回だけ押します。直らなければ、お客様向け資料の第4章の実画面と経路のページ（保存した画像）に切り替え、「保存した画像で、いまのライブの結果ではありません」と告げます。権限の変更や再デプロイを、その場で試みません。</a:t>
            </a:r>
          </a:p>
          <a:p>
            <a:r>
              <a:t>【避ける】「Ontologyが金額を計算した」「本番で使える」「利用者ごとに見える範囲を変えられる」とは言いません。円高10%は、USD建ての子会社の円換算レートだけを10%下げる仮定で、為替ヘッジ、価格への転嫁、取引量の変化は反映していません。金額は、設計した配賦と仮定の為替による試算で、実際の損益の予測ではありません。</a:t>
            </a:r>
          </a:p>
          <a:p>
            <a:r>
              <a:t>【現状】確認した日は2026年10月28日です。Fabric AppsとOntologyはPreview、グラフのクエリ用APIはbetaです。アプリのURLは、この資料に載せていません。事前に、説明者のブックマークに保存します。</a:t>
            </a:r>
          </a:p>
          <a:p>
            <a:r>
              <a:t>【つなぎ】「アプリについての質問は、第4章の最後から2ページ目（p.41）に、答え方をそろえてあります。」続けて「来期の見通しは」と聞かれたら、将来タブの実演（p.33）に進みます。</a:t>
            </a:r>
          </a:p>
          <a:p/>
          <a:p>
            <a:r>
              <a:t>【出典と照合先】</a:t>
            </a:r>
          </a:p>
          <a:p>
            <a:r>
              <a:t>reports/whatif_app_live_verification_2026-10-28.json</a:t>
            </a:r>
          </a:p>
          <a:p>
            <a:r>
              <a:t>Microsoft Learn：fabric/apps/overview（2026-09-29更新）、fabric/apps/functions（2026-09-29更新）</a:t>
            </a:r>
          </a:p>
          <a:p>
            <a:r>
              <a:t>Microsoft Learn：fabric/graph/gql-query-api（2026-09-29更新）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【目安】質疑のとき。必要な質問だけを、1つ30秒ほどで答えます。業務アプリの実演（第3章の最後から2ページ目、p.32）のあとに使います。予測や将来の仮定の質問は、p.42にあります。</a:t>
            </a:r>
          </a:p>
          <a:p>
            <a:r>
              <a:t>【Q：Ontologyが金額を計算したの？】A：「いいえ。つながり（経路）は、Ontologyのグラフから取得しています。金額は、Lakehouseの値を、決まった手順で計算しています。」理由：Data Agentの円高の試算は、実行ごとの答えが安定しなかったので、条件を動かす用途では、金額を言語モデルに任せていません。</a:t>
            </a:r>
          </a:p>
          <a:p>
            <a:r>
              <a:t>【Q：FabricのアプリからOntologyに、標準でつなげる？】A：「現在のコネクタの対象は、Lakehouse、Warehouse、SQLデータベース、セマンティックモデルで、Ontologyは含まれません（Microsoft Learn、2026-09-29更新）。このデモでは、FunctionsからGraphのクエリ用API（GQL Query API）を直接呼んでいます。」このAPIはbetaです。</a:t>
            </a:r>
          </a:p>
          <a:p>
            <a:r>
              <a:t>【Q：利用者ごとに、見える範囲を変えられる？】A：「Functionsが外部を呼ぶときのIDは、現在、アプリの所有者です（Learn）。画面を見る利用者の権限は、反映されません。利用者ごとに変える設計は、このデモでは検証していません。PoCの最初に決めます。」お客様向け資料の第3章の権限のページは、Ontologyのアイテムとデータ側の権限の話で、別です。</a:t>
            </a:r>
          </a:p>
          <a:p>
            <a:r>
              <a:t>【Q：最初に開くとき、遅いのはなぜ？】A：「放置したあとの最初の呼び出しは、グラフの起動に約1分かかりました（実測59秒から63秒）。2回目以降は、グラフへの問い合わせが約1.1〜1.6秒でした。」放置の時間の目安は、未確認です。</a:t>
            </a:r>
          </a:p>
          <a:p>
            <a:r>
              <a:t>【Q：本番で使える？】A：「Fabric AppsとOntologyはPreview、グラフのクエリ用APIはbetaです。Learnは、クエリ用APIの本番利用を推奨していません。性能、容量の消費量、コストは未確認で、PoCで確認します。」</a:t>
            </a:r>
          </a:p>
          <a:p>
            <a:r>
              <a:t>【Q：東日本のリージョンで使える？】A：「Fabric Appsはリージョンが限定的です（Learn）。このデモはWest US 3で確認しました。東日本など、他のリージョンは未確認です。」</a:t>
            </a:r>
          </a:p>
          <a:p>
            <a:r>
              <a:t>【避ける】「Ontologyが金額を計算した」「本番で使える」「利用者の権限が自動で効く」とは言いません。性能やコストの数値を、推測で答えません。答えが未確認なら、「未検証」と明示します。</a:t>
            </a:r>
          </a:p>
          <a:p/>
          <a:p>
            <a:r>
              <a:t>【出典と照合先】</a:t>
            </a:r>
          </a:p>
          <a:p>
            <a:r>
              <a:t>reports/whatif_app_live_verification_2026-10-28.json</a:t>
            </a:r>
          </a:p>
          <a:p>
            <a:r>
              <a:t>Microsoft Learn：fabric/apps/overview（2026-09-29更新）、fabric/apps/functions（2026-09-29更新）</a:t>
            </a:r>
          </a:p>
          <a:p>
            <a:r>
              <a:t>Microsoft Learn：fabric/graph/gql-query-api（2026-09-29更新）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3分（任意）。業務アプリの実演（p.32）のあとで、「来期の見通しは」「このイベントが起きたら」と聞かれたときだけ使います。時間がなければ、お客様向け資料の第4章「次の四半期の予測にOntologyの関係を使う」と「将来のイベントを仮定して予測と比べる」の2ページで代えます。</a:t>
            </a:r>
          </a:p>
          <a:p>
            <a:r>
              <a:t>【前準備】アプリは、見せる直前に開き、「将来の予測」タブを一度開いておきます。モデルの読み込み後、将来タブの初回の表示は約25〜30秒でした（2026年10月28日の実測）。放置したあとの最初の呼び出しは、グラフの起動に約1分かかります（p.32の【前準備】と同じ）。予測は、Notebookが保存した結果を読んでいるだけで、画面を開くたびに予測を計算し直してはいません。</a:t>
            </a:r>
          </a:p>
          <a:p>
            <a:r>
              <a:t>【手順】①「将来の予測」タブを開きます。折れ線は、実績4四半期（FY26 Q1〜Q4。年度は10月始まり）と、予測の1四半期（FY27 Q1。点線）です。棒は、業種別の積み上げで、右の軸（0から始まる別の目盛り）です。基準予測は114.90億円です。②タブを開いたときの初期値は、「過去イベントのパターン」が「コールドチェーンの劣化（食品ロス）」、「仮の発生日」が2026年11月15日、「追加する影響の大きさ」が100%です。「イベント想定後」は113.75億円、「予測との差」は−1.14億円です（四捨五入のため、引き算とは0.01億円ずれます）。この差は、第2章で見た食品損失の全期間の合計と同額ですが、同じ84件の影響額を足し合わせているので当然で、予測の良し悪しを確かめた結果ではありません。「照合 84 件。期間内 84 件、期間外 0 件」と表示されます。③日付を2026年12月20日に変えます。差は−0.93億円になり、四半期に収まる影響額は57件、27件は四半期の外です。④日付を2026年12月31日にすると、差は0になります（収まる影響額は0件）。画面で選べる日付は、予測の四半期の最終日である12月31日までです。⑤「参照した過去のOntology経路」を開いて、過去の同じイベントの影響額と、Graphの経路を指します。</a:t>
            </a:r>
          </a:p>
          <a:p>
            <a:r>
              <a:t>【話す】「基準予測は、Notebookで動かしたAutoMLにGraphの情報を加えた方法が、1年分のデータで学習し直して出した、次の四半期の保存済みの値です。そこに、過去に起きた同じイベントの影響を、仮定した日に移して足しています。影響額は、Ontologyのグラフの経路と、Lakehouseの値を、IDで突き合わせて取り出しています。Ontologyが予測したわけではありません。」</a:t>
            </a:r>
          </a:p>
          <a:p>
            <a:r>
              <a:t>【待ち時間が出たら】将来タブの初回は、表示まで25〜30秒ほどかかります。画面に「Notebookの保存済み予測を読み込み中…」と出ます。「保存済みの予測を読み込んでいます」と伝え、その間に、お客様向け資料の第4章「次の四半期の予測にOntologyの関係を使う」のページで、AutoMLとOntologyの担当の違いを話します。</a:t>
            </a:r>
          </a:p>
          <a:p>
            <a:r>
              <a:t>【応答しないとき】再試行を1回だけ押します。直らなければ、お客様向け資料の第4章の2ページ（保存した画像）に切り替え、「保存した画像で、いまのライブの結果ではありません」と告げます。権限の変更や再デプロイを、その場で試みません。</a:t>
            </a:r>
          </a:p>
          <a:p>
            <a:r>
              <a:t>【避ける】「Ontologyが予測した」「予測は当たる」「Graphを使うと精度が上がる」「この見通しは確定」とは言いません。予測は、合成データの最後の1四半期の1回で検証しただけで、その四半期の実績は、比べる前にすでに見ています（探索的）。基準予測には、過去のイベントの影響がすでに含まれている可能性があり（二重計上）、将来の為替は予測していません。イベントも予測せず、利用者が仮定します。全額連結の金額だけに対応し、持分管理には対応していません。</a:t>
            </a:r>
          </a:p>
          <a:p>
            <a:r>
              <a:t>【現状】確認した日は2026年10月28日です。Fabric AppsとOntologyはPreview、グラフのクエリ用APIはbetaです。アプリのURLは、この資料に載せていません。</a:t>
            </a:r>
          </a:p>
          <a:p>
            <a:r>
              <a:t>【つなぎ】「予測や将来の仮定についての質問は、第4章の最後のページ（p.42）に、答え方をそろえてあります。」</a:t>
            </a:r>
          </a:p>
          <a:p/>
          <a:p>
            <a:r>
              <a:t>【出典と照合先】</a:t>
            </a:r>
          </a:p>
          <a:p>
            <a:r>
              <a:t>reports/whatif_future_live_verification_2026-10-28.json</a:t>
            </a:r>
          </a:p>
          <a:p>
            <a:r>
              <a:t>Microsoft Learn：fabric/data-science/how-to-use-automated-machine-learning-fabric（2026-07-22更新）</a:t>
            </a:r>
          </a:p>
          <a:p>
            <a:r>
              <a:t>Microsoft Learn：fabric/apps/overview（2026-09-29更新）、fabric/graph/gql-query-api（2026-09-29更新）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【目安】質疑のとき。必要な質問だけを、1つ30秒ほどで答えます。将来の実演（第3章の最後のページ、p.33）のあとに使います。</a:t>
            </a:r>
          </a:p>
          <a:p>
            <a:r>
              <a:t>【Q：予測は当たるの？】A：「確認できていません。検証は、デモのデータの最後の1四半期の1回だけで、その四半期の実績は、比べる前にすでに見ています（探索的）。最初の3四半期で学習し、最後の四半期を予測させたとき、誤差は、直近91日の日平均が−1.73%、AutoMLが−5.44%、AutoMLにGraphの情報を加えたものが+1.60%でした。貴社のデータで、複数の四半期を使って確かめます。」データは合成データで、季節性などの形も、設計したものです。</a:t>
            </a:r>
          </a:p>
          <a:p>
            <a:r>
              <a:t>【Q：Ontologyが予測しているの？／Graphを使うと精度が上がるの？】A：「予測を計算しているのは、AutoMLです。Ontologyのグラフは、過去のイベントが、どの影響額、会社、日の指標につながるかを返します。Notebookが、その結果とLakehouseの金額から、予測の入力を作ります。Graphを加えたモデルは誤差が小さく見えましたが、選ばれたモデルの種類も異なるため（AutoMLはrf、Graphを加えたものはextra_tree）、Graphが精度を上げたとは言えません。」</a:t>
            </a:r>
          </a:p>
          <a:p>
            <a:r>
              <a:t>【Q：イベントを足すと、二重に数えない？】A：「その可能性があります。基準予測は、過去の実績から作っており、過去のイベントの影響が、すでに含まれている可能性があります。そこに、同じ種類のイベントの影響を足すと、二重に数えるおそれがあります。分離は確かめていません。」</a:t>
            </a:r>
          </a:p>
          <a:p>
            <a:r>
              <a:t>【Q：為替や、将来のイベントは予測しているの？】A：「いいえ。将来の為替は予測していません。イベントも、予測せず、利用者が仮定します。仮定は、過去の同じイベントの影響額を、指定した発生日に移し、倍率を掛けて、予測の四半期に収まる分だけを足したものです。」</a:t>
            </a:r>
          </a:p>
          <a:p>
            <a:r>
              <a:t>【Q：なぜ3四半期で学習したの？】A：「デモのデータが1年分（4四半期）だけなので、方法の比べ方では、最初の3四半期で学習し、最後の1四半期を検証に使いました。アプリの基準予測は、4四半期すべてで学習し直した値です（学習の行数は、検証用が176、基準予測用が288）。1年分のデータでは、季節性を複数年にわたって確かめられません。学習に使う92日の期間は、週ごとに重なっており、独立した観測の数ではありません。」</a:t>
            </a:r>
          </a:p>
          <a:p>
            <a:r>
              <a:t>【Q：持分管理や、他の指標（売上など）も出せる？】A：「将来タブは、全額連結のEBITDAだけに対応しています。持分管理は、未対応です。売上などの指標は、このデモでは扱っていません。」</a:t>
            </a:r>
          </a:p>
          <a:p>
            <a:r>
              <a:t>【避ける】「予測は当たる」「Graphで精度が上がる」「Ontologyが予測した」「二重計上はない」とは言いません。精度の数字（誤差のパーセント）を、一般的な性能として示しません。答えが未確認なら、「未検証」と明示します。</a:t>
            </a:r>
          </a:p>
          <a:p/>
          <a:p>
            <a:r>
              <a:t>【出典と照合先】</a:t>
            </a:r>
          </a:p>
          <a:p>
            <a:r>
              <a:t>reports/whatif_future_live_verification_2026-10-28.json</a:t>
            </a:r>
          </a:p>
          <a:p>
            <a:r>
              <a:t>Microsoft Learn：fabric/data-science/how-to-use-automated-machine-learning-fabric（2026-07-22更新）</a:t>
            </a:r>
          </a:p>
          <a:p>
            <a:r>
              <a:t>Microsoft Learn：fabric/apps/overview（2026-09-29更新）、fabric/graph/gql-query-api（2026-09-29更新）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【目安】90秒。「全社に及ぶ話も扱えるのか」と聞かれたときに使います。ライブの10分には含めません。</a:t>
            </a:r>
          </a:p>
          <a:p>
            <a:r>
              <a:t>【話す】「実演で追った食品損失は、影響が2社に限られた出来事です。このデモには、全社に同時に及ぶ出来事も2件入れてあります。港の混乱と資金繰りの悪化が、業種を問わず起きた想定の『横断混乱』です。8社すべてに当たり、EBITDAを約6.8億円押し下げます。食品損失と同じ経路で、根拠から全社KPIまでたどれます。」</a:t>
            </a:r>
          </a:p>
          <a:p>
            <a:r>
              <a:t>【指す】左の表を、上から読みます。会社は2社から8社、影響明細は84件から336件に増えています。次に、右の図で、8社すべてに影響が出ている点と、各社の年間EBITDAに対する比率が約1.4〜1.6%でそろっている点を指します。</a:t>
            </a:r>
          </a:p>
          <a:p>
            <a:r>
              <a:t>【全額と持分管理】全額は、8社を100%で足した額（−6.80億円）です。持分管理は、所有比率を掛けた額（−5.16億円）で、51%所有の4社の分が小さくなるため、全額の約76%です。</a:t>
            </a:r>
          </a:p>
          <a:p>
            <a:r>
              <a:t>【年間EBITDA比】年間のEBITDA（実績、447.57億円）に対する比率です。横断混乱は−1.52%、食品損失は−0.26%で、前者は後者の約5.9倍です。ただし、横断混乱でも年間の約1.5%で、これより大きな規模の出来事は、このデモに収録していません。この割合を「小さい」「軽微」とは評価しません。重大性を判定する基準は、このデモにありません。次のページで、収録していない範囲も伝えます。</a:t>
            </a:r>
          </a:p>
          <a:p>
            <a:r>
              <a:t>【数字の出どころ】</a:t>
            </a:r>
          </a:p>
          <a:p>
            <a:r>
              <a:t>DAが返したもの：横断2件を含む全10イベントの、イベントごとの金額（横断混乱 -680,035,231.24円、横断回復 +584,435,114.92円）。さらに、2026-10-27の実測で、業種別、会社別、年間EBITDA比、最大のイベントも、公開済みDAが返しました。</a:t>
            </a:r>
          </a:p>
          <a:p>
            <a:r>
              <a:t>Graphで確認したもの：全1,344効果が、根拠から全社KPIまでの経路でたどれること。横断混乱は336件すべてです。2026-10-23のGraph更新後に確認しました。</a:t>
            </a:r>
          </a:p>
          <a:p>
            <a:r>
              <a:t>保存データから集計したもの：食品損失の年間EBITDA比（−0.26%）。DAには、年間EBITDA比を、最大のイベント（横断混乱）についてだけ聞きました。</a:t>
            </a:r>
          </a:p>
          <a:p>
            <a:r>
              <a:t>【2026-10-27の実測（修正前の8回）】公開済みDAで、チャットを空にして、1問ずつ聞きました（記録：reports/da_group_wide_2026-10-27.json）。①追加B（横断2件の業種別比較、46秒）、②横断混乱の会社別（年間EBITDA比つき、46秒）、③「全社に同時に響いたマイナスの出来事は？会社ごとにどれくらい影響した？」（49秒）、④「このデータで、グループのEBITDAにいちばん大きく響いた出来事は？年間のEBITDAの何%くらい？」（26秒）です。表の金額は、すべて保存データの集計と、小数第2位まで一致しました。③は、聞き方が短くても、横断混乱を選び、8社を返しました。④は、横断混乱の−6.80億円、年間447.57億円の−1.52%と答えました。</a:t>
            </a:r>
          </a:p>
          <a:p>
            <a:r>
              <a:t>【DAの文章の注意】表の数字は一致しましたが、表のまわりの文章には誤りが出ることがあります。追加Bの答えは、持分管理の金融と食品の大小を説明しましたが、横断混乱の値（食品−1.01億円、金融−1.00億円）と合いませんでした。会社別の答えは、DAが自分で置いた基準（1億円超、または年間EBITDA比−1.55%超）で、優先度が「高」の会社を挙げましたが、基準に当てはまる3社が漏れていました。この基準は、デモの定義ではありません。実演では、表の数字を指して説明し、補足の文章は読み上げません。</a:t>
            </a:r>
          </a:p>
          <a:p>
            <a:r>
              <a:t>【DAの経路】この日の最初の8回では、DAがOntologyの経路探索を試した6回すべてで「経路なし」が返り、答えは、Lakehouseの表へのSQLで求めたものでした。原因は、Ontologyの42のリレーションシップがすべて無効に設定されていたことです。DAに渡る文脈で、どの関係も結合条件が空欄でした。同じ日に、リレーションシップを有効にし、接続情報を再適用し、Graphを更新したあと、同じ8問を聞き直しました。経路探索を試した6回すべてで経路が見つかり（最大で6つの結合をたどる道筋）、金額は変わりませんでした（記録：reports/da_traversal_fix_2026-10-27.json）。ただし、答えは今もLakehouseの表へのSQLで求めたものです。Ontologyは、どの表をどの列で結ぶかの道筋をDAに示す役目です。「DAがGraphをたどって答えた」とは言いません。関係をたどる場面は、Step03のNotebook（Graph）で見せます。</a:t>
            </a:r>
          </a:p>
          <a:p>
            <a:r>
              <a:t>【照合用の業種別の値（億円）】横断混乱の全額：金属 −2.12、エネルギー −2.05、食品 −1.30、金融 −1.34。持分管理：金属 −1.59、エネルギー −1.55、食品 −1.01、金融 −1.00。横断回復の全額：金属 +1.84、エネルギー +1.69、食品 +1.13、金融 +1.18。持分管理：金属 +1.36、エネルギー +1.28、食品 +0.86、金融 +0.89。丸めのため、足すと合計と0.01ずれることがあります。</a:t>
            </a:r>
          </a:p>
          <a:p>
            <a:r>
              <a:t>【避ける】横断回復÷横断混乱を、回復率と呼ぶこと。別の時期に設計した、独立のイベントです。各社の年間EBITDA比がそろっているのは、データの設計によるもので、現実の波及の姿を示すものではありません。実世界の因果の証明でもありません。</a:t>
            </a:r>
          </a:p>
          <a:p>
            <a:r>
              <a:t>【つなぎ】「同時に全社へ及ぶ形は、ここまでです。次のページで、連鎖する形や、大きな規模の想定まで扱えるかを整理します。」</a:t>
            </a:r>
          </a:p>
          <a:p>
            <a:r>
              <a:t>【コピー用Q5】</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reports/qa_expected_event_totals.json</a:t>
            </a:r>
          </a:p>
          <a:p>
            <a:r>
              <a:t>reports/graph_all_event_paths.json</a:t>
            </a:r>
          </a:p>
          <a:p>
            <a:r>
              <a:t>reports/da_qa_published.json</a:t>
            </a:r>
          </a:p>
          <a:p>
            <a:r>
              <a:t>reports/da_group_wide_2026-10-27.json</a:t>
            </a:r>
          </a:p>
          <a:p>
            <a:r>
              <a:t>reports/da_traversal_fix_2026-10-27.json</a:t>
            </a:r>
          </a:p>
          <a:p>
            <a:r>
              <a:t>data/demo_dataset.json:semantic_event_financial_effects、semantic_financial_metrics_daily（actual）</a:t>
            </a:r>
          </a:p>
          <a:p>
            <a:r>
              <a:t>config/event_generation_rules.yaml:event_mix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【目安】90秒。「全社に波及するリスクも扱えるのか」「連鎖はどうなのか」と聞かれたときに使います。</a:t>
            </a:r>
          </a:p>
          <a:p>
            <a:r>
              <a:t>【話す】「『全社に波及する』には、大きく2つの形があります。1つは、港の混乱のように、全社に同時に当たる形です。これはこのデモに入っていて、食品損失と同じ経路で追えます。もう1つは、ある会社の問題が、取引を通じて別の会社に伝わる連鎖です。こちらは今のデモでは扱えていません。会社と会社を結ぶ関係を、Ontologyにまだ持っていないからです。」</a:t>
            </a:r>
          </a:p>
          <a:p>
            <a:r>
              <a:t>【指す】表を上から指します。「このデモ」の列で、扱えるのは1行目だけです。2行目以降は、足りない点を、そのまま伝えます。</a:t>
            </a:r>
          </a:p>
          <a:p>
            <a:r>
              <a:t>【連鎖が扱えない理由】Ontologyの関係は、17種類の実体の間の39種類で、会社同士を結ぶものはありません。内部取引の表（48行、24組）は親Lakehouseにあり、DAはSQLで読めますが、Ontologyの関係にはしていません。内部取引は、金融の会社とエネルギーの会社の間の2経路（日本同士、米国同士）だけで、売り手側の年間の額は約3.6億円です。横断の2件は、8社の各活動に直接配賦した記録で、1社の問題が別の社へ伝わる過程を計算したものではありません。</a:t>
            </a:r>
          </a:p>
          <a:p>
            <a:r>
              <a:t>【DAの実測：連鎖】2026-10-27に、「食品の損失が、ほかの子会社にも連鎖した影響はある？グループ内の取引を通じた影響も見たい。」と、チャットを空にして2回聞きました（100秒、62秒）。どちらも、食品以外の子会社への配賦はなく、内部取引経由の影響は定量できないと答えました。1回目は、内部取引経由の影響を「未検証」としました。2回目は、内部取引の表に活動と契約の対応がなく、食品損失の効果に結べないためと説明し、「影響なし」とは判定しませんでした。ただし、2回目は、食品以外の子会社について、対象0件、0.00億円と表に出しました。聞き手には、「データに配賦がない」という意味だと添えます。Ontologyのリレーションシップを有効にした後の聞き直し（2回、66秒、60秒）も、同じ結論でした。内部取引の表に、食品の会社の行がないためです（金融とエネルギーの組だけ）。「連鎖は起きない」とは言いません。</a:t>
            </a:r>
          </a:p>
          <a:p>
            <a:r>
              <a:t>【Microsoft Learnの記述】Graphは、複数のつながりを順にたどる問い、依存関係の分析、到達可能性、最短経路の問いに使う実行層です。集計や指標は、元のデータでの実行を続けられます（Ontology概要、2026-10-16更新）。関係型は、始点と終点の実体の種類を指定して作り、対応表で結べます（関係型の作成、2026-09-04更新）。同じ種類の実体の間（会社と会社）の関係を作れるかは、この資料では確認していません。実行する前に、Previewの画面で確認します。</a:t>
            </a:r>
          </a:p>
          <a:p>
            <a:r>
              <a:t>【連鎖を扱う場合の一案】内部取引の表を、会社と会社の関係として足し、金融の会社の問題が、取引でつながるエネルギーの会社へ及ぶ様子を、2社の小さな範囲で試します。ただし、伝わる大きさを決める規則とデータは、いまありません。関係を足すだけでは、金額は出ません。</a:t>
            </a:r>
          </a:p>
          <a:p>
            <a:r>
              <a:t>【規模】最大の横断混乱で、全額−6.80億円、年間EBITDA（実績）の約1.5%です。これより大きな規模の出来事は、収録していません。8社それぞれの年間EBITDAに対する比率は、約1.4〜1.6%でそろっています。会社ごとの差が大きい例や、より大きな規模の例を見せる場合は、影響データの追加とGraphの更新が要ります。実体や関係の種類を変える場合は、Ontologyの定義も更新します。DAに「このデータで、グループのEBITDAにいちばん大きく響いた出来事は？年間のEBITDAの何%くらい？」と聞くと、横断混乱の−6.80億円、年間447.57億円の−1.52%と答えました（2026-10-27の実測）。</a:t>
            </a:r>
          </a:p>
          <a:p>
            <a:r>
              <a:t>【もしもの試算】2026-10-27に、「もし円が10円高くなったら、グループのEBITDAはいくら変わる？」と、チャットを空にして2回聞きました（21秒、33秒）。1回目は、ドル建てEBITDAに−10円を掛けた単純な感応度で、−14.80億円と答えました（保存データからの概算と同じ値です）。2回目は、「ショック後のレートや感応度の定義がデータにないため、算定できない」と答え、ドル建てEBITDAの実績（約148百万ドル、232.88億円）だけを示しました。Ontologyのリレーションシップを有効にした後に、同じ質問をさらに2回聞くと（29秒、24秒）、2回とも−14.80億円と答えました。同じ日の4回のうち3回が数字、1回が算定不可で、答えが分かれるので、実演では使いません。聞かれたら、「このデモのDAは、記録済みのデータを集計して答えます。もしもの計算は、前提を決めて別に行います」と答えます。目安は、米国の4社のEBITDAが年間で約148百万ドル（全額で約233億円、全社の52%）なので、円高が10円進むと、換算だけで約15億円（全社の3.3%）の押し下げです。ヘッジや価格への転嫁は考慮していません。数字を出すときは「概算」と断ります。</a:t>
            </a:r>
          </a:p>
          <a:p>
            <a:r>
              <a:t>【避ける】「全社波及もすべて扱える」「連鎖も追える」と言いません。DAが答えた円高の概算を、シミュレーションの結果として紹介することも、しません。年間の約1.5%を「小さい」「軽微」と評価することも、しません（重大性を判定する基準は、このデモにありません）。「Ontologyでは連鎖を扱えない」とも言いません。会社間の関係を足せば扱える見込みはありますが、このデモでは未検証です。いずれも設計した配賦で、実世界の因果の証明ではありません。</a:t>
            </a:r>
          </a:p>
          <a:p>
            <a:r>
              <a:t>【つなぎ】「お客様のデータで連鎖を見たい場合は、会社間の取引表から、小さく始めます。進め方は、第5章にあります。」</a:t>
            </a:r>
          </a:p>
          <a:p/>
          <a:p>
            <a:r>
              <a:t>【出典と照合先】</a:t>
            </a:r>
          </a:p>
          <a:p>
            <a:r>
              <a:t>config/subsidiaries.json</a:t>
            </a:r>
          </a:p>
          <a:p>
            <a:r>
              <a:t>ontology_tmdl/entityRelationships.tmdl（会社同士の関係なし）</a:t>
            </a:r>
          </a:p>
          <a:p>
            <a:r>
              <a:t>data/demo_dataset.json:intercompany_transactions、semantic_financial_metrics_daily（actual）</a:t>
            </a:r>
          </a:p>
          <a:p>
            <a:r>
              <a:t>config/data_agent_create.json（DAが参照する表）</a:t>
            </a:r>
          </a:p>
          <a:p>
            <a:r>
              <a:t>reports/graph_all_event_paths.json</a:t>
            </a:r>
          </a:p>
          <a:p>
            <a:r>
              <a:t>reports/da_group_wide_2026-10-27.json</a:t>
            </a:r>
          </a:p>
          <a:p>
            <a:r>
              <a:t>reports/da_traversal_fix_2026-10-27.json</a:t>
            </a:r>
          </a:p>
          <a:p>
            <a:r>
              <a:t>Microsoft Learn：fabric/iq/ontology/overview（2026-10-16更新）</a:t>
            </a:r>
          </a:p>
          <a:p>
            <a:r>
              <a:t>Microsoft Learn：fabric/iq/ontology/how-to-create-relationship-types（2026-09-04更新）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DA：https://app.fabric.microsoft.com/groups/__WORKSPACE_ID__/aiskills/__DATA_AGENT_ID__?experience=fabric-developer</a:t>
            </a:r>
          </a:p>
          <a:p>
            <a:r>
              <a:t>Notebook：https://app.fabric.microsoft.com/groups/__WORKSPACE_ID__/synapsenotebooks/__NOTEBOOK_ID_STEP3__</a:t>
            </a:r>
          </a:p>
          <a:p>
            <a:r>
              <a:t>Ontology：https://app.fabric.microsoft.com/groups/__WORKSPACE_ID__/ontologies/__ONTOLOGY_ID__</a:t>
            </a:r>
          </a:p>
          <a:p>
            <a:r>
              <a:t>Workspace：https://app.fabric.microsoft.com/groups/__WORKSPACE_ID__/list?experience=fabric-developer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【この章】4つの入力をDAに順に入れ、結果の読み方、食品損失の経路、金額の区別を示します。最後に、任意で業務アプリを見せます。</a:t>
            </a:r>
          </a:p>
          <a:p>
            <a:r>
              <a:t>【使う場面】ライブの10分（Step04は時間があるときだけ）</a:t>
            </a:r>
          </a:p>
          <a:p>
            <a:r>
              <a:t>業務アプリは、10分のあとの追加</a:t>
            </a:r>
          </a:p>
          <a:p>
            <a:r>
              <a:t>【ページ】p.15〜33（19ページ）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業務アプリの実演（最後の2ページ。過去の差額と、将来の予測）は、10分に含めず、求められたときに使う追加の時間です（過去が5分、将来が3分）。</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【この章】質疑でよく出る質問への短い答え、Ontologyの価値、全社波及の扱い、カジュアルな聞き方、業務アプリと予測の質問です。</a:t>
            </a:r>
          </a:p>
          <a:p>
            <a:r>
              <a:t>【使う場面】質疑のとき</a:t>
            </a:r>
          </a:p>
          <a:p>
            <a:r>
              <a:t>【ページ】p.35〜42（8ページ）</a:t>
            </a:r>
          </a:p>
          <a:p>
            <a:r>
              <a:t>【進め方】質疑でよく出る質問に、短く答えるための章です。SQLとの違いは、Ontologyの価値を問われたときに、1ページを使って説明します。全社波及の2ページは、「全社に及ぶ出来事も扱えるか」と聞かれたときに使います。カジュアルな質問の2ページは、質問の自由度を聞かれたときに使います。業務アプリの質問の1ページと、予測と将来の仮定の質問の1ページは、第3章の最後の2ページで画面を見せたあと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【ページ】p.44〜47（4ページ）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【ページ】p.49〜56（8ページ）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【ページ】p.58〜63（6ページ）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__WORKSPACE_ID__/aiskills/__DATA_AGENT_ID__?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__WORKSPACE_ID__/aiskills/__DATA_AGENT_ID__?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__WORKSPACE_ID__/aiskills/__DATA_AGENT_ID__?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__WORKSPACE_ID__/synapsenotebooks/__NOTEBOOK_ID_STEP3__"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__WORKSPACE_ID__/aiskills/__DATA_AGENT_ID__?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__WORKSPACE_ID__/aiskills/__DATA_AGENT_ID__?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app.fabric.microsoft.com/groups/__WORKSPACE_ID__/aiskills/__DATA_AGENT_ID__?experience=fabric-developer" TargetMode="External"/><Relationship Id="rId4" Type="http://schemas.openxmlformats.org/officeDocument/2006/relationships/hyperlink" Target="https://app.fabric.microsoft.com/groups/__WORKSPACE_ID__/synapsenotebooks/__NOTEBOOK_ID_STEP3__" TargetMode="External"/><Relationship Id="rId5" Type="http://schemas.openxmlformats.org/officeDocument/2006/relationships/hyperlink" Target="https://app.fabric.microsoft.com/groups/__WORKSPACE_ID__/ontologies/__ONTOLOGY_ID__" TargetMode="External"/><Relationship Id="rId6" Type="http://schemas.openxmlformats.org/officeDocument/2006/relationships/hyperlink" Target="https://app.fabric.microsoft.com/groups/__WORKSPACE_ID__/list?experience=fabric-develope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4つの入力、結果と図、金額の区別、アプリ2種</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p.15〜33</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短い回答、SQL、全社波及、カジュアル、アプリ</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p.35〜42</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p.44〜47</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p.49〜56</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p.58〜63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Rounded Rectangle 8"/>
          <p:cNvSpPr/>
          <p:nvPr/>
        </p:nvSpPr>
        <p:spPr>
          <a:xfrm>
            <a:off x="594360" y="235915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0030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0944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1576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75691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76606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07238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11353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12267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42900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47014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47929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78561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82676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83590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14223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18338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19252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49884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53999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54914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485546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89661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490575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21208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25322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全社に波及するケースは？</a:t>
            </a:r>
          </a:p>
        </p:txBody>
      </p:sp>
      <p:sp>
        <p:nvSpPr>
          <p:cNvPr id="35" name="TextBox 34"/>
          <p:cNvSpPr txBox="1"/>
          <p:nvPr/>
        </p:nvSpPr>
        <p:spPr>
          <a:xfrm>
            <a:off x="4480560" y="526237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同時に全社へ及ぶ形は扱える。連鎖は未対応（p.37〜38）</a:t>
            </a:r>
          </a:p>
        </p:txBody>
      </p:sp>
      <p:sp>
        <p:nvSpPr>
          <p:cNvPr id="36" name="Rounded Rectangle 35"/>
          <p:cNvSpPr/>
          <p:nvPr/>
        </p:nvSpPr>
        <p:spPr>
          <a:xfrm>
            <a:off x="594360" y="556869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60984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8" name="TextBox 37"/>
          <p:cNvSpPr txBox="1"/>
          <p:nvPr/>
        </p:nvSpPr>
        <p:spPr>
          <a:xfrm>
            <a:off x="4480560" y="561898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短い質問も可。ただし結果は毎回変わりうる（p.39〜40）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業務アプリ（任意の実演）</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任意の実演：業務アプリで条件を変える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10分の実演のあとに、画面を持つアプリでの使い方を求められる場合があります。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5つの操作で、つながりはOntology、金額はLakehouseと計算、という分担を、画面で示せます。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質問が出たら、p.41の答え方で答える。見通しを聞かれたら、p.33へ</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アプリの確認：2026-10-28（Fabric AppsとOntologyはPreview、クエリ用APIはbeta）</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32</a:t>
            </a:r>
          </a:p>
        </p:txBody>
      </p:sp>
      <p:sp>
        <p:nvSpPr>
          <p:cNvPr id="9" name="Rounded Rectangle 8"/>
          <p:cNvSpPr/>
          <p:nvPr/>
        </p:nvSpPr>
        <p:spPr>
          <a:xfrm>
            <a:off x="566928" y="2395728"/>
            <a:ext cx="6967728"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05456"/>
            <a:ext cx="45720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手順（約5分）</a:t>
            </a:r>
          </a:p>
        </p:txBody>
      </p:sp>
      <p:sp>
        <p:nvSpPr>
          <p:cNvPr id="11" name="Oval 10"/>
          <p:cNvSpPr/>
          <p:nvPr/>
        </p:nvSpPr>
        <p:spPr>
          <a:xfrm>
            <a:off x="822960" y="2980944"/>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012948"/>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1</a:t>
            </a:r>
          </a:p>
        </p:txBody>
      </p:sp>
      <p:sp>
        <p:nvSpPr>
          <p:cNvPr id="13" name="TextBox 12"/>
          <p:cNvSpPr txBox="1"/>
          <p:nvPr/>
        </p:nvSpPr>
        <p:spPr>
          <a:xfrm>
            <a:off x="1371600" y="2926080"/>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画面を開き、実績を読む</a:t>
            </a:r>
          </a:p>
        </p:txBody>
      </p:sp>
      <p:sp>
        <p:nvSpPr>
          <p:cNvPr id="14" name="TextBox 13"/>
          <p:cNvSpPr txBox="1"/>
          <p:nvPr/>
        </p:nvSpPr>
        <p:spPr>
          <a:xfrm>
            <a:off x="1371600" y="3182112"/>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全額連結 447.6億円、持分管理 335.5億円。差は0</a:t>
            </a:r>
          </a:p>
        </p:txBody>
      </p:sp>
      <p:sp>
        <p:nvSpPr>
          <p:cNvPr id="15" name="Oval 14"/>
          <p:cNvSpPr/>
          <p:nvPr/>
        </p:nvSpPr>
        <p:spPr>
          <a:xfrm>
            <a:off x="822960" y="3547872"/>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79876"/>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2</a:t>
            </a:r>
          </a:p>
        </p:txBody>
      </p:sp>
      <p:sp>
        <p:nvSpPr>
          <p:cNvPr id="17" name="TextBox 16"/>
          <p:cNvSpPr txBox="1"/>
          <p:nvPr/>
        </p:nvSpPr>
        <p:spPr>
          <a:xfrm>
            <a:off x="1371600" y="3493008"/>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「食品損失を 50% 軽減」を押す</a:t>
            </a:r>
          </a:p>
        </p:txBody>
      </p:sp>
      <p:sp>
        <p:nvSpPr>
          <p:cNvPr id="18" name="TextBox 17"/>
          <p:cNvSpPr txBox="1"/>
          <p:nvPr/>
        </p:nvSpPr>
        <p:spPr>
          <a:xfrm>
            <a:off x="1371600" y="3749040"/>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全額連結の差は +0.6億円</a:t>
            </a:r>
          </a:p>
        </p:txBody>
      </p:sp>
      <p:sp>
        <p:nvSpPr>
          <p:cNvPr id="19" name="Oval 18"/>
          <p:cNvSpPr/>
          <p:nvPr/>
        </p:nvSpPr>
        <p:spPr>
          <a:xfrm>
            <a:off x="822960" y="4114800"/>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46804"/>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3</a:t>
            </a:r>
          </a:p>
        </p:txBody>
      </p:sp>
      <p:sp>
        <p:nvSpPr>
          <p:cNvPr id="21" name="TextBox 20"/>
          <p:cNvSpPr txBox="1"/>
          <p:nvPr/>
        </p:nvSpPr>
        <p:spPr>
          <a:xfrm>
            <a:off x="1371600" y="4059936"/>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続けて「円高 10%」を押す</a:t>
            </a:r>
          </a:p>
        </p:txBody>
      </p:sp>
      <p:sp>
        <p:nvSpPr>
          <p:cNvPr id="22" name="TextBox 21"/>
          <p:cNvSpPr txBox="1"/>
          <p:nvPr/>
        </p:nvSpPr>
        <p:spPr>
          <a:xfrm>
            <a:off x="1371600" y="4315968"/>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全額連結 −22.7億円、持分管理 −13.7億円</a:t>
            </a:r>
          </a:p>
        </p:txBody>
      </p:sp>
      <p:sp>
        <p:nvSpPr>
          <p:cNvPr id="23" name="Oval 22"/>
          <p:cNvSpPr/>
          <p:nvPr/>
        </p:nvSpPr>
        <p:spPr>
          <a:xfrm>
            <a:off x="822960" y="4681728"/>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713732"/>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4</a:t>
            </a:r>
          </a:p>
        </p:txBody>
      </p:sp>
      <p:sp>
        <p:nvSpPr>
          <p:cNvPr id="25" name="TextBox 24"/>
          <p:cNvSpPr txBox="1"/>
          <p:nvPr/>
        </p:nvSpPr>
        <p:spPr>
          <a:xfrm>
            <a:off x="1371600" y="4626864"/>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「差の内訳」を指す</a:t>
            </a:r>
          </a:p>
        </p:txBody>
      </p:sp>
      <p:sp>
        <p:nvSpPr>
          <p:cNvPr id="26" name="TextBox 25"/>
          <p:cNvSpPr txBox="1"/>
          <p:nvPr/>
        </p:nvSpPr>
        <p:spPr>
          <a:xfrm>
            <a:off x="1371600" y="4882896"/>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イベント +57.2、為替 −2,331.8、合計の差 −2,274.6（百万円）</a:t>
            </a:r>
          </a:p>
        </p:txBody>
      </p:sp>
      <p:sp>
        <p:nvSpPr>
          <p:cNvPr id="27" name="Oval 26"/>
          <p:cNvSpPr/>
          <p:nvPr/>
        </p:nvSpPr>
        <p:spPr>
          <a:xfrm>
            <a:off x="822960" y="5248655"/>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280659"/>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5</a:t>
            </a:r>
          </a:p>
        </p:txBody>
      </p:sp>
      <p:sp>
        <p:nvSpPr>
          <p:cNvPr id="29" name="TextBox 28"/>
          <p:cNvSpPr txBox="1"/>
          <p:nvPr/>
        </p:nvSpPr>
        <p:spPr>
          <a:xfrm>
            <a:off x="1371600" y="5193792"/>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経路で、イベントに食品損失を選ぶ</a:t>
            </a:r>
          </a:p>
        </p:txBody>
      </p:sp>
      <p:sp>
        <p:nvSpPr>
          <p:cNvPr id="30" name="TextBox 29"/>
          <p:cNvSpPr txBox="1"/>
          <p:nvPr/>
        </p:nvSpPr>
        <p:spPr>
          <a:xfrm>
            <a:off x="1371600" y="5449824"/>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影響額84件、契約6件。「影響額の件数が一致」と表示</a:t>
            </a:r>
          </a:p>
        </p:txBody>
      </p:sp>
      <p:sp>
        <p:nvSpPr>
          <p:cNvPr id="31" name="Rounded Rectangle 30"/>
          <p:cNvSpPr/>
          <p:nvPr/>
        </p:nvSpPr>
        <p:spPr>
          <a:xfrm>
            <a:off x="7699248" y="2395728"/>
            <a:ext cx="3913632"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27848" y="2505456"/>
            <a:ext cx="347472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準備と、困ったとき</a:t>
            </a:r>
          </a:p>
        </p:txBody>
      </p:sp>
      <p:sp>
        <p:nvSpPr>
          <p:cNvPr id="33" name="TextBox 32"/>
          <p:cNvSpPr txBox="1"/>
          <p:nvPr/>
        </p:nvSpPr>
        <p:spPr>
          <a:xfrm>
            <a:off x="7927848" y="2926080"/>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開くタイミング</a:t>
            </a:r>
          </a:p>
        </p:txBody>
      </p:sp>
      <p:sp>
        <p:nvSpPr>
          <p:cNvPr id="34" name="TextBox 33"/>
          <p:cNvSpPr txBox="1"/>
          <p:nvPr/>
        </p:nvSpPr>
        <p:spPr>
          <a:xfrm>
            <a:off x="7927848" y="3145536"/>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見せる直前に開き、経路の表示まで待つ。空きが長いと、再び待つ場合がある</a:t>
            </a:r>
          </a:p>
        </p:txBody>
      </p:sp>
      <p:sp>
        <p:nvSpPr>
          <p:cNvPr id="35" name="TextBox 34"/>
          <p:cNvSpPr txBox="1"/>
          <p:nvPr/>
        </p:nvSpPr>
        <p:spPr>
          <a:xfrm>
            <a:off x="7927848" y="3634994"/>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待ち時間が出たら</a:t>
            </a:r>
          </a:p>
        </p:txBody>
      </p:sp>
      <p:sp>
        <p:nvSpPr>
          <p:cNvPr id="36" name="TextBox 35"/>
          <p:cNvSpPr txBox="1"/>
          <p:nvPr/>
        </p:nvSpPr>
        <p:spPr>
          <a:xfrm>
            <a:off x="7927848" y="3854450"/>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「グラフの起動を待っています」と伝え、お客様向け資料の役割分担のページで補う</a:t>
            </a:r>
          </a:p>
        </p:txBody>
      </p:sp>
      <p:sp>
        <p:nvSpPr>
          <p:cNvPr id="37" name="TextBox 36"/>
          <p:cNvSpPr txBox="1"/>
          <p:nvPr/>
        </p:nvSpPr>
        <p:spPr>
          <a:xfrm>
            <a:off x="7927848" y="4343908"/>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応答しないとき</a:t>
            </a:r>
          </a:p>
        </p:txBody>
      </p:sp>
      <p:sp>
        <p:nvSpPr>
          <p:cNvPr id="38" name="TextBox 37"/>
          <p:cNvSpPr txBox="1"/>
          <p:nvPr/>
        </p:nvSpPr>
        <p:spPr>
          <a:xfrm>
            <a:off x="7927848" y="4563364"/>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再試行は1回だけ。直らなければ、保存した実画面に切り替え、保存した画像と告げる</a:t>
            </a:r>
          </a:p>
        </p:txBody>
      </p:sp>
      <p:sp>
        <p:nvSpPr>
          <p:cNvPr id="39" name="TextBox 38"/>
          <p:cNvSpPr txBox="1"/>
          <p:nvPr/>
        </p:nvSpPr>
        <p:spPr>
          <a:xfrm>
            <a:off x="7927848" y="5052822"/>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見られる人</a:t>
            </a:r>
          </a:p>
        </p:txBody>
      </p:sp>
      <p:sp>
        <p:nvSpPr>
          <p:cNvPr id="40" name="TextBox 39"/>
          <p:cNvSpPr txBox="1"/>
          <p:nvPr/>
        </p:nvSpPr>
        <p:spPr>
          <a:xfrm>
            <a:off x="7927848" y="5272278"/>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サインインが必要。利用者ごとの見え方は未検証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業務アプリの質問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業務アプリの想定質問と答え方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アプリの画面を見せたあとは、「Ontologyが計算したのか」という質問が出やすくなります。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確認した範囲を超えて答えないよう、6つの答えをそろえておきます。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未確認の質問は、お客様向け資料の確認範囲のページ（第4章末）で、どの列かを示す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アプリの確認：2026-10-28（Fabric AppsとOntologyはPreview、クエリ用APIはbeta）</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Rounded Rectangle 8"/>
          <p:cNvSpPr/>
          <p:nvPr/>
        </p:nvSpPr>
        <p:spPr>
          <a:xfrm>
            <a:off x="566928" y="235915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Ontologyが金額を計算したの？</a:t>
            </a:r>
          </a:p>
        </p:txBody>
      </p:sp>
      <p:sp>
        <p:nvSpPr>
          <p:cNvPr id="11" name="TextBox 10"/>
          <p:cNvSpPr txBox="1"/>
          <p:nvPr/>
        </p:nvSpPr>
        <p:spPr>
          <a:xfrm>
            <a:off x="4663440" y="241401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いいえ。つながり（経路）はOntologyのグラフから取得し、金額はLakehouseの値を、決まった手順で計算しています。</a:t>
            </a:r>
          </a:p>
        </p:txBody>
      </p:sp>
      <p:sp>
        <p:nvSpPr>
          <p:cNvPr id="12" name="Rounded Rectangle 11"/>
          <p:cNvSpPr/>
          <p:nvPr/>
        </p:nvSpPr>
        <p:spPr>
          <a:xfrm>
            <a:off x="566928" y="295351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99923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FabricのアプリからOntologyに、標準でつなげる？</a:t>
            </a:r>
          </a:p>
        </p:txBody>
      </p:sp>
      <p:sp>
        <p:nvSpPr>
          <p:cNvPr id="14" name="TextBox 13"/>
          <p:cNvSpPr txBox="1"/>
          <p:nvPr/>
        </p:nvSpPr>
        <p:spPr>
          <a:xfrm>
            <a:off x="4663440" y="300837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標準のコネクタの対象はLakehouseなどで、Ontologyは含まれません（Learn）。このデモはGraphのクエリ用API（beta）を直接呼んでいます。</a:t>
            </a:r>
          </a:p>
        </p:txBody>
      </p:sp>
      <p:sp>
        <p:nvSpPr>
          <p:cNvPr id="15" name="Rounded Rectangle 14"/>
          <p:cNvSpPr/>
          <p:nvPr/>
        </p:nvSpPr>
        <p:spPr>
          <a:xfrm>
            <a:off x="566928" y="354787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93591"/>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利用者ごとに、見える範囲を変えられる？</a:t>
            </a:r>
          </a:p>
        </p:txBody>
      </p:sp>
      <p:sp>
        <p:nvSpPr>
          <p:cNvPr id="17" name="TextBox 16"/>
          <p:cNvSpPr txBox="1"/>
          <p:nvPr/>
        </p:nvSpPr>
        <p:spPr>
          <a:xfrm>
            <a:off x="4663440" y="360273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呼び出しは、アプリの所有者のIDです（Learn）。画面を見る利用者の権限は反映されず、利用者ごとの設計は未検証です。PoCの最初に決めます。</a:t>
            </a:r>
          </a:p>
        </p:txBody>
      </p:sp>
      <p:sp>
        <p:nvSpPr>
          <p:cNvPr id="18" name="Rounded Rectangle 17"/>
          <p:cNvSpPr/>
          <p:nvPr/>
        </p:nvSpPr>
        <p:spPr>
          <a:xfrm>
            <a:off x="566928" y="414223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8795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最初に開くとき、遅いのはなぜ？</a:t>
            </a:r>
          </a:p>
        </p:txBody>
      </p:sp>
      <p:sp>
        <p:nvSpPr>
          <p:cNvPr id="20" name="TextBox 19"/>
          <p:cNvSpPr txBox="1"/>
          <p:nvPr/>
        </p:nvSpPr>
        <p:spPr>
          <a:xfrm>
            <a:off x="4663440" y="419709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放置後の最初の呼び出しは、グラフの起動に約1分（実測59〜63秒）。2回目以降は、グラフへの問い合わせが約1.1〜1.6秒です。</a:t>
            </a:r>
          </a:p>
        </p:txBody>
      </p:sp>
      <p:sp>
        <p:nvSpPr>
          <p:cNvPr id="21" name="Rounded Rectangle 20"/>
          <p:cNvSpPr/>
          <p:nvPr/>
        </p:nvSpPr>
        <p:spPr>
          <a:xfrm>
            <a:off x="566928" y="47365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78231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本番で使える？</a:t>
            </a:r>
          </a:p>
        </p:txBody>
      </p:sp>
      <p:sp>
        <p:nvSpPr>
          <p:cNvPr id="23" name="TextBox 22"/>
          <p:cNvSpPr txBox="1"/>
          <p:nvPr/>
        </p:nvSpPr>
        <p:spPr>
          <a:xfrm>
            <a:off x="4663440" y="4791455"/>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Fabric AppsとOntologyはPreview、クエリ用APIはbetaです（Learnは、クエリ用APIの本番利用を推奨していません）。性能とコストは、PoCで確認します。</a:t>
            </a:r>
          </a:p>
        </p:txBody>
      </p:sp>
      <p:sp>
        <p:nvSpPr>
          <p:cNvPr id="24" name="Rounded Rectangle 23"/>
          <p:cNvSpPr/>
          <p:nvPr/>
        </p:nvSpPr>
        <p:spPr>
          <a:xfrm>
            <a:off x="566928" y="533095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37667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東日本のリージョンで使える？</a:t>
            </a:r>
          </a:p>
        </p:txBody>
      </p:sp>
      <p:sp>
        <p:nvSpPr>
          <p:cNvPr id="26" name="TextBox 25"/>
          <p:cNvSpPr txBox="1"/>
          <p:nvPr/>
        </p:nvSpPr>
        <p:spPr>
          <a:xfrm>
            <a:off x="4663440" y="538581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Fabric Appsはリージョンが限定的です（Learn）。このデモはWest US 3で確認しました。東日本など、他のリージョンは未確認です。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業務アプリ（任意の実演：将来）</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任意の実演：予測にイベントを仮定して比べる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「来期の見通しは」と続けて聞かれたときに使う、任意の3分です。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予測は保存済みの結果で、イベントは仮定です。Ontologyが予測した、とは言いません。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質問が出たら、p.42の答え方で答える。予測の精度は「未確認」と言う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将来タブの確認：2026-10-28（予測は探索的。Fabric AppsとOntologyはPreview、クエリ用APIはbeta）</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66928" y="2395728"/>
            <a:ext cx="6967728"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05456"/>
            <a:ext cx="45720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手順（約3分）</a:t>
            </a:r>
          </a:p>
        </p:txBody>
      </p:sp>
      <p:sp>
        <p:nvSpPr>
          <p:cNvPr id="11" name="Oval 10"/>
          <p:cNvSpPr/>
          <p:nvPr/>
        </p:nvSpPr>
        <p:spPr>
          <a:xfrm>
            <a:off x="822960" y="2980944"/>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012948"/>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1</a:t>
            </a:r>
          </a:p>
        </p:txBody>
      </p:sp>
      <p:sp>
        <p:nvSpPr>
          <p:cNvPr id="13" name="TextBox 12"/>
          <p:cNvSpPr txBox="1"/>
          <p:nvPr/>
        </p:nvSpPr>
        <p:spPr>
          <a:xfrm>
            <a:off x="1371600" y="2926080"/>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「将来の予測」タブを開く</a:t>
            </a:r>
          </a:p>
        </p:txBody>
      </p:sp>
      <p:sp>
        <p:nvSpPr>
          <p:cNvPr id="14" name="TextBox 13"/>
          <p:cNvSpPr txBox="1"/>
          <p:nvPr/>
        </p:nvSpPr>
        <p:spPr>
          <a:xfrm>
            <a:off x="1371600" y="3182112"/>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基準予測 114.90億円。折れ線は実績4四半期と予測1四半期</a:t>
            </a:r>
          </a:p>
        </p:txBody>
      </p:sp>
      <p:sp>
        <p:nvSpPr>
          <p:cNvPr id="15" name="Oval 14"/>
          <p:cNvSpPr/>
          <p:nvPr/>
        </p:nvSpPr>
        <p:spPr>
          <a:xfrm>
            <a:off x="822960" y="3547872"/>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79876"/>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2</a:t>
            </a:r>
          </a:p>
        </p:txBody>
      </p:sp>
      <p:sp>
        <p:nvSpPr>
          <p:cNvPr id="17" name="TextBox 16"/>
          <p:cNvSpPr txBox="1"/>
          <p:nvPr/>
        </p:nvSpPr>
        <p:spPr>
          <a:xfrm>
            <a:off x="1371600" y="3493008"/>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初期値のまま（食品ロス、11月15日、100%）</a:t>
            </a:r>
          </a:p>
        </p:txBody>
      </p:sp>
      <p:sp>
        <p:nvSpPr>
          <p:cNvPr id="18" name="TextBox 17"/>
          <p:cNvSpPr txBox="1"/>
          <p:nvPr/>
        </p:nvSpPr>
        <p:spPr>
          <a:xfrm>
            <a:off x="1371600" y="3749040"/>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イベント想定後 113.75億円。予測との差 −1.14億円</a:t>
            </a:r>
          </a:p>
        </p:txBody>
      </p:sp>
      <p:sp>
        <p:nvSpPr>
          <p:cNvPr id="19" name="Oval 18"/>
          <p:cNvSpPr/>
          <p:nvPr/>
        </p:nvSpPr>
        <p:spPr>
          <a:xfrm>
            <a:off x="822960" y="4114800"/>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46804"/>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3</a:t>
            </a:r>
          </a:p>
        </p:txBody>
      </p:sp>
      <p:sp>
        <p:nvSpPr>
          <p:cNvPr id="21" name="TextBox 20"/>
          <p:cNvSpPr txBox="1"/>
          <p:nvPr/>
        </p:nvSpPr>
        <p:spPr>
          <a:xfrm>
            <a:off x="1371600" y="4059936"/>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日付を2026年12月20日に変える</a:t>
            </a:r>
          </a:p>
        </p:txBody>
      </p:sp>
      <p:sp>
        <p:nvSpPr>
          <p:cNvPr id="22" name="TextBox 21"/>
          <p:cNvSpPr txBox="1"/>
          <p:nvPr/>
        </p:nvSpPr>
        <p:spPr>
          <a:xfrm>
            <a:off x="1371600" y="4315968"/>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差 −0.93億円。期間内 57件、期間外 27件</a:t>
            </a:r>
          </a:p>
        </p:txBody>
      </p:sp>
      <p:sp>
        <p:nvSpPr>
          <p:cNvPr id="23" name="Oval 22"/>
          <p:cNvSpPr/>
          <p:nvPr/>
        </p:nvSpPr>
        <p:spPr>
          <a:xfrm>
            <a:off x="822960" y="4681728"/>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713732"/>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4</a:t>
            </a:r>
          </a:p>
        </p:txBody>
      </p:sp>
      <p:sp>
        <p:nvSpPr>
          <p:cNvPr id="25" name="TextBox 24"/>
          <p:cNvSpPr txBox="1"/>
          <p:nvPr/>
        </p:nvSpPr>
        <p:spPr>
          <a:xfrm>
            <a:off x="1371600" y="4626864"/>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日付を2026年12月31日にする</a:t>
            </a:r>
          </a:p>
        </p:txBody>
      </p:sp>
      <p:sp>
        <p:nvSpPr>
          <p:cNvPr id="26" name="TextBox 25"/>
          <p:cNvSpPr txBox="1"/>
          <p:nvPr/>
        </p:nvSpPr>
        <p:spPr>
          <a:xfrm>
            <a:off x="1371600" y="4882896"/>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差は0。四半期に収まる影響額が0件</a:t>
            </a:r>
          </a:p>
        </p:txBody>
      </p:sp>
      <p:sp>
        <p:nvSpPr>
          <p:cNvPr id="27" name="Oval 26"/>
          <p:cNvSpPr/>
          <p:nvPr/>
        </p:nvSpPr>
        <p:spPr>
          <a:xfrm>
            <a:off x="822960" y="5248655"/>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280659"/>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5</a:t>
            </a:r>
          </a:p>
        </p:txBody>
      </p:sp>
      <p:sp>
        <p:nvSpPr>
          <p:cNvPr id="29" name="TextBox 28"/>
          <p:cNvSpPr txBox="1"/>
          <p:nvPr/>
        </p:nvSpPr>
        <p:spPr>
          <a:xfrm>
            <a:off x="1371600" y="5193792"/>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「参照した過去のOntology経路」を開く</a:t>
            </a:r>
          </a:p>
        </p:txBody>
      </p:sp>
      <p:sp>
        <p:nvSpPr>
          <p:cNvPr id="30" name="TextBox 29"/>
          <p:cNvSpPr txBox="1"/>
          <p:nvPr/>
        </p:nvSpPr>
        <p:spPr>
          <a:xfrm>
            <a:off x="1371600" y="5449824"/>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過去の同じイベントの影響額を、Graphの経路とLakehouseで照合</a:t>
            </a:r>
          </a:p>
        </p:txBody>
      </p:sp>
      <p:sp>
        <p:nvSpPr>
          <p:cNvPr id="31" name="Rounded Rectangle 30"/>
          <p:cNvSpPr/>
          <p:nvPr/>
        </p:nvSpPr>
        <p:spPr>
          <a:xfrm>
            <a:off x="7699248" y="2395728"/>
            <a:ext cx="3913632"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27848" y="2505456"/>
            <a:ext cx="347472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準備と、困ったとき</a:t>
            </a:r>
          </a:p>
        </p:txBody>
      </p:sp>
      <p:sp>
        <p:nvSpPr>
          <p:cNvPr id="33" name="TextBox 32"/>
          <p:cNvSpPr txBox="1"/>
          <p:nvPr/>
        </p:nvSpPr>
        <p:spPr>
          <a:xfrm>
            <a:off x="7927848" y="2926080"/>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開くタイミング</a:t>
            </a:r>
          </a:p>
        </p:txBody>
      </p:sp>
      <p:sp>
        <p:nvSpPr>
          <p:cNvPr id="34" name="TextBox 33"/>
          <p:cNvSpPr txBox="1"/>
          <p:nvPr/>
        </p:nvSpPr>
        <p:spPr>
          <a:xfrm>
            <a:off x="7927848" y="3145536"/>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見せる直前に開き、将来タブを一度表示しておく。初回は約25〜30秒</a:t>
            </a:r>
          </a:p>
        </p:txBody>
      </p:sp>
      <p:sp>
        <p:nvSpPr>
          <p:cNvPr id="35" name="TextBox 34"/>
          <p:cNvSpPr txBox="1"/>
          <p:nvPr/>
        </p:nvSpPr>
        <p:spPr>
          <a:xfrm>
            <a:off x="7927848" y="3634994"/>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待ち時間が出たら</a:t>
            </a:r>
          </a:p>
        </p:txBody>
      </p:sp>
      <p:sp>
        <p:nvSpPr>
          <p:cNvPr id="36" name="TextBox 35"/>
          <p:cNvSpPr txBox="1"/>
          <p:nvPr/>
        </p:nvSpPr>
        <p:spPr>
          <a:xfrm>
            <a:off x="7927848" y="3854450"/>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「保存済みの予測を読み込んでいます」と伝え、お客様向け資料の予測のページで補う</a:t>
            </a:r>
          </a:p>
        </p:txBody>
      </p:sp>
      <p:sp>
        <p:nvSpPr>
          <p:cNvPr id="37" name="TextBox 36"/>
          <p:cNvSpPr txBox="1"/>
          <p:nvPr/>
        </p:nvSpPr>
        <p:spPr>
          <a:xfrm>
            <a:off x="7927848" y="4343908"/>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応答しないとき</a:t>
            </a:r>
          </a:p>
        </p:txBody>
      </p:sp>
      <p:sp>
        <p:nvSpPr>
          <p:cNvPr id="38" name="TextBox 37"/>
          <p:cNvSpPr txBox="1"/>
          <p:nvPr/>
        </p:nvSpPr>
        <p:spPr>
          <a:xfrm>
            <a:off x="7927848" y="4563364"/>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再試行は1回だけ。直らなければ、保存した画像に切り替え、保存した画像と告げる</a:t>
            </a:r>
          </a:p>
        </p:txBody>
      </p:sp>
      <p:sp>
        <p:nvSpPr>
          <p:cNvPr id="39" name="TextBox 38"/>
          <p:cNvSpPr txBox="1"/>
          <p:nvPr/>
        </p:nvSpPr>
        <p:spPr>
          <a:xfrm>
            <a:off x="7927848" y="5052822"/>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言わないこと</a:t>
            </a:r>
          </a:p>
        </p:txBody>
      </p:sp>
      <p:sp>
        <p:nvSpPr>
          <p:cNvPr id="40" name="TextBox 39"/>
          <p:cNvSpPr txBox="1"/>
          <p:nvPr/>
        </p:nvSpPr>
        <p:spPr>
          <a:xfrm>
            <a:off x="7927848" y="5272278"/>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「Ontologyが予測した」「予測は当たる」。予測の精度は未確認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予測と将来の仮定の質問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予測と将来の仮定の想定質問と答え方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予測を見せたあとは、「当たるのか」「Ontologyは何をしたのか」という質問が出やすくなります。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確認した範囲を超えて答えないよう、6つの答えをそろえておきます。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未確認の質問は、お客様向け資料の確認範囲のページ（第4章末）と、予測のページで、どの列かを示す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将来タブの確認：2026-10-28（予測は探索的。Fabric AppsとOntologyはPreview、クエリ用APIはbeta）</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Rounded Rectangle 8"/>
          <p:cNvSpPr/>
          <p:nvPr/>
        </p:nvSpPr>
        <p:spPr>
          <a:xfrm>
            <a:off x="566928" y="235915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予測は当たるの？</a:t>
            </a:r>
          </a:p>
        </p:txBody>
      </p:sp>
      <p:sp>
        <p:nvSpPr>
          <p:cNvPr id="11" name="TextBox 10"/>
          <p:cNvSpPr txBox="1"/>
          <p:nvPr/>
        </p:nvSpPr>
        <p:spPr>
          <a:xfrm>
            <a:off x="4663440" y="241401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未確認です。検証は1四半期の1回で、実績は先に見ています（探索的）。誤差：日平均 −1.73%、AutoML −5.44%、AutoML + Graph +1.60%。</a:t>
            </a:r>
          </a:p>
        </p:txBody>
      </p:sp>
      <p:sp>
        <p:nvSpPr>
          <p:cNvPr id="12" name="Rounded Rectangle 11"/>
          <p:cNvSpPr/>
          <p:nvPr/>
        </p:nvSpPr>
        <p:spPr>
          <a:xfrm>
            <a:off x="566928" y="295351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99923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Ontologyが予測しているの？</a:t>
            </a:r>
          </a:p>
        </p:txBody>
      </p:sp>
      <p:sp>
        <p:nvSpPr>
          <p:cNvPr id="14" name="TextBox 13"/>
          <p:cNvSpPr txBox="1"/>
          <p:nvPr/>
        </p:nvSpPr>
        <p:spPr>
          <a:xfrm>
            <a:off x="4663440" y="300837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いいえ。予測はAutoMLです。Graphは過去のイベントの影響を返し、Notebookが入力を作ります。Graphで精度が上がったとは言えません。</a:t>
            </a:r>
          </a:p>
        </p:txBody>
      </p:sp>
      <p:sp>
        <p:nvSpPr>
          <p:cNvPr id="15" name="Rounded Rectangle 14"/>
          <p:cNvSpPr/>
          <p:nvPr/>
        </p:nvSpPr>
        <p:spPr>
          <a:xfrm>
            <a:off x="566928" y="354787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93591"/>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イベントを足すと、二重に数えない？</a:t>
            </a:r>
          </a:p>
        </p:txBody>
      </p:sp>
      <p:sp>
        <p:nvSpPr>
          <p:cNvPr id="17" name="TextBox 16"/>
          <p:cNvSpPr txBox="1"/>
          <p:nvPr/>
        </p:nvSpPr>
        <p:spPr>
          <a:xfrm>
            <a:off x="4663440" y="360273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その可能性があります。基準予測に、過去のイベントの影響が含まれている場合があります。分離は未確認です。</a:t>
            </a:r>
          </a:p>
        </p:txBody>
      </p:sp>
      <p:sp>
        <p:nvSpPr>
          <p:cNvPr id="18" name="Rounded Rectangle 17"/>
          <p:cNvSpPr/>
          <p:nvPr/>
        </p:nvSpPr>
        <p:spPr>
          <a:xfrm>
            <a:off x="566928" y="414223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8795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為替や将来のイベントは予測している？</a:t>
            </a:r>
          </a:p>
        </p:txBody>
      </p:sp>
      <p:sp>
        <p:nvSpPr>
          <p:cNvPr id="20" name="TextBox 19"/>
          <p:cNvSpPr txBox="1"/>
          <p:nvPr/>
        </p:nvSpPr>
        <p:spPr>
          <a:xfrm>
            <a:off x="4663440" y="419709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いいえ。将来の為替は予測せず、イベントは利用者が仮定します（過去の影響を、仮定した日に移して足します）。</a:t>
            </a:r>
          </a:p>
        </p:txBody>
      </p:sp>
      <p:sp>
        <p:nvSpPr>
          <p:cNvPr id="21" name="Rounded Rectangle 20"/>
          <p:cNvSpPr/>
          <p:nvPr/>
        </p:nvSpPr>
        <p:spPr>
          <a:xfrm>
            <a:off x="566928" y="47365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78231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なぜ3四半期で学習したの？</a:t>
            </a:r>
          </a:p>
        </p:txBody>
      </p:sp>
      <p:sp>
        <p:nvSpPr>
          <p:cNvPr id="23" name="TextBox 22"/>
          <p:cNvSpPr txBox="1"/>
          <p:nvPr/>
        </p:nvSpPr>
        <p:spPr>
          <a:xfrm>
            <a:off x="4663440" y="4791455"/>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検証用に、最初の3四半期で学習しました。アプリの値は1年分で学習し直しています。1年分では季節性を確かめられません。</a:t>
            </a:r>
          </a:p>
        </p:txBody>
      </p:sp>
      <p:sp>
        <p:nvSpPr>
          <p:cNvPr id="24" name="Rounded Rectangle 23"/>
          <p:cNvSpPr/>
          <p:nvPr/>
        </p:nvSpPr>
        <p:spPr>
          <a:xfrm>
            <a:off x="566928" y="533095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37667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持分管理や売上も出せる？</a:t>
            </a:r>
          </a:p>
        </p:txBody>
      </p:sp>
      <p:sp>
        <p:nvSpPr>
          <p:cNvPr id="26" name="TextBox 25"/>
          <p:cNvSpPr txBox="1"/>
          <p:nvPr/>
        </p:nvSpPr>
        <p:spPr>
          <a:xfrm>
            <a:off x="4663440" y="538581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将来タブは、全額連結のEBITDAだけです。持分管理は未対応で、売上などは、このデモでは扱っていません。</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全社波及（影響範囲）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全社に及ぶイベントの影響範囲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実演で追う食品損失は、影響が一部の会社に限られた出来事です。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聞かれやすいのは、全社に同時に及ぶ出来事も、同じ経路で追えるかどうかです。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公開済みDAで聞いた業種別と会社別の金額は、元データの集計と一致した（2026-10-27）。説明では表の数字を示す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676656" y="2359152"/>
            <a:ext cx="13350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比べる点</a:t>
            </a:r>
          </a:p>
        </p:txBody>
      </p:sp>
      <p:sp>
        <p:nvSpPr>
          <p:cNvPr id="10" name="TextBox 9"/>
          <p:cNvSpPr txBox="1"/>
          <p:nvPr/>
        </p:nvSpPr>
        <p:spPr>
          <a:xfrm>
            <a:off x="2231136" y="2359152"/>
            <a:ext cx="1655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食品損失</a:t>
            </a:r>
          </a:p>
        </p:txBody>
      </p:sp>
      <p:sp>
        <p:nvSpPr>
          <p:cNvPr id="11" name="TextBox 10"/>
          <p:cNvSpPr txBox="1"/>
          <p:nvPr/>
        </p:nvSpPr>
        <p:spPr>
          <a:xfrm>
            <a:off x="4105655" y="2359152"/>
            <a:ext cx="18836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横断混乱</a:t>
            </a:r>
          </a:p>
        </p:txBody>
      </p:sp>
      <p:sp>
        <p:nvSpPr>
          <p:cNvPr id="12" name="Rounded Rectangle 11"/>
          <p:cNvSpPr/>
          <p:nvPr/>
        </p:nvSpPr>
        <p:spPr>
          <a:xfrm>
            <a:off x="566928" y="2660904"/>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イベントID</a:t>
            </a:r>
          </a:p>
        </p:txBody>
      </p:sp>
      <p:sp>
        <p:nvSpPr>
          <p:cNvPr id="14" name="TextBox 13"/>
          <p:cNvSpPr txBox="1"/>
          <p:nvPr/>
        </p:nvSpPr>
        <p:spPr>
          <a:xfrm>
            <a:off x="2231136" y="2724912"/>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FOD_NEG</a:t>
            </a:r>
          </a:p>
        </p:txBody>
      </p:sp>
      <p:sp>
        <p:nvSpPr>
          <p:cNvPr id="15" name="TextBox 14"/>
          <p:cNvSpPr txBox="1"/>
          <p:nvPr/>
        </p:nvSpPr>
        <p:spPr>
          <a:xfrm>
            <a:off x="4105655" y="2724912"/>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CROSS_NEG</a:t>
            </a:r>
          </a:p>
        </p:txBody>
      </p:sp>
      <p:sp>
        <p:nvSpPr>
          <p:cNvPr id="16" name="Rounded Rectangle 15"/>
          <p:cNvSpPr/>
          <p:nvPr/>
        </p:nvSpPr>
        <p:spPr>
          <a:xfrm>
            <a:off x="566928" y="3044952"/>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10896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影響を受けた会社</a:t>
            </a:r>
          </a:p>
        </p:txBody>
      </p:sp>
      <p:sp>
        <p:nvSpPr>
          <p:cNvPr id="18" name="TextBox 17"/>
          <p:cNvSpPr txBox="1"/>
          <p:nvPr/>
        </p:nvSpPr>
        <p:spPr>
          <a:xfrm>
            <a:off x="2231136" y="3108960"/>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2社（食品の日米）</a:t>
            </a:r>
          </a:p>
        </p:txBody>
      </p:sp>
      <p:sp>
        <p:nvSpPr>
          <p:cNvPr id="19" name="TextBox 18"/>
          <p:cNvSpPr txBox="1"/>
          <p:nvPr/>
        </p:nvSpPr>
        <p:spPr>
          <a:xfrm>
            <a:off x="4105655" y="3108960"/>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8社（4業種すべて）</a:t>
            </a:r>
          </a:p>
        </p:txBody>
      </p:sp>
      <p:sp>
        <p:nvSpPr>
          <p:cNvPr id="20" name="Rounded Rectangle 19"/>
          <p:cNvSpPr/>
          <p:nvPr/>
        </p:nvSpPr>
        <p:spPr>
          <a:xfrm>
            <a:off x="566928" y="3429000"/>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49300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契約</a:t>
            </a:r>
          </a:p>
        </p:txBody>
      </p:sp>
      <p:sp>
        <p:nvSpPr>
          <p:cNvPr id="22" name="TextBox 21"/>
          <p:cNvSpPr txBox="1"/>
          <p:nvPr/>
        </p:nvSpPr>
        <p:spPr>
          <a:xfrm>
            <a:off x="2231136" y="349300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6件</a:t>
            </a:r>
          </a:p>
        </p:txBody>
      </p:sp>
      <p:sp>
        <p:nvSpPr>
          <p:cNvPr id="23" name="TextBox 22"/>
          <p:cNvSpPr txBox="1"/>
          <p:nvPr/>
        </p:nvSpPr>
        <p:spPr>
          <a:xfrm>
            <a:off x="4105655" y="349300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26件</a:t>
            </a:r>
          </a:p>
        </p:txBody>
      </p:sp>
      <p:sp>
        <p:nvSpPr>
          <p:cNvPr id="24" name="Rounded Rectangle 23"/>
          <p:cNvSpPr/>
          <p:nvPr/>
        </p:nvSpPr>
        <p:spPr>
          <a:xfrm>
            <a:off x="566928" y="3813048"/>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877056"/>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活動と影響明細</a:t>
            </a:r>
          </a:p>
        </p:txBody>
      </p:sp>
      <p:sp>
        <p:nvSpPr>
          <p:cNvPr id="26" name="TextBox 25"/>
          <p:cNvSpPr txBox="1"/>
          <p:nvPr/>
        </p:nvSpPr>
        <p:spPr>
          <a:xfrm>
            <a:off x="2231136" y="3877056"/>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a:t>
            </a:r>
          </a:p>
        </p:txBody>
      </p:sp>
      <p:sp>
        <p:nvSpPr>
          <p:cNvPr id="27" name="TextBox 26"/>
          <p:cNvSpPr txBox="1"/>
          <p:nvPr/>
        </p:nvSpPr>
        <p:spPr>
          <a:xfrm>
            <a:off x="4105655" y="3877056"/>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a:t>
            </a:r>
          </a:p>
        </p:txBody>
      </p:sp>
      <p:sp>
        <p:nvSpPr>
          <p:cNvPr id="28" name="Rounded Rectangle 27"/>
          <p:cNvSpPr/>
          <p:nvPr/>
        </p:nvSpPr>
        <p:spPr>
          <a:xfrm>
            <a:off x="566928" y="4197096"/>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261104"/>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全額EBITDA</a:t>
            </a:r>
          </a:p>
        </p:txBody>
      </p:sp>
      <p:sp>
        <p:nvSpPr>
          <p:cNvPr id="30" name="TextBox 29"/>
          <p:cNvSpPr txBox="1"/>
          <p:nvPr/>
        </p:nvSpPr>
        <p:spPr>
          <a:xfrm>
            <a:off x="2231136" y="4261104"/>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−1.14億円</a:t>
            </a:r>
          </a:p>
        </p:txBody>
      </p:sp>
      <p:sp>
        <p:nvSpPr>
          <p:cNvPr id="31" name="TextBox 30"/>
          <p:cNvSpPr txBox="1"/>
          <p:nvPr/>
        </p:nvSpPr>
        <p:spPr>
          <a:xfrm>
            <a:off x="4105655" y="4261104"/>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−6.80億円</a:t>
            </a:r>
          </a:p>
        </p:txBody>
      </p:sp>
      <p:sp>
        <p:nvSpPr>
          <p:cNvPr id="32" name="Rounded Rectangle 31"/>
          <p:cNvSpPr/>
          <p:nvPr/>
        </p:nvSpPr>
        <p:spPr>
          <a:xfrm>
            <a:off x="566928" y="4581144"/>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64515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持分管理</a:t>
            </a:r>
          </a:p>
        </p:txBody>
      </p:sp>
      <p:sp>
        <p:nvSpPr>
          <p:cNvPr id="34" name="TextBox 33"/>
          <p:cNvSpPr txBox="1"/>
          <p:nvPr/>
        </p:nvSpPr>
        <p:spPr>
          <a:xfrm>
            <a:off x="2231136" y="4645152"/>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−0.88億円</a:t>
            </a:r>
          </a:p>
        </p:txBody>
      </p:sp>
      <p:sp>
        <p:nvSpPr>
          <p:cNvPr id="35" name="TextBox 34"/>
          <p:cNvSpPr txBox="1"/>
          <p:nvPr/>
        </p:nvSpPr>
        <p:spPr>
          <a:xfrm>
            <a:off x="4105655" y="4645152"/>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−5.16億円</a:t>
            </a:r>
          </a:p>
        </p:txBody>
      </p:sp>
      <p:sp>
        <p:nvSpPr>
          <p:cNvPr id="36" name="Rounded Rectangle 35"/>
          <p:cNvSpPr/>
          <p:nvPr/>
        </p:nvSpPr>
        <p:spPr>
          <a:xfrm>
            <a:off x="566928" y="4965192"/>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502920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年間EBITDA比</a:t>
            </a:r>
          </a:p>
        </p:txBody>
      </p:sp>
      <p:sp>
        <p:nvSpPr>
          <p:cNvPr id="38" name="TextBox 37"/>
          <p:cNvSpPr txBox="1"/>
          <p:nvPr/>
        </p:nvSpPr>
        <p:spPr>
          <a:xfrm>
            <a:off x="2231136" y="5029200"/>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−0.26%</a:t>
            </a:r>
          </a:p>
        </p:txBody>
      </p:sp>
      <p:sp>
        <p:nvSpPr>
          <p:cNvPr id="39" name="TextBox 38"/>
          <p:cNvSpPr txBox="1"/>
          <p:nvPr/>
        </p:nvSpPr>
        <p:spPr>
          <a:xfrm>
            <a:off x="4105655" y="5029200"/>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−1.52%</a:t>
            </a:r>
          </a:p>
        </p:txBody>
      </p:sp>
      <p:sp>
        <p:nvSpPr>
          <p:cNvPr id="40" name="Rounded Rectangle 39"/>
          <p:cNvSpPr/>
          <p:nvPr/>
        </p:nvSpPr>
        <p:spPr>
          <a:xfrm>
            <a:off x="566928" y="5349240"/>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1324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全社KPIまでの経路</a:t>
            </a:r>
          </a:p>
        </p:txBody>
      </p:sp>
      <p:sp>
        <p:nvSpPr>
          <p:cNvPr id="42" name="TextBox 41"/>
          <p:cNvSpPr txBox="1"/>
          <p:nvPr/>
        </p:nvSpPr>
        <p:spPr>
          <a:xfrm>
            <a:off x="2231136" y="541324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84件すべてたどれる</a:t>
            </a:r>
          </a:p>
        </p:txBody>
      </p:sp>
      <p:sp>
        <p:nvSpPr>
          <p:cNvPr id="43" name="TextBox 42"/>
          <p:cNvSpPr txBox="1"/>
          <p:nvPr/>
        </p:nvSpPr>
        <p:spPr>
          <a:xfrm>
            <a:off x="4105655" y="541324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336件すべてたどれる</a:t>
            </a:r>
          </a:p>
        </p:txBody>
      </p:sp>
      <p:sp>
        <p:nvSpPr>
          <p:cNvPr id="44" name="TextBox 43"/>
          <p:cNvSpPr txBox="1"/>
          <p:nvPr/>
        </p:nvSpPr>
        <p:spPr>
          <a:xfrm>
            <a:off x="6400800" y="2395728"/>
            <a:ext cx="52120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横断混乱：会社別の全額EBITDA影響（億円）</a:t>
            </a:r>
          </a:p>
        </p:txBody>
      </p:sp>
      <p:sp>
        <p:nvSpPr>
          <p:cNvPr id="45" name="TextBox 44"/>
          <p:cNvSpPr txBox="1"/>
          <p:nvPr/>
        </p:nvSpPr>
        <p:spPr>
          <a:xfrm>
            <a:off x="6400800" y="2688336"/>
            <a:ext cx="52120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各社の年間EBITDA比は約1.4〜1.6%です。DAの実測と一致しました。</a:t>
            </a:r>
          </a:p>
        </p:txBody>
      </p:sp>
      <p:sp>
        <p:nvSpPr>
          <p:cNvPr id="46" name="Rectangle 45"/>
          <p:cNvSpPr/>
          <p:nvPr/>
        </p:nvSpPr>
        <p:spPr>
          <a:xfrm>
            <a:off x="6400800" y="3200400"/>
            <a:ext cx="5212080"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16243" y="3211372"/>
            <a:ext cx="420624" cy="1925028"/>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6515" y="5163833"/>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−1.05</a:t>
            </a:r>
          </a:p>
        </p:txBody>
      </p:sp>
      <p:sp>
        <p:nvSpPr>
          <p:cNvPr id="49" name="TextBox 48"/>
          <p:cNvSpPr txBox="1"/>
          <p:nvPr/>
        </p:nvSpPr>
        <p:spPr>
          <a:xfrm>
            <a:off x="640651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0" name="Rectangle 49"/>
          <p:cNvSpPr/>
          <p:nvPr/>
        </p:nvSpPr>
        <p:spPr>
          <a:xfrm>
            <a:off x="7167753" y="3211372"/>
            <a:ext cx="420624" cy="19442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58025" y="518306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−1.06</a:t>
            </a:r>
          </a:p>
        </p:txBody>
      </p:sp>
      <p:sp>
        <p:nvSpPr>
          <p:cNvPr id="52" name="TextBox 51"/>
          <p:cNvSpPr txBox="1"/>
          <p:nvPr/>
        </p:nvSpPr>
        <p:spPr>
          <a:xfrm>
            <a:off x="705802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3" name="Rectangle 52"/>
          <p:cNvSpPr/>
          <p:nvPr/>
        </p:nvSpPr>
        <p:spPr>
          <a:xfrm>
            <a:off x="7819263" y="3211372"/>
            <a:ext cx="420624" cy="18928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09535" y="5131666"/>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−1.04</a:t>
            </a:r>
          </a:p>
        </p:txBody>
      </p:sp>
      <p:sp>
        <p:nvSpPr>
          <p:cNvPr id="55" name="TextBox 54"/>
          <p:cNvSpPr txBox="1"/>
          <p:nvPr/>
        </p:nvSpPr>
        <p:spPr>
          <a:xfrm>
            <a:off x="770953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6" name="Rectangle 55"/>
          <p:cNvSpPr/>
          <p:nvPr/>
        </p:nvSpPr>
        <p:spPr>
          <a:xfrm>
            <a:off x="8470773" y="3211372"/>
            <a:ext cx="420624" cy="1849193"/>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1045" y="5087998"/>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−1.01</a:t>
            </a:r>
          </a:p>
        </p:txBody>
      </p:sp>
      <p:sp>
        <p:nvSpPr>
          <p:cNvPr id="58" name="TextBox 57"/>
          <p:cNvSpPr txBox="1"/>
          <p:nvPr/>
        </p:nvSpPr>
        <p:spPr>
          <a:xfrm>
            <a:off x="836104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9" name="Rectangle 58"/>
          <p:cNvSpPr/>
          <p:nvPr/>
        </p:nvSpPr>
        <p:spPr>
          <a:xfrm>
            <a:off x="9122283" y="3211372"/>
            <a:ext cx="420624" cy="108595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12555" y="432475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−0.59</a:t>
            </a:r>
          </a:p>
        </p:txBody>
      </p:sp>
      <p:sp>
        <p:nvSpPr>
          <p:cNvPr id="61" name="TextBox 60"/>
          <p:cNvSpPr txBox="1"/>
          <p:nvPr/>
        </p:nvSpPr>
        <p:spPr>
          <a:xfrm>
            <a:off x="901255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2" name="Rectangle 61"/>
          <p:cNvSpPr/>
          <p:nvPr/>
        </p:nvSpPr>
        <p:spPr>
          <a:xfrm>
            <a:off x="9773793" y="3211372"/>
            <a:ext cx="420624" cy="129518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64065" y="453399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−0.71</a:t>
            </a:r>
          </a:p>
        </p:txBody>
      </p:sp>
      <p:sp>
        <p:nvSpPr>
          <p:cNvPr id="64" name="TextBox 63"/>
          <p:cNvSpPr txBox="1"/>
          <p:nvPr/>
        </p:nvSpPr>
        <p:spPr>
          <a:xfrm>
            <a:off x="966406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65" name="Rectangle 64"/>
          <p:cNvSpPr/>
          <p:nvPr/>
        </p:nvSpPr>
        <p:spPr>
          <a:xfrm>
            <a:off x="10425303" y="3211372"/>
            <a:ext cx="420624" cy="11882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15575" y="442700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−0.65</a:t>
            </a:r>
          </a:p>
        </p:txBody>
      </p:sp>
      <p:sp>
        <p:nvSpPr>
          <p:cNvPr id="67" name="TextBox 66"/>
          <p:cNvSpPr txBox="1"/>
          <p:nvPr/>
        </p:nvSpPr>
        <p:spPr>
          <a:xfrm>
            <a:off x="1031557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8" name="Rectangle 67"/>
          <p:cNvSpPr/>
          <p:nvPr/>
        </p:nvSpPr>
        <p:spPr>
          <a:xfrm>
            <a:off x="11076813" y="3211372"/>
            <a:ext cx="420624" cy="125579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67085" y="449460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−0.69</a:t>
            </a:r>
          </a:p>
        </p:txBody>
      </p:sp>
      <p:sp>
        <p:nvSpPr>
          <p:cNvPr id="70" name="TextBox 69"/>
          <p:cNvSpPr txBox="1"/>
          <p:nvPr/>
        </p:nvSpPr>
        <p:spPr>
          <a:xfrm>
            <a:off x="1096708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71" name="Rectangle 70"/>
          <p:cNvSpPr/>
          <p:nvPr/>
        </p:nvSpPr>
        <p:spPr>
          <a:xfrm>
            <a:off x="647395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0080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金属</a:t>
            </a:r>
          </a:p>
        </p:txBody>
      </p:sp>
      <p:sp>
        <p:nvSpPr>
          <p:cNvPr id="73" name="Rectangle 72"/>
          <p:cNvSpPr/>
          <p:nvPr/>
        </p:nvSpPr>
        <p:spPr>
          <a:xfrm>
            <a:off x="777697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0382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エネルギー</a:t>
            </a:r>
          </a:p>
        </p:txBody>
      </p:sp>
      <p:sp>
        <p:nvSpPr>
          <p:cNvPr id="75" name="Rectangle 74"/>
          <p:cNvSpPr/>
          <p:nvPr/>
        </p:nvSpPr>
        <p:spPr>
          <a:xfrm>
            <a:off x="907999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0684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食品</a:t>
            </a:r>
          </a:p>
        </p:txBody>
      </p:sp>
      <p:sp>
        <p:nvSpPr>
          <p:cNvPr id="77" name="Rectangle 76"/>
          <p:cNvSpPr/>
          <p:nvPr/>
        </p:nvSpPr>
        <p:spPr>
          <a:xfrm>
            <a:off x="1038301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0986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金融</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全社波及（扱える範囲）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全社波及で扱える範囲と未対応の範囲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「全社に波及する」が指す出来事は、聞き手によって違います。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指すものが違えば、このデモで見せられるかどうかの答えも変わります。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聞き返す例：「全社に同時に及ぶ話ですか。会社から会社へ連鎖する話ですか」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731520" y="2359152"/>
            <a:ext cx="237744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聞かれ方</a:t>
            </a:r>
          </a:p>
        </p:txBody>
      </p:sp>
      <p:sp>
        <p:nvSpPr>
          <p:cNvPr id="10" name="TextBox 9"/>
          <p:cNvSpPr txBox="1"/>
          <p:nvPr/>
        </p:nvSpPr>
        <p:spPr>
          <a:xfrm>
            <a:off x="3246120" y="2359152"/>
            <a:ext cx="1097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このデモ</a:t>
            </a:r>
          </a:p>
        </p:txBody>
      </p:sp>
      <p:sp>
        <p:nvSpPr>
          <p:cNvPr id="11" name="TextBox 10"/>
          <p:cNvSpPr txBox="1"/>
          <p:nvPr/>
        </p:nvSpPr>
        <p:spPr>
          <a:xfrm>
            <a:off x="4526280" y="2359152"/>
            <a:ext cx="685800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根拠と、足りない点</a:t>
            </a:r>
          </a:p>
        </p:txBody>
      </p:sp>
      <p:sp>
        <p:nvSpPr>
          <p:cNvPr id="12" name="Rounded Rectangle 11"/>
          <p:cNvSpPr/>
          <p:nvPr/>
        </p:nvSpPr>
        <p:spPr>
          <a:xfrm>
            <a:off x="566928" y="2670048"/>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同時に全社へ及ぶ</a:t>
            </a:r>
          </a:p>
        </p:txBody>
      </p:sp>
      <p:sp>
        <p:nvSpPr>
          <p:cNvPr id="14" name="TextBox 13"/>
          <p:cNvSpPr txBox="1"/>
          <p:nvPr/>
        </p:nvSpPr>
        <p:spPr>
          <a:xfrm>
            <a:off x="731520" y="303580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例：港の混乱、資金繰りの悪化</a:t>
            </a:r>
          </a:p>
        </p:txBody>
      </p:sp>
      <p:sp>
        <p:nvSpPr>
          <p:cNvPr id="15" name="Rounded Rectangle 14"/>
          <p:cNvSpPr/>
          <p:nvPr/>
        </p:nvSpPr>
        <p:spPr>
          <a:xfrm>
            <a:off x="3246120" y="2834640"/>
            <a:ext cx="960120" cy="329184"/>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98648"/>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扱える</a:t>
            </a:r>
          </a:p>
        </p:txBody>
      </p:sp>
      <p:sp>
        <p:nvSpPr>
          <p:cNvPr id="17" name="TextBox 16"/>
          <p:cNvSpPr txBox="1"/>
          <p:nvPr/>
        </p:nvSpPr>
        <p:spPr>
          <a:xfrm>
            <a:off x="4526280" y="2761488"/>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横断の2件が8社に同時に当たり、全社KPIまでの経路もすべてたどれます。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DAは、イベント別、業種別、会社別の金額を、保存データと同じ値で返しました（実測）。</a:t>
            </a:r>
          </a:p>
        </p:txBody>
      </p:sp>
      <p:sp>
        <p:nvSpPr>
          <p:cNvPr id="18" name="Rounded Rectangle 17"/>
          <p:cNvSpPr/>
          <p:nvPr/>
        </p:nvSpPr>
        <p:spPr>
          <a:xfrm>
            <a:off x="566928" y="3401568"/>
            <a:ext cx="11045952" cy="8768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会社から会社へ連鎖する</a:t>
            </a:r>
          </a:p>
        </p:txBody>
      </p:sp>
      <p:sp>
        <p:nvSpPr>
          <p:cNvPr id="20" name="TextBox 19"/>
          <p:cNvSpPr txBox="1"/>
          <p:nvPr/>
        </p:nvSpPr>
        <p:spPr>
          <a:xfrm>
            <a:off x="731520" y="376732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例：金融の問題がエネルギーに及ぶ</a:t>
            </a:r>
          </a:p>
        </p:txBody>
      </p:sp>
      <p:sp>
        <p:nvSpPr>
          <p:cNvPr id="21" name="Rounded Rectangle 20"/>
          <p:cNvSpPr/>
          <p:nvPr/>
        </p:nvSpPr>
        <p:spPr>
          <a:xfrm>
            <a:off x="3246120" y="3675411"/>
            <a:ext cx="960120" cy="329184"/>
          </a:xfrm>
          <a:prstGeom prst="roundRect">
            <a:avLst>
              <a:gd name="adj" fmla="val 8000"/>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3739419"/>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未対応</a:t>
            </a:r>
          </a:p>
        </p:txBody>
      </p:sp>
      <p:sp>
        <p:nvSpPr>
          <p:cNvPr id="23" name="TextBox 22"/>
          <p:cNvSpPr txBox="1"/>
          <p:nvPr/>
        </p:nvSpPr>
        <p:spPr>
          <a:xfrm>
            <a:off x="4526280" y="3493008"/>
            <a:ext cx="6949440" cy="739711"/>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会社同士の関係がOntologyになく、内部取引の表も金融とエネルギーの2経路だけです。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DAは4回とも「他の子会社への配賦なし、内部取引経由は確認できない」と答えました。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表の0.00億円は、データに配賦がないことを示し、影響なしの確認にはなりません。</a:t>
            </a:r>
          </a:p>
        </p:txBody>
      </p:sp>
      <p:sp>
        <p:nvSpPr>
          <p:cNvPr id="24" name="Rounded Rectangle 23"/>
          <p:cNvSpPr/>
          <p:nvPr/>
        </p:nvSpPr>
        <p:spPr>
          <a:xfrm>
            <a:off x="566928" y="435159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4303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もっと大きな規模の出来事</a:t>
            </a:r>
          </a:p>
        </p:txBody>
      </p:sp>
      <p:sp>
        <p:nvSpPr>
          <p:cNvPr id="26" name="TextBox 25"/>
          <p:cNvSpPr txBox="1"/>
          <p:nvPr/>
        </p:nvSpPr>
        <p:spPr>
          <a:xfrm>
            <a:off x="731520" y="471735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例：全社の稼ぎが大きく動く出来事</a:t>
            </a:r>
          </a:p>
        </p:txBody>
      </p:sp>
      <p:sp>
        <p:nvSpPr>
          <p:cNvPr id="27" name="Rounded Rectangle 26"/>
          <p:cNvSpPr/>
          <p:nvPr/>
        </p:nvSpPr>
        <p:spPr>
          <a:xfrm>
            <a:off x="3246120" y="4516183"/>
            <a:ext cx="960120" cy="329184"/>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458019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未収録</a:t>
            </a:r>
          </a:p>
        </p:txBody>
      </p:sp>
      <p:sp>
        <p:nvSpPr>
          <p:cNvPr id="29" name="TextBox 28"/>
          <p:cNvSpPr txBox="1"/>
          <p:nvPr/>
        </p:nvSpPr>
        <p:spPr>
          <a:xfrm>
            <a:off x="4526280" y="444303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最大の横断混乱で、年間EBITDAの約1.5%です。これより大きな出来事は、収録していません。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大きな出来事の追加には、影響データの追加とGraphの更新が要ります。</a:t>
            </a:r>
          </a:p>
        </p:txBody>
      </p:sp>
      <p:sp>
        <p:nvSpPr>
          <p:cNvPr id="30" name="Rounded Rectangle 29"/>
          <p:cNvSpPr/>
          <p:nvPr/>
        </p:nvSpPr>
        <p:spPr>
          <a:xfrm>
            <a:off x="566928" y="508311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7455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もしもの試算</a:t>
            </a:r>
          </a:p>
        </p:txBody>
      </p:sp>
      <p:sp>
        <p:nvSpPr>
          <p:cNvPr id="32" name="TextBox 31"/>
          <p:cNvSpPr txBox="1"/>
          <p:nvPr/>
        </p:nvSpPr>
        <p:spPr>
          <a:xfrm>
            <a:off x="731520" y="544887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例：円高が10円進んだら</a:t>
            </a:r>
          </a:p>
        </p:txBody>
      </p:sp>
      <p:sp>
        <p:nvSpPr>
          <p:cNvPr id="33" name="Rounded Rectangle 32"/>
          <p:cNvSpPr/>
          <p:nvPr/>
        </p:nvSpPr>
        <p:spPr>
          <a:xfrm>
            <a:off x="3246120" y="5247703"/>
            <a:ext cx="960120" cy="329184"/>
          </a:xfrm>
          <a:prstGeom prst="roundRect">
            <a:avLst>
              <a:gd name="adj" fmla="val 8000"/>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6120" y="531171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要注意</a:t>
            </a:r>
          </a:p>
        </p:txBody>
      </p:sp>
      <p:sp>
        <p:nvSpPr>
          <p:cNvPr id="35" name="TextBox 34"/>
          <p:cNvSpPr txBox="1"/>
          <p:nvPr/>
        </p:nvSpPr>
        <p:spPr>
          <a:xfrm>
            <a:off x="4526280" y="517455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同じ日に4回聞くと、3回は「円高10円で全額EBITDAは約14.8億円減る」と単純計算で答え、</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1回は「感応度の定義がない」と答え、算定しませんでした。実演では使いません。</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44</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53</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58</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59</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60</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61</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62</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63</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最後に、任意で業務アプリを見せます。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業務アプリは、10分のあとの追加</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この章のページ（19ページ）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6207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6207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1714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1714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197221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197221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2272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2272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48235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48235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73742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73742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299249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299249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2475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2475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50263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50263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375770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375770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0127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0127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26784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26784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52291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52291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477798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477798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0330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0330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28811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28811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5806440" y="554318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p.32</a:t>
            </a:r>
          </a:p>
        </p:txBody>
      </p:sp>
      <p:sp>
        <p:nvSpPr>
          <p:cNvPr id="45" name="TextBox 44"/>
          <p:cNvSpPr txBox="1"/>
          <p:nvPr/>
        </p:nvSpPr>
        <p:spPr>
          <a:xfrm>
            <a:off x="6583680" y="554318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任意の実演：業務アプリで条件を変える</a:t>
            </a:r>
          </a:p>
        </p:txBody>
      </p:sp>
      <p:sp>
        <p:nvSpPr>
          <p:cNvPr id="46" name="TextBox 45"/>
          <p:cNvSpPr txBox="1"/>
          <p:nvPr/>
        </p:nvSpPr>
        <p:spPr>
          <a:xfrm>
            <a:off x="5806440" y="579825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p.33</a:t>
            </a:r>
          </a:p>
        </p:txBody>
      </p:sp>
      <p:sp>
        <p:nvSpPr>
          <p:cNvPr id="47" name="TextBox 46"/>
          <p:cNvSpPr txBox="1"/>
          <p:nvPr/>
        </p:nvSpPr>
        <p:spPr>
          <a:xfrm>
            <a:off x="6583680" y="579825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任意の実演：予測にイベントを仮定して比べる</a:t>
            </a:r>
          </a:p>
        </p:txBody>
      </p:sp>
      <p:sp>
        <p:nvSpPr>
          <p:cNvPr id="48" name="TextBox 4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Ontologyの価値、全社波及の扱い、</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カジュアルな聞き方、業務アプリと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予測の質問です。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全社に及ぶイベントの影響範囲</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全社波及で扱える範囲と未対応の範囲</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p.39</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業務アプリの想定質問と答え方</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予測と将来の仮定の想定質問と答え方</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p.53</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p.58</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p.59</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p.60</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p.61</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p.62</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p.63</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