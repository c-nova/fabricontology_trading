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5" r:id="rId17"/>
    <p:sldId id="266" r:id="rId18"/>
    <p:sldId id="267" r:id="rId19"/>
    <p:sldId id="268" r:id="rId20"/>
    <p:sldId id="269" r:id="rId21"/>
    <p:sldId id="270" r:id="rId22"/>
    <p:sldId id="271" r:id="rId23"/>
    <p:sldId id="272" r:id="rId24"/>
    <p:sldId id="273" r:id="rId25"/>
    <p:sldId id="274" r:id="rId26"/>
    <p:sldId id="276" r:id="rId28"/>
    <p:sldId id="277" r:id="rId29"/>
    <p:sldId id="278" r:id="rId30"/>
    <p:sldId id="279" r:id="rId31"/>
    <p:sldId id="280" r:id="rId32"/>
    <p:sldId id="281" r:id="rId33"/>
    <p:sldId id="282" r:id="rId34"/>
    <p:sldId id="283" r:id="rId35"/>
    <p:sldId id="299" r:id="rId51"/>
    <p:sldId id="300" r:id="rId52"/>
    <p:sldId id="284" r:id="rId36"/>
    <p:sldId id="285" r:id="rId37"/>
    <p:sldId id="286" r:id="rId38"/>
    <p:sldId id="287" r:id="rId39"/>
    <p:sldId id="263" r:id="rId15"/>
    <p:sldId id="264" r:id="rId16"/>
    <p:sldId id="288" r:id="rId40"/>
    <p:sldId id="289" r:id="rId41"/>
    <p:sldId id="290" r:id="rId42"/>
    <p:sldId id="291" r:id="rId43"/>
    <p:sldId id="275" r:id="rId27"/>
    <p:sldId id="292" r:id="rId44"/>
    <p:sldId id="293" r:id="rId45"/>
    <p:sldId id="294" r:id="rId46"/>
    <p:sldId id="295" r:id="rId47"/>
    <p:sldId id="296" r:id="rId48"/>
    <p:sldId id="297" r:id="rId49"/>
    <p:sldId id="298" r:id="rId5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【操作】事前に「実演前の制約と確認先」のリンクで公開済みFabric Data AgentとStep03 Notebookを別タブで開きます。今回の作業はローカル資料作成だけで、クラウドの設定変更や再公開は行っていません。</a:t>
            </a:r>
          </a:p>
          <a:p>
            <a:r>
              <a:t>【避ける】実在企業の実データ、実世界の因果分析、自動の原因究明、正式な連結会計の完成版とは言いません。</a:t>
            </a:r>
          </a:p>
          <a:p>
            <a:r>
              <a:t>【つなぎ】「この順序なら、画面の移動も一度で済みます。」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【話す】「金属、エネルギー、食品、金融の4分野に、日本と米国の会社が1社ずつあります。各社の原本は別のLakehouseに残し、共通の分析用データを用意しています。」</a:t>
            </a:r>
          </a:p>
          <a:p>
            <a:r>
              <a:t>【指す】4セクターの枠を指し、国を跨ぐ比較であることを伝えます。次に年度と通貨、所有比率の欄を指します。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【つなぎ】「別々の会社のデータを、どこで共通化しているかを見ます。」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左が8社の原本です。上の経路は共通の分析用投影で、ここには実データのコピーを作っています。下の経路は業種別の拡張表だけをゼロコピーで参照する8つのショートカットです。両者を同じものとして説明しないでください。」</a:t>
            </a:r>
          </a:p>
          <a:p>
            <a:r>
              <a:t>【指す】左、中央の上下、右の順です。親LakehouseはSAP風の管理データも持ち、子会社8個と合わせて9個です。物理表95個とショートカット8個を足して物理表103個とは数えません。</a:t>
            </a:r>
          </a:p>
          <a:p>
            <a:r>
              <a:t>【Ontology】共通の実体名と関係を定義し、各表へ対応付けます。その定義からGraphModelをマテリアライズしています。GraphModelは参照可能な実体のグラフで、NotebookはそこへGQLを実行します。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【つなぎ】「ここで登場した4つの用語を食品の例に置き換えます。」</a:t>
            </a:r>
          </a:p>
          <a:p/>
          <a:p>
            <a:r>
              <a:t>【出典と照合先】</a:t>
            </a:r>
          </a:p>
          <a:p>
            <a:r>
              <a:t>docs/architecture.md:81-123</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【つなぎ】「食品の金額は分かりました。どの記録や販売活動と結び付いているかは、次の画面で確認します。」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別途、実際の保存済みDA応答を抜粋したページも収録してい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【話す】「代表例は2026年2月11日の日本食品会社の外部販売です。観測値はマイナス18度、廃棄率3.5%です。契約の商品コードはmilling_wheat、図では製粉用小麦と表示されています。」</a:t>
            </a:r>
          </a:p>
          <a:p>
            <a:r>
              <a:t>【指す】Notebookの下段にある観測、活動、契約。次に根拠記録の原文欄を指します。</a:t>
            </a:r>
          </a:p>
          <a:p>
            <a:r>
              <a:t>【厳密な注意】許容温度や契約上の閾値は記録にありません。「マイナス18度だから高温障害」「小麦が冷凍必須」といった現実世界の知識で補完しません。これはデモ用に生成したデータで、商品と温度の組合せも原記録のままです。</a:t>
            </a:r>
          </a:p>
          <a:p>
            <a:r>
              <a:t>【根拠】SIM://SUB_FOD_JP_01/FOD_NEG/operations_logという合成業務ログで、原文にもSYNTHETICと書かれています。これが実在の監査証憑という意味ではありません。</a:t>
            </a:r>
          </a:p>
          <a:p>
            <a:r>
              <a:t>【ID】活動SUB_FOD_JP_01_A133_0、契約SUB_FOD_JP_01_C04、根拠SUB_FOD_JP_01_FOD_NEG_0です。長いIDは口頭で読み上げず、下のリネージ表にあることを示します。</a:t>
            </a:r>
          </a:p>
          <a:p>
            <a:r>
              <a:t>【日付】イベント期間は2月9日～3月1日、代表活動と効果は2月11日。イベント開始日と個別の効果日を同一視しません。</a:t>
            </a:r>
          </a:p>
          <a:p>
            <a:r>
              <a:t>【つなぎ】「同じ図に出てくる4つの金額は、対象範囲が異なります。」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【目安】60秒。ここは質疑で最も間違えやすい箇所です。</a:t>
            </a:r>
          </a:p>
          <a:p>
            <a:r>
              <a:t>【話す】「左上は食品損失イベント全体。右上はその中の1効果。左下はその会社の同日全体の実績、右下は8社の同日全体の実績です。見えている4つの金額を足してはいけません。」</a:t>
            </a:r>
          </a:p>
          <a:p>
            <a:r>
              <a:t>【指す】4枠を順に指します。イベント全体は84個のeffect_idをそれぞれ一度だけ合計した-114,461,186.25円。持分管理なら-87,630,294.31円です。</a:t>
            </a:r>
          </a:p>
          <a:p>
            <a:r>
              <a:t>【代表効果】SUB_FOD_JP_01_A133_0_FOD_NEG_F、-3,003,488.94円。この会社の所有比率は51%で、代表効果の持分管理は-1,531,779.36円です。</a:t>
            </a:r>
          </a:p>
          <a:p>
            <a:r>
              <a:t>【当日】会社actual EBITDAは+3,711,231.19円。8社actual EBITDAは+113,069,201.90円。どちらも2026-02-11です。これらは損失の額ではなく、ほかの取引も含んだその日の総額です。</a:t>
            </a:r>
          </a:p>
          <a:p>
            <a:r>
              <a:t>【精度】画面の億円表記は丸めています。厳密な照合は下の円表示や監査JSONを使います。効果粒度と日次粒度の換算丸めに微差があり得るため、別粒度の差を機械的に不整合と断定しません。</a:t>
            </a:r>
          </a:p>
          <a:p>
            <a:r>
              <a:t>【避ける】「全社は1.13億円の損失」「84効果×代表効果＝全体」「actualにdeltaを追加」。</a:t>
            </a:r>
          </a:p>
          <a:p>
            <a:r>
              <a:t>【つなぎ】「関係の取得と金額の照合を別処理にすることで、この違いを保ちます。」</a:t>
            </a:r>
          </a:p>
          <a:p/>
          <a:p>
            <a:r>
              <a:t>【出典と照合先】</a:t>
            </a:r>
          </a:p>
          <a:p>
            <a:r>
              <a:t>reports/step3_live_audit.json:exact_*</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【目安】60秒。非技術者にはカード見出しだけで十分です。</a:t>
            </a:r>
          </a:p>
          <a:p>
            <a:r>
              <a:t>【話す】「NotebookはGQLで本物の関係を読み、その84効果がDelta側の84効果と一致するかを調べます。金額計算は小数を正確に扱うDECIMALを使用します。」</a:t>
            </a:r>
          </a:p>
          <a:p>
            <a:r>
              <a:t>【指す】左のGraph経路と右のDelta金額、下の一致検査です。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DECIMALを読取専用で照合します。Graphの数値は浮動小数点なので、厳密な会計集計の唯一の根拠にはしません。84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【つなぎ】「説明者は通常、実行ではなく保存結果を開くところから始めます。」</a:t>
            </a:r>
          </a:p>
          <a:p/>
          <a:p>
            <a:r>
              <a:t>【出典と照合先】</a:t>
            </a:r>
          </a:p>
          <a:p>
            <a:r>
              <a:t>scripts/step3_food_loss_runtime.py:85-182</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【つなぎ】「最後に、業務で使う場合の価値を一言で説明します。」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【話す】「ここで共有したのは、金額の定義と、どの根拠や取引を参照しているかです。説明者は同じ関係をたどって答えを確認できます。金額は別の正確な集計で照合します。」</a:t>
            </a:r>
          </a:p>
          <a:p>
            <a:r>
              <a:t>【指す】3つのカード。定義の統一、根拠への追跡、異なる集計粒度の区別という業務上の利点を述べます。</a:t>
            </a:r>
          </a:p>
          <a:p>
            <a:r>
              <a:t>【SQL比較】Snowflakeや一般的なSQL JOINでも同じ数値を作れます。OntologyだけがJOINできる、SQLでは不可能、という比較はしません。関係と意味を再利用できることに価値があります。</a:t>
            </a:r>
          </a:p>
          <a:p>
            <a:r>
              <a:t>【追加A】余裕があればDAへ戻り、ENE_POSの好影響を同じ確認順で質問します。全額+210,155,445.28円、約+2.10億円。Step03はFOD_NEG専用なのでイベントIDを変えてエネルギー図を作ろうとはしません。</a:t>
            </a:r>
          </a:p>
          <a:p>
            <a:r>
              <a:t>【追加B】横断2件を配賦先sectorで比較します。primary_sector='all'を落とさずに会社のsectorで分けます。負と正の時期が違うため、単純な回復率とは説明しません。</a:t>
            </a:r>
          </a:p>
          <a:p>
            <a:r>
              <a:t>【避ける】画面操作を自動業務判断や本番会計の完成形と結び付けること。因果の証明、全面ゼロコピー、自動最新化とも言いません。</a:t>
            </a:r>
          </a:p>
          <a:p>
            <a:r>
              <a:t>【コピー用追加A】</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r>
              <a:t>【コピー用追加B】</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docs/architecture.md:112-143</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【準備用】PowerPointのノートペイン／発表者ツールでこのページを開きます。</a:t>
            </a:r>
          </a:p>
          <a:p>
            <a:r>
              <a:t>【実行順】Q1 → Q2 → Q3 → Q4。Q4はNotebookの前後どちらでも実行できます。画面の切替を減らしたい場合は、Q3の直後にDAでQ4を実行してからNotebookへ移ります。本編の入力ページにはコピー可能な全文があります。この付録の4行は対応を確認するための要約です。</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【読み方】各行はeffect_idを一度だけ集計した全額JPYのdeltaです。actualに追加する金額ではありません。固有イベントは各84効果、横断イベントは各336効果、合計1,344効果です。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【Q：全部ゼロコピー？】A：「いいえ。ゼロコピーは業種拡張8表のショートカットです。親のsemantic_*は分析用の実体化コピー、GraphModelもマテリアライズしています。」</a:t>
            </a:r>
          </a:p>
          <a:p>
            <a:r>
              <a:t>【Q：SQLでもできる？】A：「同じ集計は可能です。ここでは実体名、関係、根拠の確認方法を共有することを示しています。」他製品を結合不能と表現しません。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【Q：イベントのデータは社内にない？】A：「整った形では、ないのが普通です。差分の理由コメントや事故・契約の記録、業務データの異常から拾い、小さな台帳から始めます。」詳細は付録Fにあります。</a:t>
            </a:r>
          </a:p>
          <a:p>
            <a:r>
              <a:t>【Q：取引先の名前は出せる？】A：「このデモのデータに取引先名はありません。契約IDで特定し、実務では取引先マスタを契約につなぎます。」</a:t>
            </a:r>
          </a:p>
          <a:p>
            <a:r>
              <a:t>【Q：もっとカジュアルに聞ける？】A：「短い質問でも答えられるよう、言い回しの読み替えをDAの指示文に書きました。ただし、LLMなので毎回同じ答えにはなりません。」詳細は次の2ページ（付録C-2、C-3）にあります。</a:t>
            </a:r>
          </a:p>
          <a:p/>
          <a:p>
            <a:r>
              <a:t>【出典と照合先】</a:t>
            </a:r>
          </a:p>
          <a:p>
            <a:r>
              <a:t>docs/architecture.md</a:t>
            </a:r>
          </a:p>
          <a:p>
            <a:r>
              <a:t>reports/step3_live_audit.json</a:t>
            </a:r>
          </a:p>
          <a:p>
            <a:r>
              <a:t>scripts/step3_food_loss_runtime.py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前点検】公開済みDAを開き、Notebookの先頭HTMLと日時を確認します。PowerPointの発表者ノートが見えるか、画面切替ができるか、ネットワークとFabric利用権限があるかを確認します。必要な権限がなければ管理者へ通常の手順で確認し、この資料から共有設定を変更しません。</a:t>
            </a:r>
          </a:p>
          <a:p>
            <a:r>
              <a:t>【実行環境】実際のDA runtimeはPreviewです。別のBasic-plan設定は発見も検証もしていません。要求したBasic条件を満たしたと説明したり、ライセンス準拠を認証済みと表現したりしません。GQLの公開Graph APIもbetaです。</a:t>
            </a:r>
          </a:p>
          <a:p>
            <a:r>
              <a:t>【日本語】日本語応答はこのデモで動作確認したbest-effortです。公式な日本語サポート保証として説明しません。</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PowerPointなど実際に使う環境でのフォント、改行、ノート表示の最終確認をお願いします。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r>
              <a:t>【今回の範囲】ローカル資料作成のみ。Fabric変更、共有、送信、GitHub操作は行いません。</a:t>
            </a:r>
          </a:p>
          <a:p/>
          <a:p>
            <a:r>
              <a:t>【出典と照合先】</a:t>
            </a:r>
          </a:p>
          <a:p>
            <a:r>
              <a:t>config/deployment_manifest.json:limitations</a:t>
            </a:r>
          </a:p>
          <a:p>
            <a:r>
              <a:t>config/step3_deployment.json</a:t>
            </a:r>
          </a:p>
          <a:p>
            <a:r>
              <a:t>docs/architecture.md:135-144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【保存された入力全文】</a:t>
            </a:r>
          </a:p>
          <a:p>
            <a: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a:p>
            <a:r>
              <a:t>【保存されたDA応答全文】</a:t>
            </a:r>
          </a:p>
          <a:p>
            <a:r>
              <a:t>対象期間は**2025-10-01〜2026-09-30（両端含む）**、シナリオは**actual**です。集計対象は `semantic_financial_metrics_daily` のEBITDA **2,920行**です。</a:t>
            </a:r>
          </a:p>
          <a:p/>
          <a:p>
            <a:r>
              <a:t>### EBITDA比較（JPY）</a:t>
            </a:r>
          </a:p>
          <a:p>
            <a:r>
              <a:t>- **全額連結EBITDA**：**44,757,399,732.84円**（約**447.57億円**）</a:t>
            </a:r>
          </a:p>
          <a:p>
            <a:r>
              <a:t>- **持分管理寄与EBITDA**：**33,547,898,914.09円**（約**335.48億円**）</a:t>
            </a:r>
          </a:p>
          <a:p/>
          <a:p>
            <a:r>
              <a:t>全額連結は支配子会社を100%ベースで取り込む管理デモ上の指標、持分管理寄与は所有比率を反映した簡易管理寄与です。したがって両者は混在・合算していません。</a:t>
            </a:r>
          </a:p>
          <a:p/>
          <a:p>
            <a:r>
              <a:t>### イベントEBITDA影響（全10イベント、JPY）</a:t>
            </a:r>
          </a:p>
          <a:p>
            <a:r>
              <a:t>`primary_sector=all` の横断イベント **CROSS_NEG / CROSS_POS** も含めています。各影響額は `effect_id` 単位で重複なく集計されています。</a:t>
            </a:r>
          </a:p>
          <a:p/>
          <a:p>
            <a:r>
              <a:t>| event_id | セクター | 方向 | effect_id件数 | 全額連結EBITDA影響 | 持分管理寄与EBITDA影響 |</a:t>
            </a:r>
          </a:p>
          <a:p>
            <a:r>
              <a:t>|---|---|---:|---:|---:|---:|</a:t>
            </a:r>
          </a:p>
          <a:p>
            <a:r>
              <a:t>| CROSS_NEG | all（横断） | 負 | 336 | **-680,035,231.24円** | **-515,651,483.39円** |</a:t>
            </a:r>
          </a:p>
          <a:p>
            <a:r>
              <a:t>| CROSS_POS | all（横断） | 正 | 336 | **584,435,114.92円** | **438,898,434.77円** |</a:t>
            </a:r>
          </a:p>
          <a:p>
            <a:r>
              <a:t>| ENE_NEG | energy | 負 | 84 | -188,475,012.78円 | -143,866,099.63円 |</a:t>
            </a:r>
          </a:p>
          <a:p>
            <a:r>
              <a:t>| ENE_POS | energy | 正 | 84 | 210,155,445.28円 | 157,280,607.47円 |</a:t>
            </a:r>
          </a:p>
          <a:p>
            <a:r>
              <a:t>| FIN_NEG | finance | 負 | 84 | -124,852,353.72円 | -94,382,719.37円 |</a:t>
            </a:r>
          </a:p>
          <a:p>
            <a:r>
              <a:t>| FIN_POS | finance | 正 | 84 | 116,692,616.68円 | 87,351,407.02円 |</a:t>
            </a:r>
          </a:p>
          <a:p>
            <a:r>
              <a:t>| FOD_NEG | foods | 負 | 84 | -114,461,186.25円 | -87,630,294.31円 |</a:t>
            </a:r>
          </a:p>
          <a:p>
            <a:r>
              <a:t>| FOD_POS | foods | 正 | 84 | 119,698,730.65円 | 91,134,062.87円 |</a:t>
            </a:r>
          </a:p>
          <a:p>
            <a:r>
              <a:t>| MTL_NEG | metals | 負 | 84 | -208,722,530.97円 | -157,587,508.53円 |</a:t>
            </a:r>
          </a:p>
          <a:p>
            <a:r>
              <a:t>| MTL_POS | metals | 正 | 84 | 182,646,287.72円 | 135,652,789.94円 |</a:t>
            </a:r>
          </a:p>
          <a:p/>
          <a:p>
            <a:r>
              <a:t>主な比較として、負の影響では横断イベントの **CROSS_NEG** が最大、セクター固有では **MTL_NEG** が最大です。正の影響では横断イベントの **CROSS_POS** が最大で、セクター固有では **ENE_POS** が最大です。</a:t>
            </a:r>
          </a:p>
          <a:p/>
          <a:p>
            <a:r>
              <a:t>これは架空の管理分析用データにおけるシミュレーション配賦であり、実世界の因果推論や正式な法定連結・持分法損益を示すものではありません。詳細な行データは **`result_0.json`** および **`result_1.json`** を参照してください。</a:t>
            </a:r>
          </a:p>
          <a:p>
            <a:r>
              <a:t>【注意】過去の実行記録であり、この改訂作業中のライブ応答ではありません。スライド本文では読みやすさのため回答の一部だけを引用しています。全文はこのノートに残しています。</a:t>
            </a:r>
          </a:p>
          <a:p/>
          <a:p>
            <a:r>
              <a:t>【出典と照合先】</a:t>
            </a:r>
          </a:p>
          <a:p>
            <a:r>
              <a:t>reports/da_qa_published.json:messages[0:2]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は、イベントが原因だと証明することは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表の名前や列の組合せではなく、何が何とつながるかを定義しています。」</a:t>
            </a:r>
          </a:p>
          <a:p>
            <a:r>
              <a:t>【指す】上段を左から右へ（根拠、イベント、効果、日次指標、全社KPI）。次に中段（業種拡張、活動、契約）、下段（出荷、会社）の順です。</a:t>
            </a:r>
          </a:p>
          <a:p>
            <a:r>
              <a:t>【数】実体は17種類（本体9、業種拡張8）、関係は39種類（本体15、業種拡張24）です。</a:t>
            </a:r>
          </a:p>
          <a:p>
            <a:r>
              <a:t>【色】灰色は関連、紫は影響の配賦、緑は対応と集約です。Step03の図（食品損失のDAG）と同じ色分けです。矢印の向きは関係の定義の向きで、因果の方向を証明するものではありません。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【目安】60秒。技術に詳しい方への補足です。</a:t>
            </a:r>
          </a:p>
          <a:p>
            <a:r>
              <a:t>【話す】「Ontologyの実体に結び付けられる表は1つです。8社の原本をそのまま使うと、同じ種類の実体を会社ごとに別々に定義することになります。そこで3つの判断をしました。」</a:t>
            </a:r>
          </a:p>
          <a:p>
            <a:r>
              <a:t>【判断1：8社分を親の投影表に統合】semantic_*（9表）に8社分を統合し、source_lakehouse列で原本の場所を残しました。原本は子会社のLakehouseに残り、投影は分析用のコピーです。</a:t>
            </a:r>
          </a:p>
          <a:p>
            <a:r>
              <a:t>【判断2：業種拡張は別の実体にして、ショートカットで参照】金属の純度、エネルギーの貯蔵率、食品の温度、金融のスプレッドなど、項目が業種ごとに違い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【判断3：多対多の関係はリンク表で明示】イベントと活動、効果と日次指標、日次指標と全社KPIの3本は、IDの対応を持つ表で結びます。日付だけで結ぶ曖昧な結合を避けます。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ルール】ルールのページ（新機能 3）のとおりです。DAが読むかを確認するまでは、DAの指示文と併用します。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【つなぎ】「最後に、小さく始める進め方を説明します。」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新機能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営業向け改訂版  |  基礎 → DA入力と結果 → 根拠の確認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進行表  |  説明者が手元で参照</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背景  |  最初に共有する業務設定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対象年度：2025-10-01～2026-09-30。最新データ日：2026-09-30</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03</a:t>
            </a:r>
          </a:p>
        </p:txBody>
      </p:sp>
      <p:sp>
        <p:nvSpPr>
          <p:cNvPr id="9" name="Rounded Rectangle 8"/>
          <p:cNvSpPr/>
          <p:nvPr/>
        </p:nvSpPr>
        <p:spPr>
          <a:xfrm>
            <a:off x="56692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金属</a:t>
            </a:r>
          </a:p>
        </p:txBody>
      </p:sp>
      <p:sp>
        <p:nvSpPr>
          <p:cNvPr id="11" name="TextBox 10"/>
          <p:cNvSpPr txBox="1"/>
          <p:nvPr/>
        </p:nvSpPr>
        <p:spPr>
          <a:xfrm>
            <a:off x="79552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2" name="Rounded Rectangle 11"/>
          <p:cNvSpPr/>
          <p:nvPr/>
        </p:nvSpPr>
        <p:spPr>
          <a:xfrm>
            <a:off x="340156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エネルギー</a:t>
            </a:r>
          </a:p>
        </p:txBody>
      </p:sp>
      <p:sp>
        <p:nvSpPr>
          <p:cNvPr id="14" name="TextBox 13"/>
          <p:cNvSpPr txBox="1"/>
          <p:nvPr/>
        </p:nvSpPr>
        <p:spPr>
          <a:xfrm>
            <a:off x="363016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5" name="Rounded Rectangle 14"/>
          <p:cNvSpPr/>
          <p:nvPr/>
        </p:nvSpPr>
        <p:spPr>
          <a:xfrm>
            <a:off x="623620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食品</a:t>
            </a:r>
          </a:p>
        </p:txBody>
      </p:sp>
      <p:sp>
        <p:nvSpPr>
          <p:cNvPr id="17" name="TextBox 16"/>
          <p:cNvSpPr txBox="1"/>
          <p:nvPr/>
        </p:nvSpPr>
        <p:spPr>
          <a:xfrm>
            <a:off x="646480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18" name="Rounded Rectangle 17"/>
          <p:cNvSpPr/>
          <p:nvPr/>
        </p:nvSpPr>
        <p:spPr>
          <a:xfrm>
            <a:off x="9070848" y="2542032"/>
            <a:ext cx="2542032" cy="1581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9448" y="2743200"/>
            <a:ext cx="2084831"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金融</a:t>
            </a:r>
          </a:p>
        </p:txBody>
      </p:sp>
      <p:sp>
        <p:nvSpPr>
          <p:cNvPr id="20" name="TextBox 19"/>
          <p:cNvSpPr txBox="1"/>
          <p:nvPr/>
        </p:nvSpPr>
        <p:spPr>
          <a:xfrm>
            <a:off x="9299448" y="3410711"/>
            <a:ext cx="2084831" cy="640080"/>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日本1社＋米国1社</a:t>
            </a:r>
          </a:p>
        </p:txBody>
      </p:sp>
      <p:sp>
        <p:nvSpPr>
          <p:cNvPr id="21" name="Rounded Rectangle 20"/>
          <p:cNvSpPr/>
          <p:nvPr/>
        </p:nvSpPr>
        <p:spPr>
          <a:xfrm>
            <a:off x="566928" y="4434840"/>
            <a:ext cx="11036808"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617720"/>
            <a:ext cx="9144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通貨</a:t>
            </a:r>
          </a:p>
        </p:txBody>
      </p:sp>
      <p:sp>
        <p:nvSpPr>
          <p:cNvPr id="23" name="TextBox 22"/>
          <p:cNvSpPr txBox="1"/>
          <p:nvPr/>
        </p:nvSpPr>
        <p:spPr>
          <a:xfrm>
            <a:off x="1783080" y="4617720"/>
            <a:ext cx="288036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JPY／USD → JPY</a:t>
            </a:r>
          </a:p>
        </p:txBody>
      </p:sp>
      <p:sp>
        <p:nvSpPr>
          <p:cNvPr id="24" name="TextBox 23"/>
          <p:cNvSpPr txBox="1"/>
          <p:nvPr/>
        </p:nvSpPr>
        <p:spPr>
          <a:xfrm>
            <a:off x="5010912" y="4617720"/>
            <a:ext cx="1371600" cy="32004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所有比率</a:t>
            </a:r>
          </a:p>
        </p:txBody>
      </p:sp>
      <p:sp>
        <p:nvSpPr>
          <p:cNvPr id="25" name="TextBox 24"/>
          <p:cNvSpPr txBox="1"/>
          <p:nvPr/>
        </p:nvSpPr>
        <p:spPr>
          <a:xfrm>
            <a:off x="6446520" y="4617720"/>
            <a:ext cx="4663440" cy="365760"/>
          </a:xfrm>
          <a:prstGeom prst="rect">
            <a:avLst/>
          </a:prstGeom>
          <a:noFill/>
        </p:spPr>
        <p:txBody>
          <a:bodyPr wrap="square" lIns="0" rIns="0" tIns="0" bIns="0">
            <a:spAutoFit/>
          </a:bodyPr>
          <a:lstStyle/>
          <a:p>
            <a:pPr>
              <a:spcAft>
                <a:spcPts val="500"/>
              </a:spcAft>
              <a:defRPr sz="2000" b="1">
                <a:solidFill>
                  <a:srgbClr val="21374A"/>
                </a:solidFill>
                <a:latin typeface="Yu Gothic"/>
              </a:defRPr>
            </a:pPr>
            <a:r>
              <a:rPr sz="2000" b="1" lang="ja-JP">
                <a:solidFill>
                  <a:srgbClr val="21374A"/>
                </a:solidFill>
                <a:latin typeface="Yu Gothic"/>
                <a:ea typeface="Yu Gothic"/>
              </a:rPr>
              <a:t>100%×4社／51%×4社</a:t>
            </a:r>
          </a:p>
        </p:txBody>
      </p:sp>
      <p:sp>
        <p:nvSpPr>
          <p:cNvPr id="26" name="TextBox 25"/>
          <p:cNvSpPr txBox="1"/>
          <p:nvPr/>
        </p:nvSpPr>
        <p:spPr>
          <a:xfrm>
            <a:off x="804672" y="5157216"/>
            <a:ext cx="10241280" cy="2743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為替は実データ（ECBが公開する日次の参考レート）。会社、契約、金額は架空。</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1  |  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100万円</a:t>
            </a:r>
          </a:p>
          <a:p>
            <a:pPr>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−60万円</a:t>
            </a:r>
          </a:p>
          <a:p>
            <a:pPr>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−25万円</a:t>
            </a:r>
          </a:p>
          <a:p>
            <a:pPr>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15万円</a:t>
            </a:r>
          </a:p>
          <a:p>
            <a:pPr>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2  |  前ページの15万円から続く説明用の例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3  |  子会社EBITDAが1億円の場合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営業向け基礎 4  |  レートは実データ、100万ドルは説明用の例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2  |  データ参照と実体照会を区別</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原本を分離した分析構成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会社ごとの原本と、共通の意味付けや集計のためのデータを区別します。</a:t>
            </a:r>
          </a:p>
          <a:p>
            <a:pPr>
              <a:spcAft>
                <a:spcPts val="500"/>
              </a:spcAft>
              <a:defRPr sz="1800" b="0">
                <a:solidFill>
                  <a:srgbClr val="566A78"/>
                </a:solidFill>
                <a:latin typeface="Yu Gothic"/>
              </a:defRPr>
            </a:pPr>
            <a:r>
              <a:rPr sz="1800" b="0" lang="ja-JP">
                <a:solidFill>
                  <a:srgbClr val="566A78"/>
                </a:solidFill>
                <a:latin typeface="Yu Gothic"/>
                <a:ea typeface="Yu Gothic"/>
              </a:rPr>
              <a:t>すべてをゼロコピーで処理する構成ではありません。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ゼロコピーは業種拡張8表への参照。semantic_*投影とGraphModelは実体化</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32</a:t>
            </a:r>
          </a:p>
        </p:txBody>
      </p:sp>
      <p:sp>
        <p:nvSpPr>
          <p:cNvPr id="9" name="Rounded Rectangle 8"/>
          <p:cNvSpPr/>
          <p:nvPr/>
        </p:nvSpPr>
        <p:spPr>
          <a:xfrm>
            <a:off x="566928" y="2670048"/>
            <a:ext cx="224028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871216"/>
            <a:ext cx="1783080"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子会社原本</a:t>
            </a:r>
          </a:p>
        </p:txBody>
      </p:sp>
      <p:sp>
        <p:nvSpPr>
          <p:cNvPr id="11" name="TextBox 10"/>
          <p:cNvSpPr txBox="1"/>
          <p:nvPr/>
        </p:nvSpPr>
        <p:spPr>
          <a:xfrm>
            <a:off x="795528" y="3538728"/>
            <a:ext cx="1783080"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 Lakehouse</a:t>
            </a:r>
          </a:p>
          <a:p>
            <a:pPr>
              <a:spcAft>
                <a:spcPts val="500"/>
              </a:spcAft>
              <a:defRPr sz="1800" b="0">
                <a:solidFill>
                  <a:srgbClr val="21374A"/>
                </a:solidFill>
                <a:latin typeface="Yu Gothic"/>
              </a:defRPr>
            </a:pPr>
            <a:r>
              <a:rPr sz="1800" b="0" lang="ja-JP">
                <a:solidFill>
                  <a:srgbClr val="21374A"/>
                </a:solidFill>
                <a:latin typeface="Yu Gothic"/>
                <a:ea typeface="Yu Gothic"/>
              </a:rPr>
              <a:t>会社ごとに分離</a:t>
            </a:r>
          </a:p>
          <a:p>
            <a:pPr>
              <a:spcAft>
                <a:spcPts val="500"/>
              </a:spcAft>
              <a:defRPr sz="1800" b="0">
                <a:solidFill>
                  <a:srgbClr val="21374A"/>
                </a:solidFill>
                <a:latin typeface="Yu Gothic"/>
              </a:defRPr>
            </a:pPr>
            <a:r>
              <a:rPr sz="1800" b="0" lang="ja-JP">
                <a:solidFill>
                  <a:srgbClr val="21374A"/>
                </a:solidFill>
                <a:latin typeface="Yu Gothic"/>
                <a:ea typeface="Yu Gothic"/>
              </a:rPr>
              <a:t/>
            </a:r>
          </a:p>
          <a:p>
            <a:pPr>
              <a:spcAft>
                <a:spcPts val="500"/>
              </a:spcAft>
              <a:defRPr sz="1800" b="0">
                <a:solidFill>
                  <a:srgbClr val="21374A"/>
                </a:solidFill>
                <a:latin typeface="Yu Gothic"/>
              </a:defRPr>
            </a:pPr>
            <a:r>
              <a:rPr sz="1800" b="0" lang="ja-JP">
                <a:solidFill>
                  <a:srgbClr val="21374A"/>
                </a:solidFill>
                <a:latin typeface="Yu Gothic"/>
                <a:ea typeface="Yu Gothic"/>
              </a:rPr>
              <a:t>親を含め計9個</a:t>
            </a:r>
          </a:p>
        </p:txBody>
      </p:sp>
      <p:sp>
        <p:nvSpPr>
          <p:cNvPr id="12" name="Rounded Rectangle 11"/>
          <p:cNvSpPr/>
          <p:nvPr/>
        </p:nvSpPr>
        <p:spPr>
          <a:xfrm>
            <a:off x="3346704" y="2560320"/>
            <a:ext cx="2962656"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761488"/>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共通の分析用投影</a:t>
            </a:r>
          </a:p>
        </p:txBody>
      </p:sp>
      <p:sp>
        <p:nvSpPr>
          <p:cNvPr id="14" name="TextBox 13"/>
          <p:cNvSpPr txBox="1"/>
          <p:nvPr/>
        </p:nvSpPr>
        <p:spPr>
          <a:xfrm>
            <a:off x="3575304" y="3429000"/>
            <a:ext cx="2505456"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分析用コピーを生成</a:t>
            </a:r>
          </a:p>
        </p:txBody>
      </p:sp>
      <p:sp>
        <p:nvSpPr>
          <p:cNvPr id="15" name="Rounded Rectangle 14"/>
          <p:cNvSpPr/>
          <p:nvPr/>
        </p:nvSpPr>
        <p:spPr>
          <a:xfrm>
            <a:off x="3346704" y="4279392"/>
            <a:ext cx="2962656"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480559"/>
            <a:ext cx="250545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業種別拡張の参照</a:t>
            </a:r>
          </a:p>
        </p:txBody>
      </p:sp>
      <p:sp>
        <p:nvSpPr>
          <p:cNvPr id="17" name="TextBox 16"/>
          <p:cNvSpPr txBox="1"/>
          <p:nvPr/>
        </p:nvSpPr>
        <p:spPr>
          <a:xfrm>
            <a:off x="3575304" y="5148072"/>
            <a:ext cx="2505456"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8表をゼロコピー参照</a:t>
            </a:r>
          </a:p>
        </p:txBody>
      </p:sp>
      <p:cxnSp>
        <p:nvCxnSpPr>
          <p:cNvPr id="18" name="Connector 17"/>
          <p:cNvCxnSpPr/>
          <p:nvPr/>
        </p:nvCxnSpPr>
        <p:spPr>
          <a:xfrm>
            <a:off x="2834640" y="3255264"/>
            <a:ext cx="44805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34640" y="4818888"/>
            <a:ext cx="448056" cy="0"/>
          </a:xfrm>
          <a:prstGeom prst="line">
            <a:avLst/>
          </a:prstGeom>
          <a:ln w="27940">
            <a:solidFill>
              <a:srgbClr val="566A7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30568" y="2560320"/>
            <a:ext cx="2130552" cy="304495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2779776"/>
            <a:ext cx="1783080" cy="365760"/>
          </a:xfrm>
          <a:prstGeom prst="rect">
            <a:avLst/>
          </a:prstGeom>
          <a:noFill/>
        </p:spPr>
        <p:txBody>
          <a:bodyPr wrap="square" lIns="0" rIns="0" tIns="0" bIns="0">
            <a:spAutoFit/>
          </a:bodyPr>
          <a:lstStyle/>
          <a:p>
            <a:pPr>
              <a:spcAft>
                <a:spcPts val="500"/>
              </a:spcAft>
              <a:defRPr sz="2300" b="1">
                <a:solidFill>
                  <a:srgbClr val="087F83"/>
                </a:solidFill>
                <a:latin typeface="Yu Gothic"/>
              </a:defRPr>
            </a:pPr>
            <a:r>
              <a:rPr sz="2300" b="1" lang="ja-JP">
                <a:solidFill>
                  <a:srgbClr val="087F83"/>
                </a:solidFill>
                <a:latin typeface="Yu Gothic"/>
                <a:ea typeface="Yu Gothic"/>
              </a:rPr>
              <a:t>Ontology</a:t>
            </a:r>
          </a:p>
        </p:txBody>
      </p:sp>
      <p:sp>
        <p:nvSpPr>
          <p:cNvPr id="22" name="TextBox 21"/>
          <p:cNvSpPr txBox="1"/>
          <p:nvPr/>
        </p:nvSpPr>
        <p:spPr>
          <a:xfrm>
            <a:off x="7040880" y="3300984"/>
            <a:ext cx="1737360" cy="100584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実体と関係の定義</a:t>
            </a:r>
          </a:p>
          <a:p>
            <a:pPr>
              <a:spcAft>
                <a:spcPts val="500"/>
              </a:spcAft>
              <a:defRPr sz="1700" b="0">
                <a:solidFill>
                  <a:srgbClr val="21374A"/>
                </a:solidFill>
                <a:latin typeface="Yu Gothic"/>
              </a:defRPr>
            </a:pPr>
            <a:r>
              <a:rPr sz="1700" b="0" lang="ja-JP">
                <a:solidFill>
                  <a:srgbClr val="21374A"/>
                </a:solidFill>
                <a:latin typeface="Yu Gothic"/>
                <a:ea typeface="Yu Gothic"/>
              </a:rPr>
              <a:t>＋表への対応付け</a:t>
            </a:r>
          </a:p>
        </p:txBody>
      </p:sp>
      <p:sp>
        <p:nvSpPr>
          <p:cNvPr id="23" name="TextBox 22"/>
          <p:cNvSpPr txBox="1"/>
          <p:nvPr/>
        </p:nvSpPr>
        <p:spPr>
          <a:xfrm>
            <a:off x="7040880" y="4517136"/>
            <a:ext cx="1737360" cy="77724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GraphModel</a:t>
            </a:r>
          </a:p>
          <a:p>
            <a:pPr>
              <a:spcAft>
                <a:spcPts val="500"/>
              </a:spcAft>
              <a:defRPr sz="1700" b="1">
                <a:solidFill>
                  <a:srgbClr val="087F83"/>
                </a:solidFill>
                <a:latin typeface="Yu Gothic"/>
              </a:defRPr>
            </a:pPr>
            <a:r>
              <a:rPr sz="1700" b="1" lang="ja-JP">
                <a:solidFill>
                  <a:srgbClr val="087F83"/>
                </a:solidFill>
                <a:latin typeface="Yu Gothic"/>
                <a:ea typeface="Yu Gothic"/>
              </a:rPr>
              <a:t>実体化したグラフ</a:t>
            </a:r>
          </a:p>
        </p:txBody>
      </p:sp>
      <p:cxnSp>
        <p:nvCxnSpPr>
          <p:cNvPr id="24" name="Connector 23"/>
          <p:cNvCxnSpPr/>
          <p:nvPr/>
        </p:nvCxnSpPr>
        <p:spPr>
          <a:xfrm>
            <a:off x="6355080" y="3255264"/>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355080" y="4818888"/>
            <a:ext cx="41148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454896" y="2560320"/>
            <a:ext cx="2157984"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83496" y="2761488"/>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Fabric DA</a:t>
            </a:r>
          </a:p>
        </p:txBody>
      </p:sp>
      <p:sp>
        <p:nvSpPr>
          <p:cNvPr id="28" name="TextBox 27"/>
          <p:cNvSpPr txBox="1"/>
          <p:nvPr/>
        </p:nvSpPr>
        <p:spPr>
          <a:xfrm>
            <a:off x="9683496" y="3429000"/>
            <a:ext cx="1700784" cy="47548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金額集計／説明</a:t>
            </a:r>
          </a:p>
        </p:txBody>
      </p:sp>
      <p:sp>
        <p:nvSpPr>
          <p:cNvPr id="29" name="Rounded Rectangle 28"/>
          <p:cNvSpPr/>
          <p:nvPr/>
        </p:nvSpPr>
        <p:spPr>
          <a:xfrm>
            <a:off x="9454896" y="4279392"/>
            <a:ext cx="2157984" cy="1325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83496" y="4480559"/>
            <a:ext cx="17007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Notebook</a:t>
            </a:r>
          </a:p>
        </p:txBody>
      </p:sp>
      <p:sp>
        <p:nvSpPr>
          <p:cNvPr id="31" name="TextBox 30"/>
          <p:cNvSpPr txBox="1"/>
          <p:nvPr/>
        </p:nvSpPr>
        <p:spPr>
          <a:xfrm>
            <a:off x="9683496" y="5148072"/>
            <a:ext cx="1700784" cy="38404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GQL経路＋DAG</a:t>
            </a:r>
          </a:p>
        </p:txBody>
      </p:sp>
      <p:cxnSp>
        <p:nvCxnSpPr>
          <p:cNvPr id="32" name="Connector 31"/>
          <p:cNvCxnSpPr/>
          <p:nvPr/>
        </p:nvCxnSpPr>
        <p:spPr>
          <a:xfrm>
            <a:off x="8988552" y="3255264"/>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88552" y="4818888"/>
            <a:ext cx="402336"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3  |  用語は名前より役割で説明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入力①に対応する参考結果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09</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入力②に対応する参考結果  |  保存データから再作成</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入力③に対応する参考結果  |  保存監査値を要約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84効果</a:t>
            </a:r>
          </a:p>
          <a:p>
            <a:pPr>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46320"/>
            <a:ext cx="10515600" cy="932688"/>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根拠：SUB_FOD_JP_01_FOD_NEG_0    活動：SUB_FOD_JP_01_A133_0</a:t>
            </a:r>
          </a:p>
          <a:p>
            <a:pPr>
              <a:spcAft>
                <a:spcPts val="500"/>
              </a:spcAft>
              <a:defRPr sz="1250" b="0">
                <a:solidFill>
                  <a:srgbClr val="566A78"/>
                </a:solidFill>
                <a:latin typeface="Yu Gothic"/>
              </a:defRPr>
            </a:pPr>
            <a:r>
              <a:rPr sz="1250" b="0" lang="ja-JP">
                <a:solidFill>
                  <a:srgbClr val="566A78"/>
                </a:solidFill>
                <a:latin typeface="Yu Gothic"/>
                <a:ea typeface="Yu Gothic"/>
              </a:rPr>
              <a:t>契約：SUB_FOD_JP_01_C04    効果：SUB_FOD_JP_01_A133_0_FOD_NEG_F</a:t>
            </a:r>
          </a:p>
          <a:p>
            <a:pPr>
              <a:spcAft>
                <a:spcPts val="500"/>
              </a:spcAft>
              <a:defRPr sz="1250" b="0">
                <a:solidFill>
                  <a:srgbClr val="566A78"/>
                </a:solidFill>
                <a:latin typeface="Yu Gothic"/>
              </a:defRPr>
            </a:pPr>
            <a:r>
              <a:rPr sz="1250" b="0" lang="ja-JP">
                <a:solidFill>
                  <a:srgbClr val="566A78"/>
                </a:solidFill>
                <a:latin typeface="Yu Gothic"/>
                <a:ea typeface="Yu Gothic"/>
              </a:rPr>
              <a:t>日次指標：SUB_FOD_JP_01_2026-02-11_ebitda_actual</a:t>
            </a:r>
          </a:p>
          <a:p>
            <a:pPr>
              <a:spcAft>
                <a:spcPts val="500"/>
              </a:spcAft>
              <a:defRPr sz="1250" b="0">
                <a:solidFill>
                  <a:srgbClr val="566A78"/>
                </a:solidFill>
                <a:latin typeface="Yu Gothic"/>
              </a:defRPr>
            </a:pPr>
            <a:r>
              <a:rPr sz="1250" b="0" lang="ja-JP">
                <a:solidFill>
                  <a:srgbClr val="566A78"/>
                </a:solidFill>
                <a:latin typeface="Yu Gothic"/>
                <a:ea typeface="Yu Gothic"/>
              </a:rPr>
              <a:t>全社KPI：2026-02-11_EBITDA_FULL_CONSOLIDATED_actual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ライブ操作  |  Step03 Notebookの先頭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14</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Step03の読み方  |  関係名を日本語で説明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18888"/>
            <a:ext cx="2971800" cy="365760"/>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4407408" y="4818888"/>
            <a:ext cx="3200400" cy="365760"/>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0" name="TextBox 29"/>
          <p:cNvSpPr txBox="1"/>
          <p:nvPr/>
        </p:nvSpPr>
        <p:spPr>
          <a:xfrm>
            <a:off x="8055864" y="4818888"/>
            <a:ext cx="3200400" cy="365760"/>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根拠、販売活動、契約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代表記録から読める範囲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食品損失という名称だけで、温度逸脱や腐敗原因までは断定できません。</a:t>
            </a:r>
          </a:p>
          <a:p>
            <a:pPr>
              <a:spcAft>
                <a:spcPts val="500"/>
              </a:spcAft>
              <a:defRPr sz="1800" b="0">
                <a:solidFill>
                  <a:srgbClr val="566A78"/>
                </a:solidFill>
                <a:latin typeface="Yu Gothic"/>
              </a:defRPr>
            </a:pPr>
            <a:r>
              <a:rPr sz="1800" b="0" lang="ja-JP">
                <a:solidFill>
                  <a:srgbClr val="566A78"/>
                </a:solidFill>
                <a:latin typeface="Yu Gothic"/>
                <a:ea typeface="Yu Gothic"/>
              </a:rPr>
              <a:t>図に出ている値と、データに存在しない条件を分けて説明します。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許容温度、閾値超過、実世界の腐敗原因は未記録。説明者の推測で補わない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76072"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観測記録</a:t>
            </a:r>
          </a:p>
        </p:txBody>
      </p:sp>
      <p:sp>
        <p:nvSpPr>
          <p:cNvPr id="11" name="TextBox 10"/>
          <p:cNvSpPr txBox="1"/>
          <p:nvPr/>
        </p:nvSpPr>
        <p:spPr>
          <a:xfrm>
            <a:off x="804672"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-18.0 ℃</a:t>
            </a:r>
          </a:p>
          <a:p>
            <a:pPr>
              <a:spcAft>
                <a:spcPts val="500"/>
              </a:spcAft>
              <a:defRPr sz="1800" b="0">
                <a:solidFill>
                  <a:srgbClr val="21374A"/>
                </a:solidFill>
                <a:latin typeface="Yu Gothic"/>
              </a:defRPr>
            </a:pPr>
            <a:r>
              <a:rPr sz="1800" b="0" lang="ja-JP">
                <a:solidFill>
                  <a:srgbClr val="21374A"/>
                </a:solidFill>
                <a:latin typeface="Yu Gothic"/>
                <a:ea typeface="Yu Gothic"/>
              </a:rPr>
              <a:t>廃棄率 3.5%</a:t>
            </a:r>
          </a:p>
          <a:p>
            <a:pPr>
              <a:spcAft>
                <a:spcPts val="500"/>
              </a:spcAft>
              <a:defRPr sz="1800" b="0">
                <a:solidFill>
                  <a:srgbClr val="21374A"/>
                </a:solidFill>
                <a:latin typeface="Yu Gothic"/>
              </a:defRPr>
            </a:pPr>
            <a:r>
              <a:rPr sz="1800" b="0" lang="ja-JP">
                <a:solidFill>
                  <a:srgbClr val="21374A"/>
                </a:solidFill>
                <a:latin typeface="Yu Gothic"/>
                <a:ea typeface="Yu Gothic"/>
              </a:rPr>
              <a:t>2026-02-11</a:t>
            </a:r>
          </a:p>
        </p:txBody>
      </p:sp>
      <p:sp>
        <p:nvSpPr>
          <p:cNvPr id="12" name="Rounded Rectangle 11"/>
          <p:cNvSpPr/>
          <p:nvPr/>
        </p:nvSpPr>
        <p:spPr>
          <a:xfrm>
            <a:off x="4361688"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販売活動と契約</a:t>
            </a:r>
          </a:p>
        </p:txBody>
      </p:sp>
      <p:sp>
        <p:nvSpPr>
          <p:cNvPr id="14" name="TextBox 13"/>
          <p:cNvSpPr txBox="1"/>
          <p:nvPr/>
        </p:nvSpPr>
        <p:spPr>
          <a:xfrm>
            <a:off x="4590288"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日本の食品会社</a:t>
            </a:r>
          </a:p>
          <a:p>
            <a:pPr>
              <a:spcAft>
                <a:spcPts val="500"/>
              </a:spcAft>
              <a:defRPr sz="1800" b="0">
                <a:solidFill>
                  <a:srgbClr val="21374A"/>
                </a:solidFill>
                <a:latin typeface="Yu Gothic"/>
              </a:defRPr>
            </a:pPr>
            <a:r>
              <a:rPr sz="1800" b="0" lang="ja-JP">
                <a:solidFill>
                  <a:srgbClr val="21374A"/>
                </a:solidFill>
                <a:latin typeface="Yu Gothic"/>
                <a:ea typeface="Yu Gothic"/>
              </a:rPr>
              <a:t>外部販売</a:t>
            </a:r>
          </a:p>
          <a:p>
            <a:pPr>
              <a:spcAft>
                <a:spcPts val="500"/>
              </a:spcAft>
              <a:defRPr sz="1800" b="0">
                <a:solidFill>
                  <a:srgbClr val="21374A"/>
                </a:solidFill>
                <a:latin typeface="Yu Gothic"/>
              </a:defRPr>
            </a:pPr>
            <a:r>
              <a:rPr sz="1800" b="0" lang="ja-JP">
                <a:solidFill>
                  <a:srgbClr val="21374A"/>
                </a:solidFill>
                <a:latin typeface="Yu Gothic"/>
                <a:ea typeface="Yu Gothic"/>
              </a:rPr>
              <a:t>製粉用小麦</a:t>
            </a:r>
          </a:p>
        </p:txBody>
      </p:sp>
      <p:sp>
        <p:nvSpPr>
          <p:cNvPr id="15" name="Rounded Rectangle 14"/>
          <p:cNvSpPr/>
          <p:nvPr/>
        </p:nvSpPr>
        <p:spPr>
          <a:xfrm>
            <a:off x="8147304" y="2551176"/>
            <a:ext cx="3456432" cy="26609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根拠の性質</a:t>
            </a:r>
          </a:p>
        </p:txBody>
      </p:sp>
      <p:sp>
        <p:nvSpPr>
          <p:cNvPr id="17" name="TextBox 16"/>
          <p:cNvSpPr txBox="1"/>
          <p:nvPr/>
        </p:nvSpPr>
        <p:spPr>
          <a:xfrm>
            <a:off x="8375904" y="3419856"/>
            <a:ext cx="2999232" cy="1719072"/>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SIM:// の架空ログ</a:t>
            </a:r>
          </a:p>
          <a:p>
            <a:pPr>
              <a:spcAft>
                <a:spcPts val="500"/>
              </a:spcAft>
              <a:defRPr sz="1800" b="0">
                <a:solidFill>
                  <a:srgbClr val="21374A"/>
                </a:solidFill>
                <a:latin typeface="Yu Gothic"/>
              </a:defRPr>
            </a:pPr>
            <a:r>
              <a:rPr sz="1800" b="0" lang="ja-JP">
                <a:solidFill>
                  <a:srgbClr val="21374A"/>
                </a:solidFill>
                <a:latin typeface="Yu Gothic"/>
                <a:ea typeface="Yu Gothic"/>
              </a:rPr>
              <a:t>SYNTHETICを明記</a:t>
            </a:r>
          </a:p>
          <a:p>
            <a:pPr>
              <a:spcAft>
                <a:spcPts val="500"/>
              </a:spcAft>
              <a:defRPr sz="1800" b="0">
                <a:solidFill>
                  <a:srgbClr val="21374A"/>
                </a:solidFill>
                <a:latin typeface="Yu Gothic"/>
              </a:defRPr>
            </a:pPr>
            <a:r>
              <a:rPr sz="1800" b="0" lang="ja-JP">
                <a:solidFill>
                  <a:srgbClr val="21374A"/>
                </a:solidFill>
                <a:latin typeface="Yu Gothic"/>
                <a:ea typeface="Yu Gothic"/>
              </a:rPr>
              <a:t>設計したcost影響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Step03の説明  |  数字の読み違いを防止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4つの金額は合算しない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イベントの影響額と、日次の損益総額は集計の粒度が違います。</a:t>
            </a:r>
          </a:p>
          <a:p>
            <a:pPr>
              <a:spcAft>
                <a:spcPts val="500"/>
              </a:spcAft>
              <a:defRPr sz="1800" b="0">
                <a:solidFill>
                  <a:srgbClr val="566A78"/>
                </a:solidFill>
                <a:latin typeface="Yu Gothic"/>
              </a:defRPr>
            </a:pPr>
            <a:r>
              <a:rPr sz="1800" b="0" lang="ja-JP">
                <a:solidFill>
                  <a:srgbClr val="566A78"/>
                </a:solidFill>
                <a:latin typeface="Yu Gothic"/>
                <a:ea typeface="Yu Gothic"/>
              </a:rPr>
              <a:t>損失イベントがあっても、当日の全社EBITDAはプラスになり得ます。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上段はイベント差分、下段は日次actual総額。対象範囲を必ず添えて発話</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17</a:t>
            </a:r>
          </a:p>
        </p:txBody>
      </p:sp>
      <p:sp>
        <p:nvSpPr>
          <p:cNvPr id="9" name="Rounded Rectangle 8"/>
          <p:cNvSpPr/>
          <p:nvPr/>
        </p:nvSpPr>
        <p:spPr>
          <a:xfrm>
            <a:off x="585216"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651760"/>
            <a:ext cx="4937760" cy="310896"/>
          </a:xfrm>
          <a:prstGeom prst="rect">
            <a:avLst/>
          </a:prstGeom>
          <a:noFill/>
        </p:spPr>
        <p:txBody>
          <a:bodyPr wrap="square" lIns="0" rIns="0" tIns="0" bIns="0">
            <a:spAutoFit/>
          </a:bodyPr>
          <a:lstStyle/>
          <a:p>
            <a:pPr>
              <a:spcAft>
                <a:spcPts val="500"/>
              </a:spcAft>
              <a:defRPr sz="1800" b="1">
                <a:solidFill>
                  <a:srgbClr val="BD4354"/>
                </a:solidFill>
                <a:latin typeface="Yu Gothic"/>
              </a:defRPr>
            </a:pPr>
            <a:r>
              <a:rPr sz="1800" b="1" lang="ja-JP">
                <a:solidFill>
                  <a:srgbClr val="BD4354"/>
                </a:solidFill>
                <a:latin typeface="Yu Gothic"/>
                <a:ea typeface="Yu Gothic"/>
              </a:rPr>
              <a:t>イベント全体／84効果</a:t>
            </a:r>
          </a:p>
        </p:txBody>
      </p:sp>
      <p:sp>
        <p:nvSpPr>
          <p:cNvPr id="11" name="TextBox 10"/>
          <p:cNvSpPr txBox="1"/>
          <p:nvPr/>
        </p:nvSpPr>
        <p:spPr>
          <a:xfrm>
            <a:off x="786384" y="3081528"/>
            <a:ext cx="4937760" cy="420624"/>
          </a:xfrm>
          <a:prstGeom prst="rect">
            <a:avLst/>
          </a:prstGeom>
          <a:noFill/>
        </p:spPr>
        <p:txBody>
          <a:bodyPr wrap="square" lIns="0" rIns="0" tIns="0" bIns="0">
            <a:spAutoFit/>
          </a:bodyPr>
          <a:lstStyle/>
          <a:p>
            <a:pPr>
              <a:spcAft>
                <a:spcPts val="500"/>
              </a:spcAft>
              <a:defRPr sz="2600" b="1">
                <a:solidFill>
                  <a:srgbClr val="BD4354"/>
                </a:solidFill>
                <a:latin typeface="Yu Gothic"/>
              </a:defRPr>
            </a:pPr>
            <a:r>
              <a:rPr sz="2600" b="1" lang="ja-JP">
                <a:solidFill>
                  <a:srgbClr val="BD4354"/>
                </a:solidFill>
                <a:latin typeface="Yu Gothic"/>
                <a:ea typeface="Yu Gothic"/>
              </a:rPr>
              <a:t>-114,461,186.25 円</a:t>
            </a:r>
          </a:p>
        </p:txBody>
      </p:sp>
      <p:sp>
        <p:nvSpPr>
          <p:cNvPr id="12" name="TextBox 11"/>
          <p:cNvSpPr txBox="1"/>
          <p:nvPr/>
        </p:nvSpPr>
        <p:spPr>
          <a:xfrm>
            <a:off x="786384"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期間全体のFOD_NEG</a:t>
            </a:r>
          </a:p>
        </p:txBody>
      </p:sp>
      <p:sp>
        <p:nvSpPr>
          <p:cNvPr id="13" name="Rounded Rectangle 12"/>
          <p:cNvSpPr/>
          <p:nvPr/>
        </p:nvSpPr>
        <p:spPr>
          <a:xfrm>
            <a:off x="6272784" y="251460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2651760"/>
            <a:ext cx="4937760" cy="310896"/>
          </a:xfrm>
          <a:prstGeom prst="rect">
            <a:avLst/>
          </a:prstGeom>
          <a:noFill/>
        </p:spPr>
        <p:txBody>
          <a:bodyPr wrap="square" lIns="0" rIns="0" tIns="0" bIns="0">
            <a:spAutoFit/>
          </a:bodyPr>
          <a:lstStyle/>
          <a:p>
            <a:pPr>
              <a:spcAft>
                <a:spcPts val="500"/>
              </a:spcAft>
              <a:defRPr sz="1800" b="1">
                <a:solidFill>
                  <a:srgbClr val="7352AD"/>
                </a:solidFill>
                <a:latin typeface="Yu Gothic"/>
              </a:defRPr>
            </a:pPr>
            <a:r>
              <a:rPr sz="1800" b="1" lang="ja-JP">
                <a:solidFill>
                  <a:srgbClr val="7352AD"/>
                </a:solidFill>
                <a:latin typeface="Yu Gothic"/>
                <a:ea typeface="Yu Gothic"/>
              </a:rPr>
              <a:t>代表する1効果</a:t>
            </a:r>
          </a:p>
        </p:txBody>
      </p:sp>
      <p:sp>
        <p:nvSpPr>
          <p:cNvPr id="15" name="TextBox 14"/>
          <p:cNvSpPr txBox="1"/>
          <p:nvPr/>
        </p:nvSpPr>
        <p:spPr>
          <a:xfrm>
            <a:off x="6473952" y="3081528"/>
            <a:ext cx="4937760" cy="420624"/>
          </a:xfrm>
          <a:prstGeom prst="rect">
            <a:avLst/>
          </a:prstGeom>
          <a:noFill/>
        </p:spPr>
        <p:txBody>
          <a:bodyPr wrap="square" lIns="0" rIns="0" tIns="0" bIns="0">
            <a:spAutoFit/>
          </a:bodyPr>
          <a:lstStyle/>
          <a:p>
            <a:pPr>
              <a:spcAft>
                <a:spcPts val="500"/>
              </a:spcAft>
              <a:defRPr sz="2600" b="1">
                <a:solidFill>
                  <a:srgbClr val="7352AD"/>
                </a:solidFill>
                <a:latin typeface="Yu Gothic"/>
              </a:defRPr>
            </a:pPr>
            <a:r>
              <a:rPr sz="2600" b="1" lang="ja-JP">
                <a:solidFill>
                  <a:srgbClr val="7352AD"/>
                </a:solidFill>
                <a:latin typeface="Yu Gothic"/>
                <a:ea typeface="Yu Gothic"/>
              </a:rPr>
              <a:t>-3,003,488.94 円</a:t>
            </a:r>
          </a:p>
        </p:txBody>
      </p:sp>
      <p:sp>
        <p:nvSpPr>
          <p:cNvPr id="16" name="TextBox 15"/>
          <p:cNvSpPr txBox="1"/>
          <p:nvPr/>
        </p:nvSpPr>
        <p:spPr>
          <a:xfrm>
            <a:off x="6473952" y="3593591"/>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2026-02-11／日本食品会社</a:t>
            </a:r>
          </a:p>
        </p:txBody>
      </p:sp>
      <p:sp>
        <p:nvSpPr>
          <p:cNvPr id="17" name="Rounded Rectangle 16"/>
          <p:cNvSpPr/>
          <p:nvPr/>
        </p:nvSpPr>
        <p:spPr>
          <a:xfrm>
            <a:off x="585216"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同日の会社EBITDA</a:t>
            </a:r>
          </a:p>
        </p:txBody>
      </p:sp>
      <p:sp>
        <p:nvSpPr>
          <p:cNvPr id="19" name="TextBox 18"/>
          <p:cNvSpPr txBox="1"/>
          <p:nvPr/>
        </p:nvSpPr>
        <p:spPr>
          <a:xfrm>
            <a:off x="786384"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+3,711,231.19 円</a:t>
            </a:r>
          </a:p>
        </p:txBody>
      </p:sp>
      <p:sp>
        <p:nvSpPr>
          <p:cNvPr id="20" name="TextBox 19"/>
          <p:cNvSpPr txBox="1"/>
          <p:nvPr/>
        </p:nvSpPr>
        <p:spPr>
          <a:xfrm>
            <a:off x="786384"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2026-02-11／会社actual総額</a:t>
            </a:r>
          </a:p>
        </p:txBody>
      </p:sp>
      <p:sp>
        <p:nvSpPr>
          <p:cNvPr id="21" name="Rounded Rectangle 20"/>
          <p:cNvSpPr/>
          <p:nvPr/>
        </p:nvSpPr>
        <p:spPr>
          <a:xfrm>
            <a:off x="6272784" y="4251960"/>
            <a:ext cx="5330952" cy="14447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4389120"/>
            <a:ext cx="4937760" cy="310896"/>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同日の全社EBITDA</a:t>
            </a:r>
          </a:p>
        </p:txBody>
      </p:sp>
      <p:sp>
        <p:nvSpPr>
          <p:cNvPr id="23" name="TextBox 22"/>
          <p:cNvSpPr txBox="1"/>
          <p:nvPr/>
        </p:nvSpPr>
        <p:spPr>
          <a:xfrm>
            <a:off x="6473952" y="4818888"/>
            <a:ext cx="4937760" cy="420624"/>
          </a:xfrm>
          <a:prstGeom prst="rect">
            <a:avLst/>
          </a:prstGeom>
          <a:noFill/>
        </p:spPr>
        <p:txBody>
          <a:bodyPr wrap="square" lIns="0" rIns="0" tIns="0" bIns="0">
            <a:spAutoFit/>
          </a:bodyPr>
          <a:lstStyle/>
          <a:p>
            <a:pPr>
              <a:spcAft>
                <a:spcPts val="500"/>
              </a:spcAft>
              <a:defRPr sz="2600" b="1">
                <a:solidFill>
                  <a:srgbClr val="087F83"/>
                </a:solidFill>
                <a:latin typeface="Yu Gothic"/>
              </a:defRPr>
            </a:pPr>
            <a:r>
              <a:rPr sz="2600" b="1" lang="ja-JP">
                <a:solidFill>
                  <a:srgbClr val="087F83"/>
                </a:solidFill>
                <a:latin typeface="Yu Gothic"/>
                <a:ea typeface="Yu Gothic"/>
              </a:rPr>
              <a:t>+113,069,201.90 円</a:t>
            </a:r>
          </a:p>
        </p:txBody>
      </p:sp>
      <p:sp>
        <p:nvSpPr>
          <p:cNvPr id="24" name="TextBox 23"/>
          <p:cNvSpPr txBox="1"/>
          <p:nvPr/>
        </p:nvSpPr>
        <p:spPr>
          <a:xfrm>
            <a:off x="6473952" y="5330952"/>
            <a:ext cx="493776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2026-02-11／全8社actual総額</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8  |  技術質問が出たときに使用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関係照会と金額照合を分離</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グラフは関係や経路の確認に使い、厳密な金額はDECIMALで計算します。</a:t>
            </a:r>
          </a:p>
          <a:p>
            <a:pPr>
              <a:spcAft>
                <a:spcPts val="500"/>
              </a:spcAft>
              <a:defRPr sz="1800" b="0">
                <a:solidFill>
                  <a:srgbClr val="566A78"/>
                </a:solidFill>
                <a:latin typeface="Yu Gothic"/>
              </a:defRPr>
            </a:pPr>
            <a:r>
              <a:rPr sz="1800" b="0" lang="ja-JP">
                <a:solidFill>
                  <a:srgbClr val="566A78"/>
                </a:solidFill>
                <a:latin typeface="Yu Gothic"/>
                <a:ea typeface="Yu Gothic"/>
              </a:rPr>
              <a:t>画面上の一つの結果に、役割の異なる二つの確認処理を合わせています。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認証失敗、空結果、ID不一致、金額不一致では停止。静的な成功図に代替しない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Rounded Rectangle 8"/>
          <p:cNvSpPr/>
          <p:nvPr/>
        </p:nvSpPr>
        <p:spPr>
          <a:xfrm>
            <a:off x="585216"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GQL：実体と関係</a:t>
            </a:r>
          </a:p>
        </p:txBody>
      </p:sp>
      <p:sp>
        <p:nvSpPr>
          <p:cNvPr id="11" name="TextBox 10"/>
          <p:cNvSpPr txBox="1"/>
          <p:nvPr/>
        </p:nvSpPr>
        <p:spPr>
          <a:xfrm>
            <a:off x="813816"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GraphModelに2回照会</a:t>
            </a:r>
          </a:p>
          <a:p>
            <a:pPr>
              <a:spcAft>
                <a:spcPts val="500"/>
              </a:spcAft>
              <a:defRPr sz="1800" b="0">
                <a:solidFill>
                  <a:srgbClr val="21374A"/>
                </a:solidFill>
                <a:latin typeface="Yu Gothic"/>
              </a:defRPr>
            </a:pPr>
            <a:r>
              <a:rPr sz="1800" b="0" lang="ja-JP">
                <a:solidFill>
                  <a:srgbClr val="21374A"/>
                </a:solidFill>
                <a:latin typeface="Yu Gothic"/>
                <a:ea typeface="Yu Gothic"/>
              </a:rPr>
              <a:t>食品の84効果と関係を取得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代表1活動の観測も取得</a:t>
            </a:r>
          </a:p>
        </p:txBody>
      </p:sp>
      <p:sp>
        <p:nvSpPr>
          <p:cNvPr id="12" name="Rounded Rectangle 11"/>
          <p:cNvSpPr/>
          <p:nvPr/>
        </p:nvSpPr>
        <p:spPr>
          <a:xfrm>
            <a:off x="6272784" y="2551176"/>
            <a:ext cx="5330952"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01384" y="2752344"/>
            <a:ext cx="48737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Spark：金額を正確に照合</a:t>
            </a:r>
          </a:p>
        </p:txBody>
      </p:sp>
      <p:sp>
        <p:nvSpPr>
          <p:cNvPr id="14" name="TextBox 13"/>
          <p:cNvSpPr txBox="1"/>
          <p:nvPr/>
        </p:nvSpPr>
        <p:spPr>
          <a:xfrm>
            <a:off x="6501384" y="3419856"/>
            <a:ext cx="4873752" cy="125272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DeltaのDECIMAL値を参照</a:t>
            </a:r>
          </a:p>
          <a:p>
            <a:pPr>
              <a:spcAft>
                <a:spcPts val="500"/>
              </a:spcAft>
              <a:defRPr sz="1800" b="0">
                <a:solidFill>
                  <a:srgbClr val="21374A"/>
                </a:solidFill>
                <a:latin typeface="Yu Gothic"/>
              </a:defRPr>
            </a:pPr>
            <a:r>
              <a:rPr sz="1800" b="0" lang="ja-JP">
                <a:solidFill>
                  <a:srgbClr val="21374A"/>
                </a:solidFill>
                <a:latin typeface="Yu Gothic"/>
                <a:ea typeface="Yu Gothic"/>
              </a:rPr>
              <a:t>効果、会社日次、全社日次を区別</a:t>
            </a:r>
          </a:p>
          <a:p>
            <a:pPr>
              <a:spcAft>
                <a:spcPts val="500"/>
              </a:spcAft>
              <a:defRPr sz="1800" b="0">
                <a:solidFill>
                  <a:srgbClr val="21374A"/>
                </a:solidFill>
                <a:latin typeface="Yu Gothic"/>
              </a:defRPr>
            </a:pPr>
            <a:r>
              <a:rPr sz="1800" b="0" lang="ja-JP">
                <a:solidFill>
                  <a:srgbClr val="21374A"/>
                </a:solidFill>
                <a:latin typeface="Yu Gothic"/>
                <a:ea typeface="Yu Gothic"/>
              </a:rPr>
              <a:t>effect_idを重複なく集計</a:t>
            </a:r>
          </a:p>
        </p:txBody>
      </p:sp>
      <p:cxnSp>
        <p:nvCxnSpPr>
          <p:cNvPr id="15" name="Connector 14"/>
          <p:cNvCxnSpPr/>
          <p:nvPr/>
        </p:nvCxnSpPr>
        <p:spPr>
          <a:xfrm>
            <a:off x="3255264"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800600"/>
            <a:ext cx="0" cy="39319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53312" y="5257800"/>
            <a:ext cx="9482328" cy="45720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5367528"/>
            <a:ext cx="9089136" cy="274320"/>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84効果のID集合と金額の一致 → 代表経路のHTML／SVGを保存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操作手順  |  HTML先頭の設計を維持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Notebookは保存結果から開始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説明中に再実行を待つ必要がないように、HTMLを先頭に残しています。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最新のGraphを読み直す操作は、保存結果の閲覧と分けて行います。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DAへの入力  |  枠内の全文をコピー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入力④に対応する参考結果  |  表は元データから再作成、優先度はDA実行例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入力④に対応する応答  |  説明者の実行例（2026-10-26）を要約</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締め  |  誇張せず伝える業務価値</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説明の価値と追加質問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同じ数値をSQL JOINで求めること自体は可能です。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このデモは、会社を跨ぐ意味や関係を共有し、金額と根拠を照合する例です。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次の確認：別イベントでも同じ定義と根拠の確認順を再利用できるか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76072"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指標定義の共有</a:t>
            </a:r>
          </a:p>
        </p:txBody>
      </p:sp>
      <p:sp>
        <p:nvSpPr>
          <p:cNvPr id="11" name="TextBox 10"/>
          <p:cNvSpPr txBox="1"/>
          <p:nvPr/>
        </p:nvSpPr>
        <p:spPr>
          <a:xfrm>
            <a:off x="804672"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全額／持分管理を区別</a:t>
            </a:r>
          </a:p>
          <a:p>
            <a:pPr>
              <a:spcAft>
                <a:spcPts val="500"/>
              </a:spcAft>
              <a:defRPr sz="1800" b="0">
                <a:solidFill>
                  <a:srgbClr val="21374A"/>
                </a:solidFill>
                <a:latin typeface="Yu Gothic"/>
              </a:defRPr>
            </a:pPr>
            <a:r>
              <a:rPr sz="1800" b="0" lang="ja-JP">
                <a:solidFill>
                  <a:srgbClr val="21374A"/>
                </a:solidFill>
                <a:latin typeface="Yu Gothic"/>
                <a:ea typeface="Yu Gothic"/>
              </a:rPr>
              <a:t>actual／baselineを区別</a:t>
            </a:r>
          </a:p>
          <a:p>
            <a:pPr>
              <a:spcAft>
                <a:spcPts val="500"/>
              </a:spcAft>
              <a:defRPr sz="1800" b="0">
                <a:solidFill>
                  <a:srgbClr val="21374A"/>
                </a:solidFill>
                <a:latin typeface="Yu Gothic"/>
              </a:defRPr>
            </a:pPr>
            <a:r>
              <a:rPr sz="1800" b="0" lang="ja-JP">
                <a:solidFill>
                  <a:srgbClr val="21374A"/>
                </a:solidFill>
                <a:latin typeface="Yu Gothic"/>
                <a:ea typeface="Yu Gothic"/>
              </a:rPr>
              <a:t>JPYで比較</a:t>
            </a:r>
          </a:p>
        </p:txBody>
      </p:sp>
      <p:sp>
        <p:nvSpPr>
          <p:cNvPr id="12" name="Rounded Rectangle 11"/>
          <p:cNvSpPr/>
          <p:nvPr/>
        </p:nvSpPr>
        <p:spPr>
          <a:xfrm>
            <a:off x="4361688"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根拠までの追跡</a:t>
            </a:r>
          </a:p>
        </p:txBody>
      </p:sp>
      <p:sp>
        <p:nvSpPr>
          <p:cNvPr id="14" name="TextBox 13"/>
          <p:cNvSpPr txBox="1"/>
          <p:nvPr/>
        </p:nvSpPr>
        <p:spPr>
          <a:xfrm>
            <a:off x="4590288"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イベントの説明</a:t>
            </a:r>
          </a:p>
          <a:p>
            <a:pPr>
              <a:spcAft>
                <a:spcPts val="500"/>
              </a:spcAft>
              <a:defRPr sz="1800" b="0">
                <a:solidFill>
                  <a:srgbClr val="21374A"/>
                </a:solidFill>
                <a:latin typeface="Yu Gothic"/>
              </a:defRPr>
            </a:pPr>
            <a:r>
              <a:rPr sz="1800" b="0" lang="ja-JP">
                <a:solidFill>
                  <a:srgbClr val="21374A"/>
                </a:solidFill>
                <a:latin typeface="Yu Gothic"/>
                <a:ea typeface="Yu Gothic"/>
              </a:rPr>
              <a:t>活動と契約の確認</a:t>
            </a:r>
          </a:p>
          <a:p>
            <a:pPr>
              <a:spcAft>
                <a:spcPts val="500"/>
              </a:spcAft>
              <a:defRPr sz="1800" b="0">
                <a:solidFill>
                  <a:srgbClr val="21374A"/>
                </a:solidFill>
                <a:latin typeface="Yu Gothic"/>
              </a:defRPr>
            </a:pPr>
            <a:r>
              <a:rPr sz="1800" b="0" lang="ja-JP">
                <a:solidFill>
                  <a:srgbClr val="21374A"/>
                </a:solidFill>
                <a:latin typeface="Yu Gothic"/>
                <a:ea typeface="Yu Gothic"/>
              </a:rPr>
              <a:t>原記録とIDを参照</a:t>
            </a:r>
          </a:p>
        </p:txBody>
      </p:sp>
      <p:sp>
        <p:nvSpPr>
          <p:cNvPr id="15" name="Rounded Rectangle 14"/>
          <p:cNvSpPr/>
          <p:nvPr/>
        </p:nvSpPr>
        <p:spPr>
          <a:xfrm>
            <a:off x="8147304" y="2551176"/>
            <a:ext cx="345643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752344"/>
            <a:ext cx="299923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照合可能な説明</a:t>
            </a:r>
          </a:p>
        </p:txBody>
      </p:sp>
      <p:sp>
        <p:nvSpPr>
          <p:cNvPr id="17" name="TextBox 16"/>
          <p:cNvSpPr txBox="1"/>
          <p:nvPr/>
        </p:nvSpPr>
        <p:spPr>
          <a:xfrm>
            <a:off x="8375904" y="3419856"/>
            <a:ext cx="2999232" cy="1618487"/>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GQLで関係を取得</a:t>
            </a:r>
          </a:p>
          <a:p>
            <a:pPr>
              <a:spcAft>
                <a:spcPts val="500"/>
              </a:spcAft>
              <a:defRPr sz="1800" b="0">
                <a:solidFill>
                  <a:srgbClr val="21374A"/>
                </a:solidFill>
                <a:latin typeface="Yu Gothic"/>
              </a:defRPr>
            </a:pPr>
            <a:r>
              <a:rPr sz="1800" b="0" lang="ja-JP">
                <a:solidFill>
                  <a:srgbClr val="21374A"/>
                </a:solidFill>
                <a:latin typeface="Yu Gothic"/>
                <a:ea typeface="Yu Gothic"/>
              </a:rPr>
              <a:t>DECIMALで金額照合</a:t>
            </a:r>
          </a:p>
          <a:p>
            <a:pPr>
              <a:spcAft>
                <a:spcPts val="500"/>
              </a:spcAft>
              <a:defRPr sz="1800" b="0">
                <a:solidFill>
                  <a:srgbClr val="21374A"/>
                </a:solidFill>
                <a:latin typeface="Yu Gothic"/>
              </a:defRPr>
            </a:pPr>
            <a:r>
              <a:rPr sz="1800" b="0" lang="ja-JP">
                <a:solidFill>
                  <a:srgbClr val="21374A"/>
                </a:solidFill>
                <a:latin typeface="Yu Gothic"/>
                <a:ea typeface="Yu Gothic"/>
              </a:rPr>
              <a:t>粒度の違いを明示</a:t>
            </a:r>
          </a:p>
        </p:txBody>
      </p:sp>
      <p:sp>
        <p:nvSpPr>
          <p:cNvPr id="18" name="TextBox 17"/>
          <p:cNvSpPr txBox="1"/>
          <p:nvPr/>
        </p:nvSpPr>
        <p:spPr>
          <a:xfrm>
            <a:off x="758952" y="5440680"/>
            <a:ext cx="10698480" cy="329184"/>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任意の追加：ENE_POSの好影響 ／ CROSS_NEGとCROSS_POSのセクター比較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付録A  |  入力と参考結果の対応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コピー用質問の使い分け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質問全文は本編の「入力①～④」ページに、編集できる文字として掲載しています。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各入力の次に参考結果を置き、ノートにも同じ全文を残しています。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実演先はFabric DA。M365 Copilotで同じグラフが表示される保証はない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23</a:t>
            </a:r>
          </a:p>
        </p:txBody>
      </p:sp>
      <p:sp>
        <p:nvSpPr>
          <p:cNvPr id="9" name="Rounded Rectangle 8"/>
          <p:cNvSpPr/>
          <p:nvPr/>
        </p:nvSpPr>
        <p:spPr>
          <a:xfrm>
            <a:off x="594360" y="2514600"/>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651760"/>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Q1</a:t>
            </a:r>
          </a:p>
        </p:txBody>
      </p:sp>
      <p:sp>
        <p:nvSpPr>
          <p:cNvPr id="11" name="TextBox 10"/>
          <p:cNvSpPr txBox="1"/>
          <p:nvPr/>
        </p:nvSpPr>
        <p:spPr>
          <a:xfrm>
            <a:off x="1828800" y="2670048"/>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月次のbaseline／actual</a:t>
            </a:r>
          </a:p>
        </p:txBody>
      </p:sp>
      <p:sp>
        <p:nvSpPr>
          <p:cNvPr id="12" name="TextBox 11"/>
          <p:cNvSpPr txBox="1"/>
          <p:nvPr/>
        </p:nvSpPr>
        <p:spPr>
          <a:xfrm>
            <a:off x="6217920" y="2697480"/>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折れ線＋年間actualの全額／持分管理</a:t>
            </a:r>
          </a:p>
        </p:txBody>
      </p:sp>
      <p:sp>
        <p:nvSpPr>
          <p:cNvPr id="13" name="Rounded Rectangle 12"/>
          <p:cNvSpPr/>
          <p:nvPr/>
        </p:nvSpPr>
        <p:spPr>
          <a:xfrm>
            <a:off x="594360" y="3355848"/>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 y="3493008"/>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Q2</a:t>
            </a:r>
          </a:p>
        </p:txBody>
      </p:sp>
      <p:sp>
        <p:nvSpPr>
          <p:cNvPr id="15" name="TextBox 14"/>
          <p:cNvSpPr txBox="1"/>
          <p:nvPr/>
        </p:nvSpPr>
        <p:spPr>
          <a:xfrm>
            <a:off x="1828800" y="3511296"/>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10イベントの影響</a:t>
            </a:r>
          </a:p>
        </p:txBody>
      </p:sp>
      <p:sp>
        <p:nvSpPr>
          <p:cNvPr id="16" name="TextBox 15"/>
          <p:cNvSpPr txBox="1"/>
          <p:nvPr/>
        </p:nvSpPr>
        <p:spPr>
          <a:xfrm>
            <a:off x="6217920" y="3538728"/>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短いラベル＋符号付き億円の棒グラフ</a:t>
            </a:r>
          </a:p>
        </p:txBody>
      </p:sp>
      <p:sp>
        <p:nvSpPr>
          <p:cNvPr id="17" name="Rounded Rectangle 16"/>
          <p:cNvSpPr/>
          <p:nvPr/>
        </p:nvSpPr>
        <p:spPr>
          <a:xfrm>
            <a:off x="594360" y="4197096"/>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4334256"/>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Q3</a:t>
            </a:r>
          </a:p>
        </p:txBody>
      </p:sp>
      <p:sp>
        <p:nvSpPr>
          <p:cNvPr id="19" name="TextBox 18"/>
          <p:cNvSpPr txBox="1"/>
          <p:nvPr/>
        </p:nvSpPr>
        <p:spPr>
          <a:xfrm>
            <a:off x="1828800" y="4352544"/>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食品損失の要約とID</a:t>
            </a:r>
          </a:p>
        </p:txBody>
      </p:sp>
      <p:sp>
        <p:nvSpPr>
          <p:cNvPr id="20" name="TextBox 19"/>
          <p:cNvSpPr txBox="1"/>
          <p:nvPr/>
        </p:nvSpPr>
        <p:spPr>
          <a:xfrm>
            <a:off x="6217920" y="4379976"/>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代表効果を固定。図の生成は依頼しない</a:t>
            </a:r>
          </a:p>
        </p:txBody>
      </p:sp>
      <p:sp>
        <p:nvSpPr>
          <p:cNvPr id="21" name="Rounded Rectangle 20"/>
          <p:cNvSpPr/>
          <p:nvPr/>
        </p:nvSpPr>
        <p:spPr>
          <a:xfrm>
            <a:off x="594360" y="5038344"/>
            <a:ext cx="11009376" cy="685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 y="5175504"/>
            <a:ext cx="731520" cy="411480"/>
          </a:xfrm>
          <a:prstGeom prst="rect">
            <a:avLst/>
          </a:prstGeom>
          <a:noFill/>
        </p:spPr>
        <p:txBody>
          <a:bodyPr wrap="square" lIns="0" rIns="0" tIns="0" bIns="0">
            <a:spAutoFit/>
          </a:bodyPr>
          <a:lstStyle/>
          <a:p>
            <a:pPr>
              <a:spcAft>
                <a:spcPts val="500"/>
              </a:spcAft>
              <a:defRPr sz="2400" b="1">
                <a:solidFill>
                  <a:srgbClr val="087F83"/>
                </a:solidFill>
                <a:latin typeface="Yu Gothic"/>
              </a:defRPr>
            </a:pPr>
            <a:r>
              <a:rPr sz="2400" b="1" lang="ja-JP">
                <a:solidFill>
                  <a:srgbClr val="087F83"/>
                </a:solidFill>
                <a:latin typeface="Yu Gothic"/>
                <a:ea typeface="Yu Gothic"/>
              </a:rPr>
              <a:t>Q4</a:t>
            </a:r>
          </a:p>
        </p:txBody>
      </p:sp>
      <p:sp>
        <p:nvSpPr>
          <p:cNvPr id="23" name="TextBox 22"/>
          <p:cNvSpPr txBox="1"/>
          <p:nvPr/>
        </p:nvSpPr>
        <p:spPr>
          <a:xfrm>
            <a:off x="1828800" y="5193792"/>
            <a:ext cx="4069080" cy="365760"/>
          </a:xfrm>
          <a:prstGeom prst="rect">
            <a:avLst/>
          </a:prstGeom>
          <a:noFill/>
        </p:spPr>
        <p:txBody>
          <a:bodyPr wrap="square" lIns="0" rIns="0" tIns="0" bIns="0">
            <a:spAutoFit/>
          </a:bodyPr>
          <a:lstStyle/>
          <a:p>
            <a:pPr>
              <a:spcAft>
                <a:spcPts val="500"/>
              </a:spcAft>
              <a:defRPr sz="2100" b="1">
                <a:solidFill>
                  <a:srgbClr val="21374A"/>
                </a:solidFill>
                <a:latin typeface="Yu Gothic"/>
              </a:defRPr>
            </a:pPr>
            <a:r>
              <a:rPr sz="2100" b="1" lang="ja-JP">
                <a:solidFill>
                  <a:srgbClr val="21374A"/>
                </a:solidFill>
                <a:latin typeface="Yu Gothic"/>
                <a:ea typeface="Yu Gothic"/>
              </a:rPr>
              <a:t>影響点と対応案</a:t>
            </a:r>
          </a:p>
        </p:txBody>
      </p:sp>
      <p:sp>
        <p:nvSpPr>
          <p:cNvPr id="24" name="TextBox 23"/>
          <p:cNvSpPr txBox="1"/>
          <p:nvPr/>
        </p:nvSpPr>
        <p:spPr>
          <a:xfrm>
            <a:off x="6217920" y="5221224"/>
            <a:ext cx="5074920" cy="365760"/>
          </a:xfrm>
          <a:prstGeom prst="rect">
            <a:avLst/>
          </a:prstGeom>
          <a:noFill/>
        </p:spPr>
        <p:txBody>
          <a:bodyPr wrap="square" lIns="0" rIns="0" tIns="0" bIns="0">
            <a:spAutoFit/>
          </a:bodyPr>
          <a:lstStyle/>
          <a:p>
            <a:pPr>
              <a:spcAft>
                <a:spcPts val="500"/>
              </a:spcAft>
              <a:defRPr sz="1600" b="0">
                <a:solidFill>
                  <a:srgbClr val="566A78"/>
                </a:solidFill>
                <a:latin typeface="Yu Gothic"/>
              </a:defRPr>
            </a:pPr>
            <a:r>
              <a:rPr sz="1600" b="0" lang="ja-JP">
                <a:solidFill>
                  <a:srgbClr val="566A78"/>
                </a:solidFill>
                <a:latin typeface="Yu Gothic"/>
                <a:ea typeface="Yu Gothic"/>
              </a:rPr>
              <a:t>契約別の影響額＋優先度付きの対応案</a:t>
            </a:r>
          </a:p>
        </p:txBody>
      </p:sp>
      <p:sp>
        <p:nvSpPr>
          <p:cNvPr id="25" name="Rounded Rectangle 24">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r:id="rId3"/>
          </p:cNvPr>
          <p:cNvSpPr txBox="1"/>
          <p:nvPr/>
        </p:nvSpPr>
        <p:spPr>
          <a:xfrm>
            <a:off x="9354312" y="365760"/>
            <a:ext cx="2148839"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付録B  |  全額EBITDAへの設計上の影響配賦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10イベントの照合用金額</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棒グラフの短いラベルは、必ず元のevent_idと対応付けます。</a:t>
            </a:r>
          </a:p>
          <a:p>
            <a:pPr>
              <a:spcAft>
                <a:spcPts val="500"/>
              </a:spcAft>
              <a:defRPr sz="1800" b="0">
                <a:solidFill>
                  <a:srgbClr val="566A78"/>
                </a:solidFill>
                <a:latin typeface="Yu Gothic"/>
              </a:defRPr>
            </a:pPr>
            <a:r>
              <a:rPr sz="1800" b="0" lang="ja-JP">
                <a:solidFill>
                  <a:srgbClr val="566A78"/>
                </a:solidFill>
                <a:latin typeface="Yu Gothic"/>
                <a:ea typeface="Yu Gothic"/>
              </a:rPr>
              <a:t>丸めた億円表示の照合には、円単位の確定額を使います。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sector固有は84効果×8件、横断は336効果×2件。合計1,344効果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TextBox 8"/>
          <p:cNvSpPr txBox="1"/>
          <p:nvPr/>
        </p:nvSpPr>
        <p:spPr>
          <a:xfrm>
            <a:off x="758952" y="2478024"/>
            <a:ext cx="210312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event_id</a:t>
            </a:r>
          </a:p>
        </p:txBody>
      </p:sp>
      <p:sp>
        <p:nvSpPr>
          <p:cNvPr id="10" name="TextBox 9"/>
          <p:cNvSpPr txBox="1"/>
          <p:nvPr/>
        </p:nvSpPr>
        <p:spPr>
          <a:xfrm>
            <a:off x="2907792" y="2478024"/>
            <a:ext cx="246888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短いラベル</a:t>
            </a:r>
          </a:p>
        </p:txBody>
      </p:sp>
      <p:sp>
        <p:nvSpPr>
          <p:cNvPr id="11" name="TextBox 10"/>
          <p:cNvSpPr txBox="1"/>
          <p:nvPr/>
        </p:nvSpPr>
        <p:spPr>
          <a:xfrm>
            <a:off x="5504688" y="2478024"/>
            <a:ext cx="2834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全額影響（円）</a:t>
            </a:r>
          </a:p>
        </p:txBody>
      </p:sp>
      <p:sp>
        <p:nvSpPr>
          <p:cNvPr id="12" name="TextBox 11"/>
          <p:cNvSpPr txBox="1"/>
          <p:nvPr/>
        </p:nvSpPr>
        <p:spPr>
          <a:xfrm>
            <a:off x="8540496" y="2478024"/>
            <a:ext cx="16916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億円</a:t>
            </a:r>
          </a:p>
        </p:txBody>
      </p:sp>
      <p:sp>
        <p:nvSpPr>
          <p:cNvPr id="13" name="TextBox 12"/>
          <p:cNvSpPr txBox="1"/>
          <p:nvPr/>
        </p:nvSpPr>
        <p:spPr>
          <a:xfrm>
            <a:off x="10351008" y="2478024"/>
            <a:ext cx="1005840" cy="292608"/>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効果数</a:t>
            </a:r>
          </a:p>
        </p:txBody>
      </p:sp>
      <p:sp>
        <p:nvSpPr>
          <p:cNvPr id="14" name="Rectangle 13"/>
          <p:cNvSpPr/>
          <p:nvPr/>
        </p:nvSpPr>
        <p:spPr>
          <a:xfrm>
            <a:off x="612648" y="2843784"/>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862072"/>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MTL_NEG</a:t>
            </a:r>
          </a:p>
        </p:txBody>
      </p:sp>
      <p:sp>
        <p:nvSpPr>
          <p:cNvPr id="16" name="TextBox 15"/>
          <p:cNvSpPr txBox="1"/>
          <p:nvPr/>
        </p:nvSpPr>
        <p:spPr>
          <a:xfrm>
            <a:off x="2907792" y="2862072"/>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製錬停止</a:t>
            </a:r>
          </a:p>
        </p:txBody>
      </p:sp>
      <p:sp>
        <p:nvSpPr>
          <p:cNvPr id="17" name="TextBox 16"/>
          <p:cNvSpPr txBox="1"/>
          <p:nvPr/>
        </p:nvSpPr>
        <p:spPr>
          <a:xfrm>
            <a:off x="5504688" y="2862072"/>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-208,722,530.97</a:t>
            </a:r>
          </a:p>
        </p:txBody>
      </p:sp>
      <p:sp>
        <p:nvSpPr>
          <p:cNvPr id="18" name="TextBox 17"/>
          <p:cNvSpPr txBox="1"/>
          <p:nvPr/>
        </p:nvSpPr>
        <p:spPr>
          <a:xfrm>
            <a:off x="8540496" y="2862072"/>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-2.0872</a:t>
            </a:r>
          </a:p>
        </p:txBody>
      </p:sp>
      <p:sp>
        <p:nvSpPr>
          <p:cNvPr id="19" name="TextBox 18"/>
          <p:cNvSpPr txBox="1"/>
          <p:nvPr/>
        </p:nvSpPr>
        <p:spPr>
          <a:xfrm>
            <a:off x="10351008" y="2862072"/>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20" name="TextBox 19"/>
          <p:cNvSpPr txBox="1"/>
          <p:nvPr/>
        </p:nvSpPr>
        <p:spPr>
          <a:xfrm>
            <a:off x="758952" y="3140964"/>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MTL_POS</a:t>
            </a:r>
          </a:p>
        </p:txBody>
      </p:sp>
      <p:sp>
        <p:nvSpPr>
          <p:cNvPr id="21" name="TextBox 20"/>
          <p:cNvSpPr txBox="1"/>
          <p:nvPr/>
        </p:nvSpPr>
        <p:spPr>
          <a:xfrm>
            <a:off x="2907792" y="3140964"/>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再生合金</a:t>
            </a:r>
          </a:p>
        </p:txBody>
      </p:sp>
      <p:sp>
        <p:nvSpPr>
          <p:cNvPr id="22" name="TextBox 21"/>
          <p:cNvSpPr txBox="1"/>
          <p:nvPr/>
        </p:nvSpPr>
        <p:spPr>
          <a:xfrm>
            <a:off x="5504688" y="3140964"/>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+182,646,287.72</a:t>
            </a:r>
          </a:p>
        </p:txBody>
      </p:sp>
      <p:sp>
        <p:nvSpPr>
          <p:cNvPr id="23" name="TextBox 22"/>
          <p:cNvSpPr txBox="1"/>
          <p:nvPr/>
        </p:nvSpPr>
        <p:spPr>
          <a:xfrm>
            <a:off x="8540496" y="3140964"/>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+1.8265</a:t>
            </a:r>
          </a:p>
        </p:txBody>
      </p:sp>
      <p:sp>
        <p:nvSpPr>
          <p:cNvPr id="24" name="TextBox 23"/>
          <p:cNvSpPr txBox="1"/>
          <p:nvPr/>
        </p:nvSpPr>
        <p:spPr>
          <a:xfrm>
            <a:off x="10351008" y="3140964"/>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25" name="Rectangle 24"/>
          <p:cNvSpPr/>
          <p:nvPr/>
        </p:nvSpPr>
        <p:spPr>
          <a:xfrm>
            <a:off x="612648" y="3401568"/>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419856"/>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ENE_NEG</a:t>
            </a:r>
          </a:p>
        </p:txBody>
      </p:sp>
      <p:sp>
        <p:nvSpPr>
          <p:cNvPr id="27" name="TextBox 26"/>
          <p:cNvSpPr txBox="1"/>
          <p:nvPr/>
        </p:nvSpPr>
        <p:spPr>
          <a:xfrm>
            <a:off x="2907792" y="3419856"/>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LNG遅延</a:t>
            </a:r>
          </a:p>
        </p:txBody>
      </p:sp>
      <p:sp>
        <p:nvSpPr>
          <p:cNvPr id="28" name="TextBox 27"/>
          <p:cNvSpPr txBox="1"/>
          <p:nvPr/>
        </p:nvSpPr>
        <p:spPr>
          <a:xfrm>
            <a:off x="5504688" y="3419856"/>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-188,475,012.78</a:t>
            </a:r>
          </a:p>
        </p:txBody>
      </p:sp>
      <p:sp>
        <p:nvSpPr>
          <p:cNvPr id="29" name="TextBox 28"/>
          <p:cNvSpPr txBox="1"/>
          <p:nvPr/>
        </p:nvSpPr>
        <p:spPr>
          <a:xfrm>
            <a:off x="8540496" y="3419856"/>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-1.8848</a:t>
            </a:r>
          </a:p>
        </p:txBody>
      </p:sp>
      <p:sp>
        <p:nvSpPr>
          <p:cNvPr id="30" name="TextBox 29"/>
          <p:cNvSpPr txBox="1"/>
          <p:nvPr/>
        </p:nvSpPr>
        <p:spPr>
          <a:xfrm>
            <a:off x="10351008" y="3419856"/>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31" name="TextBox 30"/>
          <p:cNvSpPr txBox="1"/>
          <p:nvPr/>
        </p:nvSpPr>
        <p:spPr>
          <a:xfrm>
            <a:off x="758952" y="3698748"/>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ENE_POS</a:t>
            </a:r>
          </a:p>
        </p:txBody>
      </p:sp>
      <p:sp>
        <p:nvSpPr>
          <p:cNvPr id="32" name="TextBox 31"/>
          <p:cNvSpPr txBox="1"/>
          <p:nvPr/>
        </p:nvSpPr>
        <p:spPr>
          <a:xfrm>
            <a:off x="2907792" y="3698748"/>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配分最適化</a:t>
            </a:r>
          </a:p>
        </p:txBody>
      </p:sp>
      <p:sp>
        <p:nvSpPr>
          <p:cNvPr id="33" name="TextBox 32"/>
          <p:cNvSpPr txBox="1"/>
          <p:nvPr/>
        </p:nvSpPr>
        <p:spPr>
          <a:xfrm>
            <a:off x="5504688" y="3698748"/>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+210,155,445.28</a:t>
            </a:r>
          </a:p>
        </p:txBody>
      </p:sp>
      <p:sp>
        <p:nvSpPr>
          <p:cNvPr id="34" name="TextBox 33"/>
          <p:cNvSpPr txBox="1"/>
          <p:nvPr/>
        </p:nvSpPr>
        <p:spPr>
          <a:xfrm>
            <a:off x="8540496" y="3698748"/>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+2.1016</a:t>
            </a:r>
          </a:p>
        </p:txBody>
      </p:sp>
      <p:sp>
        <p:nvSpPr>
          <p:cNvPr id="35" name="TextBox 34"/>
          <p:cNvSpPr txBox="1"/>
          <p:nvPr/>
        </p:nvSpPr>
        <p:spPr>
          <a:xfrm>
            <a:off x="10351008" y="3698748"/>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36" name="Rectangle 35"/>
          <p:cNvSpPr/>
          <p:nvPr/>
        </p:nvSpPr>
        <p:spPr>
          <a:xfrm>
            <a:off x="612648" y="3959352"/>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77639"/>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FOD_NEG</a:t>
            </a:r>
          </a:p>
        </p:txBody>
      </p:sp>
      <p:sp>
        <p:nvSpPr>
          <p:cNvPr id="38" name="TextBox 37"/>
          <p:cNvSpPr txBox="1"/>
          <p:nvPr/>
        </p:nvSpPr>
        <p:spPr>
          <a:xfrm>
            <a:off x="2907792" y="3977639"/>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食品損失</a:t>
            </a:r>
          </a:p>
        </p:txBody>
      </p:sp>
      <p:sp>
        <p:nvSpPr>
          <p:cNvPr id="39" name="TextBox 38"/>
          <p:cNvSpPr txBox="1"/>
          <p:nvPr/>
        </p:nvSpPr>
        <p:spPr>
          <a:xfrm>
            <a:off x="5504688" y="3977639"/>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-114,461,186.25</a:t>
            </a:r>
          </a:p>
        </p:txBody>
      </p:sp>
      <p:sp>
        <p:nvSpPr>
          <p:cNvPr id="40" name="TextBox 39"/>
          <p:cNvSpPr txBox="1"/>
          <p:nvPr/>
        </p:nvSpPr>
        <p:spPr>
          <a:xfrm>
            <a:off x="8540496" y="3977639"/>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-1.1446</a:t>
            </a:r>
          </a:p>
        </p:txBody>
      </p:sp>
      <p:sp>
        <p:nvSpPr>
          <p:cNvPr id="41" name="TextBox 40"/>
          <p:cNvSpPr txBox="1"/>
          <p:nvPr/>
        </p:nvSpPr>
        <p:spPr>
          <a:xfrm>
            <a:off x="10351008" y="3977639"/>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42" name="TextBox 41"/>
          <p:cNvSpPr txBox="1"/>
          <p:nvPr/>
        </p:nvSpPr>
        <p:spPr>
          <a:xfrm>
            <a:off x="758952" y="4256531"/>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FOD_POS</a:t>
            </a:r>
          </a:p>
        </p:txBody>
      </p:sp>
      <p:sp>
        <p:nvSpPr>
          <p:cNvPr id="43" name="TextBox 42"/>
          <p:cNvSpPr txBox="1"/>
          <p:nvPr/>
        </p:nvSpPr>
        <p:spPr>
          <a:xfrm>
            <a:off x="2907792" y="4256531"/>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調達改善</a:t>
            </a:r>
          </a:p>
        </p:txBody>
      </p:sp>
      <p:sp>
        <p:nvSpPr>
          <p:cNvPr id="44" name="TextBox 43"/>
          <p:cNvSpPr txBox="1"/>
          <p:nvPr/>
        </p:nvSpPr>
        <p:spPr>
          <a:xfrm>
            <a:off x="5504688" y="4256531"/>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+119,698,730.65</a:t>
            </a:r>
          </a:p>
        </p:txBody>
      </p:sp>
      <p:sp>
        <p:nvSpPr>
          <p:cNvPr id="45" name="TextBox 44"/>
          <p:cNvSpPr txBox="1"/>
          <p:nvPr/>
        </p:nvSpPr>
        <p:spPr>
          <a:xfrm>
            <a:off x="8540496" y="4256531"/>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+1.1970</a:t>
            </a:r>
          </a:p>
        </p:txBody>
      </p:sp>
      <p:sp>
        <p:nvSpPr>
          <p:cNvPr id="46" name="TextBox 45"/>
          <p:cNvSpPr txBox="1"/>
          <p:nvPr/>
        </p:nvSpPr>
        <p:spPr>
          <a:xfrm>
            <a:off x="10351008" y="4256531"/>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47" name="Rectangle 46"/>
          <p:cNvSpPr/>
          <p:nvPr/>
        </p:nvSpPr>
        <p:spPr>
          <a:xfrm>
            <a:off x="612648" y="4517136"/>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35424"/>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FIN_NEG</a:t>
            </a:r>
          </a:p>
        </p:txBody>
      </p:sp>
      <p:sp>
        <p:nvSpPr>
          <p:cNvPr id="49" name="TextBox 48"/>
          <p:cNvSpPr txBox="1"/>
          <p:nvPr/>
        </p:nvSpPr>
        <p:spPr>
          <a:xfrm>
            <a:off x="2907792" y="4535424"/>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与信費増</a:t>
            </a:r>
          </a:p>
        </p:txBody>
      </p:sp>
      <p:sp>
        <p:nvSpPr>
          <p:cNvPr id="50" name="TextBox 49"/>
          <p:cNvSpPr txBox="1"/>
          <p:nvPr/>
        </p:nvSpPr>
        <p:spPr>
          <a:xfrm>
            <a:off x="5504688" y="4535424"/>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-124,852,353.72</a:t>
            </a:r>
          </a:p>
        </p:txBody>
      </p:sp>
      <p:sp>
        <p:nvSpPr>
          <p:cNvPr id="51" name="TextBox 50"/>
          <p:cNvSpPr txBox="1"/>
          <p:nvPr/>
        </p:nvSpPr>
        <p:spPr>
          <a:xfrm>
            <a:off x="8540496" y="4535424"/>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-1.2485</a:t>
            </a:r>
          </a:p>
        </p:txBody>
      </p:sp>
      <p:sp>
        <p:nvSpPr>
          <p:cNvPr id="52" name="TextBox 51"/>
          <p:cNvSpPr txBox="1"/>
          <p:nvPr/>
        </p:nvSpPr>
        <p:spPr>
          <a:xfrm>
            <a:off x="10351008" y="4535424"/>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84</a:t>
            </a:r>
          </a:p>
        </p:txBody>
      </p:sp>
      <p:sp>
        <p:nvSpPr>
          <p:cNvPr id="53" name="TextBox 52"/>
          <p:cNvSpPr txBox="1"/>
          <p:nvPr/>
        </p:nvSpPr>
        <p:spPr>
          <a:xfrm>
            <a:off x="758952" y="4814316"/>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FIN_POS</a:t>
            </a:r>
          </a:p>
        </p:txBody>
      </p:sp>
      <p:sp>
        <p:nvSpPr>
          <p:cNvPr id="54" name="TextBox 53"/>
          <p:cNvSpPr txBox="1"/>
          <p:nvPr/>
        </p:nvSpPr>
        <p:spPr>
          <a:xfrm>
            <a:off x="2907792" y="4814316"/>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ヘッジ手数料</a:t>
            </a:r>
          </a:p>
        </p:txBody>
      </p:sp>
      <p:sp>
        <p:nvSpPr>
          <p:cNvPr id="55" name="TextBox 54"/>
          <p:cNvSpPr txBox="1"/>
          <p:nvPr/>
        </p:nvSpPr>
        <p:spPr>
          <a:xfrm>
            <a:off x="5504688" y="4814316"/>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+116,692,616.68</a:t>
            </a:r>
          </a:p>
        </p:txBody>
      </p:sp>
      <p:sp>
        <p:nvSpPr>
          <p:cNvPr id="56" name="TextBox 55"/>
          <p:cNvSpPr txBox="1"/>
          <p:nvPr/>
        </p:nvSpPr>
        <p:spPr>
          <a:xfrm>
            <a:off x="8540496" y="4814316"/>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+1.1669</a:t>
            </a:r>
          </a:p>
        </p:txBody>
      </p:sp>
      <p:sp>
        <p:nvSpPr>
          <p:cNvPr id="57" name="TextBox 56"/>
          <p:cNvSpPr txBox="1"/>
          <p:nvPr/>
        </p:nvSpPr>
        <p:spPr>
          <a:xfrm>
            <a:off x="10351008" y="4814316"/>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84</a:t>
            </a:r>
          </a:p>
        </p:txBody>
      </p:sp>
      <p:sp>
        <p:nvSpPr>
          <p:cNvPr id="58" name="Rectangle 57"/>
          <p:cNvSpPr/>
          <p:nvPr/>
        </p:nvSpPr>
        <p:spPr>
          <a:xfrm>
            <a:off x="612648" y="5074920"/>
            <a:ext cx="10972800" cy="2788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093208"/>
            <a:ext cx="210312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CROSS_NEG</a:t>
            </a:r>
          </a:p>
        </p:txBody>
      </p:sp>
      <p:sp>
        <p:nvSpPr>
          <p:cNvPr id="60" name="TextBox 59"/>
          <p:cNvSpPr txBox="1"/>
          <p:nvPr/>
        </p:nvSpPr>
        <p:spPr>
          <a:xfrm>
            <a:off x="2907792" y="5093208"/>
            <a:ext cx="246888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横断混乱</a:t>
            </a:r>
          </a:p>
        </p:txBody>
      </p:sp>
      <p:sp>
        <p:nvSpPr>
          <p:cNvPr id="61" name="TextBox 60"/>
          <p:cNvSpPr txBox="1"/>
          <p:nvPr/>
        </p:nvSpPr>
        <p:spPr>
          <a:xfrm>
            <a:off x="5504688" y="5093208"/>
            <a:ext cx="2834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-680,035,231.24</a:t>
            </a:r>
          </a:p>
        </p:txBody>
      </p:sp>
      <p:sp>
        <p:nvSpPr>
          <p:cNvPr id="62" name="TextBox 61"/>
          <p:cNvSpPr txBox="1"/>
          <p:nvPr/>
        </p:nvSpPr>
        <p:spPr>
          <a:xfrm>
            <a:off x="8540496" y="5093208"/>
            <a:ext cx="16916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-6.8004</a:t>
            </a:r>
          </a:p>
        </p:txBody>
      </p:sp>
      <p:sp>
        <p:nvSpPr>
          <p:cNvPr id="63" name="TextBox 62"/>
          <p:cNvSpPr txBox="1"/>
          <p:nvPr/>
        </p:nvSpPr>
        <p:spPr>
          <a:xfrm>
            <a:off x="10351008" y="5093208"/>
            <a:ext cx="1005840" cy="256032"/>
          </a:xfrm>
          <a:prstGeom prst="rect">
            <a:avLst/>
          </a:prstGeom>
          <a:noFill/>
        </p:spPr>
        <p:txBody>
          <a:bodyPr wrap="square" lIns="0" rIns="0" tIns="0" bIns="0">
            <a:spAutoFit/>
          </a:bodyPr>
          <a:lstStyle/>
          <a:p>
            <a:pPr>
              <a:spcAft>
                <a:spcPts val="500"/>
              </a:spcAft>
              <a:defRPr sz="1300" b="0">
                <a:solidFill>
                  <a:srgbClr val="BD4354"/>
                </a:solidFill>
                <a:latin typeface="Yu Gothic"/>
              </a:defRPr>
            </a:pPr>
            <a:r>
              <a:rPr sz="1300" b="0" lang="ja-JP">
                <a:solidFill>
                  <a:srgbClr val="BD4354"/>
                </a:solidFill>
                <a:latin typeface="Yu Gothic"/>
                <a:ea typeface="Yu Gothic"/>
              </a:rPr>
              <a:t>336</a:t>
            </a:r>
          </a:p>
        </p:txBody>
      </p:sp>
      <p:sp>
        <p:nvSpPr>
          <p:cNvPr id="64" name="TextBox 63"/>
          <p:cNvSpPr txBox="1"/>
          <p:nvPr/>
        </p:nvSpPr>
        <p:spPr>
          <a:xfrm>
            <a:off x="758952" y="5372100"/>
            <a:ext cx="210312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CROSS_POS</a:t>
            </a:r>
          </a:p>
        </p:txBody>
      </p:sp>
      <p:sp>
        <p:nvSpPr>
          <p:cNvPr id="65" name="TextBox 64"/>
          <p:cNvSpPr txBox="1"/>
          <p:nvPr/>
        </p:nvSpPr>
        <p:spPr>
          <a:xfrm>
            <a:off x="2907792" y="5372100"/>
            <a:ext cx="246888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横断回復</a:t>
            </a:r>
          </a:p>
        </p:txBody>
      </p:sp>
      <p:sp>
        <p:nvSpPr>
          <p:cNvPr id="66" name="TextBox 65"/>
          <p:cNvSpPr txBox="1"/>
          <p:nvPr/>
        </p:nvSpPr>
        <p:spPr>
          <a:xfrm>
            <a:off x="5504688" y="5372100"/>
            <a:ext cx="2834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+584,435,114.92</a:t>
            </a:r>
          </a:p>
        </p:txBody>
      </p:sp>
      <p:sp>
        <p:nvSpPr>
          <p:cNvPr id="67" name="TextBox 66"/>
          <p:cNvSpPr txBox="1"/>
          <p:nvPr/>
        </p:nvSpPr>
        <p:spPr>
          <a:xfrm>
            <a:off x="8540496" y="5372100"/>
            <a:ext cx="16916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+5.8444</a:t>
            </a:r>
          </a:p>
        </p:txBody>
      </p:sp>
      <p:sp>
        <p:nvSpPr>
          <p:cNvPr id="68" name="TextBox 67"/>
          <p:cNvSpPr txBox="1"/>
          <p:nvPr/>
        </p:nvSpPr>
        <p:spPr>
          <a:xfrm>
            <a:off x="10351008" y="5372100"/>
            <a:ext cx="1005840" cy="256032"/>
          </a:xfrm>
          <a:prstGeom prst="rect">
            <a:avLst/>
          </a:prstGeom>
          <a:noFill/>
        </p:spPr>
        <p:txBody>
          <a:bodyPr wrap="square" lIns="0" rIns="0" tIns="0" bIns="0">
            <a:spAutoFit/>
          </a:bodyPr>
          <a:lstStyle/>
          <a:p>
            <a:pPr>
              <a:spcAft>
                <a:spcPts val="500"/>
              </a:spcAft>
              <a:defRPr sz="1300" b="0">
                <a:solidFill>
                  <a:srgbClr val="21374A"/>
                </a:solidFill>
                <a:latin typeface="Yu Gothic"/>
              </a:defRPr>
            </a:pPr>
            <a:r>
              <a:rPr sz="1300" b="0" lang="ja-JP">
                <a:solidFill>
                  <a:srgbClr val="21374A"/>
                </a:solidFill>
                <a:latin typeface="Yu Gothic"/>
                <a:ea typeface="Yu Gothic"/>
              </a:rPr>
              <a:t>336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  |  説明者用FAQ</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523744"/>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69463"/>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全部ゼロコピー？</a:t>
            </a:r>
          </a:p>
        </p:txBody>
      </p:sp>
      <p:sp>
        <p:nvSpPr>
          <p:cNvPr id="11" name="TextBox 10"/>
          <p:cNvSpPr txBox="1"/>
          <p:nvPr/>
        </p:nvSpPr>
        <p:spPr>
          <a:xfrm>
            <a:off x="4745736" y="2569463"/>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拡張8表の参照だけ。投影とGraphは実体化。</a:t>
            </a:r>
          </a:p>
        </p:txBody>
      </p:sp>
      <p:sp>
        <p:nvSpPr>
          <p:cNvPr id="12" name="Rounded Rectangle 11"/>
          <p:cNvSpPr/>
          <p:nvPr/>
        </p:nvSpPr>
        <p:spPr>
          <a:xfrm>
            <a:off x="594360" y="2939796"/>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985515"/>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SQLでもできる？</a:t>
            </a:r>
          </a:p>
        </p:txBody>
      </p:sp>
      <p:sp>
        <p:nvSpPr>
          <p:cNvPr id="14" name="TextBox 13"/>
          <p:cNvSpPr txBox="1"/>
          <p:nvPr/>
        </p:nvSpPr>
        <p:spPr>
          <a:xfrm>
            <a:off x="4745736" y="2985515"/>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可能。意味と関係の共有がOntologyの価値。</a:t>
            </a:r>
          </a:p>
        </p:txBody>
      </p:sp>
      <p:sp>
        <p:nvSpPr>
          <p:cNvPr id="15" name="Rounded Rectangle 14"/>
          <p:cNvSpPr/>
          <p:nvPr/>
        </p:nvSpPr>
        <p:spPr>
          <a:xfrm>
            <a:off x="594360" y="3355848"/>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401568"/>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矢印は因果の証明？</a:t>
            </a:r>
          </a:p>
        </p:txBody>
      </p:sp>
      <p:sp>
        <p:nvSpPr>
          <p:cNvPr id="17" name="TextBox 16"/>
          <p:cNvSpPr txBox="1"/>
          <p:nvPr/>
        </p:nvSpPr>
        <p:spPr>
          <a:xfrm>
            <a:off x="4745736" y="3401568"/>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関連、設計上の配賦、集約先を区別。</a:t>
            </a:r>
          </a:p>
        </p:txBody>
      </p:sp>
      <p:sp>
        <p:nvSpPr>
          <p:cNvPr id="18" name="Rounded Rectangle 17"/>
          <p:cNvSpPr/>
          <p:nvPr/>
        </p:nvSpPr>
        <p:spPr>
          <a:xfrm>
            <a:off x="594360" y="3771900"/>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817620"/>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51%なら半分を連結？</a:t>
            </a:r>
          </a:p>
        </p:txBody>
      </p:sp>
      <p:sp>
        <p:nvSpPr>
          <p:cNvPr id="20" name="TextBox 19"/>
          <p:cNvSpPr txBox="1"/>
          <p:nvPr/>
        </p:nvSpPr>
        <p:spPr>
          <a:xfrm>
            <a:off x="4745736" y="3817620"/>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全額は100%。持分管理とは別指標。</a:t>
            </a:r>
          </a:p>
        </p:txBody>
      </p:sp>
      <p:sp>
        <p:nvSpPr>
          <p:cNvPr id="21" name="Rounded Rectangle 20"/>
          <p:cNvSpPr/>
          <p:nvPr/>
        </p:nvSpPr>
        <p:spPr>
          <a:xfrm>
            <a:off x="594360" y="4187952"/>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33672"/>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温度が損失の原因？</a:t>
            </a:r>
          </a:p>
        </p:txBody>
      </p:sp>
      <p:sp>
        <p:nvSpPr>
          <p:cNvPr id="23" name="TextBox 22"/>
          <p:cNvSpPr txBox="1"/>
          <p:nvPr/>
        </p:nvSpPr>
        <p:spPr>
          <a:xfrm>
            <a:off x="4745736" y="4233672"/>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閾値は未記録。観測値から断定しない。</a:t>
            </a:r>
          </a:p>
        </p:txBody>
      </p:sp>
      <p:sp>
        <p:nvSpPr>
          <p:cNvPr id="24" name="Rounded Rectangle 23"/>
          <p:cNvSpPr/>
          <p:nvPr/>
        </p:nvSpPr>
        <p:spPr>
          <a:xfrm>
            <a:off x="594360" y="4604004"/>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649724"/>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開くだけで最新？</a:t>
            </a:r>
          </a:p>
        </p:txBody>
      </p:sp>
      <p:sp>
        <p:nvSpPr>
          <p:cNvPr id="26" name="TextBox 25"/>
          <p:cNvSpPr txBox="1"/>
          <p:nvPr/>
        </p:nvSpPr>
        <p:spPr>
          <a:xfrm>
            <a:off x="4745736" y="4649724"/>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保存出力。更新時は実行と日時を確認。</a:t>
            </a:r>
          </a:p>
        </p:txBody>
      </p:sp>
      <p:sp>
        <p:nvSpPr>
          <p:cNvPr id="27" name="Rounded Rectangle 26"/>
          <p:cNvSpPr/>
          <p:nvPr/>
        </p:nvSpPr>
        <p:spPr>
          <a:xfrm>
            <a:off x="594360" y="5020056"/>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065776"/>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イベントのデータは社内にない？</a:t>
            </a:r>
          </a:p>
        </p:txBody>
      </p:sp>
      <p:sp>
        <p:nvSpPr>
          <p:cNvPr id="29" name="TextBox 28"/>
          <p:cNvSpPr txBox="1"/>
          <p:nvPr/>
        </p:nvSpPr>
        <p:spPr>
          <a:xfrm>
            <a:off x="4745736" y="5065776"/>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差分の理由や事故の記録から拾い、小さく始める。</a:t>
            </a:r>
          </a:p>
        </p:txBody>
      </p:sp>
      <p:sp>
        <p:nvSpPr>
          <p:cNvPr id="30" name="Rounded Rectangle 29"/>
          <p:cNvSpPr/>
          <p:nvPr/>
        </p:nvSpPr>
        <p:spPr>
          <a:xfrm>
            <a:off x="594360" y="5436108"/>
            <a:ext cx="11009376" cy="35661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5481828"/>
            <a:ext cx="3840480" cy="301752"/>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もっとカジュアルに聞ける？</a:t>
            </a:r>
          </a:p>
        </p:txBody>
      </p:sp>
      <p:sp>
        <p:nvSpPr>
          <p:cNvPr id="32" name="TextBox 31"/>
          <p:cNvSpPr txBox="1"/>
          <p:nvPr/>
        </p:nvSpPr>
        <p:spPr>
          <a:xfrm>
            <a:off x="4745736" y="5481828"/>
            <a:ext cx="6611112" cy="301752"/>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短い質問も可。ただし結果は毎回変わりうる（次の2ページ）。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付録D  |  リンク、制約、事前点検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実演前の制約と確認先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検証済みのデモ動作と、本番の製品保証やライセンス要件は別です。</a:t>
            </a:r>
          </a:p>
          <a:p>
            <a:pPr>
              <a:spcAft>
                <a:spcPts val="500"/>
              </a:spcAft>
              <a:defRPr sz="1800" b="0">
                <a:solidFill>
                  <a:srgbClr val="566A78"/>
                </a:solidFill>
                <a:latin typeface="Yu Gothic"/>
              </a:defRPr>
            </a:pPr>
            <a:r>
              <a:rPr sz="1800" b="0" lang="ja-JP">
                <a:solidFill>
                  <a:srgbClr val="566A78"/>
                </a:solidFill>
                <a:latin typeface="Yu Gothic"/>
                <a:ea typeface="Yu Gothic"/>
              </a:rPr>
              <a:t>画面とノートを手元で確認し、未検証の条件は説明に含めません。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43200"/>
            <a:ext cx="4882896"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検証した範囲</a:t>
            </a:r>
          </a:p>
        </p:txBody>
      </p:sp>
      <p:sp>
        <p:nvSpPr>
          <p:cNvPr id="11" name="TextBox 10"/>
          <p:cNvSpPr txBox="1"/>
          <p:nvPr/>
        </p:nvSpPr>
        <p:spPr>
          <a:xfrm>
            <a:off x="822960"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Fabric DAの公開済み日本語QA</a:t>
            </a:r>
          </a:p>
          <a:p>
            <a:pPr>
              <a:spcAft>
                <a:spcPts val="500"/>
              </a:spcAft>
              <a:defRPr sz="1800" b="0">
                <a:solidFill>
                  <a:srgbClr val="21374A"/>
                </a:solidFill>
                <a:latin typeface="Yu Gothic"/>
              </a:defRPr>
            </a:pPr>
            <a:r>
              <a:rPr sz="1800" b="0" lang="ja-JP">
                <a:solidFill>
                  <a:srgbClr val="21374A"/>
                </a:solidFill>
                <a:latin typeface="Yu Gothic"/>
                <a:ea typeface="Yu Gothic"/>
              </a:rPr>
              <a:t>実GraphのGQL照会と金額照合</a:t>
            </a:r>
          </a:p>
          <a:p>
            <a:pPr>
              <a:spcAft>
                <a:spcPts val="500"/>
              </a:spcAft>
              <a:defRPr sz="1800" b="0">
                <a:solidFill>
                  <a:srgbClr val="21374A"/>
                </a:solidFill>
                <a:latin typeface="Yu Gothic"/>
              </a:defRPr>
            </a:pPr>
            <a:r>
              <a:rPr sz="1800" b="0" lang="ja-JP">
                <a:solidFill>
                  <a:srgbClr val="21374A"/>
                </a:solidFill>
                <a:latin typeface="Yu Gothic"/>
                <a:ea typeface="Yu Gothic"/>
              </a:rPr>
              <a:t>Notebookの保存出力の再表示</a:t>
            </a:r>
          </a:p>
        </p:txBody>
      </p:sp>
      <p:sp>
        <p:nvSpPr>
          <p:cNvPr id="12" name="Rounded Rectangle 11"/>
          <p:cNvSpPr/>
          <p:nvPr/>
        </p:nvSpPr>
        <p:spPr>
          <a:xfrm>
            <a:off x="6254496" y="2542032"/>
            <a:ext cx="5340096" cy="25786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743200"/>
            <a:ext cx="4882896"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保証しない範囲</a:t>
            </a:r>
          </a:p>
        </p:txBody>
      </p:sp>
      <p:sp>
        <p:nvSpPr>
          <p:cNvPr id="14" name="TextBox 13"/>
          <p:cNvSpPr txBox="1"/>
          <p:nvPr/>
        </p:nvSpPr>
        <p:spPr>
          <a:xfrm>
            <a:off x="6483096" y="3410711"/>
            <a:ext cx="4882896" cy="1636775"/>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Basic-planの個別条件</a:t>
            </a:r>
          </a:p>
          <a:p>
            <a:pPr>
              <a:spcAft>
                <a:spcPts val="500"/>
              </a:spcAft>
              <a:defRPr sz="1800" b="0">
                <a:solidFill>
                  <a:srgbClr val="21374A"/>
                </a:solidFill>
                <a:latin typeface="Yu Gothic"/>
              </a:defRPr>
            </a:pPr>
            <a:r>
              <a:rPr sz="1800" b="0" lang="ja-JP">
                <a:solidFill>
                  <a:srgbClr val="21374A"/>
                </a:solidFill>
                <a:latin typeface="Yu Gothic"/>
                <a:ea typeface="Yu Gothic"/>
              </a:rPr>
              <a:t>日本語の公式サポート保証</a:t>
            </a:r>
          </a:p>
          <a:p>
            <a:pPr>
              <a:spcAft>
                <a:spcPts val="500"/>
              </a:spcAft>
              <a:defRPr sz="1800" b="0">
                <a:solidFill>
                  <a:srgbClr val="21374A"/>
                </a:solidFill>
                <a:latin typeface="Yu Gothic"/>
              </a:defRPr>
            </a:pPr>
            <a:r>
              <a:rPr sz="1800" b="0" lang="ja-JP">
                <a:solidFill>
                  <a:srgbClr val="21374A"/>
                </a:solidFill>
                <a:latin typeface="Yu Gothic"/>
                <a:ea typeface="Yu Gothic"/>
              </a:rPr>
              <a:t>正式会計／実世界の因果証明</a:t>
            </a:r>
          </a:p>
        </p:txBody>
      </p:sp>
      <p:sp>
        <p:nvSpPr>
          <p:cNvPr id="15" name="Rounded Rectangle 14">
            <a:hlinkClick r:id="rId3"/>
          </p:cNvPr>
          <p:cNvSpPr/>
          <p:nvPr/>
        </p:nvSpPr>
        <p:spPr>
          <a:xfrm>
            <a:off x="777240"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3"/>
          </p:cNvPr>
          <p:cNvSpPr txBox="1"/>
          <p:nvPr/>
        </p:nvSpPr>
        <p:spPr>
          <a:xfrm>
            <a:off x="896112"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17" name="Rounded Rectangle 16">
            <a:hlinkClick r:id="rId4"/>
          </p:cNvPr>
          <p:cNvSpPr/>
          <p:nvPr/>
        </p:nvSpPr>
        <p:spPr>
          <a:xfrm>
            <a:off x="3127248" y="5394960"/>
            <a:ext cx="2578608"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a:hlinkClick r:id="rId4"/>
          </p:cNvPr>
          <p:cNvSpPr txBox="1"/>
          <p:nvPr/>
        </p:nvSpPr>
        <p:spPr>
          <a:xfrm>
            <a:off x="3246120" y="5486400"/>
            <a:ext cx="2395727"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19" name="Rounded Rectangle 18">
            <a:hlinkClick r:id="rId5"/>
          </p:cNvPr>
          <p:cNvSpPr/>
          <p:nvPr/>
        </p:nvSpPr>
        <p:spPr>
          <a:xfrm>
            <a:off x="6053328" y="5394960"/>
            <a:ext cx="201168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5"/>
          </p:cNvPr>
          <p:cNvSpPr txBox="1"/>
          <p:nvPr/>
        </p:nvSpPr>
        <p:spPr>
          <a:xfrm>
            <a:off x="6172200" y="5486400"/>
            <a:ext cx="1828800"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21" name="Rounded Rectangle 20">
            <a:hlinkClick r:id="rId6"/>
          </p:cNvPr>
          <p:cNvSpPr/>
          <p:nvPr/>
        </p:nvSpPr>
        <p:spPr>
          <a:xfrm>
            <a:off x="8412480" y="5394960"/>
            <a:ext cx="232257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r:id="rId6"/>
          </p:cNvPr>
          <p:cNvSpPr txBox="1"/>
          <p:nvPr/>
        </p:nvSpPr>
        <p:spPr>
          <a:xfrm>
            <a:off x="8531352" y="5486400"/>
            <a:ext cx="2139696" cy="292608"/>
          </a:xfrm>
          <a:prstGeom prst="rect">
            <a:avLst/>
          </a:prstGeom>
          <a:noFill/>
        </p:spPr>
        <p:txBody>
          <a:bodyPr wrap="square" lIns="0" rIns="0" tIns="0" bIns="0">
            <a:spAutoFit/>
          </a:bodyPr>
          <a:lstStyle/>
          <a:p>
            <a:pPr>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付録E  |  公開済みDAの保存記録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保存済みDA応答の実例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ここは再作成グラフではなく、実際に保存されたDAの入力と応答の抜粋です。</a:t>
            </a:r>
          </a:p>
          <a:p>
            <a:pPr>
              <a:spcAft>
                <a:spcPts val="500"/>
              </a:spcAft>
              <a:defRPr sz="1800" b="0">
                <a:solidFill>
                  <a:srgbClr val="566A78"/>
                </a:solidFill>
                <a:latin typeface="Yu Gothic"/>
              </a:defRPr>
            </a:pPr>
            <a:r>
              <a:rPr sz="1800" b="0" lang="ja-JP">
                <a:solidFill>
                  <a:srgbClr val="566A78"/>
                </a:solidFill>
                <a:latin typeface="Yu Gothic"/>
                <a:ea typeface="Yu Gothic"/>
              </a:rPr>
              <a:t>本編の入力①と②をまとめた、数値確認用の質問です。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入力全文と応答全文をノートに収録。保存時点の回答であり、今回の再実行結果ではない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Rounded Rectangle 8"/>
          <p:cNvSpPr/>
          <p:nvPr/>
        </p:nvSpPr>
        <p:spPr>
          <a:xfrm>
            <a:off x="594360" y="2532888"/>
            <a:ext cx="5330952" cy="3163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実際に入力したテキスト（全文）</a:t>
            </a:r>
          </a:p>
        </p:txBody>
      </p:sp>
      <p:sp>
        <p:nvSpPr>
          <p:cNvPr id="11" name="TextBox 10"/>
          <p:cNvSpPr txBox="1"/>
          <p:nvPr/>
        </p:nvSpPr>
        <p:spPr>
          <a:xfrm>
            <a:off x="822960" y="3273552"/>
            <a:ext cx="4846320" cy="2103120"/>
          </a:xfrm>
          <a:prstGeom prst="rect">
            <a:avLst/>
          </a:prstGeom>
          <a:noFill/>
        </p:spPr>
        <p:txBody>
          <a:bodyPr wrap="square" lIns="0" rIns="0" tIns="0" bIns="0">
            <a:spAutoFit/>
          </a:bodyPr>
          <a:lstStyle/>
          <a:p>
            <a:pPr>
              <a:spcAft>
                <a:spcPts val="500"/>
              </a:spcAft>
              <a:defRPr sz="1700" b="0">
                <a:solidFill>
                  <a:srgbClr val="21374A"/>
                </a:solidFill>
                <a:latin typeface="Yu Gothic"/>
              </a:defRPr>
            </a:pPr>
            <a:r>
              <a:rPr sz="1700" b="0" lang="ja-JP">
                <a:solidFill>
                  <a:srgbClr val="21374A"/>
                </a:solidFill>
                <a:latin typeface="Yu Gothic"/>
                <a:ea typeface="Yu Gothic"/>
              </a:rPr>
              <a:t>2025-10-01〜2026-09-30のactualの全額連結EBITDAと持分管理寄与EBITDAをJPYで比較してください。さらに全イベント数とCROSS_NEG/CROSS_POSを含む全10イベントのEBITDA影響JPYを示してください。primary_sector=allの横断イベントを除外しないでください。</a:t>
            </a:r>
          </a:p>
        </p:txBody>
      </p:sp>
      <p:sp>
        <p:nvSpPr>
          <p:cNvPr id="12" name="Rounded Rectangle 11"/>
          <p:cNvSpPr/>
          <p:nvPr/>
        </p:nvSpPr>
        <p:spPr>
          <a:xfrm>
            <a:off x="6263640" y="2532888"/>
            <a:ext cx="5330952" cy="31638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724912"/>
            <a:ext cx="4846320" cy="365760"/>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実際の回答（原文の一部を抜粋）</a:t>
            </a:r>
          </a:p>
        </p:txBody>
      </p:sp>
      <p:sp>
        <p:nvSpPr>
          <p:cNvPr id="14" name="TextBox 13"/>
          <p:cNvSpPr txBox="1"/>
          <p:nvPr/>
        </p:nvSpPr>
        <p:spPr>
          <a:xfrm>
            <a:off x="6492240" y="3273552"/>
            <a:ext cx="4846320" cy="2103120"/>
          </a:xfrm>
          <a:prstGeom prst="rect">
            <a:avLst/>
          </a:prstGeom>
          <a:noFill/>
        </p:spPr>
        <p:txBody>
          <a:bodyPr wrap="square" lIns="0" rIns="0" tIns="0" bIns="0">
            <a:spAutoFit/>
          </a:bodyPr>
          <a:lstStyle/>
          <a:p>
            <a:pPr>
              <a:spcAft>
                <a:spcPts val="500"/>
              </a:spcAft>
              <a:defRPr sz="1600" b="0">
                <a:solidFill>
                  <a:srgbClr val="21374A"/>
                </a:solidFill>
                <a:latin typeface="Yu Gothic"/>
              </a:defRPr>
            </a:pPr>
            <a:r>
              <a:rPr sz="1600" b="0" lang="ja-JP">
                <a:solidFill>
                  <a:srgbClr val="21374A"/>
                </a:solidFill>
                <a:latin typeface="Yu Gothic"/>
                <a:ea typeface="Yu Gothic"/>
              </a:rPr>
              <a:t>対象期間は2025-10-01〜2026-09-30（両端含む）、シナリオはactualです。</a:t>
            </a:r>
          </a:p>
          <a:p>
            <a:pPr>
              <a:spcAft>
                <a:spcPts val="500"/>
              </a:spcAft>
              <a:defRPr sz="1600" b="0">
                <a:solidFill>
                  <a:srgbClr val="21374A"/>
                </a:solidFill>
                <a:latin typeface="Yu Gothic"/>
              </a:defRPr>
            </a:pPr>
            <a:r>
              <a:rPr sz="1600" b="0" lang="ja-JP">
                <a:solidFill>
                  <a:srgbClr val="21374A"/>
                </a:solidFill>
                <a:latin typeface="Yu Gothic"/>
                <a:ea typeface="Yu Gothic"/>
              </a:rPr>
              <a:t/>
            </a:r>
          </a:p>
          <a:p>
            <a:pPr>
              <a:spcAft>
                <a:spcPts val="500"/>
              </a:spcAft>
              <a:defRPr sz="1600" b="0">
                <a:solidFill>
                  <a:srgbClr val="21374A"/>
                </a:solidFill>
                <a:latin typeface="Yu Gothic"/>
              </a:defRPr>
            </a:pPr>
            <a:r>
              <a:rPr sz="1600" b="0" lang="ja-JP">
                <a:solidFill>
                  <a:srgbClr val="21374A"/>
                </a:solidFill>
                <a:latin typeface="Yu Gothic"/>
                <a:ea typeface="Yu Gothic"/>
              </a:rPr>
              <a:t>全額連結EBITDA：</a:t>
            </a:r>
          </a:p>
          <a:p>
            <a:pPr>
              <a:spcAft>
                <a:spcPts val="500"/>
              </a:spcAft>
              <a:defRPr sz="1600" b="0">
                <a:solidFill>
                  <a:srgbClr val="21374A"/>
                </a:solidFill>
                <a:latin typeface="Yu Gothic"/>
              </a:defRPr>
            </a:pPr>
            <a:r>
              <a:rPr sz="1600" b="0" lang="ja-JP">
                <a:solidFill>
                  <a:srgbClr val="21374A"/>
                </a:solidFill>
                <a:latin typeface="Yu Gothic"/>
                <a:ea typeface="Yu Gothic"/>
              </a:rPr>
              <a:t>44,757,399,732.84円（約447.57億円）</a:t>
            </a:r>
          </a:p>
          <a:p>
            <a:pPr>
              <a:spcAft>
                <a:spcPts val="500"/>
              </a:spcAft>
              <a:defRPr sz="1600" b="0">
                <a:solidFill>
                  <a:srgbClr val="21374A"/>
                </a:solidFill>
                <a:latin typeface="Yu Gothic"/>
              </a:defRPr>
            </a:pPr>
            <a:r>
              <a:rPr sz="1600" b="0" lang="ja-JP">
                <a:solidFill>
                  <a:srgbClr val="21374A"/>
                </a:solidFill>
                <a:latin typeface="Yu Gothic"/>
                <a:ea typeface="Yu Gothic"/>
              </a:rPr>
              <a:t>持分管理寄与EBITDA：</a:t>
            </a:r>
          </a:p>
          <a:p>
            <a:pPr>
              <a:spcAft>
                <a:spcPts val="500"/>
              </a:spcAft>
              <a:defRPr sz="1600" b="0">
                <a:solidFill>
                  <a:srgbClr val="21374A"/>
                </a:solidFill>
                <a:latin typeface="Yu Gothic"/>
              </a:defRPr>
            </a:pPr>
            <a:r>
              <a:rPr sz="1600" b="0" lang="ja-JP">
                <a:solidFill>
                  <a:srgbClr val="21374A"/>
                </a:solidFill>
                <a:latin typeface="Yu Gothic"/>
                <a:ea typeface="Yu Gothic"/>
              </a:rPr>
              <a:t>33,547,898,914.09円（約335.48億円）</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付録F  |  お客様データへの当てはめ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事故・クレーム報告、納期遅延、フォースマジュール、契約変更の通知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1  |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95728"/>
            <a:ext cx="48006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18688"/>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64408"/>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511296"/>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867912"/>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13632"/>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160520"/>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517136"/>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62855"/>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809744"/>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5166360"/>
            <a:ext cx="4480560" cy="54864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212080"/>
            <a:ext cx="4206240" cy="237744"/>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458968"/>
            <a:ext cx="4206240" cy="219456"/>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TextBox 23"/>
          <p:cNvSpPr txBox="1"/>
          <p:nvPr/>
        </p:nvSpPr>
        <p:spPr>
          <a:xfrm>
            <a:off x="5623560" y="2432304"/>
            <a:ext cx="5852160" cy="310896"/>
          </a:xfrm>
          <a:prstGeom prst="rect">
            <a:avLst/>
          </a:prstGeom>
          <a:noFill/>
        </p:spPr>
        <p:txBody>
          <a:bodyPr wrap="square" lIns="0" rIns="0" tIns="0" bIns="0">
            <a:spAutoFit/>
          </a:bodyPr>
          <a:lstStyle/>
          <a:p>
            <a:pPr>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25" name="TextBox 24"/>
          <p:cNvSpPr txBox="1"/>
          <p:nvPr/>
        </p:nvSpPr>
        <p:spPr>
          <a:xfrm>
            <a:off x="5623560"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26" name="Rounded Rectangle 25"/>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96712"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28" name="TextBox 27"/>
          <p:cNvSpPr txBox="1"/>
          <p:nvPr/>
        </p:nvSpPr>
        <p:spPr>
          <a:xfrm>
            <a:off x="5696712"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29" name="Rounded Rectangle 28"/>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96712"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1" name="TextBox 30"/>
          <p:cNvSpPr txBox="1"/>
          <p:nvPr/>
        </p:nvSpPr>
        <p:spPr>
          <a:xfrm>
            <a:off x="5696712"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2" name="TextBox 31"/>
          <p:cNvSpPr txBox="1"/>
          <p:nvPr/>
        </p:nvSpPr>
        <p:spPr>
          <a:xfrm>
            <a:off x="7150608"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3" name="Rounded Rectangle 32"/>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35" name="TextBox 34"/>
          <p:cNvSpPr txBox="1"/>
          <p:nvPr/>
        </p:nvSpPr>
        <p:spPr>
          <a:xfrm>
            <a:off x="7223760"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6" name="Rounded Rectangle 35"/>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23760"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38" name="TextBox 37"/>
          <p:cNvSpPr txBox="1"/>
          <p:nvPr/>
        </p:nvSpPr>
        <p:spPr>
          <a:xfrm>
            <a:off x="7223760"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9" name="TextBox 38"/>
          <p:cNvSpPr txBox="1"/>
          <p:nvPr/>
        </p:nvSpPr>
        <p:spPr>
          <a:xfrm>
            <a:off x="8677656"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0" name="Rounded Rectangle 39"/>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50808"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2" name="TextBox 41"/>
          <p:cNvSpPr txBox="1"/>
          <p:nvPr/>
        </p:nvSpPr>
        <p:spPr>
          <a:xfrm>
            <a:off x="8750808"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3" name="Rounded Rectangle 42"/>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50808"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45" name="TextBox 44"/>
          <p:cNvSpPr txBox="1"/>
          <p:nvPr/>
        </p:nvSpPr>
        <p:spPr>
          <a:xfrm>
            <a:off x="8750808"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6" name="TextBox 45"/>
          <p:cNvSpPr txBox="1"/>
          <p:nvPr/>
        </p:nvSpPr>
        <p:spPr>
          <a:xfrm>
            <a:off x="10204704" y="2816352"/>
            <a:ext cx="1371600" cy="256032"/>
          </a:xfrm>
          <a:prstGeom prst="rect">
            <a:avLst/>
          </a:prstGeom>
          <a:noFill/>
        </p:spPr>
        <p:txBody>
          <a:bodyPr wrap="square" lIns="0" rIns="0" tIns="0" bIns="0">
            <a:spAutoFit/>
          </a:bodyPr>
          <a:lstStyle/>
          <a:p>
            <a:pPr algn="ctr">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47" name="Rounded Rectangle 46"/>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77856" y="3218688"/>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49" name="TextBox 48"/>
          <p:cNvSpPr txBox="1"/>
          <p:nvPr/>
        </p:nvSpPr>
        <p:spPr>
          <a:xfrm>
            <a:off x="10277856" y="3511296"/>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0" name="Rounded Rectangle 49"/>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277856" y="4059936"/>
            <a:ext cx="1225296" cy="219456"/>
          </a:xfrm>
          <a:prstGeom prst="rect">
            <a:avLst/>
          </a:prstGeom>
          <a:noFill/>
        </p:spPr>
        <p:txBody>
          <a:bodyPr wrap="square" lIns="0" rIns="0" tIns="0" bIns="0">
            <a:spAutoFit/>
          </a:bodyPr>
          <a:lstStyle/>
          <a:p>
            <a:pPr>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2" name="TextBox 51"/>
          <p:cNvSpPr txBox="1"/>
          <p:nvPr/>
        </p:nvSpPr>
        <p:spPr>
          <a:xfrm>
            <a:off x="10277856" y="4352544"/>
            <a:ext cx="1225296"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3" name="Rounded Rectangle 52"/>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79008" y="5029200"/>
            <a:ext cx="5715000" cy="73152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4  |  Ontology</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表の名前や列の組合せではなく、「何が」「何と」つながるかを定義します。</a:t>
            </a:r>
          </a:p>
          <a:p>
            <a:pPr>
              <a:spcAft>
                <a:spcPts val="500"/>
              </a:spcAft>
              <a:defRPr sz="1800" b="0">
                <a:solidFill>
                  <a:srgbClr val="566A78"/>
                </a:solidFill>
                <a:latin typeface="Yu Gothic"/>
              </a:defRPr>
            </a:pPr>
            <a:r>
              <a:rPr sz="1800" b="0" lang="ja-JP">
                <a:solidFill>
                  <a:srgbClr val="566A78"/>
                </a:solidFill>
                <a:latin typeface="Yu Gothic"/>
                <a:ea typeface="Yu Gothic"/>
              </a:rPr>
              <a:t>定義したのは17種類の実体と39種類の関係で、本体9実体と業種拡張8実体に分かれます。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矢印は主な関係だけを描いている。全39種類は「39種類の関係と読み方」にある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Rounded Rectangle 8"/>
          <p:cNvSpPr/>
          <p:nvPr/>
        </p:nvSpPr>
        <p:spPr>
          <a:xfrm>
            <a:off x="594360"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578608"/>
            <a:ext cx="1261872" cy="292608"/>
          </a:xfrm>
          <a:prstGeom prst="rect">
            <a:avLst/>
          </a:prstGeom>
          <a:noFill/>
        </p:spPr>
        <p:txBody>
          <a:bodyPr wrap="square" lIns="0" rIns="0" tIns="0" bIns="0">
            <a:spAutoFit/>
          </a:bodyPr>
          <a:lstStyle/>
          <a:p>
            <a:pPr>
              <a:spcAft>
                <a:spcPts val="500"/>
              </a:spcAft>
              <a:defRPr sz="1500" b="1">
                <a:solidFill>
                  <a:srgbClr val="566A78"/>
                </a:solidFill>
                <a:latin typeface="Yu Gothic"/>
              </a:defRPr>
            </a:pPr>
            <a:r>
              <a:rPr sz="1500" b="1" lang="ja-JP">
                <a:solidFill>
                  <a:srgbClr val="566A78"/>
                </a:solidFill>
                <a:latin typeface="Yu Gothic"/>
                <a:ea typeface="Yu Gothic"/>
              </a:rPr>
              <a:t>根拠</a:t>
            </a:r>
          </a:p>
        </p:txBody>
      </p:sp>
      <p:sp>
        <p:nvSpPr>
          <p:cNvPr id="11" name="TextBox 10"/>
          <p:cNvSpPr txBox="1"/>
          <p:nvPr/>
        </p:nvSpPr>
        <p:spPr>
          <a:xfrm>
            <a:off x="704088"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Evidence</a:t>
            </a:r>
          </a:p>
        </p:txBody>
      </p:sp>
      <p:sp>
        <p:nvSpPr>
          <p:cNvPr id="12" name="Rounded Rectangle 11"/>
          <p:cNvSpPr/>
          <p:nvPr/>
        </p:nvSpPr>
        <p:spPr>
          <a:xfrm>
            <a:off x="2944368"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54096" y="2578608"/>
            <a:ext cx="1261872" cy="292608"/>
          </a:xfrm>
          <a:prstGeom prst="rect">
            <a:avLst/>
          </a:prstGeom>
          <a:noFill/>
        </p:spPr>
        <p:txBody>
          <a:bodyPr wrap="square" lIns="0" rIns="0" tIns="0" bIns="0">
            <a:spAutoFit/>
          </a:bodyPr>
          <a:lstStyle/>
          <a:p>
            <a:pPr>
              <a:spcAft>
                <a:spcPts val="500"/>
              </a:spcAft>
              <a:defRPr sz="1500" b="1">
                <a:solidFill>
                  <a:srgbClr val="BD4354"/>
                </a:solidFill>
                <a:latin typeface="Yu Gothic"/>
              </a:defRPr>
            </a:pPr>
            <a:r>
              <a:rPr sz="1500" b="1" lang="ja-JP">
                <a:solidFill>
                  <a:srgbClr val="BD4354"/>
                </a:solidFill>
                <a:latin typeface="Yu Gothic"/>
                <a:ea typeface="Yu Gothic"/>
              </a:rPr>
              <a:t>イベント</a:t>
            </a:r>
          </a:p>
        </p:txBody>
      </p:sp>
      <p:sp>
        <p:nvSpPr>
          <p:cNvPr id="14" name="TextBox 13"/>
          <p:cNvSpPr txBox="1"/>
          <p:nvPr/>
        </p:nvSpPr>
        <p:spPr>
          <a:xfrm>
            <a:off x="3054096"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RiskEvent</a:t>
            </a:r>
          </a:p>
        </p:txBody>
      </p:sp>
      <p:sp>
        <p:nvSpPr>
          <p:cNvPr id="15" name="Rounded Rectangle 14"/>
          <p:cNvSpPr/>
          <p:nvPr/>
        </p:nvSpPr>
        <p:spPr>
          <a:xfrm>
            <a:off x="5294376"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04104" y="2578608"/>
            <a:ext cx="1261872" cy="292608"/>
          </a:xfrm>
          <a:prstGeom prst="rect">
            <a:avLst/>
          </a:prstGeom>
          <a:noFill/>
        </p:spPr>
        <p:txBody>
          <a:bodyPr wrap="square" lIns="0" rIns="0" tIns="0" bIns="0">
            <a:spAutoFit/>
          </a:bodyPr>
          <a:lstStyle/>
          <a:p>
            <a:pPr>
              <a:spcAft>
                <a:spcPts val="500"/>
              </a:spcAft>
              <a:defRPr sz="1500" b="1">
                <a:solidFill>
                  <a:srgbClr val="7352AD"/>
                </a:solidFill>
                <a:latin typeface="Yu Gothic"/>
              </a:defRPr>
            </a:pPr>
            <a:r>
              <a:rPr sz="1500" b="1" lang="ja-JP">
                <a:solidFill>
                  <a:srgbClr val="7352AD"/>
                </a:solidFill>
                <a:latin typeface="Yu Gothic"/>
                <a:ea typeface="Yu Gothic"/>
              </a:rPr>
              <a:t>効果</a:t>
            </a:r>
          </a:p>
        </p:txBody>
      </p:sp>
      <p:sp>
        <p:nvSpPr>
          <p:cNvPr id="17" name="TextBox 16"/>
          <p:cNvSpPr txBox="1"/>
          <p:nvPr/>
        </p:nvSpPr>
        <p:spPr>
          <a:xfrm>
            <a:off x="5404104"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FinancialEffect</a:t>
            </a:r>
          </a:p>
        </p:txBody>
      </p:sp>
      <p:sp>
        <p:nvSpPr>
          <p:cNvPr id="18" name="Rounded Rectangle 17"/>
          <p:cNvSpPr/>
          <p:nvPr/>
        </p:nvSpPr>
        <p:spPr>
          <a:xfrm>
            <a:off x="7644383"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54111"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日次指標</a:t>
            </a:r>
          </a:p>
        </p:txBody>
      </p:sp>
      <p:sp>
        <p:nvSpPr>
          <p:cNvPr id="20" name="TextBox 19"/>
          <p:cNvSpPr txBox="1"/>
          <p:nvPr/>
        </p:nvSpPr>
        <p:spPr>
          <a:xfrm>
            <a:off x="7754111"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FinancialMetric</a:t>
            </a:r>
          </a:p>
        </p:txBody>
      </p:sp>
      <p:sp>
        <p:nvSpPr>
          <p:cNvPr id="21" name="Rounded Rectangle 20"/>
          <p:cNvSpPr/>
          <p:nvPr/>
        </p:nvSpPr>
        <p:spPr>
          <a:xfrm>
            <a:off x="9994392" y="2487168"/>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04119" y="2578608"/>
            <a:ext cx="1261872" cy="292608"/>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全社KPI</a:t>
            </a:r>
          </a:p>
        </p:txBody>
      </p:sp>
      <p:sp>
        <p:nvSpPr>
          <p:cNvPr id="23" name="TextBox 22"/>
          <p:cNvSpPr txBox="1"/>
          <p:nvPr/>
        </p:nvSpPr>
        <p:spPr>
          <a:xfrm>
            <a:off x="10104119" y="291693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GroupKPI</a:t>
            </a:r>
          </a:p>
        </p:txBody>
      </p:sp>
      <p:sp>
        <p:nvSpPr>
          <p:cNvPr id="24" name="Rounded Rectangle 23"/>
          <p:cNvSpPr/>
          <p:nvPr/>
        </p:nvSpPr>
        <p:spPr>
          <a:xfrm>
            <a:off x="594360"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業種拡張 ×8</a:t>
            </a:r>
          </a:p>
        </p:txBody>
      </p:sp>
      <p:sp>
        <p:nvSpPr>
          <p:cNvPr id="26" name="TextBox 25"/>
          <p:cNvSpPr txBox="1"/>
          <p:nvPr/>
        </p:nvSpPr>
        <p:spPr>
          <a:xfrm>
            <a:off x="704088"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4業種 × 日米</a:t>
            </a:r>
          </a:p>
        </p:txBody>
      </p:sp>
      <p:sp>
        <p:nvSpPr>
          <p:cNvPr id="27" name="Rounded Rectangle 26"/>
          <p:cNvSpPr/>
          <p:nvPr/>
        </p:nvSpPr>
        <p:spPr>
          <a:xfrm>
            <a:off x="2944368"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54096"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活動</a:t>
            </a:r>
          </a:p>
        </p:txBody>
      </p:sp>
      <p:sp>
        <p:nvSpPr>
          <p:cNvPr id="29" name="TextBox 28"/>
          <p:cNvSpPr txBox="1"/>
          <p:nvPr/>
        </p:nvSpPr>
        <p:spPr>
          <a:xfrm>
            <a:off x="3054096"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Activity</a:t>
            </a:r>
          </a:p>
        </p:txBody>
      </p:sp>
      <p:sp>
        <p:nvSpPr>
          <p:cNvPr id="30" name="Rounded Rectangle 29"/>
          <p:cNvSpPr/>
          <p:nvPr/>
        </p:nvSpPr>
        <p:spPr>
          <a:xfrm>
            <a:off x="5294376" y="3840480"/>
            <a:ext cx="1481328"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4" y="3931920"/>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契約</a:t>
            </a:r>
          </a:p>
        </p:txBody>
      </p:sp>
      <p:sp>
        <p:nvSpPr>
          <p:cNvPr id="32" name="TextBox 31"/>
          <p:cNvSpPr txBox="1"/>
          <p:nvPr/>
        </p:nvSpPr>
        <p:spPr>
          <a:xfrm>
            <a:off x="5404104" y="4270248"/>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Contract</a:t>
            </a:r>
          </a:p>
        </p:txBody>
      </p:sp>
      <p:sp>
        <p:nvSpPr>
          <p:cNvPr id="33" name="Rounded Rectangle 32"/>
          <p:cNvSpPr/>
          <p:nvPr/>
        </p:nvSpPr>
        <p:spPr>
          <a:xfrm>
            <a:off x="2944368" y="5138928"/>
            <a:ext cx="1481328" cy="640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54096" y="5230368"/>
            <a:ext cx="1261872" cy="292608"/>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出荷</a:t>
            </a:r>
          </a:p>
        </p:txBody>
      </p:sp>
      <p:sp>
        <p:nvSpPr>
          <p:cNvPr id="35" name="TextBox 34"/>
          <p:cNvSpPr txBox="1"/>
          <p:nvPr/>
        </p:nvSpPr>
        <p:spPr>
          <a:xfrm>
            <a:off x="3054096" y="5477256"/>
            <a:ext cx="1261872"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Shipment</a:t>
            </a:r>
          </a:p>
        </p:txBody>
      </p:sp>
      <p:cxnSp>
        <p:nvCxnSpPr>
          <p:cNvPr id="36" name="Connector 35"/>
          <p:cNvCxnSpPr/>
          <p:nvPr/>
        </p:nvCxnSpPr>
        <p:spPr>
          <a:xfrm>
            <a:off x="2103120" y="2852928"/>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075688"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38" name="Connector 37"/>
          <p:cNvCxnSpPr/>
          <p:nvPr/>
        </p:nvCxnSpPr>
        <p:spPr>
          <a:xfrm>
            <a:off x="4453128" y="2852928"/>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425696"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0" name="Connector 39"/>
          <p:cNvCxnSpPr/>
          <p:nvPr/>
        </p:nvCxnSpPr>
        <p:spPr>
          <a:xfrm>
            <a:off x="6803136" y="2852928"/>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775704"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42" name="Connector 41"/>
          <p:cNvCxnSpPr/>
          <p:nvPr/>
        </p:nvCxnSpPr>
        <p:spPr>
          <a:xfrm>
            <a:off x="9153144" y="2852928"/>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125712" y="256032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44" name="Connector 43"/>
          <p:cNvCxnSpPr/>
          <p:nvPr/>
        </p:nvCxnSpPr>
        <p:spPr>
          <a:xfrm>
            <a:off x="2103120"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075688"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46" name="Connector 45"/>
          <p:cNvCxnSpPr/>
          <p:nvPr/>
        </p:nvCxnSpPr>
        <p:spPr>
          <a:xfrm>
            <a:off x="4453128" y="4206240"/>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425696" y="4297680"/>
            <a:ext cx="86868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48" name="Connector 47"/>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3296412" y="3410712"/>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6412" y="3438144"/>
            <a:ext cx="77724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51" name="Connector 50"/>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5577840" y="3410712"/>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577840" y="3438144"/>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54" name="Connector 53"/>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4507992" y="3483864"/>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7992" y="3511296"/>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57" name="Connector 56"/>
          <p:cNvCxnSpPr/>
          <p:nvPr/>
        </p:nvCxnSpPr>
        <p:spPr>
          <a:xfrm flipV="1">
            <a:off x="3685032" y="4626864"/>
            <a:ext cx="0" cy="4754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73552" y="4754880"/>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73552" y="4782312"/>
            <a:ext cx="82296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0" name="Connector 59"/>
          <p:cNvCxnSpPr/>
          <p:nvPr/>
        </p:nvCxnSpPr>
        <p:spPr>
          <a:xfrm flipV="1">
            <a:off x="4453128" y="4608576"/>
            <a:ext cx="941832" cy="649224"/>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462272" y="48188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62272" y="4846320"/>
            <a:ext cx="914400" cy="219456"/>
          </a:xfrm>
          <a:prstGeom prst="rect">
            <a:avLst/>
          </a:prstGeom>
          <a:noFill/>
        </p:spPr>
        <p:txBody>
          <a:bodyPr wrap="square" lIns="0" rIns="0" tIns="0" bIns="0">
            <a:spAutoFit/>
          </a:bodyPr>
          <a:lstStyle/>
          <a:p>
            <a:pPr algn="ctr">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63" name="Rounded Rectangle 62"/>
          <p:cNvSpPr/>
          <p:nvPr/>
        </p:nvSpPr>
        <p:spPr>
          <a:xfrm>
            <a:off x="5760720" y="5138928"/>
            <a:ext cx="5715000" cy="64008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0" y="5248656"/>
            <a:ext cx="914400" cy="274320"/>
          </a:xfrm>
          <a:prstGeom prst="rect">
            <a:avLst/>
          </a:prstGeom>
          <a:noFill/>
        </p:spPr>
        <p:txBody>
          <a:bodyPr wrap="square" lIns="0" rIns="0" tIns="0" bIns="0">
            <a:spAutoFit/>
          </a:bodyPr>
          <a:lstStyle/>
          <a:p>
            <a:pPr>
              <a:spcAft>
                <a:spcPts val="500"/>
              </a:spcAft>
              <a:defRPr sz="1500" b="1">
                <a:solidFill>
                  <a:srgbClr val="17334A"/>
                </a:solidFill>
                <a:latin typeface="Yu Gothic"/>
              </a:defRPr>
            </a:pPr>
            <a:r>
              <a:rPr sz="1500" b="1" lang="ja-JP">
                <a:solidFill>
                  <a:srgbClr val="17334A"/>
                </a:solidFill>
                <a:latin typeface="Yu Gothic"/>
                <a:ea typeface="Yu Gothic"/>
              </a:rPr>
              <a:t>会社</a:t>
            </a:r>
          </a:p>
        </p:txBody>
      </p:sp>
      <p:sp>
        <p:nvSpPr>
          <p:cNvPr id="65" name="TextBox 64"/>
          <p:cNvSpPr txBox="1"/>
          <p:nvPr/>
        </p:nvSpPr>
        <p:spPr>
          <a:xfrm>
            <a:off x="5943600" y="5504688"/>
            <a:ext cx="1097280" cy="219456"/>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Company</a:t>
            </a:r>
          </a:p>
        </p:txBody>
      </p:sp>
      <p:sp>
        <p:nvSpPr>
          <p:cNvPr id="66" name="TextBox 65"/>
          <p:cNvSpPr txBox="1"/>
          <p:nvPr/>
        </p:nvSpPr>
        <p:spPr>
          <a:xfrm>
            <a:off x="7086600" y="5321808"/>
            <a:ext cx="4297680" cy="27432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契約、活動、効果、日次指標の持ち主（4種類の関係）</a:t>
            </a:r>
          </a:p>
        </p:txBody>
      </p:sp>
      <p:sp>
        <p:nvSpPr>
          <p:cNvPr id="67" name="Rounded Rectangle 66"/>
          <p:cNvSpPr/>
          <p:nvPr/>
        </p:nvSpPr>
        <p:spPr>
          <a:xfrm>
            <a:off x="7644383" y="3840480"/>
            <a:ext cx="3831336"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27264" y="3931920"/>
            <a:ext cx="3474720" cy="256032"/>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矢印の色と向き</a:t>
            </a:r>
          </a:p>
        </p:txBody>
      </p:sp>
      <p:sp>
        <p:nvSpPr>
          <p:cNvPr id="69" name="TextBox 68"/>
          <p:cNvSpPr txBox="1"/>
          <p:nvPr/>
        </p:nvSpPr>
        <p:spPr>
          <a:xfrm>
            <a:off x="7827264" y="4224528"/>
            <a:ext cx="1005840" cy="237744"/>
          </a:xfrm>
          <a:prstGeom prst="rect">
            <a:avLst/>
          </a:prstGeom>
          <a:noFill/>
        </p:spPr>
        <p:txBody>
          <a:bodyPr wrap="square" lIns="0" rIns="0" tIns="0" bIns="0">
            <a:spAutoFit/>
          </a:bodyPr>
          <a:lstStyle/>
          <a:p>
            <a:pPr>
              <a:spcAft>
                <a:spcPts val="500"/>
              </a:spcAft>
              <a:defRPr sz="1150" b="1">
                <a:solidFill>
                  <a:srgbClr val="566A78"/>
                </a:solidFill>
                <a:latin typeface="Yu Gothic"/>
              </a:defRPr>
            </a:pPr>
            <a:r>
              <a:rPr sz="1150" b="1" lang="ja-JP">
                <a:solidFill>
                  <a:srgbClr val="566A78"/>
                </a:solidFill>
                <a:latin typeface="Yu Gothic"/>
                <a:ea typeface="Yu Gothic"/>
              </a:rPr>
              <a:t>灰：関連</a:t>
            </a:r>
          </a:p>
        </p:txBody>
      </p:sp>
      <p:sp>
        <p:nvSpPr>
          <p:cNvPr id="70" name="TextBox 69"/>
          <p:cNvSpPr txBox="1"/>
          <p:nvPr/>
        </p:nvSpPr>
        <p:spPr>
          <a:xfrm>
            <a:off x="8924544" y="4224528"/>
            <a:ext cx="1005840" cy="237744"/>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紫：配賦</a:t>
            </a:r>
          </a:p>
        </p:txBody>
      </p:sp>
      <p:sp>
        <p:nvSpPr>
          <p:cNvPr id="71" name="TextBox 70"/>
          <p:cNvSpPr txBox="1"/>
          <p:nvPr/>
        </p:nvSpPr>
        <p:spPr>
          <a:xfrm>
            <a:off x="10021824" y="4224528"/>
            <a:ext cx="1005840" cy="237744"/>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緑：集約</a:t>
            </a:r>
          </a:p>
        </p:txBody>
      </p:sp>
      <p:sp>
        <p:nvSpPr>
          <p:cNvPr id="72" name="TextBox 71"/>
          <p:cNvSpPr txBox="1"/>
          <p:nvPr/>
        </p:nvSpPr>
        <p:spPr>
          <a:xfrm>
            <a:off x="7827264" y="4498848"/>
            <a:ext cx="3520440" cy="237744"/>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向きは関係の定義の向きで、因果の証明ではない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5  |  Ontologyのバインディング</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6  |  Ontologyの関係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構成の解説 7  |  設計判断</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Ontologyの実体に結び付けられる表は、1つです。</a:t>
            </a:r>
          </a:p>
          <a:p>
            <a:pPr>
              <a:spcAft>
                <a:spcPts val="500"/>
              </a:spcAft>
              <a:defRPr sz="1800" b="0">
                <a:solidFill>
                  <a:srgbClr val="566A78"/>
                </a:solidFill>
                <a:latin typeface="Yu Gothic"/>
              </a:defRPr>
            </a:pPr>
            <a:r>
              <a:rPr sz="1800" b="0" lang="ja-JP">
                <a:solidFill>
                  <a:srgbClr val="566A78"/>
                </a:solidFill>
                <a:latin typeface="Yu Gothic"/>
                <a:ea typeface="Yu Gothic"/>
              </a:rPr>
              <a:t>8社に分かれた原本のままでは、同じ種類の実体を会社ごとに別々に定義することになります。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定義を差し替えたら、バインディングの再適用とグラフ更新が必要。取り込み成功だけでは照会できない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Rounded Rectangle 8"/>
          <p:cNvSpPr/>
          <p:nvPr/>
        </p:nvSpPr>
        <p:spPr>
          <a:xfrm>
            <a:off x="576072"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62072"/>
            <a:ext cx="594360" cy="475488"/>
          </a:xfrm>
          <a:prstGeom prst="rect">
            <a:avLst/>
          </a:prstGeom>
          <a:noFill/>
        </p:spPr>
        <p:txBody>
          <a:bodyPr wrap="square" lIns="0" rIns="0" tIns="0" bIns="0">
            <a:spAutoFit/>
          </a:bodyPr>
          <a:lstStyle/>
          <a:p>
            <a:pPr>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898648"/>
            <a:ext cx="2359152" cy="438912"/>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8社分を1表に統合</a:t>
            </a:r>
          </a:p>
        </p:txBody>
      </p:sp>
      <p:sp>
        <p:nvSpPr>
          <p:cNvPr id="12" name="TextBox 11"/>
          <p:cNvSpPr txBox="1"/>
          <p:nvPr/>
        </p:nvSpPr>
        <p:spPr>
          <a:xfrm>
            <a:off x="804672"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実体1つに結べる表は1つ</a:t>
            </a:r>
          </a:p>
          <a:p>
            <a:pPr>
              <a:spcAft>
                <a:spcPts val="500"/>
              </a:spcAft>
              <a:defRPr sz="1800" b="0">
                <a:solidFill>
                  <a:srgbClr val="21374A"/>
                </a:solidFill>
                <a:latin typeface="Yu Gothic"/>
              </a:defRPr>
            </a:pPr>
            <a:r>
              <a:rPr sz="1800" b="0" lang="ja-JP">
                <a:solidFill>
                  <a:srgbClr val="21374A"/>
                </a:solidFill>
                <a:latin typeface="Yu Gothic"/>
                <a:ea typeface="Yu Gothic"/>
              </a:rPr>
              <a:t>親に投影表を作成</a:t>
            </a:r>
          </a:p>
          <a:p>
            <a:pPr>
              <a:spcAft>
                <a:spcPts val="500"/>
              </a:spcAft>
              <a:defRPr sz="1800" b="0">
                <a:solidFill>
                  <a:srgbClr val="21374A"/>
                </a:solidFill>
                <a:latin typeface="Yu Gothic"/>
              </a:defRPr>
            </a:pPr>
            <a:r>
              <a:rPr sz="1800" b="0" lang="ja-JP">
                <a:solidFill>
                  <a:srgbClr val="21374A"/>
                </a:solidFill>
                <a:latin typeface="Yu Gothic"/>
                <a:ea typeface="Yu Gothic"/>
              </a:rPr>
              <a:t>原本の場所は列で保持</a:t>
            </a:r>
          </a:p>
        </p:txBody>
      </p:sp>
      <p:sp>
        <p:nvSpPr>
          <p:cNvPr id="13" name="TextBox 12"/>
          <p:cNvSpPr txBox="1"/>
          <p:nvPr/>
        </p:nvSpPr>
        <p:spPr>
          <a:xfrm>
            <a:off x="804672"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例：semantic_risk_events</a:t>
            </a:r>
          </a:p>
        </p:txBody>
      </p:sp>
      <p:sp>
        <p:nvSpPr>
          <p:cNvPr id="14" name="Rounded Rectangle 13"/>
          <p:cNvSpPr/>
          <p:nvPr/>
        </p:nvSpPr>
        <p:spPr>
          <a:xfrm>
            <a:off x="4361688"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5" y="2862072"/>
            <a:ext cx="594360" cy="475488"/>
          </a:xfrm>
          <a:prstGeom prst="rect">
            <a:avLst/>
          </a:prstGeom>
          <a:noFill/>
        </p:spPr>
        <p:txBody>
          <a:bodyPr wrap="square" lIns="0" rIns="0" tIns="0" bIns="0">
            <a:spAutoFit/>
          </a:bodyPr>
          <a:lstStyle/>
          <a:p>
            <a:pPr>
              <a:spcAft>
                <a:spcPts val="500"/>
              </a:spcAft>
              <a:defRPr sz="3000" b="1">
                <a:solidFill>
                  <a:srgbClr val="7352AD"/>
                </a:solidFill>
                <a:latin typeface="Yu Gothic"/>
              </a:defRPr>
            </a:pPr>
            <a:r>
              <a:rPr sz="3000" b="1" lang="ja-JP">
                <a:solidFill>
                  <a:srgbClr val="7352AD"/>
                </a:solidFill>
                <a:latin typeface="Yu Gothic"/>
                <a:ea typeface="Yu Gothic"/>
              </a:rPr>
              <a:t>2</a:t>
            </a:r>
          </a:p>
        </p:txBody>
      </p:sp>
      <p:sp>
        <p:nvSpPr>
          <p:cNvPr id="16" name="TextBox 15"/>
          <p:cNvSpPr txBox="1"/>
          <p:nvPr/>
        </p:nvSpPr>
        <p:spPr>
          <a:xfrm>
            <a:off x="5257800" y="2898648"/>
            <a:ext cx="2359152" cy="438912"/>
          </a:xfrm>
          <a:prstGeom prst="rect">
            <a:avLst/>
          </a:prstGeom>
          <a:noFill/>
        </p:spPr>
        <p:txBody>
          <a:bodyPr wrap="square" lIns="0" rIns="0" tIns="0" bIns="0">
            <a:spAutoFit/>
          </a:bodyPr>
          <a:lstStyle/>
          <a:p>
            <a:pPr>
              <a:spcAft>
                <a:spcPts val="500"/>
              </a:spcAft>
              <a:defRPr sz="2200" b="1">
                <a:solidFill>
                  <a:srgbClr val="7352AD"/>
                </a:solidFill>
                <a:latin typeface="Yu Gothic"/>
              </a:defRPr>
            </a:pPr>
            <a:r>
              <a:rPr sz="2200" b="1" lang="ja-JP">
                <a:solidFill>
                  <a:srgbClr val="7352AD"/>
                </a:solidFill>
                <a:latin typeface="Yu Gothic"/>
                <a:ea typeface="Yu Gothic"/>
              </a:rPr>
              <a:t>業種拡張を分離</a:t>
            </a:r>
          </a:p>
        </p:txBody>
      </p:sp>
      <p:sp>
        <p:nvSpPr>
          <p:cNvPr id="17" name="TextBox 16"/>
          <p:cNvSpPr txBox="1"/>
          <p:nvPr/>
        </p:nvSpPr>
        <p:spPr>
          <a:xfrm>
            <a:off x="4590288"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項目が業種で異なる</a:t>
            </a:r>
          </a:p>
          <a:p>
            <a:pPr>
              <a:spcAft>
                <a:spcPts val="500"/>
              </a:spcAft>
              <a:defRPr sz="1800" b="0">
                <a:solidFill>
                  <a:srgbClr val="21374A"/>
                </a:solidFill>
                <a:latin typeface="Yu Gothic"/>
              </a:defRPr>
            </a:pPr>
            <a:r>
              <a:rPr sz="1800" b="0" lang="ja-JP">
                <a:solidFill>
                  <a:srgbClr val="21374A"/>
                </a:solidFill>
                <a:latin typeface="Yu Gothic"/>
                <a:ea typeface="Yu Gothic"/>
              </a:rPr>
              <a:t>日米×4業種で8実体</a:t>
            </a:r>
          </a:p>
          <a:p>
            <a:pPr>
              <a:spcAft>
                <a:spcPts val="500"/>
              </a:spcAft>
              <a:defRPr sz="1800" b="0">
                <a:solidFill>
                  <a:srgbClr val="21374A"/>
                </a:solidFill>
                <a:latin typeface="Yu Gothic"/>
              </a:defRPr>
            </a:pPr>
            <a:r>
              <a:rPr sz="1800" b="0" lang="ja-JP">
                <a:solidFill>
                  <a:srgbClr val="21374A"/>
                </a:solidFill>
                <a:latin typeface="Yu Gothic"/>
                <a:ea typeface="Yu Gothic"/>
              </a:rPr>
              <a:t>データはコピーしない</a:t>
            </a:r>
          </a:p>
        </p:txBody>
      </p:sp>
      <p:sp>
        <p:nvSpPr>
          <p:cNvPr id="18" name="TextBox 17"/>
          <p:cNvSpPr txBox="1"/>
          <p:nvPr/>
        </p:nvSpPr>
        <p:spPr>
          <a:xfrm>
            <a:off x="4590288"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例：raw_metals_jp_extension</a:t>
            </a:r>
          </a:p>
        </p:txBody>
      </p:sp>
      <p:sp>
        <p:nvSpPr>
          <p:cNvPr id="19" name="Rounded Rectangle 18"/>
          <p:cNvSpPr/>
          <p:nvPr/>
        </p:nvSpPr>
        <p:spPr>
          <a:xfrm>
            <a:off x="8147304" y="2697480"/>
            <a:ext cx="3456432"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8472" y="2862072"/>
            <a:ext cx="594360" cy="475488"/>
          </a:xfrm>
          <a:prstGeom prst="rect">
            <a:avLst/>
          </a:prstGeom>
          <a:noFill/>
        </p:spPr>
        <p:txBody>
          <a:bodyPr wrap="square" lIns="0" rIns="0" tIns="0" bIns="0">
            <a:spAutoFit/>
          </a:bodyPr>
          <a:lstStyle/>
          <a:p>
            <a:pPr>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21" name="TextBox 20"/>
          <p:cNvSpPr txBox="1"/>
          <p:nvPr/>
        </p:nvSpPr>
        <p:spPr>
          <a:xfrm>
            <a:off x="9043416" y="2898648"/>
            <a:ext cx="2359152" cy="438912"/>
          </a:xfrm>
          <a:prstGeom prst="rect">
            <a:avLst/>
          </a:prstGeom>
          <a:noFill/>
        </p:spPr>
        <p:txBody>
          <a:bodyPr wrap="square" lIns="0" rIns="0" tIns="0" bIns="0">
            <a:spAutoFit/>
          </a:bodyPr>
          <a:lstStyle/>
          <a:p>
            <a:pPr>
              <a:spcAft>
                <a:spcPts val="500"/>
              </a:spcAft>
              <a:defRPr sz="2200" b="1">
                <a:solidFill>
                  <a:srgbClr val="BD4354"/>
                </a:solidFill>
                <a:latin typeface="Yu Gothic"/>
              </a:defRPr>
            </a:pPr>
            <a:r>
              <a:rPr sz="2200" b="1" lang="ja-JP">
                <a:solidFill>
                  <a:srgbClr val="BD4354"/>
                </a:solidFill>
                <a:latin typeface="Yu Gothic"/>
                <a:ea typeface="Yu Gothic"/>
              </a:rPr>
              <a:t>多対多はリンク表</a:t>
            </a:r>
          </a:p>
        </p:txBody>
      </p:sp>
      <p:sp>
        <p:nvSpPr>
          <p:cNvPr id="22" name="TextBox 21"/>
          <p:cNvSpPr txBox="1"/>
          <p:nvPr/>
        </p:nvSpPr>
        <p:spPr>
          <a:xfrm>
            <a:off x="8375904" y="3566160"/>
            <a:ext cx="2999232" cy="1664208"/>
          </a:xfrm>
          <a:prstGeom prst="rect">
            <a:avLst/>
          </a:prstGeom>
          <a:noFill/>
        </p:spPr>
        <p:txBody>
          <a:bodyPr wrap="square" lIns="0" rIns="0" tIns="0" bIns="0">
            <a:spAutoFit/>
          </a:bodyPr>
          <a:lstStyle/>
          <a:p>
            <a:pPr>
              <a:spcAft>
                <a:spcPts val="500"/>
              </a:spcAft>
              <a:defRPr sz="1800" b="0">
                <a:solidFill>
                  <a:srgbClr val="21374A"/>
                </a:solidFill>
                <a:latin typeface="Yu Gothic"/>
              </a:defRPr>
            </a:pPr>
            <a:r>
              <a:rPr sz="1800" b="0" lang="ja-JP">
                <a:solidFill>
                  <a:srgbClr val="21374A"/>
                </a:solidFill>
                <a:latin typeface="Yu Gothic"/>
                <a:ea typeface="Yu Gothic"/>
              </a:rPr>
              <a:t>イベントと活動など3本</a:t>
            </a:r>
          </a:p>
          <a:p>
            <a:pPr>
              <a:spcAft>
                <a:spcPts val="500"/>
              </a:spcAft>
              <a:defRPr sz="1800" b="0">
                <a:solidFill>
                  <a:srgbClr val="21374A"/>
                </a:solidFill>
                <a:latin typeface="Yu Gothic"/>
              </a:defRPr>
            </a:pPr>
            <a:r>
              <a:rPr sz="1800" b="0" lang="ja-JP">
                <a:solidFill>
                  <a:srgbClr val="21374A"/>
                </a:solidFill>
                <a:latin typeface="Yu Gothic"/>
                <a:ea typeface="Yu Gothic"/>
              </a:rPr>
              <a:t>IDの対応で結ぶ</a:t>
            </a:r>
          </a:p>
          <a:p>
            <a:pPr>
              <a:spcAft>
                <a:spcPts val="500"/>
              </a:spcAft>
              <a:defRPr sz="1800" b="0">
                <a:solidFill>
                  <a:srgbClr val="21374A"/>
                </a:solidFill>
                <a:latin typeface="Yu Gothic"/>
              </a:defRPr>
            </a:pPr>
            <a:r>
              <a:rPr sz="1800" b="0" lang="ja-JP">
                <a:solidFill>
                  <a:srgbClr val="21374A"/>
                </a:solidFill>
                <a:latin typeface="Yu Gothic"/>
                <a:ea typeface="Yu Gothic"/>
              </a:rPr>
              <a:t>日付だけの結合を避ける</a:t>
            </a:r>
          </a:p>
        </p:txBody>
      </p:sp>
      <p:sp>
        <p:nvSpPr>
          <p:cNvPr id="23" name="TextBox 22"/>
          <p:cNvSpPr txBox="1"/>
          <p:nvPr/>
        </p:nvSpPr>
        <p:spPr>
          <a:xfrm>
            <a:off x="8375904" y="4754880"/>
            <a:ext cx="3017520" cy="274320"/>
          </a:xfrm>
          <a:prstGeom prst="rect">
            <a:avLst/>
          </a:prstGeom>
          <a:noFill/>
        </p:spPr>
        <p:txBody>
          <a:bodyPr wrap="square" lIns="0" rIns="0" tIns="0" bIns="0">
            <a:spAutoFit/>
          </a:bodyPr>
          <a:lstStyle/>
          <a:p>
            <a:pPr>
              <a:spcAft>
                <a:spcPts val="500"/>
              </a:spcAft>
              <a:defRPr sz="1200" b="0">
                <a:solidFill>
                  <a:srgbClr val="566A78"/>
                </a:solidFill>
                <a:latin typeface="Yu Gothic"/>
              </a:defRPr>
            </a:pPr>
            <a:r>
              <a:rPr sz="1200" b="0" lang="ja-JP">
                <a:solidFill>
                  <a:srgbClr val="566A78"/>
                </a:solidFill>
                <a:latin typeface="Yu Gothic"/>
                <a:ea typeface="Yu Gothic"/>
              </a:rPr>
              <a:t>例：semantic_event_impact_bridge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1  |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Rounded Rectangle 8"/>
          <p:cNvSpPr/>
          <p:nvPr/>
        </p:nvSpPr>
        <p:spPr>
          <a:xfrm>
            <a:off x="566928"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93522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35223" y="332841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93522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5223" y="396849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93522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35223" y="4608576"/>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93522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35223" y="5248655"/>
            <a:ext cx="1051560" cy="182880"/>
          </a:xfrm>
          <a:prstGeom prst="rect">
            <a:avLst/>
          </a:prstGeom>
          <a:noFill/>
        </p:spPr>
        <p:txBody>
          <a:bodyPr wrap="square" lIns="0" rIns="0" tIns="0" bIns="0">
            <a:spAutoFit/>
          </a:bodyPr>
          <a:lstStyle/>
          <a:p>
            <a:pPr algn="ctr">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52544"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1144" y="2523744"/>
            <a:ext cx="3108960" cy="329184"/>
          </a:xfrm>
          <a:prstGeom prst="rect">
            <a:avLst/>
          </a:prstGeom>
          <a:noFill/>
        </p:spPr>
        <p:txBody>
          <a:bodyPr wrap="square" lIns="0" rIns="0" tIns="0" bIns="0">
            <a:spAutoFit/>
          </a:bodyPr>
          <a:lstStyle/>
          <a:p>
            <a:pPr>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81144"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81144"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81144"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72084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20840" y="332841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81144" y="391363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81144"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72084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20840" y="396849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81144" y="455371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81144"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72084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20840" y="4608576"/>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81144" y="519379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81144"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72084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720840" y="5248655"/>
            <a:ext cx="1051560" cy="182880"/>
          </a:xfrm>
          <a:prstGeom prst="rect">
            <a:avLst/>
          </a:prstGeom>
          <a:noFill/>
        </p:spPr>
        <p:txBody>
          <a:bodyPr wrap="square" lIns="0" rIns="0" tIns="0" bIns="0">
            <a:spAutoFit/>
          </a:bodyPr>
          <a:lstStyle/>
          <a:p>
            <a:pPr algn="ctr">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138159" y="2395728"/>
            <a:ext cx="360273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66759" y="2523744"/>
            <a:ext cx="3108960" cy="329184"/>
          </a:xfrm>
          <a:prstGeom prst="rect">
            <a:avLst/>
          </a:prstGeom>
          <a:noFill/>
        </p:spPr>
        <p:txBody>
          <a:bodyPr wrap="square" lIns="0" rIns="0" tIns="0" bIns="0">
            <a:spAutoFit/>
          </a:bodyPr>
          <a:lstStyle/>
          <a:p>
            <a:pPr>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366759" y="2898648"/>
            <a:ext cx="3200400" cy="237744"/>
          </a:xfrm>
          <a:prstGeom prst="rect">
            <a:avLst/>
          </a:prstGeom>
          <a:noFill/>
        </p:spPr>
        <p:txBody>
          <a:bodyPr wrap="square" lIns="0" rIns="0" tIns="0" bIns="0">
            <a:spAutoFit/>
          </a:bodyPr>
          <a:lstStyle/>
          <a:p>
            <a:pPr>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366759" y="3273552"/>
            <a:ext cx="210312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366759" y="354787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506455"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06455" y="3328416"/>
            <a:ext cx="1051560" cy="182880"/>
          </a:xfrm>
          <a:prstGeom prst="rect">
            <a:avLst/>
          </a:prstGeom>
          <a:noFill/>
        </p:spPr>
        <p:txBody>
          <a:bodyPr wrap="square" lIns="0" rIns="0" tIns="0" bIns="0">
            <a:spAutoFit/>
          </a:bodyPr>
          <a:lstStyle/>
          <a:p>
            <a:pPr algn="ctr">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366759" y="391363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366759" y="418795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366759" y="455371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366759" y="482803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366759" y="5193792"/>
            <a:ext cx="3108960" cy="256032"/>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366759" y="5468112"/>
            <a:ext cx="3154680" cy="237744"/>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2  |  名前空間（Namespace）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金属</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食品</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spcAft>
                <a:spcPts val="500"/>
              </a:spcAft>
              <a:defRPr sz="950" b="0">
                <a:solidFill>
                  <a:srgbClr val="21374A"/>
                </a:solidFill>
                <a:latin typeface="Yu Gothic"/>
              </a:defRPr>
            </a:pPr>
            <a:r>
              <a:rPr sz="950" b="0" lang="ja-JP">
                <a:solidFill>
                  <a:srgbClr val="21374A"/>
                </a:solidFill>
                <a:latin typeface="Yu Gothic"/>
                <a:ea typeface="Yu Gothic"/>
              </a:rPr>
              <a:t>金融</a:t>
            </a:r>
          </a:p>
          <a:p>
            <a:pPr>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3  |  ルール（Business rules）</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4  |  共有プロパティ（Shared properties）</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5  |  継承（Inheritance）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新機能 6  |  導入の優先順位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816352"/>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816352"/>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16352"/>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438144"/>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438144"/>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438144"/>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059936"/>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059936"/>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059936"/>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681728"/>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681728"/>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681728"/>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303520"/>
            <a:ext cx="2880360" cy="457200"/>
          </a:xfrm>
          <a:prstGeom prst="rect">
            <a:avLst/>
          </a:prstGeom>
          <a:noFill/>
        </p:spPr>
        <p:txBody>
          <a:bodyPr wrap="square" lIns="0" rIns="0" tIns="0" bIns="0">
            <a:spAutoFit/>
          </a:bodyPr>
          <a:lstStyle/>
          <a:p>
            <a:pPr>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03520"/>
            <a:ext cx="233172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303520"/>
            <a:ext cx="2377440" cy="45720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導入の進め方  |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付録C-2  |  カジュアルに聞くには（1）結果と設定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付録C-3  |  カジュアルに聞くには（2）使い方と限界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