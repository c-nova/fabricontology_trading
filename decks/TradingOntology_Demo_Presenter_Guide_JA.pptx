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04" r:id="rId56"/>
    <p:sldId id="258" r:id="rId10"/>
    <p:sldId id="259" r:id="rId11"/>
    <p:sldId id="286" r:id="rId38"/>
    <p:sldId id="305" r:id="rId57"/>
    <p:sldId id="260" r:id="rId12"/>
    <p:sldId id="261" r:id="rId13"/>
    <p:sldId id="262" r:id="rId14"/>
    <p:sldId id="263" r:id="rId15"/>
    <p:sldId id="306" r:id="rId58"/>
    <p:sldId id="282" r:id="rId34"/>
    <p:sldId id="266" r:id="rId18"/>
    <p:sldId id="267" r:id="rId19"/>
    <p:sldId id="268" r:id="rId20"/>
    <p:sldId id="269" r:id="rId21"/>
    <p:sldId id="283" r:id="rId35"/>
    <p:sldId id="270" r:id="rId22"/>
    <p:sldId id="271" r:id="rId23"/>
    <p:sldId id="272" r:id="rId24"/>
    <p:sldId id="277" r:id="rId29"/>
    <p:sldId id="273" r:id="rId25"/>
    <p:sldId id="274" r:id="rId26"/>
    <p:sldId id="275" r:id="rId27"/>
    <p:sldId id="278" r:id="rId30"/>
    <p:sldId id="279" r:id="rId31"/>
    <p:sldId id="280" r:id="rId32"/>
    <p:sldId id="281" r:id="rId33"/>
    <p:sldId id="307" r:id="rId59"/>
    <p:sldId id="284" r:id="rId36"/>
    <p:sldId id="285" r:id="rId37"/>
    <p:sldId id="302" r:id="rId54"/>
    <p:sldId id="303" r:id="rId55"/>
    <p:sldId id="308" r:id="rId60"/>
    <p:sldId id="287" r:id="rId39"/>
    <p:sldId id="288" r:id="rId40"/>
    <p:sldId id="289" r:id="rId41"/>
    <p:sldId id="301" r:id="rId53"/>
    <p:sldId id="309" r:id="rId61"/>
    <p:sldId id="290" r:id="rId42"/>
    <p:sldId id="264" r:id="rId16"/>
    <p:sldId id="265" r:id="rId17"/>
    <p:sldId id="291" r:id="rId43"/>
    <p:sldId id="292" r:id="rId44"/>
    <p:sldId id="293" r:id="rId45"/>
    <p:sldId id="294" r:id="rId46"/>
    <p:sldId id="276" r:id="rId28"/>
    <p:sldId id="310" r:id="rId62"/>
    <p:sldId id="295" r:id="rId47"/>
    <p:sldId id="296" r:id="rId48"/>
    <p:sldId id="297" r:id="rId49"/>
    <p:sldId id="298" r:id="rId50"/>
    <p:sldId id="299" r:id="rId51"/>
    <p:sldId id="300" r:id="rId5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【話す】「金属、エネルギー、食品、金融の4分野に、日本と米国の会社が1社ずつあります。各社の原本は別のLakehouseに残し、共通の分析用データを用意しています。」</a:t>
            </a:r>
          </a:p>
          <a:p>
            <a:r>
              <a:t>【指す】4セクターの枠を指し、国を跨ぐ比較であることを伝えます。次に年度と通貨、所有比率の欄を指します。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a:t>
            </a:r>
          </a:p>
          <a:p>
            <a:r>
              <a:t>【大きく見える理由】1件あたりの影響は他のイベントと同程度（約140〜250万円）です。合計が大きいのは、2社ではなく8社に当たるためです（336効果対84効果）。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もっとカジュアルに聞ける？】A：「短い質問でも答えられるよう、言い回しの読み替えをDAの指示文に書きました。ただし、LLMなので毎回同じ答えにはなりません。」詳細は、このあとの2ページ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【Basic planについて】前の版には「Basic-plan」という語がありました。元の要件メモにあった語で、FabricのDAの設定にも、Learnにも、その名前のものは見つかっていません。種類があるのは、上のランタイム（標準とプレビュー）で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【この章】デモの流れと前提を押さえ、実演で使う環境を確認します。</a:t>
            </a:r>
          </a:p>
          <a:p>
            <a:r>
              <a:t>【使う場面】実演の前</a:t>
            </a:r>
          </a:p>
          <a:p>
            <a:r>
              <a:t>【ページ】p.4〜6（3ページ）</a:t>
            </a:r>
          </a:p>
          <a:p>
            <a:r>
              <a:t>【進め方】最初に、10分の進行と、デモの前提（8社、JPY、対象年度）を確認します。続いて「実演前の確認事項」で、環境、製品の状態、日本語の扱い、リンクを点検します。</a:t>
            </a:r>
          </a:p>
          <a:p>
            <a:r>
              <a:t>【所要】読むだけなら5分ほどです。確認事項は、実演の前日までに済ませます。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【ページ】p.8〜11（4ページ）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a:t>
            </a:r>
          </a:p>
          <a:p>
            <a:r>
              <a:t>【使う場面】ライブの10分（Step04は時間があるときだけ）</a:t>
            </a:r>
          </a:p>
          <a:p>
            <a:r>
              <a:t>【ページ】p.13〜29（17ページ）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【この章】質疑でよく出る質問への短い答え、Ontologyの価値、カジュアルな聞き方への対応です。</a:t>
            </a:r>
          </a:p>
          <a:p>
            <a:r>
              <a:t>【使う場面】質疑のとき</a:t>
            </a:r>
          </a:p>
          <a:p>
            <a:r>
              <a:t>【ページ】p.31〜34（4ページ）</a:t>
            </a:r>
          </a:p>
          <a:p>
            <a:r>
              <a:t>【進め方】質疑でよく出る質問に、短く答えるための章です。SQLとの違いは、Ontologyの価値を問われたときに、1ページを使って説明します。カジュアルな質問の2ページは、質問の自由度を聞かれたとき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【ページ】p.36〜39（4ページ）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【ページ】p.41〜48（8ページ）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【ページ】p.50〜55（6ページ）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10分の進行、8社の設定、環境と制約の確認</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p.4〜6</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p.8〜11</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4つの入力、結果と図の読み方、金額の区別</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p.13〜29</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短い回答、SQLとの違い、カジュアルな質問</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p.31〜34</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p.36〜39</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p.41〜48</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p.50〜55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対象年度：2025-10-01～2026-09-30。最新データ日：2026-09-30</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Rounded Rectangle 8"/>
          <p:cNvSpPr/>
          <p:nvPr/>
        </p:nvSpPr>
        <p:spPr>
          <a:xfrm>
            <a:off x="56692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743200"/>
            <a:ext cx="2084831"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金属</a:t>
            </a:r>
          </a:p>
        </p:txBody>
      </p:sp>
      <p:sp>
        <p:nvSpPr>
          <p:cNvPr id="11" name="TextBox 10"/>
          <p:cNvSpPr txBox="1"/>
          <p:nvPr/>
        </p:nvSpPr>
        <p:spPr>
          <a:xfrm>
            <a:off x="795528" y="3410711"/>
            <a:ext cx="2084831" cy="640080"/>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2" name="Rounded Rectangle 11"/>
          <p:cNvSpPr/>
          <p:nvPr/>
        </p:nvSpPr>
        <p:spPr>
          <a:xfrm>
            <a:off x="340156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2743200"/>
            <a:ext cx="2084831"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エネルギー</a:t>
            </a:r>
          </a:p>
        </p:txBody>
      </p:sp>
      <p:sp>
        <p:nvSpPr>
          <p:cNvPr id="14" name="TextBox 13"/>
          <p:cNvSpPr txBox="1"/>
          <p:nvPr/>
        </p:nvSpPr>
        <p:spPr>
          <a:xfrm>
            <a:off x="3630168" y="3410711"/>
            <a:ext cx="2084831" cy="640080"/>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5" name="Rounded Rectangle 14"/>
          <p:cNvSpPr/>
          <p:nvPr/>
        </p:nvSpPr>
        <p:spPr>
          <a:xfrm>
            <a:off x="623620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808" y="2743200"/>
            <a:ext cx="2084831"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a:t>
            </a:r>
          </a:p>
        </p:txBody>
      </p:sp>
      <p:sp>
        <p:nvSpPr>
          <p:cNvPr id="17" name="TextBox 16"/>
          <p:cNvSpPr txBox="1"/>
          <p:nvPr/>
        </p:nvSpPr>
        <p:spPr>
          <a:xfrm>
            <a:off x="6464808" y="3410711"/>
            <a:ext cx="2084831" cy="640080"/>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8" name="Rounded Rectangle 17"/>
          <p:cNvSpPr/>
          <p:nvPr/>
        </p:nvSpPr>
        <p:spPr>
          <a:xfrm>
            <a:off x="907084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2743200"/>
            <a:ext cx="2084831"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金融</a:t>
            </a:r>
          </a:p>
        </p:txBody>
      </p:sp>
      <p:sp>
        <p:nvSpPr>
          <p:cNvPr id="20" name="TextBox 19"/>
          <p:cNvSpPr txBox="1"/>
          <p:nvPr/>
        </p:nvSpPr>
        <p:spPr>
          <a:xfrm>
            <a:off x="9299448" y="3410711"/>
            <a:ext cx="2084831" cy="640080"/>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21" name="Rounded Rectangle 20"/>
          <p:cNvSpPr/>
          <p:nvPr/>
        </p:nvSpPr>
        <p:spPr>
          <a:xfrm>
            <a:off x="566928" y="4434840"/>
            <a:ext cx="11036808"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17720"/>
            <a:ext cx="914400" cy="32004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通貨</a:t>
            </a:r>
          </a:p>
        </p:txBody>
      </p:sp>
      <p:sp>
        <p:nvSpPr>
          <p:cNvPr id="23" name="TextBox 22"/>
          <p:cNvSpPr txBox="1"/>
          <p:nvPr/>
        </p:nvSpPr>
        <p:spPr>
          <a:xfrm>
            <a:off x="1783080" y="4617720"/>
            <a:ext cx="2880360" cy="365760"/>
          </a:xfrm>
          <a:prstGeom prst="rect">
            <a:avLst/>
          </a:prstGeom>
          <a:noFill/>
        </p:spPr>
        <p:txBody>
          <a:bodyPr wrap="square" lIns="0" rIns="0" tIns="0" bIns="0">
            <a:spAutoFit/>
          </a:bodyPr>
          <a:lstStyle/>
          <a:p>
            <a:pPr>
              <a:lnSpc>
                <a:spcPts val="2500"/>
              </a:lnSpc>
              <a:spcAft>
                <a:spcPts val="500"/>
              </a:spcAft>
              <a:defRPr sz="2000" b="1">
                <a:solidFill>
                  <a:srgbClr val="21374A"/>
                </a:solidFill>
                <a:latin typeface="Yu Gothic"/>
              </a:defRPr>
            </a:pPr>
            <a:r>
              <a:rPr sz="2000" b="1" lang="ja-JP">
                <a:solidFill>
                  <a:srgbClr val="21374A"/>
                </a:solidFill>
                <a:latin typeface="Yu Gothic"/>
                <a:ea typeface="Yu Gothic"/>
              </a:rPr>
              <a:t>JPY／USD → JPY</a:t>
            </a:r>
          </a:p>
        </p:txBody>
      </p:sp>
      <p:sp>
        <p:nvSpPr>
          <p:cNvPr id="24" name="TextBox 23"/>
          <p:cNvSpPr txBox="1"/>
          <p:nvPr/>
        </p:nvSpPr>
        <p:spPr>
          <a:xfrm>
            <a:off x="5010912" y="4617720"/>
            <a:ext cx="1371600" cy="32004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所有比率</a:t>
            </a:r>
          </a:p>
        </p:txBody>
      </p:sp>
      <p:sp>
        <p:nvSpPr>
          <p:cNvPr id="25" name="TextBox 24"/>
          <p:cNvSpPr txBox="1"/>
          <p:nvPr/>
        </p:nvSpPr>
        <p:spPr>
          <a:xfrm>
            <a:off x="6446520" y="4617720"/>
            <a:ext cx="4663440" cy="365760"/>
          </a:xfrm>
          <a:prstGeom prst="rect">
            <a:avLst/>
          </a:prstGeom>
          <a:noFill/>
        </p:spPr>
        <p:txBody>
          <a:bodyPr wrap="square" lIns="0" rIns="0" tIns="0" bIns="0">
            <a:spAutoFit/>
          </a:bodyPr>
          <a:lstStyle/>
          <a:p>
            <a:pPr>
              <a:lnSpc>
                <a:spcPts val="2500"/>
              </a:lnSpc>
              <a:spcAft>
                <a:spcPts val="500"/>
              </a:spcAft>
              <a:defRPr sz="2000" b="1">
                <a:solidFill>
                  <a:srgbClr val="21374A"/>
                </a:solidFill>
                <a:latin typeface="Yu Gothic"/>
              </a:defRPr>
            </a:pPr>
            <a:r>
              <a:rPr sz="2000" b="1" lang="ja-JP">
                <a:solidFill>
                  <a:srgbClr val="21374A"/>
                </a:solidFill>
                <a:latin typeface="Yu Gothic"/>
                <a:ea typeface="Yu Gothic"/>
              </a:rPr>
              <a:t>100%×4社／51%×4社</a:t>
            </a:r>
          </a:p>
        </p:txBody>
      </p:sp>
      <p:sp>
        <p:nvSpPr>
          <p:cNvPr id="26" name="TextBox 25"/>
          <p:cNvSpPr txBox="1"/>
          <p:nvPr/>
        </p:nvSpPr>
        <p:spPr>
          <a:xfrm>
            <a:off x="804672" y="5157216"/>
            <a:ext cx="10241280" cy="27432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為替は実データ（ECBが公開する日次の参考レート）。会社、契約、金額は架空。</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09</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14</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48</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94360" y="2359152"/>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14016"/>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23160"/>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52344"/>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807208"/>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816352"/>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145536"/>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200400"/>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209544"/>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538728"/>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593592"/>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602736"/>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931920"/>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986783"/>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995928"/>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325112"/>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379976"/>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389120"/>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718304"/>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773168"/>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782312"/>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5111496"/>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5166359"/>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5175504"/>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504688"/>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559551"/>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5" name="TextBox 34"/>
          <p:cNvSpPr txBox="1"/>
          <p:nvPr/>
        </p:nvSpPr>
        <p:spPr>
          <a:xfrm>
            <a:off x="4480560" y="5568696"/>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短い質問も可。ただし結果は毎回変わりうる（このあとの2ページ）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32</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44</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46</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51</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53</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55</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39</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デモの流れと前提を押さえ、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実演で使う環境を確認します。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27980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この章のページ（3ページ）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16" name="TextBox 1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p.9</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この章のページ（17ページ）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9208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p.14</a:t>
            </a:r>
          </a:p>
        </p:txBody>
      </p:sp>
      <p:sp>
        <p:nvSpPr>
          <p:cNvPr id="13" name="TextBox 12"/>
          <p:cNvSpPr txBox="1"/>
          <p:nvPr/>
        </p:nvSpPr>
        <p:spPr>
          <a:xfrm>
            <a:off x="6583680" y="149208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7716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5" name="TextBox 14"/>
          <p:cNvSpPr txBox="1"/>
          <p:nvPr/>
        </p:nvSpPr>
        <p:spPr>
          <a:xfrm>
            <a:off x="6583680" y="177716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206224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7" name="TextBox 16"/>
          <p:cNvSpPr txBox="1"/>
          <p:nvPr/>
        </p:nvSpPr>
        <p:spPr>
          <a:xfrm>
            <a:off x="6583680" y="206224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34731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9" name="TextBox 18"/>
          <p:cNvSpPr txBox="1"/>
          <p:nvPr/>
        </p:nvSpPr>
        <p:spPr>
          <a:xfrm>
            <a:off x="6583680" y="234731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63239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21" name="TextBox 20"/>
          <p:cNvSpPr txBox="1"/>
          <p:nvPr/>
        </p:nvSpPr>
        <p:spPr>
          <a:xfrm>
            <a:off x="6583680" y="263239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91747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23" name="TextBox 22"/>
          <p:cNvSpPr txBox="1"/>
          <p:nvPr/>
        </p:nvSpPr>
        <p:spPr>
          <a:xfrm>
            <a:off x="6583680" y="291747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320255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5" name="TextBox 24"/>
          <p:cNvSpPr txBox="1"/>
          <p:nvPr/>
        </p:nvSpPr>
        <p:spPr>
          <a:xfrm>
            <a:off x="6583680" y="320255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48762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7" name="TextBox 26"/>
          <p:cNvSpPr txBox="1"/>
          <p:nvPr/>
        </p:nvSpPr>
        <p:spPr>
          <a:xfrm>
            <a:off x="6583680" y="348762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77270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9" name="TextBox 28"/>
          <p:cNvSpPr txBox="1"/>
          <p:nvPr/>
        </p:nvSpPr>
        <p:spPr>
          <a:xfrm>
            <a:off x="6583680" y="377270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405778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31" name="TextBox 30"/>
          <p:cNvSpPr txBox="1"/>
          <p:nvPr/>
        </p:nvSpPr>
        <p:spPr>
          <a:xfrm>
            <a:off x="6583680" y="405778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34286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33" name="TextBox 32"/>
          <p:cNvSpPr txBox="1"/>
          <p:nvPr/>
        </p:nvSpPr>
        <p:spPr>
          <a:xfrm>
            <a:off x="6583680" y="434286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62793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5" name="TextBox 34"/>
          <p:cNvSpPr txBox="1"/>
          <p:nvPr/>
        </p:nvSpPr>
        <p:spPr>
          <a:xfrm>
            <a:off x="6583680" y="462793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91301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7" name="TextBox 36"/>
          <p:cNvSpPr txBox="1"/>
          <p:nvPr/>
        </p:nvSpPr>
        <p:spPr>
          <a:xfrm>
            <a:off x="6583680" y="491301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519809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9" name="TextBox 38"/>
          <p:cNvSpPr txBox="1"/>
          <p:nvPr/>
        </p:nvSpPr>
        <p:spPr>
          <a:xfrm>
            <a:off x="6583680" y="519809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48317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41" name="TextBox 40"/>
          <p:cNvSpPr txBox="1"/>
          <p:nvPr/>
        </p:nvSpPr>
        <p:spPr>
          <a:xfrm>
            <a:off x="6583680" y="548317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76825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43" name="TextBox 42"/>
          <p:cNvSpPr txBox="1"/>
          <p:nvPr/>
        </p:nvSpPr>
        <p:spPr>
          <a:xfrm>
            <a:off x="6583680" y="576825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カジュアルな聞き方への対応です。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p.31</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p.32</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p.33</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p.34</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p.37</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p.39</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p.41</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p.42</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p.43</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p.44</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p.46</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p.48</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p.55</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