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8" r:id="rId60"/>
    <p:sldId id="258" r:id="rId10"/>
    <p:sldId id="259" r:id="rId11"/>
    <p:sldId id="260" r:id="rId12"/>
    <p:sldId id="261" r:id="rId13"/>
    <p:sldId id="290" r:id="rId42"/>
    <p:sldId id="309" r:id="rId61"/>
    <p:sldId id="262" r:id="rId14"/>
    <p:sldId id="263" r:id="rId15"/>
    <p:sldId id="264" r:id="rId16"/>
    <p:sldId id="265" r:id="rId17"/>
    <p:sldId id="310" r:id="rId62"/>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311" r:id="rId63"/>
    <p:sldId id="286" r:id="rId38"/>
    <p:sldId id="287" r:id="rId39"/>
    <p:sldId id="288" r:id="rId40"/>
    <p:sldId id="289" r:id="rId41"/>
    <p:sldId id="306" r:id="rId58"/>
    <p:sldId id="307" r:id="rId59"/>
    <p:sldId id="312" r:id="rId64"/>
    <p:sldId id="291" r:id="rId43"/>
    <p:sldId id="292" r:id="rId44"/>
    <p:sldId id="293" r:id="rId45"/>
    <p:sldId id="305" r:id="rId57"/>
    <p:sldId id="313" r:id="rId65"/>
    <p:sldId id="294" r:id="rId46"/>
    <p:sldId id="266" r:id="rId18"/>
    <p:sldId id="267" r:id="rId19"/>
    <p:sldId id="295" r:id="rId47"/>
    <p:sldId id="296" r:id="rId48"/>
    <p:sldId id="297" r:id="rId49"/>
    <p:sldId id="298" r:id="rId50"/>
    <p:sldId id="278" r:id="rId30"/>
    <p:sldId id="314" r:id="rId66"/>
    <p:sldId id="299" r:id="rId51"/>
    <p:sldId id="300" r:id="rId52"/>
    <p:sldId id="301" r:id="rId53"/>
    <p:sldId id="302" r:id="rId54"/>
    <p:sldId id="303" r:id="rId55"/>
    <p:sldId id="304" r:id="rId5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全社に波及するケースも扱えるか」と聞かれたら、第4章の「全社に及ぶイベントの影響範囲」（p.35〜36）を使います。</a:t>
            </a:r>
          </a:p>
          <a:p>
            <a:r>
              <a:t>【大きく見える理由】1効果あたりの平均は、横断混乱で約202万円です。10イベントでは約136〜250万円の範囲です。合計が大きいのは、336効果に配賦されているためです（固有イベントは84効果）。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全社に波及するケースは扱える？】A：「全社に同時に及ぶ形は扱えます。横断の2件が、8社すべてに当たります。会社から会社へ連鎖する形は、会社同士を結ぶ関係をまだ持っていないので、このデモでは扱えていません。」詳細は、p.35〜36にあります。</a:t>
            </a:r>
          </a:p>
          <a:p>
            <a:r>
              <a:t>【Q：もっとカジュアルに聞ける？】A：「短い質問でも答えられるよう、言い回しの読み替えをDAの指示文に書きました。ただし、LLMなので毎回同じ答えにはなりません。」詳細は、p.37〜38にあります。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【目安】90秒。「全社に及ぶ話も扱えるのか」と聞かれたときに使います。ライブの10分には含めません。</a:t>
            </a:r>
          </a:p>
          <a:p>
            <a:r>
              <a:t>【話す】「実演で追った食品損失は、影響が2社に限られた出来事です。このデモには、全社に同時に及ぶ出来事も2件入れてあります。港の混乱と資金繰りの悪化が、業種を問わず起きた想定の『横断混乱』です。8社すべてに当たり、EBITDAを約6.8億円押し下げます。食品損失と同じ経路で、根拠から全社KPIまでたどれます。」</a:t>
            </a:r>
          </a:p>
          <a:p>
            <a:r>
              <a:t>【指す】左の表を、上から読みます。会社は2社から8社、影響明細は84件から336件に増えています。次に、右の図で、8社すべてに影響が出ている点と、各社の年間EBITDAに対する比率が約1.4〜1.6%でそろっている点を指します。</a:t>
            </a:r>
          </a:p>
          <a:p>
            <a:r>
              <a:t>【全額と持分管理】全額は、8社を100%で足した額（−6.80億円）です。持分管理は、所有比率を掛けた額（−5.16億円）で、51%所有の4社の分が小さくなるため、全額の約76%です。</a:t>
            </a:r>
          </a:p>
          <a:p>
            <a:r>
              <a:t>【年間EBITDA比】年間のEBITDA（実績、447.57億円）に対する比率です。横断混乱は−1.52%、食品損失は−0.26%で、前者は後者の約5.9倍です。ただし、横断混乱でも年間の約1.5%で、これより大きな規模の出来事は、このデモに収録していません。この割合を「小さい」「軽微」とは評価しません。重大性を判定する基準は、このデモにありません。次のページで、収録していない範囲も伝えます。</a:t>
            </a:r>
          </a:p>
          <a:p>
            <a:r>
              <a:t>【数字の出どころ】</a:t>
            </a:r>
          </a:p>
          <a:p>
            <a:r>
              <a:t>DAが返したもの：横断2件を含む全10イベントについての、イベントごとの金額（横断混乱 -680,035,231.24円、横断回復 +584,435,114.92円）。公開済みDAで確認済みです。</a:t>
            </a:r>
          </a:p>
          <a:p>
            <a:r>
              <a:t>Graphで確認したもの：全1,344効果が、根拠から全社KPIまでの経路でたどれること。横断混乱は336件すべてです。2026-10-23のGraph更新後に確認しました。</a:t>
            </a:r>
          </a:p>
          <a:p>
            <a:r>
              <a:t>保存データから集計したもの：会社の数、契約の数、会社別の金額、年間EBITDA比。DAに聞いて確認した値ではありません。会社別の金額を足すと、DAが返した合計と一致します。</a:t>
            </a:r>
          </a:p>
          <a:p>
            <a:r>
              <a:t>【追加の質問】時間があれば、追加B（横断2件の業種別比較）をDAに聞きます。入力文は、第3章の「4つの入力の使い分け」のページと、このノートにあります。この質問の結果は、資料の作成時点では記録していません。前日までに公開済みDAで試し、次の値と合うかを確認してください。</a:t>
            </a:r>
          </a:p>
          <a:p>
            <a:r>
              <a:t>【照合用の業種別の値（億円）】横断混乱の全額：金属 −2.12、エネルギー −2.05、食品 −1.30、金融 −1.34。持分管理：金属 −1.59、エネルギー −1.55、食品 −1.01、金融 −1.00。横断回復の全額：金属 +1.84、エネルギー +1.69、食品 +1.13、金融 +1.18。持分管理：金属 +1.36、エネルギー +1.28、食品 +0.86、金融 +0.89。丸めのため、足すと合計と0.01ずれることがあります。</a:t>
            </a:r>
          </a:p>
          <a:p>
            <a:r>
              <a:t>【避ける】横断回復÷横断混乱を、回復率と呼ぶこと。別の時期に設計した、独立のイベントです。各社の年間EBITDA比がそろっているのは、データの設計によるもので、現実の波及の姿を示すものではありません。実世界の因果の証明でもありません。</a:t>
            </a:r>
          </a:p>
          <a:p>
            <a:r>
              <a:t>【つなぎ】「同時に全社へ及ぶ形は、ここまでです。次のページで、連鎖する形や、大きな規模の想定まで扱えるかを整理します。」</a:t>
            </a:r>
          </a:p>
          <a:p>
            <a:r>
              <a:t>【コピー用Q5】</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【出典と照合先】</a:t>
            </a:r>
          </a:p>
          <a:p>
            <a:r>
              <a:t>reports/qa_expected_event_totals.json</a:t>
            </a:r>
          </a:p>
          <a:p>
            <a:r>
              <a:t>reports/graph_all_event_paths.json</a:t>
            </a:r>
          </a:p>
          <a:p>
            <a:r>
              <a:t>reports/da_qa_published.json</a:t>
            </a:r>
          </a:p>
          <a:p>
            <a:r>
              <a:t>data/demo_dataset.json:semantic_event_financial_effects、semantic_financial_metrics_daily（actual）</a:t>
            </a:r>
          </a:p>
          <a:p>
            <a:r>
              <a:t>config/event_generation_rules.yaml:event_mix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【目安】90秒。「全社に波及するリスクも扱えるのか」「連鎖はどうなのか」と聞かれたときに使います。</a:t>
            </a:r>
          </a:p>
          <a:p>
            <a:r>
              <a:t>【話す】「『全社に波及する』には、大きく2つの形があります。1つは、港の混乱のように、全社に同時に当たる形です。これはこのデモに入っていて、食品損失と同じ経路で追えます。もう1つは、ある会社の問題が、取引を通じて別の会社に伝わる連鎖です。こちらは今のデモでは扱えていません。会社と会社を結ぶ関係を、Ontologyにまだ持っていないからです。」</a:t>
            </a:r>
          </a:p>
          <a:p>
            <a:r>
              <a:t>【指す】表を上から指します。「このデモ」の列で、扱えるのは1行目だけです。2行目以降は、足りない点を、そのまま伝えます。</a:t>
            </a:r>
          </a:p>
          <a:p>
            <a:r>
              <a:t>【連鎖が扱えない理由】Ontologyの関係は、17種類の実体の間の39種類で、会社同士を結ぶものはありません。内部取引の表（48行、24組）は親Lakehouseにあり、DAはSQLで読めますが、Ontologyの関係にはしていません。内部取引は、金融の会社とエネルギーの会社の間の2経路（日本同士、米国同士）だけで、売り手側の年間の額は約3.6億円です。横断の2件は、8社の各活動に直接配賦した記録で、1社の問題が別の社へ伝わる過程を計算したものではありません。</a:t>
            </a:r>
          </a:p>
          <a:p>
            <a:r>
              <a:t>【Microsoft Learnの記述】Graphは、複数のつながりを順にたどる問い、依存関係の分析、到達可能性、最短経路の問いに使う実行層です。集計や指標は、元のデータでの実行を続けられます（Ontology概要、2026-10-16更新）。関係型は、始点と終点の実体の種類を指定して作り、対応表で結べます（関係型の作成、2026-09-04更新）。同じ種類の実体の間（会社と会社）の関係を作れるかは、この資料では確認していません。実行する前に、Previewの画面で確認します。</a:t>
            </a:r>
          </a:p>
          <a:p>
            <a:r>
              <a:t>【連鎖を扱う場合の一案】内部取引の表を、会社と会社の関係として足し、金融の会社の問題が、取引でつながるエネルギーの会社へ及ぶ様子を、2社の小さな範囲で試します。ただし、伝わる大きさを決める規則とデータは、いまありません。関係を足すだけでは、金額は出ません。</a:t>
            </a:r>
          </a:p>
          <a:p>
            <a:r>
              <a:t>【規模】最大の横断混乱で、全額−6.80億円、年間EBITDA（実績）の約1.5%です。これより大きな規模の出来事は、収録していません。8社それぞれの年間EBITDAに対する比率は、約1.4〜1.6%でそろっています。会社ごとの差が大きい例や、より大きな規模の例を見せる場合は、影響データの追加とGraphの更新が要ります。実体や関係の種類を変える場合は、Ontologyの定義も更新します。</a:t>
            </a:r>
          </a:p>
          <a:p>
            <a:r>
              <a:t>【もしもの試算】聞かれたら、「このデモのDAは、記録済みのデータを集計して答えます。もしもの計算は検証していません。目安だけなら、保存データから概算できます」と答えます。参考として、米国の4社のEBITDAは、年間で約148百万ドル（全額で約233億円、全社の52%）です。円高が10円進むと、換算だけで約15億円（全社の3.3%）の押し下げになります。保存データからの単純な概算で、ヘッジや価格への転嫁は考慮していません。DAでは確認していないので、数字を出すときは「概算」と断ります。</a:t>
            </a:r>
          </a:p>
          <a:p>
            <a:r>
              <a:t>【避ける】「全社波及もすべて扱える」「連鎖も追える」と言いません。年間の約1.5%を「小さい」「軽微」と評価することも、しません（重大性を判定する基準は、このデモにありません）。「Ontologyでは連鎖を扱えない」とも言いません。会社間の関係を足せば扱える見込みはありますが、このデモでは未検証です。いずれも設計した配賦で、実世界の因果の証明ではありません。</a:t>
            </a:r>
          </a:p>
          <a:p>
            <a:r>
              <a:t>【つなぎ】「お客様のデータで連鎖を見たい場合は、会社間の取引表から、小さく始めます。進め方は、第5章にあります。」</a:t>
            </a:r>
          </a:p>
          <a:p/>
          <a:p>
            <a:r>
              <a:t>【出典と照合先】</a:t>
            </a:r>
          </a:p>
          <a:p>
            <a:r>
              <a:t>config/subsidiaries.json</a:t>
            </a:r>
          </a:p>
          <a:p>
            <a:r>
              <a:t>ontology_tmdl/entityRelationships.tmdl（会社同士の関係なし）</a:t>
            </a:r>
          </a:p>
          <a:p>
            <a:r>
              <a:t>data/demo_dataset.json:intercompany_transactions、semantic_financial_metrics_daily（actual）</a:t>
            </a:r>
          </a:p>
          <a:p>
            <a:r>
              <a:t>config/data_agent_create.json（DAが参照する表）</a:t>
            </a:r>
          </a:p>
          <a:p>
            <a:r>
              <a:t>reports/graph_all_event_paths.json</a:t>
            </a:r>
          </a:p>
          <a:p>
            <a:r>
              <a:t>Microsoft Learn：fabric/iq/ontology/overview（2026-10-16更新）</a:t>
            </a:r>
          </a:p>
          <a:p>
            <a:r>
              <a:t>Microsoft Learn：fabric/iq/ontology/how-to-create-relationship-types（2026-09-04更新）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【ページ】p.15〜31（17ページ）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【この章】質疑でよく出る質問への短い答え、Ontologyの価値、全社波及の扱い、カジュアルな聞き方への対応です。</a:t>
            </a:r>
          </a:p>
          <a:p>
            <a:r>
              <a:t>【使う場面】質疑のとき</a:t>
            </a:r>
          </a:p>
          <a:p>
            <a:r>
              <a:t>【ページ】p.33〜38（6ページ）</a:t>
            </a:r>
          </a:p>
          <a:p>
            <a:r>
              <a:t>【進め方】質疑でよく出る質問に、短く答えるための章です。SQLとの違いは、Ontologyの価値を問われたときに、1ページを使って説明します。全社波及の2ページは、「全社に及ぶ出来事も扱えるか」と聞かれたときに使い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【ページ】p.40〜43（4ページ）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【ページ】p.45〜52（8ページ）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【ページ】p.54〜59（6ページ）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p.15〜31</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短い回答、SQL、全社波及、カジュアルな質問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p.33〜38</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p.40〜43</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p.45〜52</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p.54〜59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94360" y="235915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0030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0944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1576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75691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76606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07238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11353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12267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42900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47014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47929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78561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82676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83590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142232"/>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183380"/>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192524"/>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498848"/>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539996"/>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549140"/>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4855464"/>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4896612"/>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4905756"/>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212080"/>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253228"/>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全社に波及するケースは？</a:t>
            </a:r>
          </a:p>
        </p:txBody>
      </p:sp>
      <p:sp>
        <p:nvSpPr>
          <p:cNvPr id="35" name="TextBox 34"/>
          <p:cNvSpPr txBox="1"/>
          <p:nvPr/>
        </p:nvSpPr>
        <p:spPr>
          <a:xfrm>
            <a:off x="4480560" y="5262372"/>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同時に全社へ及ぶ形は扱える。連鎖は未対応（p.35〜36）</a:t>
            </a:r>
          </a:p>
        </p:txBody>
      </p:sp>
      <p:sp>
        <p:nvSpPr>
          <p:cNvPr id="36" name="Rounded Rectangle 35"/>
          <p:cNvSpPr/>
          <p:nvPr/>
        </p:nvSpPr>
        <p:spPr>
          <a:xfrm>
            <a:off x="594360" y="5568696"/>
            <a:ext cx="11009376" cy="310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6384" y="5609844"/>
            <a:ext cx="3657600" cy="237744"/>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8" name="TextBox 37"/>
          <p:cNvSpPr txBox="1"/>
          <p:nvPr/>
        </p:nvSpPr>
        <p:spPr>
          <a:xfrm>
            <a:off x="4480560" y="5618988"/>
            <a:ext cx="7040880" cy="237744"/>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短い質問も可。ただし結果は毎回変わりうる（p.37〜38）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全社波及（影響範囲）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全社に及ぶイベントの影響範囲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実演で追う食品損失は、影響が一部の会社に限られた出来事です。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聞かれやすいのは、全社に同時に及ぶ出来事も、同じ経路で追えるかどうかです。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追加B（横断2件の業種別比較）は、前日までに公開済みDAで試す。会社別の値は元データの集計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676656" y="2359152"/>
            <a:ext cx="13350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比べる点</a:t>
            </a:r>
          </a:p>
        </p:txBody>
      </p:sp>
      <p:sp>
        <p:nvSpPr>
          <p:cNvPr id="10" name="TextBox 9"/>
          <p:cNvSpPr txBox="1"/>
          <p:nvPr/>
        </p:nvSpPr>
        <p:spPr>
          <a:xfrm>
            <a:off x="2231136" y="2359152"/>
            <a:ext cx="1655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食品損失</a:t>
            </a:r>
          </a:p>
        </p:txBody>
      </p:sp>
      <p:sp>
        <p:nvSpPr>
          <p:cNvPr id="11" name="TextBox 10"/>
          <p:cNvSpPr txBox="1"/>
          <p:nvPr/>
        </p:nvSpPr>
        <p:spPr>
          <a:xfrm>
            <a:off x="4105655" y="2359152"/>
            <a:ext cx="18836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横断混乱</a:t>
            </a:r>
          </a:p>
        </p:txBody>
      </p:sp>
      <p:sp>
        <p:nvSpPr>
          <p:cNvPr id="12" name="Rounded Rectangle 11"/>
          <p:cNvSpPr/>
          <p:nvPr/>
        </p:nvSpPr>
        <p:spPr>
          <a:xfrm>
            <a:off x="566928" y="2660904"/>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イベントID</a:t>
            </a:r>
          </a:p>
        </p:txBody>
      </p:sp>
      <p:sp>
        <p:nvSpPr>
          <p:cNvPr id="14" name="TextBox 13"/>
          <p:cNvSpPr txBox="1"/>
          <p:nvPr/>
        </p:nvSpPr>
        <p:spPr>
          <a:xfrm>
            <a:off x="2231136" y="2724912"/>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FOD_NEG</a:t>
            </a:r>
          </a:p>
        </p:txBody>
      </p:sp>
      <p:sp>
        <p:nvSpPr>
          <p:cNvPr id="15" name="TextBox 14"/>
          <p:cNvSpPr txBox="1"/>
          <p:nvPr/>
        </p:nvSpPr>
        <p:spPr>
          <a:xfrm>
            <a:off x="4105655" y="2724912"/>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CROSS_NEG</a:t>
            </a:r>
          </a:p>
        </p:txBody>
      </p:sp>
      <p:sp>
        <p:nvSpPr>
          <p:cNvPr id="16" name="Rounded Rectangle 15"/>
          <p:cNvSpPr/>
          <p:nvPr/>
        </p:nvSpPr>
        <p:spPr>
          <a:xfrm>
            <a:off x="566928" y="3044952"/>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10896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影響を受けた会社</a:t>
            </a:r>
          </a:p>
        </p:txBody>
      </p:sp>
      <p:sp>
        <p:nvSpPr>
          <p:cNvPr id="18" name="TextBox 17"/>
          <p:cNvSpPr txBox="1"/>
          <p:nvPr/>
        </p:nvSpPr>
        <p:spPr>
          <a:xfrm>
            <a:off x="2231136" y="3108960"/>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2社（食品の日米）</a:t>
            </a:r>
          </a:p>
        </p:txBody>
      </p:sp>
      <p:sp>
        <p:nvSpPr>
          <p:cNvPr id="19" name="TextBox 18"/>
          <p:cNvSpPr txBox="1"/>
          <p:nvPr/>
        </p:nvSpPr>
        <p:spPr>
          <a:xfrm>
            <a:off x="4105655" y="3108960"/>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8社（4業種すべて）</a:t>
            </a:r>
          </a:p>
        </p:txBody>
      </p:sp>
      <p:sp>
        <p:nvSpPr>
          <p:cNvPr id="20" name="Rounded Rectangle 19"/>
          <p:cNvSpPr/>
          <p:nvPr/>
        </p:nvSpPr>
        <p:spPr>
          <a:xfrm>
            <a:off x="566928" y="3429000"/>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49300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契約</a:t>
            </a:r>
          </a:p>
        </p:txBody>
      </p:sp>
      <p:sp>
        <p:nvSpPr>
          <p:cNvPr id="22" name="TextBox 21"/>
          <p:cNvSpPr txBox="1"/>
          <p:nvPr/>
        </p:nvSpPr>
        <p:spPr>
          <a:xfrm>
            <a:off x="2231136" y="349300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6件</a:t>
            </a:r>
          </a:p>
        </p:txBody>
      </p:sp>
      <p:sp>
        <p:nvSpPr>
          <p:cNvPr id="23" name="TextBox 22"/>
          <p:cNvSpPr txBox="1"/>
          <p:nvPr/>
        </p:nvSpPr>
        <p:spPr>
          <a:xfrm>
            <a:off x="4105655" y="349300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26件</a:t>
            </a:r>
          </a:p>
        </p:txBody>
      </p:sp>
      <p:sp>
        <p:nvSpPr>
          <p:cNvPr id="24" name="Rounded Rectangle 23"/>
          <p:cNvSpPr/>
          <p:nvPr/>
        </p:nvSpPr>
        <p:spPr>
          <a:xfrm>
            <a:off x="566928" y="3813048"/>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3877056"/>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活動と影響明細</a:t>
            </a:r>
          </a:p>
        </p:txBody>
      </p:sp>
      <p:sp>
        <p:nvSpPr>
          <p:cNvPr id="26" name="TextBox 25"/>
          <p:cNvSpPr txBox="1"/>
          <p:nvPr/>
        </p:nvSpPr>
        <p:spPr>
          <a:xfrm>
            <a:off x="2231136" y="3877056"/>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a:t>
            </a:r>
          </a:p>
        </p:txBody>
      </p:sp>
      <p:sp>
        <p:nvSpPr>
          <p:cNvPr id="27" name="TextBox 26"/>
          <p:cNvSpPr txBox="1"/>
          <p:nvPr/>
        </p:nvSpPr>
        <p:spPr>
          <a:xfrm>
            <a:off x="4105655" y="3877056"/>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a:t>
            </a:r>
          </a:p>
        </p:txBody>
      </p:sp>
      <p:sp>
        <p:nvSpPr>
          <p:cNvPr id="28" name="Rounded Rectangle 27"/>
          <p:cNvSpPr/>
          <p:nvPr/>
        </p:nvSpPr>
        <p:spPr>
          <a:xfrm>
            <a:off x="566928" y="4197096"/>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 y="4261104"/>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全額EBITDA</a:t>
            </a:r>
          </a:p>
        </p:txBody>
      </p:sp>
      <p:sp>
        <p:nvSpPr>
          <p:cNvPr id="30" name="TextBox 29"/>
          <p:cNvSpPr txBox="1"/>
          <p:nvPr/>
        </p:nvSpPr>
        <p:spPr>
          <a:xfrm>
            <a:off x="2231136" y="4261104"/>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−1.14億円</a:t>
            </a:r>
          </a:p>
        </p:txBody>
      </p:sp>
      <p:sp>
        <p:nvSpPr>
          <p:cNvPr id="31" name="TextBox 30"/>
          <p:cNvSpPr txBox="1"/>
          <p:nvPr/>
        </p:nvSpPr>
        <p:spPr>
          <a:xfrm>
            <a:off x="4105655" y="4261104"/>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−6.80億円</a:t>
            </a:r>
          </a:p>
        </p:txBody>
      </p:sp>
      <p:sp>
        <p:nvSpPr>
          <p:cNvPr id="32" name="Rounded Rectangle 31"/>
          <p:cNvSpPr/>
          <p:nvPr/>
        </p:nvSpPr>
        <p:spPr>
          <a:xfrm>
            <a:off x="566928" y="4581144"/>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4645152"/>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持分管理</a:t>
            </a:r>
          </a:p>
        </p:txBody>
      </p:sp>
      <p:sp>
        <p:nvSpPr>
          <p:cNvPr id="34" name="TextBox 33"/>
          <p:cNvSpPr txBox="1"/>
          <p:nvPr/>
        </p:nvSpPr>
        <p:spPr>
          <a:xfrm>
            <a:off x="2231136" y="4645152"/>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−0.88億円</a:t>
            </a:r>
          </a:p>
        </p:txBody>
      </p:sp>
      <p:sp>
        <p:nvSpPr>
          <p:cNvPr id="35" name="TextBox 34"/>
          <p:cNvSpPr txBox="1"/>
          <p:nvPr/>
        </p:nvSpPr>
        <p:spPr>
          <a:xfrm>
            <a:off x="4105655" y="4645152"/>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−5.16億円</a:t>
            </a:r>
          </a:p>
        </p:txBody>
      </p:sp>
      <p:sp>
        <p:nvSpPr>
          <p:cNvPr id="36" name="Rounded Rectangle 35"/>
          <p:cNvSpPr/>
          <p:nvPr/>
        </p:nvSpPr>
        <p:spPr>
          <a:xfrm>
            <a:off x="566928" y="4965192"/>
            <a:ext cx="5532120" cy="320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5029200"/>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年間EBITDA比</a:t>
            </a:r>
          </a:p>
        </p:txBody>
      </p:sp>
      <p:sp>
        <p:nvSpPr>
          <p:cNvPr id="38" name="TextBox 37"/>
          <p:cNvSpPr txBox="1"/>
          <p:nvPr/>
        </p:nvSpPr>
        <p:spPr>
          <a:xfrm>
            <a:off x="2231136" y="5029200"/>
            <a:ext cx="1655063" cy="237744"/>
          </a:xfrm>
          <a:prstGeom prst="rect">
            <a:avLst/>
          </a:prstGeom>
          <a:noFill/>
        </p:spPr>
        <p:txBody>
          <a:bodyPr wrap="square" lIns="0" rIns="0" tIns="0" bIns="0">
            <a:spAutoFit/>
          </a:bodyPr>
          <a:lstStyle/>
          <a:p>
            <a:pPr>
              <a:lnSpc>
                <a:spcPts val="1440"/>
              </a:lnSpc>
              <a:spcAft>
                <a:spcPts val="500"/>
              </a:spcAft>
              <a:defRPr sz="1150" b="0">
                <a:solidFill>
                  <a:srgbClr val="BD4354"/>
                </a:solidFill>
                <a:latin typeface="Yu Gothic"/>
              </a:defRPr>
            </a:pPr>
            <a:r>
              <a:rPr sz="1150" b="0" lang="ja-JP">
                <a:solidFill>
                  <a:srgbClr val="BD4354"/>
                </a:solidFill>
                <a:latin typeface="Yu Gothic"/>
                <a:ea typeface="Yu Gothic"/>
              </a:rPr>
              <a:t>−0.26%</a:t>
            </a:r>
          </a:p>
        </p:txBody>
      </p:sp>
      <p:sp>
        <p:nvSpPr>
          <p:cNvPr id="39" name="TextBox 38"/>
          <p:cNvSpPr txBox="1"/>
          <p:nvPr/>
        </p:nvSpPr>
        <p:spPr>
          <a:xfrm>
            <a:off x="4105655" y="5029200"/>
            <a:ext cx="1883663" cy="237744"/>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−1.52%</a:t>
            </a:r>
          </a:p>
        </p:txBody>
      </p:sp>
      <p:sp>
        <p:nvSpPr>
          <p:cNvPr id="40" name="Rounded Rectangle 39"/>
          <p:cNvSpPr/>
          <p:nvPr/>
        </p:nvSpPr>
        <p:spPr>
          <a:xfrm>
            <a:off x="566928" y="5349240"/>
            <a:ext cx="5532120" cy="32004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6656" y="5413248"/>
            <a:ext cx="133502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全社KPIまでの経路</a:t>
            </a:r>
          </a:p>
        </p:txBody>
      </p:sp>
      <p:sp>
        <p:nvSpPr>
          <p:cNvPr id="42" name="TextBox 41"/>
          <p:cNvSpPr txBox="1"/>
          <p:nvPr/>
        </p:nvSpPr>
        <p:spPr>
          <a:xfrm>
            <a:off x="2231136" y="5413248"/>
            <a:ext cx="1655063"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84件すべてたどれる</a:t>
            </a:r>
          </a:p>
        </p:txBody>
      </p:sp>
      <p:sp>
        <p:nvSpPr>
          <p:cNvPr id="43" name="TextBox 42"/>
          <p:cNvSpPr txBox="1"/>
          <p:nvPr/>
        </p:nvSpPr>
        <p:spPr>
          <a:xfrm>
            <a:off x="4105655" y="5413248"/>
            <a:ext cx="1883663" cy="237744"/>
          </a:xfrm>
          <a:prstGeom prst="rect">
            <a:avLst/>
          </a:prstGeom>
          <a:noFill/>
        </p:spPr>
        <p:txBody>
          <a:bodyPr wrap="square" lIns="0" rIns="0" tIns="0" bIns="0">
            <a:spAutoFit/>
          </a:bodyPr>
          <a:lstStyle/>
          <a:p>
            <a:pPr>
              <a:lnSpc>
                <a:spcPts val="1440"/>
              </a:lnSpc>
              <a:spcAft>
                <a:spcPts val="500"/>
              </a:spcAft>
              <a:defRPr sz="1150" b="1">
                <a:solidFill>
                  <a:srgbClr val="21374A"/>
                </a:solidFill>
                <a:latin typeface="Yu Gothic"/>
              </a:defRPr>
            </a:pPr>
            <a:r>
              <a:rPr sz="1150" b="1" lang="ja-JP">
                <a:solidFill>
                  <a:srgbClr val="21374A"/>
                </a:solidFill>
                <a:latin typeface="Yu Gothic"/>
                <a:ea typeface="Yu Gothic"/>
              </a:rPr>
              <a:t>336件すべてたどれる</a:t>
            </a:r>
          </a:p>
        </p:txBody>
      </p:sp>
      <p:sp>
        <p:nvSpPr>
          <p:cNvPr id="44" name="TextBox 43"/>
          <p:cNvSpPr txBox="1"/>
          <p:nvPr/>
        </p:nvSpPr>
        <p:spPr>
          <a:xfrm>
            <a:off x="6400800" y="2395728"/>
            <a:ext cx="52120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横断混乱：会社別の全額EBITDA影響（億円）</a:t>
            </a:r>
          </a:p>
        </p:txBody>
      </p:sp>
      <p:sp>
        <p:nvSpPr>
          <p:cNvPr id="45" name="TextBox 44"/>
          <p:cNvSpPr txBox="1"/>
          <p:nvPr/>
        </p:nvSpPr>
        <p:spPr>
          <a:xfrm>
            <a:off x="6400800" y="2688336"/>
            <a:ext cx="52120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各社の年間EBITDA比は約1.4〜1.6%です。元データから集計しています。</a:t>
            </a:r>
          </a:p>
        </p:txBody>
      </p:sp>
      <p:sp>
        <p:nvSpPr>
          <p:cNvPr id="46" name="Rectangle 45"/>
          <p:cNvSpPr/>
          <p:nvPr/>
        </p:nvSpPr>
        <p:spPr>
          <a:xfrm>
            <a:off x="6400800" y="3200400"/>
            <a:ext cx="5212080"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16243" y="3211372"/>
            <a:ext cx="420624" cy="1925028"/>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6515" y="5163833"/>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−1.05</a:t>
            </a:r>
          </a:p>
        </p:txBody>
      </p:sp>
      <p:sp>
        <p:nvSpPr>
          <p:cNvPr id="49" name="TextBox 48"/>
          <p:cNvSpPr txBox="1"/>
          <p:nvPr/>
        </p:nvSpPr>
        <p:spPr>
          <a:xfrm>
            <a:off x="640651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0" name="Rectangle 49"/>
          <p:cNvSpPr/>
          <p:nvPr/>
        </p:nvSpPr>
        <p:spPr>
          <a:xfrm>
            <a:off x="7167753" y="3211372"/>
            <a:ext cx="420624" cy="19442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58025" y="518306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−1.06</a:t>
            </a:r>
          </a:p>
        </p:txBody>
      </p:sp>
      <p:sp>
        <p:nvSpPr>
          <p:cNvPr id="52" name="TextBox 51"/>
          <p:cNvSpPr txBox="1"/>
          <p:nvPr/>
        </p:nvSpPr>
        <p:spPr>
          <a:xfrm>
            <a:off x="705802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3" name="Rectangle 52"/>
          <p:cNvSpPr/>
          <p:nvPr/>
        </p:nvSpPr>
        <p:spPr>
          <a:xfrm>
            <a:off x="7819263" y="3211372"/>
            <a:ext cx="420624" cy="189286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09535" y="5131666"/>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−1.04</a:t>
            </a:r>
          </a:p>
        </p:txBody>
      </p:sp>
      <p:sp>
        <p:nvSpPr>
          <p:cNvPr id="55" name="TextBox 54"/>
          <p:cNvSpPr txBox="1"/>
          <p:nvPr/>
        </p:nvSpPr>
        <p:spPr>
          <a:xfrm>
            <a:off x="770953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56" name="Rectangle 55"/>
          <p:cNvSpPr/>
          <p:nvPr/>
        </p:nvSpPr>
        <p:spPr>
          <a:xfrm>
            <a:off x="8470773" y="3211372"/>
            <a:ext cx="420624" cy="1849193"/>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61045" y="5087998"/>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−1.01</a:t>
            </a:r>
          </a:p>
        </p:txBody>
      </p:sp>
      <p:sp>
        <p:nvSpPr>
          <p:cNvPr id="58" name="TextBox 57"/>
          <p:cNvSpPr txBox="1"/>
          <p:nvPr/>
        </p:nvSpPr>
        <p:spPr>
          <a:xfrm>
            <a:off x="836104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59" name="Rectangle 58"/>
          <p:cNvSpPr/>
          <p:nvPr/>
        </p:nvSpPr>
        <p:spPr>
          <a:xfrm>
            <a:off x="9122283" y="3211372"/>
            <a:ext cx="420624" cy="108595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12555" y="432475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−0.59</a:t>
            </a:r>
          </a:p>
        </p:txBody>
      </p:sp>
      <p:sp>
        <p:nvSpPr>
          <p:cNvPr id="61" name="TextBox 60"/>
          <p:cNvSpPr txBox="1"/>
          <p:nvPr/>
        </p:nvSpPr>
        <p:spPr>
          <a:xfrm>
            <a:off x="901255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2" name="Rectangle 61"/>
          <p:cNvSpPr/>
          <p:nvPr/>
        </p:nvSpPr>
        <p:spPr>
          <a:xfrm>
            <a:off x="9773793" y="3211372"/>
            <a:ext cx="420624" cy="129518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64065" y="453399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−0.71</a:t>
            </a:r>
          </a:p>
        </p:txBody>
      </p:sp>
      <p:sp>
        <p:nvSpPr>
          <p:cNvPr id="64" name="TextBox 63"/>
          <p:cNvSpPr txBox="1"/>
          <p:nvPr/>
        </p:nvSpPr>
        <p:spPr>
          <a:xfrm>
            <a:off x="966406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65" name="Rectangle 64"/>
          <p:cNvSpPr/>
          <p:nvPr/>
        </p:nvSpPr>
        <p:spPr>
          <a:xfrm>
            <a:off x="10425303" y="3211372"/>
            <a:ext cx="420624" cy="11882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315575" y="4427005"/>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−0.65</a:t>
            </a:r>
          </a:p>
        </p:txBody>
      </p:sp>
      <p:sp>
        <p:nvSpPr>
          <p:cNvPr id="67" name="TextBox 66"/>
          <p:cNvSpPr txBox="1"/>
          <p:nvPr/>
        </p:nvSpPr>
        <p:spPr>
          <a:xfrm>
            <a:off x="1031557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日本</a:t>
            </a:r>
          </a:p>
        </p:txBody>
      </p:sp>
      <p:sp>
        <p:nvSpPr>
          <p:cNvPr id="68" name="Rectangle 67"/>
          <p:cNvSpPr/>
          <p:nvPr/>
        </p:nvSpPr>
        <p:spPr>
          <a:xfrm>
            <a:off x="11076813" y="3211372"/>
            <a:ext cx="420624" cy="1255799"/>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967085" y="4494604"/>
            <a:ext cx="640080" cy="201168"/>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−0.69</a:t>
            </a:r>
          </a:p>
        </p:txBody>
      </p:sp>
      <p:sp>
        <p:nvSpPr>
          <p:cNvPr id="70" name="TextBox 69"/>
          <p:cNvSpPr txBox="1"/>
          <p:nvPr/>
        </p:nvSpPr>
        <p:spPr>
          <a:xfrm>
            <a:off x="10967085" y="5468112"/>
            <a:ext cx="640080" cy="182880"/>
          </a:xfrm>
          <a:prstGeom prst="rect">
            <a:avLst/>
          </a:prstGeom>
          <a:noFill/>
        </p:spPr>
        <p:txBody>
          <a:bodyPr wrap="square" lIns="0" rIns="0" tIns="0" bIns="0">
            <a:spAutoFit/>
          </a:bodyPr>
          <a:lstStyle/>
          <a:p>
            <a:pPr algn="ctr">
              <a:lnSpc>
                <a:spcPts val="1250"/>
              </a:lnSpc>
              <a:spcAft>
                <a:spcPts val="500"/>
              </a:spcAft>
              <a:defRPr sz="1000" b="0">
                <a:solidFill>
                  <a:srgbClr val="21374A"/>
                </a:solidFill>
                <a:latin typeface="Yu Gothic"/>
              </a:defRPr>
            </a:pPr>
            <a:r>
              <a:rPr sz="1000" b="0" lang="ja-JP">
                <a:solidFill>
                  <a:srgbClr val="21374A"/>
                </a:solidFill>
                <a:latin typeface="Yu Gothic"/>
                <a:ea typeface="Yu Gothic"/>
              </a:rPr>
              <a:t>米国</a:t>
            </a:r>
          </a:p>
        </p:txBody>
      </p:sp>
      <p:sp>
        <p:nvSpPr>
          <p:cNvPr id="71" name="Rectangle 70"/>
          <p:cNvSpPr/>
          <p:nvPr/>
        </p:nvSpPr>
        <p:spPr>
          <a:xfrm>
            <a:off x="647395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0080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金属</a:t>
            </a:r>
          </a:p>
        </p:txBody>
      </p:sp>
      <p:sp>
        <p:nvSpPr>
          <p:cNvPr id="73" name="Rectangle 72"/>
          <p:cNvSpPr/>
          <p:nvPr/>
        </p:nvSpPr>
        <p:spPr>
          <a:xfrm>
            <a:off x="777697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70382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エネルギー</a:t>
            </a:r>
          </a:p>
        </p:txBody>
      </p:sp>
      <p:sp>
        <p:nvSpPr>
          <p:cNvPr id="75" name="Rectangle 74"/>
          <p:cNvSpPr/>
          <p:nvPr/>
        </p:nvSpPr>
        <p:spPr>
          <a:xfrm>
            <a:off x="907999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900684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食品</a:t>
            </a:r>
          </a:p>
        </p:txBody>
      </p:sp>
      <p:sp>
        <p:nvSpPr>
          <p:cNvPr id="77" name="Rectangle 76"/>
          <p:cNvSpPr/>
          <p:nvPr/>
        </p:nvSpPr>
        <p:spPr>
          <a:xfrm>
            <a:off x="10383012" y="5669280"/>
            <a:ext cx="11567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309860" y="5705856"/>
            <a:ext cx="1303020" cy="201168"/>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金融</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全社波及（扱える範囲）</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全社波及で扱える範囲と未対応の範囲</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「全社に波及する」が指す出来事は、聞き手によって違います。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指すものが違えば、このデモで見せられるかどうかの答えも変わります。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聞き返す例：「全社に同時に及ぶ話ですか。会社から会社へ連鎖する話ですか」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731520" y="2359152"/>
            <a:ext cx="237744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聞かれ方</a:t>
            </a:r>
          </a:p>
        </p:txBody>
      </p:sp>
      <p:sp>
        <p:nvSpPr>
          <p:cNvPr id="10" name="TextBox 9"/>
          <p:cNvSpPr txBox="1"/>
          <p:nvPr/>
        </p:nvSpPr>
        <p:spPr>
          <a:xfrm>
            <a:off x="3246120" y="2359152"/>
            <a:ext cx="1097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このデモ</a:t>
            </a:r>
          </a:p>
        </p:txBody>
      </p:sp>
      <p:sp>
        <p:nvSpPr>
          <p:cNvPr id="11" name="TextBox 10"/>
          <p:cNvSpPr txBox="1"/>
          <p:nvPr/>
        </p:nvSpPr>
        <p:spPr>
          <a:xfrm>
            <a:off x="4526280" y="2359152"/>
            <a:ext cx="685800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根拠と、足りない点</a:t>
            </a:r>
          </a:p>
        </p:txBody>
      </p:sp>
      <p:sp>
        <p:nvSpPr>
          <p:cNvPr id="12" name="Rounded Rectangle 11"/>
          <p:cNvSpPr/>
          <p:nvPr/>
        </p:nvSpPr>
        <p:spPr>
          <a:xfrm>
            <a:off x="566928" y="2670048"/>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同時に全社へ及ぶ</a:t>
            </a:r>
          </a:p>
        </p:txBody>
      </p:sp>
      <p:sp>
        <p:nvSpPr>
          <p:cNvPr id="14" name="TextBox 13"/>
          <p:cNvSpPr txBox="1"/>
          <p:nvPr/>
        </p:nvSpPr>
        <p:spPr>
          <a:xfrm>
            <a:off x="731520" y="303580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例：港の混乱、資金繰りの悪化</a:t>
            </a:r>
          </a:p>
        </p:txBody>
      </p:sp>
      <p:sp>
        <p:nvSpPr>
          <p:cNvPr id="15" name="Rounded Rectangle 14"/>
          <p:cNvSpPr/>
          <p:nvPr/>
        </p:nvSpPr>
        <p:spPr>
          <a:xfrm>
            <a:off x="3246120" y="2834640"/>
            <a:ext cx="960120" cy="329184"/>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6120" y="2898648"/>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扱える</a:t>
            </a:r>
          </a:p>
        </p:txBody>
      </p:sp>
      <p:sp>
        <p:nvSpPr>
          <p:cNvPr id="17" name="TextBox 16"/>
          <p:cNvSpPr txBox="1"/>
          <p:nvPr/>
        </p:nvSpPr>
        <p:spPr>
          <a:xfrm>
            <a:off x="4526280" y="2761488"/>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横断の2件が、8社に同時に当たります。全社KPIまでの経路も、すべてたどれます。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DAは、横断2件を含む全10イベントについて、イベントごとの金額を返しました。</a:t>
            </a:r>
          </a:p>
        </p:txBody>
      </p:sp>
      <p:sp>
        <p:nvSpPr>
          <p:cNvPr id="18" name="Rounded Rectangle 17"/>
          <p:cNvSpPr/>
          <p:nvPr/>
        </p:nvSpPr>
        <p:spPr>
          <a:xfrm>
            <a:off x="566928" y="3401568"/>
            <a:ext cx="11045952" cy="8768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493008"/>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会社から会社へ連鎖する</a:t>
            </a:r>
          </a:p>
        </p:txBody>
      </p:sp>
      <p:sp>
        <p:nvSpPr>
          <p:cNvPr id="20" name="TextBox 19"/>
          <p:cNvSpPr txBox="1"/>
          <p:nvPr/>
        </p:nvSpPr>
        <p:spPr>
          <a:xfrm>
            <a:off x="731520" y="3767328"/>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例：金融の問題がエネルギーに及ぶ</a:t>
            </a:r>
          </a:p>
        </p:txBody>
      </p:sp>
      <p:sp>
        <p:nvSpPr>
          <p:cNvPr id="21" name="Rounded Rectangle 20"/>
          <p:cNvSpPr/>
          <p:nvPr/>
        </p:nvSpPr>
        <p:spPr>
          <a:xfrm>
            <a:off x="3246120" y="3675411"/>
            <a:ext cx="960120" cy="329184"/>
          </a:xfrm>
          <a:prstGeom prst="roundRect">
            <a:avLst>
              <a:gd name="adj" fmla="val 8000"/>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6120" y="3739419"/>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未対応</a:t>
            </a:r>
          </a:p>
        </p:txBody>
      </p:sp>
      <p:sp>
        <p:nvSpPr>
          <p:cNvPr id="23" name="TextBox 22"/>
          <p:cNvSpPr txBox="1"/>
          <p:nvPr/>
        </p:nvSpPr>
        <p:spPr>
          <a:xfrm>
            <a:off x="4526280" y="3493008"/>
            <a:ext cx="6949440" cy="739711"/>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会社同士を結ぶ関係が、Ontologyにありません。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内部取引は表にありますが、金融とエネルギーの間の2経路だけです。</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関係として足し、小さな範囲で試す余地があります。</a:t>
            </a:r>
          </a:p>
        </p:txBody>
      </p:sp>
      <p:sp>
        <p:nvSpPr>
          <p:cNvPr id="24" name="Rounded Rectangle 23"/>
          <p:cNvSpPr/>
          <p:nvPr/>
        </p:nvSpPr>
        <p:spPr>
          <a:xfrm>
            <a:off x="566928" y="435159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4303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もっと大きな規模の出来事</a:t>
            </a:r>
          </a:p>
        </p:txBody>
      </p:sp>
      <p:sp>
        <p:nvSpPr>
          <p:cNvPr id="26" name="TextBox 25"/>
          <p:cNvSpPr txBox="1"/>
          <p:nvPr/>
        </p:nvSpPr>
        <p:spPr>
          <a:xfrm>
            <a:off x="731520" y="471735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例：全社の稼ぎが大きく動く出来事</a:t>
            </a:r>
          </a:p>
        </p:txBody>
      </p:sp>
      <p:sp>
        <p:nvSpPr>
          <p:cNvPr id="27" name="Rounded Rectangle 26"/>
          <p:cNvSpPr/>
          <p:nvPr/>
        </p:nvSpPr>
        <p:spPr>
          <a:xfrm>
            <a:off x="3246120" y="4516183"/>
            <a:ext cx="960120" cy="329184"/>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6120" y="458019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未収録</a:t>
            </a:r>
          </a:p>
        </p:txBody>
      </p:sp>
      <p:sp>
        <p:nvSpPr>
          <p:cNvPr id="29" name="TextBox 28"/>
          <p:cNvSpPr txBox="1"/>
          <p:nvPr/>
        </p:nvSpPr>
        <p:spPr>
          <a:xfrm>
            <a:off x="4526280" y="444303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最大の横断混乱で、年間EBITDAの約1.5%です。これより大きな出来事は、収録していません。</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大きな出来事の追加には、影響データの追加とGraphの更新が要ります。</a:t>
            </a:r>
          </a:p>
        </p:txBody>
      </p:sp>
      <p:sp>
        <p:nvSpPr>
          <p:cNvPr id="30" name="Rounded Rectangle 29"/>
          <p:cNvSpPr/>
          <p:nvPr/>
        </p:nvSpPr>
        <p:spPr>
          <a:xfrm>
            <a:off x="566928" y="5083111"/>
            <a:ext cx="11045952"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5174551"/>
            <a:ext cx="2377440" cy="246888"/>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もしもの試算</a:t>
            </a:r>
          </a:p>
        </p:txBody>
      </p:sp>
      <p:sp>
        <p:nvSpPr>
          <p:cNvPr id="32" name="TextBox 31"/>
          <p:cNvSpPr txBox="1"/>
          <p:nvPr/>
        </p:nvSpPr>
        <p:spPr>
          <a:xfrm>
            <a:off x="731520" y="5448871"/>
            <a:ext cx="242316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例：円高が10円進んだら</a:t>
            </a:r>
          </a:p>
        </p:txBody>
      </p:sp>
      <p:sp>
        <p:nvSpPr>
          <p:cNvPr id="33" name="Rounded Rectangle 32"/>
          <p:cNvSpPr/>
          <p:nvPr/>
        </p:nvSpPr>
        <p:spPr>
          <a:xfrm>
            <a:off x="3246120" y="5247703"/>
            <a:ext cx="960120" cy="329184"/>
          </a:xfrm>
          <a:prstGeom prst="roundRect">
            <a:avLst>
              <a:gd name="adj" fmla="val 8000"/>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6120" y="5311711"/>
            <a:ext cx="960120" cy="237744"/>
          </a:xfrm>
          <a:prstGeom prst="rect">
            <a:avLst/>
          </a:prstGeom>
          <a:noFill/>
        </p:spPr>
        <p:txBody>
          <a:bodyPr wrap="square" lIns="0" rIns="0" tIns="0" bIns="0">
            <a:spAutoFit/>
          </a:bodyPr>
          <a:lstStyle/>
          <a:p>
            <a:pPr algn="ct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対象外</a:t>
            </a:r>
          </a:p>
        </p:txBody>
      </p:sp>
      <p:sp>
        <p:nvSpPr>
          <p:cNvPr id="35" name="TextBox 34"/>
          <p:cNvSpPr txBox="1"/>
          <p:nvPr/>
        </p:nvSpPr>
        <p:spPr>
          <a:xfrm>
            <a:off x="4526280" y="5174551"/>
            <a:ext cx="6949440" cy="521207"/>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DAは、記録済みのデータを集計して答えます。もしもの計算は、このデモで検証していません。</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42</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51</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58</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59</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37</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Ontologyの価値、全社波及の扱い、</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全社に及ぶイベントの影響範囲</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全社波及で扱える範囲と未対応の範囲</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p.37</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p.51</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p.59</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