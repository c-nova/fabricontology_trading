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【話す】今日は、総合商社を模した架空のデータを使い、経営会議で問われる「EBITDAが動いた理由と根拠」に、Microsoft Fabric IQのOntologyでどう答えるかをお見せします。前半で考え方、中盤でデモ、後半で価値と進め方をお話しします。</a:t>
            </a:r>
          </a:p>
          <a:p>
            <a:r>
              <a:t>【前提】データはすべて架空です。為替だけは、ECBが公表している日次の参考レートを使っています。デモの金額や会社の動きは、実在の企業の実績を表すものではありません。</a:t>
            </a:r>
          </a:p>
          <a:p>
            <a:r>
              <a:t>【補足】OntologyとData AgentはPreviewの機能です。本資料の記載は、2026年10月時点のMicrosoft Learnと、デモ環境で確認した内容に基づきます。</a:t>
            </a:r>
          </a:p>
          <a:p/>
          <a:p>
            <a:r>
              <a:t>【出典】</a:t>
            </a:r>
          </a:p>
          <a:p>
            <a:r>
              <a:t>Microsoft Learn：fabric/iq/ontology/overview（2026年10月16日更新）</a:t>
            </a:r>
          </a:p>
          <a:p>
            <a:r>
              <a:t>デモ環境の検証記録（2026年10月27日）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4つの章で進みます。第1章で経営会議の問いと課題を整理し、第2章で4つの質問を実際に入力して答えと根拠を確認します。第3章で従来の手段との違いや仕組みを整理し、第4章で貴社で試す進め方をご提案します。付録に、環境、一覧、質問と回答、FAQ、用語集があります。</a:t>
            </a:r>
          </a:p>
          <a:p>
            <a:r>
              <a:t>【指す】章ごとの行を上から順に。ページ番号はスライド番号です。</a:t>
            </a:r>
          </a:p>
          <a:p/>
          <a:p>
            <a:r>
              <a:t>【出典】</a:t>
            </a:r>
          </a:p>
          <a:p>
            <a:r>
              <a:t>本資料の構成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【話す】経営会議の問いと理由を出しにくい構造、Ontologyの役割を整理します。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【話す】経営会議では、EBITDAが基準から動いたとき、金額の大きさだけでなく、次の4つが問われます。どこで動いたか、どのイベントが効いたか、何が根拠か、どこから手を打つか、です。</a:t>
            </a:r>
          </a:p>
          <a:p>
            <a:r>
              <a:t>【指す】4枚のカードを左から順に。下段は、それぞれに答えるために必要なデータです。</a:t>
            </a:r>
          </a:p>
          <a:p>
            <a:r>
              <a:t>【補足】この4つの問いが、第2章のデモで、Data Agentに入力する4つの質問①〜④に対応します。</a:t>
            </a:r>
          </a:p>
          <a:p/>
          <a:p>
            <a:r>
              <a:t>【出典】</a:t>
            </a:r>
          </a:p>
          <a:p>
            <a:r>
              <a:t>デモの設計（質問①〜④）</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【話す】金額そのものは、各システムやBIにあります。難しいのは理由です。理由を出すには、表をどうつなぐか、この言葉が何を指すかを知っている担当者の手が要り、質問のたびに繰り返されます。</a:t>
            </a:r>
          </a:p>
          <a:p>
            <a:r>
              <a:t>【指す】3つのカードを左から順に。各カードの下段は、このデモで該当する場面です。</a:t>
            </a:r>
          </a:p>
          <a:p>
            <a:r>
              <a:t>【補足】本資料の「Ontology」は、②と③を、データの外に定義して共有する層として説明します。</a:t>
            </a:r>
          </a:p>
          <a:p/>
          <a:p>
            <a:r>
              <a:t>【出典】</a:t>
            </a:r>
          </a:p>
          <a:p>
            <a:r>
              <a:t>デモ環境の設計</a:t>
            </a:r>
          </a:p>
          <a:p>
            <a:r>
              <a:t>Data Agentの指示文（用語と既定値の定義）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【話す】Ontologyは、Microsoft Fabric IQの機能で、会社、契約、イベントといった業務の言葉と、それらのつながりを定義する層です。データそのものは持たず、定義とデータへの結び付けだけを持ちます。人もAIエージェントも、同じ定義を参照して答えを出せます。</a:t>
            </a:r>
          </a:p>
          <a:p>
            <a:r>
              <a:t>【指す】左の図を、下のデータから上の使う側へ。参照するデータはそれぞれの場所に残り、Ontologyが結び付けを持ち、その定義を使う側が参照します。右の2枚は、Ontologyが持つものと持たないものです。</a:t>
            </a:r>
          </a:p>
          <a:p>
            <a:r>
              <a:t>【補足】Microsoft Learnは、Ontologyを「ビジネスの共有された、機械が理解できる表現」と説明しています。Ontology自体は汎用のクエリエンジンではなく、利用する側が、結び付けたデータに対して実行します。使う側として対応しているエージェントは、Data Agent、Operations agent、Foundry IQ、Copilot Studio、MCP接続のカスタムエージェントなどです（対応状況は製品ごとに異なります）。</a:t>
            </a:r>
          </a:p>
          <a:p>
            <a:r>
              <a:t>【注意】Previewの機能です。</a:t>
            </a:r>
          </a:p>
          <a:p/>
          <a:p>
            <a:r>
              <a:t>【出典】</a:t>
            </a:r>
          </a:p>
          <a:p>
            <a:r>
              <a:t>Microsoft Learn：fabric/iq/ontology/overview（2026年10月16日更新）</a:t>
            </a:r>
          </a:p>
          <a:p>
            <a:r>
              <a:t>Microsoft Learn：fabric/iq/ontology/concepts-agent-integration（2026年9月15日更新）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Ontologyは、概念、属性、関係、ルールの4つで業務を表します。このデモでは、会社、契約、イベント、影響額など17種類の概念と、それらをつなぐ39種類の関係を定義しています。ルールと指標は新しい機能で、このデモではまだ使っていません。</a:t>
            </a:r>
          </a:p>
          <a:p>
            <a:r>
              <a:t>【指す】左の4枚で部品の意味を、右の図で、このデモの定義のうち主な関係を示します。矢印は関係の向きです。</a:t>
            </a:r>
          </a:p>
          <a:p>
            <a:r>
              <a:t>【補足】右の図は種類（型）の定義です。実際のデータで同じ関係をたどった例は、第2章の「根拠記録から全社KPIまでの経路が見える」のページにあります。</a:t>
            </a:r>
          </a:p>
          <a:p/>
          <a:p>
            <a:r>
              <a:t>【出典】</a:t>
            </a:r>
          </a:p>
          <a:p>
            <a:r>
              <a:t>デモのOntology定義（17種類の概念、39種類の関係）</a:t>
            </a:r>
          </a:p>
          <a:p>
            <a:r>
              <a:t>Microsoft Learn：fabric/iq/ontology/overview（2026年10月16日更新）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【話す】架空の総合商社グループで、4つの質問を日本語で入力し、答えと根拠を確認します。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今日のデモは、架空の総合商社グループです。金属、エネルギー、食品、金融の4事業に、日本と米国の会社が1社ずつ、合計8社あります。通貨は円とドル、所有比率は100%と51%が混在しています。月次の経営会議で、EBITDAが基準から動いた理由を問われる場面を想定しています。</a:t>
            </a:r>
          </a:p>
          <a:p>
            <a:r>
              <a:t>【指す】左の表で8社を、右で規模を示します。EBITDAは年間で約448億円、売上は約3,111億円です（実績、全額連結、JPY）。</a:t>
            </a:r>
          </a:p>
          <a:p>
            <a:r>
              <a:t>【金額の見方】全額連結は、支配する8社を100%で合算した値です。持分管理は、各社の値に所有比率（100%または51%）を掛けて合算した値です。いずれも、連結財務諸表の数値ではなく、デモ用の管理値です。</a:t>
            </a:r>
          </a:p>
          <a:p>
            <a:r>
              <a:t>【前提】会社、契約、イベント、影響額は架空です。為替だけは、ECBが公表する日次の参考レートです。実在の企業の実績や業界の標準的な規模を表すものではありません。</a:t>
            </a:r>
          </a:p>
          <a:p/>
          <a:p>
            <a:r>
              <a:t>【出典】</a:t>
            </a:r>
          </a:p>
          <a:p>
            <a:r>
              <a:t>デモ環境の設計</a:t>
            </a:r>
          </a:p>
          <a:p>
            <a:r>
              <a:t>ECB公表の日次参考レート</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【話す】質問は4つです。①全体の動き、②効いたイベント、③その根拠、④どこから手を打つか。経営会議で問われる順に、短い日本語で入力します。</a:t>
            </a:r>
          </a:p>
          <a:p>
            <a:r>
              <a:t>【指す】各カードの上段が入力する質問、中段が回答の要点、下段が答えの出し方です。②は、最大の押し下げと最大の押し上げを続けて2問入力します。①と②は、集計で答えられる質問です。③と④では、Data AgentがOntologyの関係から、表のつなぎ方を決めて答えました。</a:t>
            </a:r>
          </a:p>
          <a:p>
            <a:r>
              <a:t>【補足】今回の確認では、Data Agentが③と④で、Ontologyの経路探索を使い、イベントから全社KPIまで、またイベントから会社までの経路を見つけました（2026年10月27日、公開済みのData Agent、各1回）。①と②では、経路探索は使われていません。回答の金額は、元データの集計と一致することを確認しています。ただし、Data Agentは言語モデルのため、回答の文面は実行ごとに変わる場合があります。</a:t>
            </a:r>
          </a:p>
          <a:p>
            <a:r>
              <a:t>【注意】実際の答えは、Ontologyの関係から決めた表のつなぎ方で、元のデータに対するSQLの集計として出しています。Graphへの問い合わせは使っていません。</a:t>
            </a:r>
          </a:p>
          <a:p/>
          <a:p>
            <a:r>
              <a:t>【出典】</a:t>
            </a:r>
          </a:p>
          <a:p>
            <a:r>
              <a:t>デモ環境での確認（2026年10月27日、公開済みのData Agent）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【入力】「今期のEBITDAって、予算に対してどうだった？」と日本語で入力します。</a:t>
            </a:r>
          </a:p>
          <a:p>
            <a:r>
              <a:t>【回答の要点】今期（2025年10月1日〜2026年9月30日）の全額連結EBITDAは447.57億円、基準値は448.60億円（イベントの影響を加える前の想定値で、デモでは予算に相当）で、差は−1.03億円（−0.23%）です。</a:t>
            </a:r>
          </a:p>
          <a:p>
            <a:r>
              <a:t>【指す】右の折れ線は、月次の基準値（点線）と実績（実線）です。差が最も大きい月は2026年5月（−6.83億円）と2026年9月（+5.84億円）です。この2か月は、次の質問で見る横断イベント（5月11日〜31日、9月1日〜21日）の期間と重なります。</a:t>
            </a:r>
          </a:p>
          <a:p>
            <a:r>
              <a:t>【補足】この質問は集計で答えられる範囲で、Ontologyの関係を使わなくても答えが出ます。基準値は、イベントの影響を加える前の想定値、実績は、イベントの影響を反映した値です。デモでは、予算を基準値として扱っています。</a:t>
            </a:r>
          </a:p>
          <a:p>
            <a:r>
              <a:t>【注意】回答は、Data Agentの実行ごとに文面や表示が変わる場合があります。金額は、元データの集計と一致することを確認しています。</a:t>
            </a:r>
          </a:p>
          <a:p/>
          <a:p>
            <a:r>
              <a:t>【出典】</a:t>
            </a:r>
          </a:p>
          <a:p>
            <a:r>
              <a:t>デモ環境での確認（2026年10月26日、公開済みのData Agent、3回中3回で同じ金額）</a:t>
            </a:r>
          </a:p>
          <a:p>
            <a:r>
              <a:t>デモデータの月次集計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【入力】「一番足を引っ張ったイベントは？」「逆に、一番プラスになったのは？」と続けて入力します。</a:t>
            </a:r>
          </a:p>
          <a:p>
            <a:r>
              <a:t>【回答の要点】最大の押し下げは横断混乱（港湾・流動性の混乱）で−6.80億円、最大の押し上げは横断回復（物流・資金の回復）で+5.84億円です。どちらも4事業8社に及ぶイベントです。</a:t>
            </a:r>
          </a:p>
          <a:p>
            <a:r>
              <a:t>【指す】右の棒グラフは、全10イベントの影響額（全額連結）です。マイナス5件の合計が−13.17億円、プラス5件の合計が+12.14億円で、差し引きが年間の差−1.03億円になります。残りの8件は、1つの事業の2社に限られるイベントです。</a:t>
            </a:r>
          </a:p>
          <a:p>
            <a:r>
              <a:t>【補足】合計では小さく見える差も、押し下げと押し上げが打ち消し合っている場合があります。イベントごとに分けて見ると、手を打つ対象が分かります。</a:t>
            </a:r>
          </a:p>
          <a:p>
            <a:r>
              <a:t>【注意】影響額は、デモのために設計した配賦で、実世界の因果の証明ではありません。Data Agentの回答では、「取引先対応コスト増」が「与信費増」と表記される場合があります。</a:t>
            </a:r>
          </a:p>
          <a:p/>
          <a:p>
            <a:r>
              <a:t>【出典】</a:t>
            </a:r>
          </a:p>
          <a:p>
            <a:r>
              <a:t>デモ環境での確認（2026年10月27日、公開済みのData Agent）</a:t>
            </a:r>
          </a:p>
          <a:p>
            <a:r>
              <a:t>デモデータ（10件のイベントと影響額）</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【入力】「食品の損失は、どの契約に響いたの？」と日本語で入力します。</a:t>
            </a:r>
          </a:p>
          <a:p>
            <a:r>
              <a:t>【回答の要点】食品損失は6つの契約に効き、全額連結で−1.14億円、持分管理で−0.88億円です。6契約は、持分51%の日本の食品会社と、持分100%の米国の食品会社の契約で、すべて製粉用小麦です。</a:t>
            </a:r>
          </a:p>
          <a:p>
            <a:r>
              <a:t>【指す】右の表は、6契約の影響額です。日本の会社の契約は、持分51%を掛けた持分管理の額が、全額連結の約半分になります。</a:t>
            </a:r>
          </a:p>
          <a:p>
            <a:r>
              <a:t>【補足】この回答では、Data AgentがOntologyの関係（イベント、影響額、根拠、取引活動、契約、日次指標、全社KPI）から、表のつなぎ方を見つけました。金額は、別の集計とも一致しています（2026年10月26日、Notebookでグラフをたどった84件の影響額の合計と、Deltaテーブルの集計の突合）。</a:t>
            </a:r>
          </a:p>
          <a:p>
            <a:r>
              <a:t>【注意】影響額は、デモのために設計した配賦で、実世界の因果の証明ではありません。回答の文面は、実行ごとに変わる場合があります。</a:t>
            </a:r>
          </a:p>
          <a:p/>
          <a:p>
            <a:r>
              <a:t>【出典】</a:t>
            </a:r>
          </a:p>
          <a:p>
            <a:r>
              <a:t>デモ環境での確認（2026年10月27日、公開済みのData Agent。6契約の金額を元データと照合）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【話す】前のページの金額が、どの記録に基づくのかを、Ontologyの関係をたどって確認します。ここでは、食品損失の影響額84件のうち、代表の1件を例にしています。</a:t>
            </a:r>
          </a:p>
          <a:p>
            <a:r>
              <a:t>【指す】左上の「根拠記録」から、イベント、影響額へ進みます。影響額から、取引活動、契約へ、また日次の指標、全社のKPIへ進みます。取引活動には、観測記録（温度−18℃、廃棄率3.5%）が結び付いています。矢印の種類は、左上の凡例のとおりです。</a:t>
            </a:r>
          </a:p>
          <a:p>
            <a:r>
              <a:t>【数字】代表の影響額は−3,003,488.94円、同じ日（2026年2月11日）の子会社の日次EBITDAは3,711,231.19円、全社の日次EBITDAは113,069,201.90円です。食品損失の84件の合計は、前のページの−1.14億円と一致します。</a:t>
            </a:r>
          </a:p>
          <a:p>
            <a:r>
              <a:t>【確認した範囲】全10イベント、1,344件の影響額のすべてで、根拠から全社KPIまでの経路が、Graphで確認できました。2026年10月27日に関係を有効にしてGraphを更新した後の確認で、種類ごとのノード数とエッジ数は更新前と同じで、根拠から全社KPIまでの経路が完全な影響額は1,344件でした。食品損失の84件は、合計が前のページの金額と一致しました。</a:t>
            </a:r>
          </a:p>
          <a:p>
            <a:r>
              <a:t>【補足】Graphは、経路そのものが重要な問い（複数のつながりを順にたどる、依存関係、到達可能性など）のための、Ontologyの任意の実行層です。集計や指標は、元のデータで実行できます。</a:t>
            </a:r>
          </a:p>
          <a:p>
            <a:r>
              <a:t>【注意】金額は、デモのために設計した配賦で、実世界の因果の証明ではありません。</a:t>
            </a:r>
          </a:p>
          <a:p/>
          <a:p>
            <a:r>
              <a:t>【出典】</a:t>
            </a:r>
          </a:p>
          <a:p>
            <a:r>
              <a:t>デモ環境での確認（Graphの照会結果とDeltaテーブルの突合、2026年10月26日〜27日）</a:t>
            </a:r>
          </a:p>
          <a:p>
            <a:r>
              <a:t>Microsoft Learn：fabric/iq/ontology/overview（2026年10月16日更新）</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【入力】「いま手を打つべき契約ってどれ？」と日本語で入力します。</a:t>
            </a:r>
          </a:p>
          <a:p>
            <a:r>
              <a:t>【回答の要点】Data Agentは、契約ごとに影響額と影響したイベントをまとめ、高優先4契約、中優先3契約を提案しました。高優先の4契約は、すべて貿易金融の契約で、横断混乱と取引先対応コスト増の両方の影響を受け、−0.45〜−0.43億円です。</a:t>
            </a:r>
          </a:p>
          <a:p>
            <a:r>
              <a:t>【指す】右の表が、提案された契約の一覧です。金額は、マイナスのイベントだけの合計（全額連結）です。左下の2枚は、データから言えることと、仮説としての打ち手の例を分けています。</a:t>
            </a:r>
          </a:p>
          <a:p>
            <a:r>
              <a:t>【補足】この回答では、Data Agentが、イベント、影響額、契約、会社の関係から表のつなぎ方を決めて集計しました（2026年10月27日の確認、1回）。SUB_MTL_JP_01_C07は、マイナスのイベントだけで見ると−0.37億円ですが、プラスのイベント（再生合金契約）と合わせると−0.09億円です。マイナスだけを見るか、差し引きで見るかで、対応の順番は変わります。</a:t>
            </a:r>
          </a:p>
          <a:p>
            <a:r>
              <a:t>【注意】どの契約を載せるかと、優先度の線引きは、Data Agentの判断です。指示文の方針（影響額と複数イベントの影響の有無で、高・中・低に分ける）に沿っていますが、規則どおりの機械的な並びではありません。確認した実行の中でも、線引きは変わりました（同じ2契約が、ある回は低優先、別の回は中優先）。表の金額と、重なったイベントは、元データと一致しています。契約データに取引先名の項目がないため、契約IDで示しています。打ち手は仮説で、実際の対応は、担当部門が契約条件と取引先の状況を確認して決めます。</a:t>
            </a:r>
          </a:p>
          <a:p/>
          <a:p>
            <a:r>
              <a:t>【出典】</a:t>
            </a:r>
          </a:p>
          <a:p>
            <a:r>
              <a:t>デモ環境での確認（2026年10月26日〜27日、公開済みのData Agent。金額を元データと照合）</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食品損失の影響は2社に限られました。このデモには、全社に同時に当たるイベントも2件入れてあります。港湾と流動性の混乱を想定した「横断混乱」は、8社すべてに当たり、EBITDAを−6.80億円押し下げます。食品損失と同じ経路で、根拠から全社KPIまでたどれます。</a:t>
            </a:r>
          </a:p>
          <a:p>
            <a:r>
              <a:t>【指す】左の表で、影響が2社から8社に、影響額の明細が84件から336件に増えています。右の図は、8社の影響額で、各社の年間EBITDAに対する比率は、約−1.4〜−1.6%でそろっています。</a:t>
            </a:r>
          </a:p>
          <a:p>
            <a:r>
              <a:t>【数字】横断混乱は、全額連結で−6.80億円、持分管理で−5.16億円、年間EBITDA（447.57億円）の約−1.52%です。事業別では、金属−2.12、エネルギー−2.05、食品−1.30、金融−1.34（億円）です。</a:t>
            </a:r>
          </a:p>
          <a:p>
            <a:r>
              <a:t>【確認】会社別と事業別の金額は、公開済みのData Agentの回答が、元データの集計と小数第2位まで一致しました（2026年10月27日）。</a:t>
            </a:r>
          </a:p>
          <a:p>
            <a:r>
              <a:t>【未対応】ある会社の問題が、取引を通じて別の会社に伝わる「連鎖」は、会社と会社を結ぶ関係をOntologyにまだ持っていないため、今のデモでは扱えません。内部取引の表はありますが、関係として定義していません。</a:t>
            </a:r>
          </a:p>
          <a:p>
            <a:r>
              <a:t>【注意】各社の比率がそろっているのは、データの設計によるもので、現実の波及の姿を示すものではありません。</a:t>
            </a:r>
          </a:p>
          <a:p/>
          <a:p>
            <a:r>
              <a:t>【出典】</a:t>
            </a:r>
          </a:p>
          <a:p>
            <a:r>
              <a:t>デモ環境での確認（2026年10月27日、公開済みのData Agent。会社別、事業別の金額を元データと照合）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【話す】従来の手段との違い、既存データの活用、権限、拡張の仕組みを示します。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【話す】このデモの集計だけなら、SQLやBIでも同じ数字を出せます。Ontologyが違うのは、業務の概念、関係、ルールを1か所で定義して、人にもエージェントにも同じ定義を渡せる点です。</a:t>
            </a:r>
          </a:p>
          <a:p>
            <a:r>
              <a:t>【指す】3つの観点を上から順に。左が従来の手段でクエリやモデルごとに作る場合、右がOntologyで定義した場合です。右の小さい文字が、このデモでの確認内容です。</a:t>
            </a:r>
          </a:p>
          <a:p>
            <a:r>
              <a:t>【補足】Microsoft Learnは、Ontologyの役割を、利用者ごとに表、列、メジャー、結合を解釈する代わりに、再利用できる業務の概念とデータへの結び付けを与えることと説明しています。Power BIのセマンティックモデルも、定義を共有する手段です。Ontologyは、そのモデルから生成して、業務の概念と関係を重ねることもできます（Preview）。</a:t>
            </a:r>
          </a:p>
          <a:p>
            <a:r>
              <a:t>【留意点】このデモでは、全額連結などの言葉の定義の一部は、Data Agentの指示文に書いてあり、Ontologyのルールへの移行は未実施です。デモは4つの質問と1つのエージェントで確認しており、質問や利用者が増えた場合の効果の大きさは測っていません。PoCで、質問と利用者を増やして評価します。</a:t>
            </a:r>
          </a:p>
          <a:p/>
          <a:p>
            <a:r>
              <a:t>【出典】</a:t>
            </a:r>
          </a:p>
          <a:p>
            <a:r>
              <a:t>Microsoft Learn：fabric/iq/ontology/overview（2026年10月16日更新）、concepts-agent-integration（2026年9月15日更新）、how-to-bind-data（2026年10月20日更新）</a:t>
            </a:r>
          </a:p>
          <a:p>
            <a:r>
              <a:t>デモ環境での確認</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データを一か所に集め直す必要はありません。各社の原本は、会社ごとのLakehouseに残し、書き換えません。Ontologyは、データそのものを持たず、概念と関係の定義と、データへの結び付けを持ちます。</a:t>
            </a:r>
          </a:p>
          <a:p>
            <a:r>
              <a:t>【指す】下の層から順に。原本（灰色）から、事業固有の8表は、コピーせずに参照します（青緑の点線）。全社分析用の12表は、8社分を1つにまとめるため、コピーして作ります（紫）。Graphも、経路をたどる問いのために、Ontologyの定義から作るコピーです（紫）。</a:t>
            </a:r>
          </a:p>
          <a:p>
            <a:r>
              <a:t>【ゼロコピーの範囲】ゼロコピーは、事業固有の8表だけです。全社分析用の表とGraphは、コピーして作っています。</a:t>
            </a:r>
          </a:p>
          <a:p>
            <a:r>
              <a:t>【結び付けられるデータ】Previewの間は、セマンティックモデル、Lakehouse、Eventhouse、Warehouse、SQLデータベース、ミラーリングデータベース、OneLakeのショートカット、ビュー、マテリアライズドビューです。</a:t>
            </a:r>
          </a:p>
          <a:p>
            <a:r>
              <a:t>【注意】Power BIのセマンティックモデルからOntologyを生成できます（Preview）。ただし、現時点では、Graphの対象は、LakehouseまたはミラーリングデータベースのDeltaテーブルに限られます。セマンティックモデルに結んだOntologyは、Data Agentが動作しない既知の問題があり、グラフ化もできません（Microsoft Learn、2026年9月時点）。Data AgentやGraphを使う場合は、LakehouseなどのDeltaテーブルに結びます。デモは、Lakehouseの表に結んでいます。</a:t>
            </a:r>
          </a:p>
          <a:p>
            <a:r>
              <a:t>【更新】コピーして作った表とGraphは、原本の変更が自動で反映されるとは限りません。更新のタイミングは、設計で決めます。</a:t>
            </a:r>
          </a:p>
          <a:p/>
          <a:p>
            <a:r>
              <a:t>【出典】</a:t>
            </a:r>
          </a:p>
          <a:p>
            <a:r>
              <a:t>Microsoft Learn：fabric/iq/ontology/overview（2026年10月16日更新）、how-to-bind-data（2026年10月20日更新）</a:t>
            </a:r>
          </a:p>
          <a:p>
            <a:r>
              <a:t>Microsoft Learn：how-to-use-ontology-graph（2026年9月18日更新）、how-to-create-data-agent（2026年9月13日更新）</a:t>
            </a:r>
          </a:p>
          <a:p>
            <a:r>
              <a:t>デモ環境の構成（9つのLakehouse）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【話す】Ontologyは、Fabricの権限の仕組みの上で動きます。Ontologyのアイテムへのアクセスは、ワークスペースとアイテムの権限で制御します。Microsoft Learnの記載では、結び付けたデータについて、作成時も問い合わせ時も、データ側の権限が尊重されます。</a:t>
            </a:r>
          </a:p>
          <a:p>
            <a:r>
              <a:t>【3つのポイント】①アクセスの制御：Fabricのワークスペースとアイテムの権限。②データ側の権限：OneLake security、ソース側で強制される行レベル、オブジェクトレベル、列レベルのセキュリティ（Microsoft Learnの記載）。③変更の管理：名前付きの版の保存と復元、APIとCI/CD。Ontology agentによる変更は、提案を確認してから反映します。</a:t>
            </a:r>
          </a:p>
          <a:p>
            <a:r>
              <a:t>【補足】バージョン履歴は、現在は手動で版を作ります。各版には、日時、作成者、名前、説明が付き、復元すると、現在の定義が保存した版に置き換わります。</a:t>
            </a:r>
          </a:p>
          <a:p>
            <a:r>
              <a:t>【注意】このデモでは、権限の動作は検証していません。コピーして作った表（全社分析用の12表）とGraphに、データ側の権限が同じように及ぶかは、確認していません。権限の挙動は、結び付けるデータの種類で異なる場合があります。PoCで、対象のデータごとに確認します。</a:t>
            </a:r>
          </a:p>
          <a:p/>
          <a:p>
            <a:r>
              <a:t>【出典】</a:t>
            </a:r>
          </a:p>
          <a:p>
            <a:r>
              <a:t>Microsoft Learn：fabric/iq/ontology/overview（2026年10月16日更新）</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対象の事業や部門が増えると、同じ名前で意味の違う概念や、複数の概念に共通する項目が増えます。新しいOntologyの体験には、これを整理する機能が加わりました。このデモではまだ使っていません。</a:t>
            </a:r>
          </a:p>
          <a:p>
            <a:r>
              <a:t>【指す】左から、名前空間、継承、共有プロパティ、ビジネスルールです。各カードの「このデモに当てはめた案」が、使う場合の例で、Fabricには反映していません。下段の「留意」が、Microsoft Learnに記載された制限です。</a:t>
            </a:r>
          </a:p>
          <a:p>
            <a:r>
              <a:t>【案の内訳】名前空間：共通の9概念をcore、事業固有の8概念を4つの事業に分ける案。継承：事業固有の8概念が共通で持つ5つの項目（拡張ID、活動ID、会社ID、契約ID、観測日）を親に集める案。共有プロパティ：通貨コードを使う6つの概念で定義を1回にする案。ビジネスルール：全額連結と持分管理の区別などを、Data Agentの指示文からルールへ移す案です。</a:t>
            </a:r>
          </a:p>
          <a:p>
            <a:r>
              <a:t>【留意】ルールは、エージェントが読む前提の文章で、Ontologyが処理を実行するものではありません。新しい体験は、Fabric Activatorとの直接の連携を、現時点では提供していません。名前空間を使ってグラフへ投影すると、ノードや辺のラベルに名前空間が接頭辞として付くため、ラベルを指定した既存のクエリは見直しが必要になる場合があります。継承は、親の概念を指定して、派生した概念の実例をまとめて取得する使い方が、MCPサーバーの既知の問題で、現時点では使えません（Microsoft Learn、2026年9月時点）。</a:t>
            </a:r>
          </a:p>
          <a:p>
            <a:r>
              <a:t>【提案】最初のPoCでは、これらを使わずに始める進め方をご提案します。導入後に、質問を再実行して確認します。</a:t>
            </a:r>
          </a:p>
          <a:p/>
          <a:p>
            <a:r>
              <a:t>【出典】</a:t>
            </a:r>
          </a:p>
          <a:p>
            <a:r>
              <a:t>Microsoft Learn：fabric/iq/ontology/overview（2026年10月16日更新）、how-to-use-namespaces、how-to-use-inheritance、how-to-reuse-properties、how-to-use-rules</a:t>
            </a:r>
          </a:p>
          <a:p>
            <a:r>
              <a:t>デモのOntology定義に当てはめた提案（Fabricには反映していません）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【話す】小さく始める進め方、PoCの確認項目、現時点の留意点、次のステップです。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【話す】最初から17種類の概念と39種類の関係を作る必要はないと考えています。答えたい質問を1つ決め、その質問に出てくる名詞を概念に、名詞をつなぐ動詞を関係にする進め方をご提案します。</a:t>
            </a:r>
          </a:p>
          <a:p>
            <a:r>
              <a:t>【指す】左の5ステップを上から。右は、このデモの定義のうち、質問ごとに使った範囲です。質問④に使った範囲は、4つの概念と3つの関係です。質問③の根拠までの経路は、8つの概念と7つの関係です。いずれも、このデモの17と39の一部で、単独では作成も検証もしていません。</a:t>
            </a:r>
          </a:p>
          <a:p>
            <a:r>
              <a:t>【手間】工数は、データの状態で大きく変わります。キーをそろえる、8社分を統合した表を作る、リンク用の表を用意するといった、データ側の準備の有無を、PoCの前に確認します。</a:t>
            </a:r>
          </a:p>
          <a:p>
            <a:r>
              <a:t>【近道】既存のPower BIセマンティックモデルがあれば、そこからOntologyを生成できます（Preview）。ただし、現時点ではセマンティックモデルに結んだOntologyは、Data Agentが動作しない既知の問題があり、グラフ化もできません。</a:t>
            </a:r>
          </a:p>
          <a:p/>
          <a:p>
            <a:r>
              <a:t>【出典】</a:t>
            </a:r>
          </a:p>
          <a:p>
            <a:r>
              <a:t>Microsoft Learn：fabric/iq/ontology（2026年9月〜10更新）</a:t>
            </a:r>
          </a:p>
          <a:p>
            <a:r>
              <a:t>デモのOntology定義とGraphの検証結果</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【話す】PoCの目的は、貴社のデータと、経営会議で実際に問われる問いで、今日と同じ形の答えと根拠が出るかを確かめることです。左が評価の観点、右がご準備いただきたい情報です。</a:t>
            </a:r>
          </a:p>
          <a:p>
            <a:r>
              <a:t>【進め方の例】質問を5〜10問決め、最初は1事業、1〜2システムのデータで、最小のOntologyを作ります。既存のレポートの数字を正解として、金額が一致するかを確かめます。同じ質問を複数回実行して、回答のぶれも評価します。</a:t>
            </a:r>
          </a:p>
          <a:p>
            <a:r>
              <a:t>【利用環境】Fabricの容量と、OntologyおよびData Agentを使うためのテナント設定の有効化が、前提になります（Microsoft Learnの前提条件）。</a:t>
            </a:r>
          </a:p>
          <a:p>
            <a:r>
              <a:t>【イベントの記録】整ったイベントの一覧が最初から社内にないのは普通です。基準値と実績の差が大きい月と会社から、差異分析のコメントや、事故、契約変更の記録を拾い、小さな台帳として育てます。AIで候補を抽出し、担当者が確認して登録する進め方もあります。20〜30件は、仮の目安です。</a:t>
            </a:r>
          </a:p>
          <a:p>
            <a:r>
              <a:t>【注意】進め方、件数、期間は、対象の範囲とデータの状態によって調整します。</a:t>
            </a:r>
          </a:p>
          <a:p/>
          <a:p>
            <a:r>
              <a:t>【出典】</a:t>
            </a:r>
          </a:p>
          <a:p>
            <a:r>
              <a:t>Microsoft Learn：fabric/iq/ontology（2026年9月〜10更新）、how-to-bind-data（2026年10月20日更新）</a:t>
            </a:r>
          </a:p>
          <a:p>
            <a:r>
              <a:t>デモ環境での検証の進め方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【話す】OntologyとData Agentは、現在Previewの機能です。デモで確認できたことと、まだ確認できていないこと、製品側の制限をお伝えします。PoCの範囲と評価の基準は、これらを前提に決めます。</a:t>
            </a:r>
          </a:p>
          <a:p>
            <a:r>
              <a:t>【6つの点】①提供状況：OntologyとData AgentはPreview、Graphのクエリ用APIはbetaで、仕様や制限が変わる場合があります。②日本語：日本語で動作を確認した範囲での対応で、公式のサポート保証ではありません。③回答のばらつき：言語モデルのため、文面や優先度の線引きは、実行ごとに変わります。デモの確認では、表の金額は元データと一致しましたが、周辺の説明文に誤りが出ることがありました。「円高になったら」のような試算の問いは、結果が不安定でした。④対応していない範囲：会社から会社への連鎖は、関係の追加が必要で未対応です。セマンティックモデルに結んだOntologyは、Data Agentが動作しない既知の問題があり、グラフ化もできません。⑤データ：デモは合成データです。規模、性能、コストは、貴社のデータで別途確認が必要です。⑥従来版の廃止：Ontologyの従来版（旧体験）は2027年1月31日に廃止され、新しい体験へのコピーによる移行が必要です。</a:t>
            </a:r>
          </a:p>
          <a:p>
            <a:r>
              <a:t>【補足】デモのOntologyは、新しい体験で作っているため、廃止の影響を受けません。</a:t>
            </a:r>
          </a:p>
          <a:p/>
          <a:p>
            <a:r>
              <a:t>【出典】</a:t>
            </a:r>
          </a:p>
          <a:p>
            <a:r>
              <a:t>Microsoft Learn：fabric/iq/ontology/overview（2026年10月16日更新）、how-to-create-data-agent（2026年9月13日更新）</a:t>
            </a:r>
          </a:p>
          <a:p>
            <a:r>
              <a:t>デモ環境での確認（2026年10月26日〜27日）</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【話す】今日は、EBITDAの増減を、イベント、契約、根拠記録までたどって説明できることを確認しました。次は、貴社の問いとデータで、小さく検証することをご提案します。</a:t>
            </a:r>
          </a:p>
          <a:p>
            <a:r>
              <a:t>【次のステップ】①代表的な質問を決め、対象データを棚卸しする（ワークショップ形式）。②1事業、1つの質問で、最小のOntologyを作り、答え、根拠、再現性を確認する（PoC）。③結果をもとに、対象の事業や機能を広げるかを決める。期間は、対象の範囲に応じて調整します。</a:t>
            </a:r>
          </a:p>
          <a:p>
            <a:r>
              <a:t>【補足】OntologyとData AgentはPreviewのため、仕様や制限は変わる場合があります。最新の情報は、Microsoft Learnをご確認ください。</a:t>
            </a:r>
          </a:p>
          <a:p/>
          <a:p>
            <a:r>
              <a:t>【出典】</a:t>
            </a:r>
          </a:p>
          <a:p>
            <a:r>
              <a:t>Microsoft Learn：fabric/iq/ontology/overview（2026年10月16日更新）</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【話す】デモ環境、概念と関係の一覧、質問と回答、よくあるご質問、用語集です。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【話す】本編で使ったデモ環境の構成です。左は、使う側から元のデータまでの層、右はデータの規模です。</a:t>
            </a:r>
          </a:p>
          <a:p>
            <a:r>
              <a:t>【指す】下から順に。8社の原本は、会社ごとのLakehouseに残っています（78表）。親のLakehouseには、全社分析用の表（17表の一部）と、事業固有の観測を原本から参照する8本のショートカットがあります。その上に、Ontology（17概念、39関係）があり、Ontologyの定義から作ったGraph（ノード33,960個、エッジ65,684本）が重なります。一番上が、使う側です。</a:t>
            </a:r>
          </a:p>
          <a:p>
            <a:r>
              <a:t>【補足】Data Agentは、公開済みの版で確認しました。Notebookは、根拠から全社KPIまでの経路を表示するために使いました。Ontologyが結んでいる表は20表で、内訳は全社分析用の12表（コピーして作成）と、事業固有の8表（ショートカット、ゼロコピー）です。</a:t>
            </a:r>
          </a:p>
          <a:p>
            <a:r>
              <a:t>【前提】会社、契約、イベント、金額は架空です。規模、性能、コストの目安にはなりません。</a:t>
            </a:r>
          </a:p>
          <a:p/>
          <a:p>
            <a:r>
              <a:t>【出典】</a:t>
            </a:r>
          </a:p>
          <a:p>
            <a:r>
              <a:t>デモ環境の設計と検証記録（2026年10月23日構築、10月27日確認）</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【話す】デモのOntologyが持つ17種類の概念と39種類の関係の一覧です。質問されたときの参照用に使ってください。</a:t>
            </a:r>
          </a:p>
          <a:p>
            <a:r>
              <a:t>【指す】左の表が概念です。その右端の数字は、Graphに取り込んだ実例（ノード）の数で、合計は33,960です。事業固有の観測は、事業と国ごとに1種類（8種類）で、各種類に365日分の実例があります。右側の表は、共通の15種類の関係です。英語の名前は、Fabricの画面に表示される名前です。</a:t>
            </a:r>
          </a:p>
          <a:p>
            <a:r>
              <a:t>【補足】事業固有の観測8種は、取引活動、会社、契約への関係を3本ずつ持ち、合計24種類です。共通の15種類と合わせて、関係は39種類です。</a:t>
            </a:r>
          </a:p>
          <a:p>
            <a:r>
              <a:t>【注意】デモ用に整理した定義です。貴社に適用する際は、質問に必要な範囲から定義します（第4章）。</a:t>
            </a:r>
          </a:p>
          <a:p/>
          <a:p>
            <a:r>
              <a:t>【出典】</a:t>
            </a:r>
          </a:p>
          <a:p>
            <a:r>
              <a:t>デモのOntology定義とGraphの件数（2026年10月27日確認）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【話す】本編で使った質問と、日常の言葉で入力した質問の一覧です。回答の金額は、すべて元データの集計と照合しました。</a:t>
            </a:r>
          </a:p>
          <a:p>
            <a:r>
              <a:t>【指す】左の「区分」で、本編の質問①〜④と、追加で確認した質問を分けています。中央が回答の要点、右が元データとの照合結果です。「3回中3回」は、公開済みのData Agentに同じ質問を3回入力して（2026年10月26日）、毎回一致したという意味です。それ以外は、確認した回数が1〜数回です（2026年10月26日〜27日）。</a:t>
            </a:r>
          </a:p>
          <a:p>
            <a:r>
              <a:t>【数字】①実績447.57億円、基準値448.60億円、差−1.03億円。②横断混乱−6.80億円（影響額336件）、横断回復+5.84億円。追加：金融の子会社は、日本41.25億円、米国44.61億円（年間EBITDA、全額連結）。③食品損失は6契約で−1.14億円。④高優先4契約、中優先3契約。追加：横断混乱は8社すべてに影響し、各社の年間EBITDAの約−1.4〜−1.6%。追加：横断混乱は、年間EBITDAの約−1.52%。</a:t>
            </a:r>
          </a:p>
          <a:p>
            <a:r>
              <a:t>【注意】文面は実行ごとに変わります。優先度の線引きは変わりました。会社別と事業別の回答は、金額は一致しましたが、周辺の説明文に誤りが出た回があります。確認した回数は少なく、性能の評価ではありません。</a:t>
            </a:r>
          </a:p>
          <a:p/>
          <a:p>
            <a:r>
              <a:t>【出典】</a:t>
            </a:r>
          </a:p>
          <a:p>
            <a:r>
              <a:t>デモ環境での確認（2026年10月26日〜27日、公開済みのData Agent。金額を元データの集計と照合）</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【話す】検討の場で出やすいご質問です。デモで確認できたことと、まだ確認できていないことを分けてお答えします。</a:t>
            </a:r>
          </a:p>
          <a:p>
            <a:r>
              <a:t>【SQLやBIでもできる？】集計の数字は、従来の手段でも出せます（第3章の比較）。Ontologyの狙いは、概念、関係、ルールを一度定義して、質問、利用者、ツールをまたいで使い回せるようにすることです。</a:t>
            </a:r>
          </a:p>
          <a:p>
            <a:r>
              <a:t>【他のデータ基盤は使える？】OneLakeのショートカットやミラーリングで、外部のデータをFabricに参照または複製して取り込める場合があります。対象の基盤、提供状況、ネットワークの条件は、個別に確認が必要です。</a:t>
            </a:r>
          </a:p>
          <a:p>
            <a:r>
              <a:t>【回答は正確？】デモでは、表の金額を元データの集計と照合して、一致しました。言語モデルのため、文面は実行ごとに変わり、説明文に誤りが出た回や、結果が安定しない問い（円高の試算など）もありました。PoCで、照合の方法と合格の基準を決めます。</a:t>
            </a:r>
          </a:p>
          <a:p>
            <a:r>
              <a:t>【権限や秘密度ラベルは？】Microsoft Learnの記載では、結び付けたデータ側の権限は、作成時も問い合わせ時も尊重されます。このデモでは未検証で、コピーして作った表とGraphの権限は別に確認が必要です。秘密度ラベルの扱いも、PoCで、対象のデータごとに確認します。</a:t>
            </a:r>
          </a:p>
          <a:p>
            <a:r>
              <a:t>【作るのは大変？】質問1つに必要な範囲から始める進め方をご提案します。工数は、キーの整備や、統合した表の用意など、データの状態で大きく変わります。</a:t>
            </a:r>
          </a:p>
          <a:p>
            <a:r>
              <a:t>【日本語の質問は？】このデモでは、日本語で入力して、確認した範囲で動作しました。公式のサポート保証ではないため、PoCで確認します。</a:t>
            </a:r>
          </a:p>
          <a:p/>
          <a:p>
            <a:r>
              <a:t>【出典】</a:t>
            </a:r>
          </a:p>
          <a:p>
            <a:r>
              <a:t>Microsoft Learn：fabric/iq/ontology/overview（2026年10月16日更新）、how-to-create-data-agent（2026年9月13日更新）</a:t>
            </a:r>
          </a:p>
          <a:p>
            <a:r>
              <a:t>デモ環境での確認（2026年10月26日〜27日）</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【話す】本資料に出てくる主な用語の一覧です。説明の途中で用語が分からなくなったときの参照用です。</a:t>
            </a:r>
          </a:p>
          <a:p>
            <a:r>
              <a:t>【補足】基準値は、デモの設計では、予算に当たる値として扱っています。Data Agentの回答では、「予算」と「基準値」が同じ意味で現れます。全額連結と持分管理は、いずれも管理用の数字で、連結財務諸表の数値ではありません。</a:t>
            </a:r>
          </a:p>
          <a:p>
            <a:r>
              <a:t>【出典】Ontology、概念、関係、ルール、バインディング、Graphの説明は、Microsoft Learnの記載にもとづきます。</a:t>
            </a:r>
          </a:p>
          <a:p/>
          <a:p>
            <a:r>
              <a:t>【出典】</a:t>
            </a:r>
          </a:p>
          <a:p>
            <a:r>
              <a:t>Microsoft Learn：fabric/iq/ontology/overview（2026年10月16日更新）、how-to-use-ontology-graph（2026年9月18日更新）、how-to-use-rules（2026年9月15日更新）</a:t>
            </a:r>
          </a:p>
          <a:p>
            <a:r>
              <a:t>デモ環境の設計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99" y="2130425"/>
            <a:ext cx="10363199"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99" y="3886200"/>
            <a:ext cx="8534399"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812798" y="0"/>
            <a:ext cx="379306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1" y="0"/>
            <a:ext cx="5147731" cy="0"/>
          </a:xfrm>
        </p:spPr>
        <p:txBody>
          <a:bodyPr/>
          <a:lstStyle/>
          <a:p>
            <a:endParaRPr lang="en-US"/>
          </a:p>
        </p:txBody>
      </p:sp>
      <p:sp>
        <p:nvSpPr>
          <p:cNvPr id="6" name="Slide Number Placeholder 5"/>
          <p:cNvSpPr>
            <a:spLocks noGrp="1"/>
          </p:cNvSpPr>
          <p:nvPr>
            <p:ph type="sldNum" sz="quarter" idx="12"/>
          </p:nvPr>
        </p:nvSpPr>
        <p:spPr>
          <a:xfrm>
            <a:off x="11650131" y="0"/>
            <a:ext cx="379306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98" y="0"/>
            <a:ext cx="14630397" cy="0"/>
          </a:xfrm>
        </p:spPr>
        <p:txBody>
          <a:bodyPr/>
          <a:lstStyle/>
          <a:p>
            <a:r>
              <a:rPr lang="en-US" smtClean="0"/>
              <a:t>Click to edit Master title style</a:t>
            </a:r>
            <a:endParaRPr lang="en-US"/>
          </a:p>
        </p:txBody>
      </p:sp>
      <p:sp>
        <p:nvSpPr>
          <p:cNvPr id="3" name="Content Placeholder 2"/>
          <p:cNvSpPr>
            <a:spLocks noGrp="1"/>
          </p:cNvSpPr>
          <p:nvPr>
            <p:ph idx="1"/>
          </p:nvPr>
        </p:nvSpPr>
        <p:spPr>
          <a:xfrm>
            <a:off x="812798" y="0"/>
            <a:ext cx="14630397" cy="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98" y="0"/>
            <a:ext cx="379306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1" y="0"/>
            <a:ext cx="5147731" cy="0"/>
          </a:xfrm>
        </p:spPr>
        <p:txBody>
          <a:bodyPr/>
          <a:lstStyle/>
          <a:p>
            <a:endParaRPr lang="en-US"/>
          </a:p>
        </p:txBody>
      </p:sp>
      <p:sp>
        <p:nvSpPr>
          <p:cNvPr id="6" name="Slide Number Placeholder 5"/>
          <p:cNvSpPr>
            <a:spLocks noGrp="1"/>
          </p:cNvSpPr>
          <p:nvPr>
            <p:ph type="sldNum" sz="quarter" idx="12"/>
          </p:nvPr>
        </p:nvSpPr>
        <p:spPr>
          <a:xfrm>
            <a:off x="11650131" y="0"/>
            <a:ext cx="379306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3" y="4406900"/>
            <a:ext cx="10363199"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3" y="2906713"/>
            <a:ext cx="103631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12798" y="0"/>
            <a:ext cx="379306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1" y="0"/>
            <a:ext cx="5147731" cy="0"/>
          </a:xfrm>
        </p:spPr>
        <p:txBody>
          <a:bodyPr/>
          <a:lstStyle/>
          <a:p>
            <a:endParaRPr lang="en-US"/>
          </a:p>
        </p:txBody>
      </p:sp>
      <p:sp>
        <p:nvSpPr>
          <p:cNvPr id="6" name="Slide Number Placeholder 5"/>
          <p:cNvSpPr>
            <a:spLocks noGrp="1"/>
          </p:cNvSpPr>
          <p:nvPr>
            <p:ph type="sldNum" sz="quarter" idx="12"/>
          </p:nvPr>
        </p:nvSpPr>
        <p:spPr>
          <a:xfrm>
            <a:off x="11650131" y="0"/>
            <a:ext cx="379306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98" y="0"/>
            <a:ext cx="14630397" cy="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99" y="1600200"/>
            <a:ext cx="5384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599" y="1600200"/>
            <a:ext cx="5384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12798" y="0"/>
            <a:ext cx="379306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1" y="0"/>
            <a:ext cx="5147731" cy="0"/>
          </a:xfrm>
        </p:spPr>
        <p:txBody>
          <a:bodyPr/>
          <a:lstStyle/>
          <a:p>
            <a:endParaRPr lang="en-US"/>
          </a:p>
        </p:txBody>
      </p:sp>
      <p:sp>
        <p:nvSpPr>
          <p:cNvPr id="7" name="Slide Number Placeholder 6"/>
          <p:cNvSpPr>
            <a:spLocks noGrp="1"/>
          </p:cNvSpPr>
          <p:nvPr>
            <p:ph type="sldNum" sz="quarter" idx="12"/>
          </p:nvPr>
        </p:nvSpPr>
        <p:spPr>
          <a:xfrm>
            <a:off x="11650131" y="0"/>
            <a:ext cx="379306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798" y="0"/>
            <a:ext cx="14630397" cy="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99" y="1535113"/>
            <a:ext cx="53869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99" y="2174875"/>
            <a:ext cx="53869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12798" y="0"/>
            <a:ext cx="3793065" cy="0"/>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5554131" y="0"/>
            <a:ext cx="5147731" cy="0"/>
          </a:xfrm>
        </p:spPr>
        <p:txBody>
          <a:bodyPr/>
          <a:lstStyle/>
          <a:p>
            <a:endParaRPr lang="en-US"/>
          </a:p>
        </p:txBody>
      </p:sp>
      <p:sp>
        <p:nvSpPr>
          <p:cNvPr id="9" name="Slide Number Placeholder 8"/>
          <p:cNvSpPr>
            <a:spLocks noGrp="1"/>
          </p:cNvSpPr>
          <p:nvPr>
            <p:ph type="sldNum" sz="quarter" idx="12"/>
          </p:nvPr>
        </p:nvSpPr>
        <p:spPr>
          <a:xfrm>
            <a:off x="11650131" y="0"/>
            <a:ext cx="379306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8" y="0"/>
            <a:ext cx="14630397" cy="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12798" y="0"/>
            <a:ext cx="3793065" cy="0"/>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5554131" y="0"/>
            <a:ext cx="5147731" cy="0"/>
          </a:xfrm>
        </p:spPr>
        <p:txBody>
          <a:bodyPr/>
          <a:lstStyle/>
          <a:p>
            <a:endParaRPr lang="en-US"/>
          </a:p>
        </p:txBody>
      </p:sp>
      <p:sp>
        <p:nvSpPr>
          <p:cNvPr id="5" name="Slide Number Placeholder 4"/>
          <p:cNvSpPr>
            <a:spLocks noGrp="1"/>
          </p:cNvSpPr>
          <p:nvPr>
            <p:ph type="sldNum" sz="quarter" idx="12"/>
          </p:nvPr>
        </p:nvSpPr>
        <p:spPr>
          <a:xfrm>
            <a:off x="11650131" y="0"/>
            <a:ext cx="379306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798" y="0"/>
            <a:ext cx="3793065" cy="0"/>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5554131" y="0"/>
            <a:ext cx="5147731" cy="0"/>
          </a:xfrm>
        </p:spPr>
        <p:txBody>
          <a:bodyPr/>
          <a:lstStyle/>
          <a:p>
            <a:endParaRPr lang="en-US"/>
          </a:p>
        </p:txBody>
      </p:sp>
      <p:sp>
        <p:nvSpPr>
          <p:cNvPr id="4" name="Slide Number Placeholder 3"/>
          <p:cNvSpPr>
            <a:spLocks noGrp="1"/>
          </p:cNvSpPr>
          <p:nvPr>
            <p:ph type="sldNum" sz="quarter" idx="12"/>
          </p:nvPr>
        </p:nvSpPr>
        <p:spPr>
          <a:xfrm>
            <a:off x="11650131" y="0"/>
            <a:ext cx="379306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273050"/>
            <a:ext cx="40110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2"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99" y="1435100"/>
            <a:ext cx="40110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98" y="0"/>
            <a:ext cx="379306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1" y="0"/>
            <a:ext cx="5147731" cy="0"/>
          </a:xfrm>
        </p:spPr>
        <p:txBody>
          <a:bodyPr/>
          <a:lstStyle/>
          <a:p>
            <a:endParaRPr lang="en-US"/>
          </a:p>
        </p:txBody>
      </p:sp>
      <p:sp>
        <p:nvSpPr>
          <p:cNvPr id="7" name="Slide Number Placeholder 6"/>
          <p:cNvSpPr>
            <a:spLocks noGrp="1"/>
          </p:cNvSpPr>
          <p:nvPr>
            <p:ph type="sldNum" sz="quarter" idx="12"/>
          </p:nvPr>
        </p:nvSpPr>
        <p:spPr>
          <a:xfrm>
            <a:off x="11650131" y="0"/>
            <a:ext cx="379306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199"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19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19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98" y="0"/>
            <a:ext cx="379306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1" y="0"/>
            <a:ext cx="5147731" cy="0"/>
          </a:xfrm>
        </p:spPr>
        <p:txBody>
          <a:bodyPr/>
          <a:lstStyle/>
          <a:p>
            <a:endParaRPr lang="en-US"/>
          </a:p>
        </p:txBody>
      </p:sp>
      <p:sp>
        <p:nvSpPr>
          <p:cNvPr id="7" name="Slide Number Placeholder 6"/>
          <p:cNvSpPr>
            <a:spLocks noGrp="1"/>
          </p:cNvSpPr>
          <p:nvPr>
            <p:ph type="sldNum" sz="quarter" idx="12"/>
          </p:nvPr>
        </p:nvSpPr>
        <p:spPr>
          <a:xfrm>
            <a:off x="11650131" y="0"/>
            <a:ext cx="379306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798" y="0"/>
            <a:ext cx="14630397" cy="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12798" y="0"/>
            <a:ext cx="14630397" cy="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98" y="0"/>
            <a:ext cx="379306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1" y="0"/>
            <a:ext cx="5147731" cy="0"/>
          </a:xfrm>
        </p:spPr>
        <p:txBody>
          <a:bodyPr/>
          <a:lstStyle/>
          <a:p>
            <a:endParaRPr lang="en-US"/>
          </a:p>
        </p:txBody>
      </p:sp>
      <p:sp>
        <p:nvSpPr>
          <p:cNvPr id="6" name="Slide Number Placeholder 5"/>
          <p:cNvSpPr>
            <a:spLocks noGrp="1"/>
          </p:cNvSpPr>
          <p:nvPr>
            <p:ph type="sldNum" sz="quarter" idx="12"/>
          </p:nvPr>
        </p:nvSpPr>
        <p:spPr>
          <a:xfrm>
            <a:off x="11650131" y="0"/>
            <a:ext cx="379306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199" y="274638"/>
            <a:ext cx="2743199"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99" y="274638"/>
            <a:ext cx="80263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98" y="0"/>
            <a:ext cx="379306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1" y="0"/>
            <a:ext cx="5147731" cy="0"/>
          </a:xfrm>
        </p:spPr>
        <p:txBody>
          <a:bodyPr/>
          <a:lstStyle/>
          <a:p>
            <a:endParaRPr lang="en-US"/>
          </a:p>
        </p:txBody>
      </p:sp>
      <p:sp>
        <p:nvSpPr>
          <p:cNvPr id="6" name="Slide Number Placeholder 5"/>
          <p:cNvSpPr>
            <a:spLocks noGrp="1"/>
          </p:cNvSpPr>
          <p:nvPr>
            <p:ph type="sldNum" sz="quarter" idx="12"/>
          </p:nvPr>
        </p:nvSpPr>
        <p:spPr>
          <a:xfrm>
            <a:off x="11650131" y="0"/>
            <a:ext cx="379306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274638"/>
            <a:ext cx="10972799"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99" y="1600200"/>
            <a:ext cx="10972799"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99" y="6356350"/>
            <a:ext cx="284479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599" y="6356350"/>
            <a:ext cx="386079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599" y="6356350"/>
            <a:ext cx="284479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itle 1"/>
          <p:cNvSpPr>
            <a:spLocks noGrp="1"/>
          </p:cNvSpPr>
          <p:nvPr>
            <p:ph type="title"/>
          </p:nvPr>
        </p:nvSpPr>
        <p:spPr>
          <a:xfrm>
            <a:off x="731520" y="1828800"/>
            <a:ext cx="6035040" cy="1737360"/>
          </a:xfrm>
        </p:spPr>
        <p:txBody>
          <a:bodyPr wrap="square" lIns="0" rIns="0" tIns="0" bIns="0" anchor="t">
            <a:noAutofit/>
          </a:bodyPr>
          <a:lstStyle/>
          <a:p>
            <a:pPr algn="l">
              <a:lnSpc>
                <a:spcPts val="5720"/>
              </a:lnSpc>
              <a:spcAft>
                <a:spcPts val="0"/>
              </a:spcAft>
            </a:pPr>
            <a:r>
              <a:rPr sz="4400" b="1" lang="ja-JP">
                <a:solidFill>
                  <a:srgbClr val="FFFFFF"/>
                </a:solidFill>
                <a:latin typeface="Yu Gothic"/>
                <a:ea typeface="Yu Gothic"/>
              </a:rPr>
              <a:t>EBITDAの増減理由を</a:t>
            </a:r>
          </a:p>
          <a:p>
            <a:pPr algn="l">
              <a:lnSpc>
                <a:spcPts val="5720"/>
              </a:lnSpc>
              <a:spcAft>
                <a:spcPts val="0"/>
              </a:spcAft>
            </a:pPr>
            <a:r>
              <a:rPr sz="4400" b="1" lang="ja-JP">
                <a:solidFill>
                  <a:srgbClr val="FFFFFF"/>
                </a:solidFill>
                <a:latin typeface="Yu Gothic"/>
                <a:ea typeface="Yu Gothic"/>
              </a:rPr>
              <a:t>根拠までたどる</a:t>
            </a:r>
          </a:p>
        </p:txBody>
      </p:sp>
      <p:cxnSp>
        <p:nvCxnSpPr>
          <p:cNvPr id="3" name="Connector 2">
            <a:extLst>
              <a:ext uri="{C183D7F6-B498-43B3-948B-1728B52AA6E4}">
                <adec:decorative xmlns:adec="http://schemas.microsoft.com/office/drawing/2017/decorative" val="1"/>
              </a:ext>
            </a:extLst>
          </p:cNvPr>
          <p:cNvCxnSpPr/>
          <p:nvPr/>
        </p:nvCxnSpPr>
        <p:spPr>
          <a:xfrm>
            <a:off x="7223760" y="1874519"/>
            <a:ext cx="1554480" cy="822961"/>
          </a:xfrm>
          <a:prstGeom prst="line">
            <a:avLst/>
          </a:prstGeom>
          <a:ln w="22225">
            <a:solidFill>
              <a:srgbClr val="5C8BA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V="1">
            <a:off x="6995160" y="2697480"/>
            <a:ext cx="1783080" cy="1463040"/>
          </a:xfrm>
          <a:prstGeom prst="line">
            <a:avLst/>
          </a:prstGeom>
          <a:ln w="22225">
            <a:solidFill>
              <a:srgbClr val="5C8BA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flipV="1">
            <a:off x="8778240" y="1828800"/>
            <a:ext cx="1783080" cy="868680"/>
          </a:xfrm>
          <a:prstGeom prst="line">
            <a:avLst/>
          </a:prstGeom>
          <a:ln w="22225">
            <a:solidFill>
              <a:srgbClr val="5C8BA3"/>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C183D7F6-B498-43B3-948B-1728B52AA6E4}">
                <adec:decorative xmlns:adec="http://schemas.microsoft.com/office/drawing/2017/decorative" val="1"/>
              </a:ext>
            </a:extLst>
          </p:cNvPr>
          <p:cNvCxnSpPr/>
          <p:nvPr/>
        </p:nvCxnSpPr>
        <p:spPr>
          <a:xfrm>
            <a:off x="10561320" y="1828800"/>
            <a:ext cx="228600" cy="2011680"/>
          </a:xfrm>
          <a:prstGeom prst="line">
            <a:avLst/>
          </a:prstGeom>
          <a:ln w="22225">
            <a:solidFill>
              <a:srgbClr val="5C8BA3"/>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C183D7F6-B498-43B3-948B-1728B52AA6E4}">
                <adec:decorative xmlns:adec="http://schemas.microsoft.com/office/drawing/2017/decorative" val="1"/>
              </a:ext>
            </a:extLst>
          </p:cNvPr>
          <p:cNvCxnSpPr/>
          <p:nvPr/>
        </p:nvCxnSpPr>
        <p:spPr>
          <a:xfrm>
            <a:off x="8778240" y="2697480"/>
            <a:ext cx="685800" cy="1600200"/>
          </a:xfrm>
          <a:prstGeom prst="line">
            <a:avLst/>
          </a:prstGeom>
          <a:ln w="22225">
            <a:solidFill>
              <a:srgbClr val="5C8BA3"/>
            </a:solidFill>
          </a:ln>
        </p:spPr>
        <p:style>
          <a:lnRef idx="2">
            <a:schemeClr val="accent1"/>
          </a:lnRef>
          <a:fillRef idx="0">
            <a:schemeClr val="accent1"/>
          </a:fillRef>
          <a:effectRef idx="1">
            <a:schemeClr val="accent1"/>
          </a:effectRef>
          <a:fontRef idx="minor">
            <a:schemeClr val="tx1"/>
          </a:fontRef>
        </p:style>
      </p:cxnSp>
      <p:cxnSp>
        <p:nvCxnSpPr>
          <p:cNvPr id="8" name="Connector 7">
            <a:extLst>
              <a:ext uri="{C183D7F6-B498-43B3-948B-1728B52AA6E4}">
                <adec:decorative xmlns:adec="http://schemas.microsoft.com/office/drawing/2017/decorative" val="1"/>
              </a:ext>
            </a:extLst>
          </p:cNvPr>
          <p:cNvCxnSpPr/>
          <p:nvPr/>
        </p:nvCxnSpPr>
        <p:spPr>
          <a:xfrm>
            <a:off x="9464040" y="4297680"/>
            <a:ext cx="45720" cy="1417320"/>
          </a:xfrm>
          <a:prstGeom prst="line">
            <a:avLst/>
          </a:prstGeom>
          <a:ln w="22225">
            <a:solidFill>
              <a:srgbClr val="5C8BA3"/>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C183D7F6-B498-43B3-948B-1728B52AA6E4}">
                <adec:decorative xmlns:adec="http://schemas.microsoft.com/office/drawing/2017/decorative" val="1"/>
              </a:ext>
            </a:extLst>
          </p:cNvPr>
          <p:cNvCxnSpPr/>
          <p:nvPr/>
        </p:nvCxnSpPr>
        <p:spPr>
          <a:xfrm flipV="1">
            <a:off x="9464040" y="3840480"/>
            <a:ext cx="1325880" cy="457200"/>
          </a:xfrm>
          <a:prstGeom prst="line">
            <a:avLst/>
          </a:prstGeom>
          <a:ln w="22225">
            <a:solidFill>
              <a:srgbClr val="5C8BA3"/>
            </a:solidFill>
          </a:ln>
        </p:spPr>
        <p:style>
          <a:lnRef idx="2">
            <a:schemeClr val="accent1"/>
          </a:lnRef>
          <a:fillRef idx="0">
            <a:schemeClr val="accent1"/>
          </a:fillRef>
          <a:effectRef idx="1">
            <a:schemeClr val="accent1"/>
          </a:effectRef>
          <a:fontRef idx="minor">
            <a:schemeClr val="tx1"/>
          </a:fontRef>
        </p:style>
      </p:cxnSp>
      <p:sp>
        <p:nvSpPr>
          <p:cNvPr id="10" name="Oval 9">
            <a:extLst>
              <a:ext uri="{C183D7F6-B498-43B3-948B-1728B52AA6E4}">
                <adec:decorative xmlns:adec="http://schemas.microsoft.com/office/drawing/2017/decorative" val="1"/>
              </a:ext>
            </a:extLst>
          </p:cNvPr>
          <p:cNvSpPr/>
          <p:nvPr/>
        </p:nvSpPr>
        <p:spPr>
          <a:xfrm>
            <a:off x="6620256" y="1271015"/>
            <a:ext cx="1207008" cy="1207008"/>
          </a:xfrm>
          <a:prstGeom prst="ellipse">
            <a:avLst/>
          </a:prstGeom>
          <a:solidFill>
            <a:srgbClr val="7352AD"/>
          </a:solidFill>
          <a:ln w="15875">
            <a:solidFill>
              <a:srgbClr val="A9DC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620256" y="1271015"/>
            <a:ext cx="1207008" cy="1207008"/>
          </a:xfrm>
          <a:prstGeom prst="rect">
            <a:avLst/>
          </a:prstGeom>
          <a:noFill/>
        </p:spPr>
        <p:txBody>
          <a:bodyPr wrap="square" lIns="0" rIns="0" tIns="0" bIns="0" anchor="ctr">
            <a:spAutoFit/>
          </a:bodyPr>
          <a:lstStyle/>
          <a:p>
            <a:pPr algn="ctr">
              <a:lnSpc>
                <a:spcPts val="1300"/>
              </a:lnSpc>
              <a:spcAft>
                <a:spcPts val="0"/>
              </a:spcAft>
            </a:pPr>
            <a:r>
              <a:rPr sz="1300" b="1" lang="ja-JP">
                <a:solidFill>
                  <a:srgbClr val="FFFFFF"/>
                </a:solidFill>
                <a:latin typeface="Yu Gothic"/>
                <a:ea typeface="Yu Gothic"/>
              </a:rPr>
              <a:t>イベント</a:t>
            </a:r>
          </a:p>
        </p:txBody>
      </p:sp>
      <p:sp>
        <p:nvSpPr>
          <p:cNvPr id="12" name="Oval 11">
            <a:extLst>
              <a:ext uri="{C183D7F6-B498-43B3-948B-1728B52AA6E4}">
                <adec:decorative xmlns:adec="http://schemas.microsoft.com/office/drawing/2017/decorative" val="1"/>
              </a:ext>
            </a:extLst>
          </p:cNvPr>
          <p:cNvSpPr/>
          <p:nvPr/>
        </p:nvSpPr>
        <p:spPr>
          <a:xfrm>
            <a:off x="8119871" y="2039112"/>
            <a:ext cx="1316736" cy="1316736"/>
          </a:xfrm>
          <a:prstGeom prst="ellipse">
            <a:avLst/>
          </a:prstGeom>
          <a:solidFill>
            <a:srgbClr val="BD4354"/>
          </a:solidFill>
          <a:ln w="15875">
            <a:solidFill>
              <a:srgbClr val="A9DC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119871" y="2039112"/>
            <a:ext cx="1316736" cy="1316736"/>
          </a:xfrm>
          <a:prstGeom prst="rect">
            <a:avLst/>
          </a:prstGeom>
          <a:noFill/>
        </p:spPr>
        <p:txBody>
          <a:bodyPr wrap="square" lIns="0" rIns="0" tIns="0" bIns="0" anchor="ctr">
            <a:spAutoFit/>
          </a:bodyPr>
          <a:lstStyle/>
          <a:p>
            <a:pPr algn="ctr">
              <a:lnSpc>
                <a:spcPts val="1300"/>
              </a:lnSpc>
              <a:spcAft>
                <a:spcPts val="0"/>
              </a:spcAft>
            </a:pPr>
            <a:r>
              <a:rPr sz="1300" b="1" lang="ja-JP">
                <a:solidFill>
                  <a:srgbClr val="FFFFFF"/>
                </a:solidFill>
                <a:latin typeface="Yu Gothic"/>
                <a:ea typeface="Yu Gothic"/>
              </a:rPr>
              <a:t>影響額</a:t>
            </a:r>
          </a:p>
        </p:txBody>
      </p:sp>
      <p:sp>
        <p:nvSpPr>
          <p:cNvPr id="14" name="Oval 13">
            <a:extLst>
              <a:ext uri="{C183D7F6-B498-43B3-948B-1728B52AA6E4}">
                <adec:decorative xmlns:adec="http://schemas.microsoft.com/office/drawing/2017/decorative" val="1"/>
              </a:ext>
            </a:extLst>
          </p:cNvPr>
          <p:cNvSpPr/>
          <p:nvPr/>
        </p:nvSpPr>
        <p:spPr>
          <a:xfrm>
            <a:off x="6446520" y="3611879"/>
            <a:ext cx="1097280" cy="1097280"/>
          </a:xfrm>
          <a:prstGeom prst="ellipse">
            <a:avLst/>
          </a:prstGeom>
          <a:solidFill>
            <a:srgbClr val="6B7F8E"/>
          </a:solidFill>
          <a:ln w="15875">
            <a:solidFill>
              <a:srgbClr val="A9DC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46520" y="3611879"/>
            <a:ext cx="1097280" cy="1097280"/>
          </a:xfrm>
          <a:prstGeom prst="rect">
            <a:avLst/>
          </a:prstGeom>
          <a:noFill/>
        </p:spPr>
        <p:txBody>
          <a:bodyPr wrap="square" lIns="0" rIns="0" tIns="0" bIns="0" anchor="ctr">
            <a:spAutoFit/>
          </a:bodyPr>
          <a:lstStyle/>
          <a:p>
            <a:pPr algn="ctr">
              <a:lnSpc>
                <a:spcPts val="1300"/>
              </a:lnSpc>
              <a:spcAft>
                <a:spcPts val="0"/>
              </a:spcAft>
            </a:pPr>
            <a:r>
              <a:rPr sz="1300" b="1" lang="ja-JP">
                <a:solidFill>
                  <a:srgbClr val="FFFFFF"/>
                </a:solidFill>
                <a:latin typeface="Yu Gothic"/>
                <a:ea typeface="Yu Gothic"/>
              </a:rPr>
              <a:t>根拠</a:t>
            </a:r>
          </a:p>
        </p:txBody>
      </p:sp>
      <p:sp>
        <p:nvSpPr>
          <p:cNvPr id="16" name="Oval 15">
            <a:extLst>
              <a:ext uri="{C183D7F6-B498-43B3-948B-1728B52AA6E4}">
                <adec:decorative xmlns:adec="http://schemas.microsoft.com/office/drawing/2017/decorative" val="1"/>
              </a:ext>
            </a:extLst>
          </p:cNvPr>
          <p:cNvSpPr/>
          <p:nvPr/>
        </p:nvSpPr>
        <p:spPr>
          <a:xfrm>
            <a:off x="9976104" y="1243584"/>
            <a:ext cx="1170432" cy="1170432"/>
          </a:xfrm>
          <a:prstGeom prst="ellipse">
            <a:avLst/>
          </a:prstGeom>
          <a:solidFill>
            <a:srgbClr val="2D6A8F"/>
          </a:solidFill>
          <a:ln w="15875">
            <a:solidFill>
              <a:srgbClr val="A9DC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976104" y="1243584"/>
            <a:ext cx="1170432" cy="1170432"/>
          </a:xfrm>
          <a:prstGeom prst="rect">
            <a:avLst/>
          </a:prstGeom>
          <a:noFill/>
        </p:spPr>
        <p:txBody>
          <a:bodyPr wrap="square" lIns="0" rIns="0" tIns="0" bIns="0" anchor="ctr">
            <a:spAutoFit/>
          </a:bodyPr>
          <a:lstStyle/>
          <a:p>
            <a:pPr algn="ctr">
              <a:lnSpc>
                <a:spcPts val="1300"/>
              </a:lnSpc>
              <a:spcAft>
                <a:spcPts val="0"/>
              </a:spcAft>
            </a:pPr>
            <a:r>
              <a:rPr sz="1300" b="1" lang="ja-JP">
                <a:solidFill>
                  <a:srgbClr val="FFFFFF"/>
                </a:solidFill>
                <a:latin typeface="Yu Gothic"/>
                <a:ea typeface="Yu Gothic"/>
              </a:rPr>
              <a:t>契約</a:t>
            </a:r>
          </a:p>
        </p:txBody>
      </p:sp>
      <p:sp>
        <p:nvSpPr>
          <p:cNvPr id="18" name="Oval 17">
            <a:extLst>
              <a:ext uri="{C183D7F6-B498-43B3-948B-1728B52AA6E4}">
                <adec:decorative xmlns:adec="http://schemas.microsoft.com/office/drawing/2017/decorative" val="1"/>
              </a:ext>
            </a:extLst>
          </p:cNvPr>
          <p:cNvSpPr/>
          <p:nvPr/>
        </p:nvSpPr>
        <p:spPr>
          <a:xfrm>
            <a:off x="10204704" y="3255264"/>
            <a:ext cx="1170432" cy="1170432"/>
          </a:xfrm>
          <a:prstGeom prst="ellipse">
            <a:avLst/>
          </a:prstGeom>
          <a:solidFill>
            <a:srgbClr val="087F83"/>
          </a:solidFill>
          <a:ln w="15875">
            <a:solidFill>
              <a:srgbClr val="A9DC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204704" y="3255264"/>
            <a:ext cx="1170432" cy="1170432"/>
          </a:xfrm>
          <a:prstGeom prst="rect">
            <a:avLst/>
          </a:prstGeom>
          <a:noFill/>
        </p:spPr>
        <p:txBody>
          <a:bodyPr wrap="square" lIns="0" rIns="0" tIns="0" bIns="0" anchor="ctr">
            <a:spAutoFit/>
          </a:bodyPr>
          <a:lstStyle/>
          <a:p>
            <a:pPr algn="ctr">
              <a:lnSpc>
                <a:spcPts val="1300"/>
              </a:lnSpc>
              <a:spcAft>
                <a:spcPts val="0"/>
              </a:spcAft>
            </a:pPr>
            <a:r>
              <a:rPr sz="1300" b="1" lang="ja-JP">
                <a:solidFill>
                  <a:srgbClr val="FFFFFF"/>
                </a:solidFill>
                <a:latin typeface="Yu Gothic"/>
                <a:ea typeface="Yu Gothic"/>
              </a:rPr>
              <a:t>会社</a:t>
            </a:r>
          </a:p>
        </p:txBody>
      </p:sp>
      <p:sp>
        <p:nvSpPr>
          <p:cNvPr id="20" name="Oval 19">
            <a:extLst>
              <a:ext uri="{C183D7F6-B498-43B3-948B-1728B52AA6E4}">
                <adec:decorative xmlns:adec="http://schemas.microsoft.com/office/drawing/2017/decorative" val="1"/>
              </a:ext>
            </a:extLst>
          </p:cNvPr>
          <p:cNvSpPr/>
          <p:nvPr/>
        </p:nvSpPr>
        <p:spPr>
          <a:xfrm>
            <a:off x="8915400" y="3749040"/>
            <a:ext cx="1097280" cy="1097280"/>
          </a:xfrm>
          <a:prstGeom prst="ellipse">
            <a:avLst/>
          </a:prstGeom>
          <a:solidFill>
            <a:srgbClr val="2F8F90"/>
          </a:solidFill>
          <a:ln w="15875">
            <a:solidFill>
              <a:srgbClr val="A9DC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915400" y="3749040"/>
            <a:ext cx="1097280" cy="1097280"/>
          </a:xfrm>
          <a:prstGeom prst="rect">
            <a:avLst/>
          </a:prstGeom>
          <a:noFill/>
        </p:spPr>
        <p:txBody>
          <a:bodyPr wrap="square" lIns="0" rIns="0" tIns="0" bIns="0" anchor="ctr">
            <a:spAutoFit/>
          </a:bodyPr>
          <a:lstStyle/>
          <a:p>
            <a:pPr algn="ctr">
              <a:lnSpc>
                <a:spcPts val="1300"/>
              </a:lnSpc>
              <a:spcAft>
                <a:spcPts val="0"/>
              </a:spcAft>
            </a:pPr>
            <a:r>
              <a:rPr sz="1300" b="1" lang="ja-JP">
                <a:solidFill>
                  <a:srgbClr val="FFFFFF"/>
                </a:solidFill>
                <a:latin typeface="Yu Gothic"/>
                <a:ea typeface="Yu Gothic"/>
              </a:rPr>
              <a:t>日次指標</a:t>
            </a:r>
          </a:p>
        </p:txBody>
      </p:sp>
      <p:sp>
        <p:nvSpPr>
          <p:cNvPr id="22" name="Oval 21">
            <a:extLst>
              <a:ext uri="{C183D7F6-B498-43B3-948B-1728B52AA6E4}">
                <adec:decorative xmlns:adec="http://schemas.microsoft.com/office/drawing/2017/decorative" val="1"/>
              </a:ext>
            </a:extLst>
          </p:cNvPr>
          <p:cNvSpPr/>
          <p:nvPr/>
        </p:nvSpPr>
        <p:spPr>
          <a:xfrm>
            <a:off x="8906256" y="5111496"/>
            <a:ext cx="1207008" cy="1207008"/>
          </a:xfrm>
          <a:prstGeom prst="ellipse">
            <a:avLst/>
          </a:prstGeom>
          <a:solidFill>
            <a:srgbClr val="3E9C9A"/>
          </a:solidFill>
          <a:ln w="15875">
            <a:solidFill>
              <a:srgbClr val="A9DC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906256" y="5111496"/>
            <a:ext cx="1207008" cy="1207008"/>
          </a:xfrm>
          <a:prstGeom prst="rect">
            <a:avLst/>
          </a:prstGeom>
          <a:noFill/>
        </p:spPr>
        <p:txBody>
          <a:bodyPr wrap="square" lIns="0" rIns="0" tIns="0" bIns="0" anchor="ctr">
            <a:spAutoFit/>
          </a:bodyPr>
          <a:lstStyle/>
          <a:p>
            <a:pPr algn="ctr">
              <a:lnSpc>
                <a:spcPts val="1300"/>
              </a:lnSpc>
              <a:spcAft>
                <a:spcPts val="0"/>
              </a:spcAft>
            </a:pPr>
            <a:r>
              <a:rPr sz="1300" b="1" lang="ja-JP">
                <a:solidFill>
                  <a:srgbClr val="FFFFFF"/>
                </a:solidFill>
                <a:latin typeface="Yu Gothic"/>
                <a:ea typeface="Yu Gothic"/>
              </a:rPr>
              <a:t>全社KPI</a:t>
            </a:r>
          </a:p>
        </p:txBody>
      </p:sp>
      <p:cxnSp>
        <p:nvCxnSpPr>
          <p:cNvPr id="24" name="Connector 23">
            <a:extLst>
              <a:ext uri="{C183D7F6-B498-43B3-948B-1728B52AA6E4}">
                <adec:decorative xmlns:adec="http://schemas.microsoft.com/office/drawing/2017/decorative" val="1"/>
              </a:ext>
            </a:extLst>
          </p:cNvPr>
          <p:cNvCxnSpPr/>
          <p:nvPr/>
        </p:nvCxnSpPr>
        <p:spPr>
          <a:xfrm>
            <a:off x="805129" y="776325"/>
            <a:ext cx="304952" cy="94641"/>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25" name="Connector 24">
            <a:extLst>
              <a:ext uri="{C183D7F6-B498-43B3-948B-1728B52AA6E4}">
                <adec:decorative xmlns:adec="http://schemas.microsoft.com/office/drawing/2017/decorative" val="1"/>
              </a:ext>
            </a:extLst>
          </p:cNvPr>
          <p:cNvCxnSpPr/>
          <p:nvPr/>
        </p:nvCxnSpPr>
        <p:spPr>
          <a:xfrm flipH="1">
            <a:off x="910285" y="870966"/>
            <a:ext cx="199796" cy="241858"/>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26" name="Connector 25">
            <a:extLst>
              <a:ext uri="{C183D7F6-B498-43B3-948B-1728B52AA6E4}">
                <adec:decorative xmlns:adec="http://schemas.microsoft.com/office/drawing/2017/decorative" val="1"/>
              </a:ext>
            </a:extLst>
          </p:cNvPr>
          <p:cNvCxnSpPr/>
          <p:nvPr/>
        </p:nvCxnSpPr>
        <p:spPr>
          <a:xfrm>
            <a:off x="805129" y="776325"/>
            <a:ext cx="105156" cy="336499"/>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sp>
        <p:nvSpPr>
          <p:cNvPr id="27" name="Oval 26">
            <a:extLst>
              <a:ext uri="{C183D7F6-B498-43B3-948B-1728B52AA6E4}">
                <adec:decorative xmlns:adec="http://schemas.microsoft.com/office/drawing/2017/decorative" val="1"/>
              </a:ext>
            </a:extLst>
          </p:cNvPr>
          <p:cNvSpPr/>
          <p:nvPr/>
        </p:nvSpPr>
        <p:spPr>
          <a:xfrm>
            <a:off x="736777" y="70797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val 27">
            <a:extLst>
              <a:ext uri="{C183D7F6-B498-43B3-948B-1728B52AA6E4}">
                <adec:decorative xmlns:adec="http://schemas.microsoft.com/office/drawing/2017/decorative" val="1"/>
              </a:ext>
            </a:extLst>
          </p:cNvPr>
          <p:cNvSpPr/>
          <p:nvPr/>
        </p:nvSpPr>
        <p:spPr>
          <a:xfrm>
            <a:off x="1041730" y="80261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a:extLst>
              <a:ext uri="{C183D7F6-B498-43B3-948B-1728B52AA6E4}">
                <adec:decorative xmlns:adec="http://schemas.microsoft.com/office/drawing/2017/decorative" val="1"/>
              </a:ext>
            </a:extLst>
          </p:cNvPr>
          <p:cNvSpPr/>
          <p:nvPr/>
        </p:nvSpPr>
        <p:spPr>
          <a:xfrm>
            <a:off x="841933" y="1044473"/>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371600" y="749808"/>
            <a:ext cx="5486400" cy="274320"/>
          </a:xfrm>
          <a:prstGeom prst="rect">
            <a:avLst/>
          </a:prstGeom>
          <a:noFill/>
        </p:spPr>
        <p:txBody>
          <a:bodyPr wrap="square" lIns="0" rIns="0" tIns="0" bIns="0">
            <a:spAutoFit/>
          </a:bodyPr>
          <a:lstStyle/>
          <a:p>
            <a:pPr>
              <a:lnSpc>
                <a:spcPts val="1400"/>
              </a:lnSpc>
              <a:spcAft>
                <a:spcPts val="0"/>
              </a:spcAft>
            </a:pPr>
            <a:r>
              <a:rPr sz="1400" b="1" lang="ja-JP">
                <a:solidFill>
                  <a:srgbClr val="A9DCD9"/>
                </a:solidFill>
                <a:latin typeface="Yu Gothic"/>
                <a:ea typeface="Yu Gothic"/>
              </a:rPr>
              <a:t>Microsoft Fabric IQ  |  Ontology（Preview）</a:t>
            </a:r>
          </a:p>
        </p:txBody>
      </p:sp>
      <p:sp>
        <p:nvSpPr>
          <p:cNvPr id="31" name="TextBox 30"/>
          <p:cNvSpPr txBox="1"/>
          <p:nvPr/>
        </p:nvSpPr>
        <p:spPr>
          <a:xfrm>
            <a:off x="749808" y="3886200"/>
            <a:ext cx="5852160" cy="822960"/>
          </a:xfrm>
          <a:prstGeom prst="rect">
            <a:avLst/>
          </a:prstGeom>
          <a:noFill/>
        </p:spPr>
        <p:txBody>
          <a:bodyPr wrap="square" lIns="0" rIns="0" tIns="0" bIns="0">
            <a:spAutoFit/>
          </a:bodyPr>
          <a:lstStyle/>
          <a:p>
            <a:pPr>
              <a:lnSpc>
                <a:spcPts val="2760"/>
              </a:lnSpc>
              <a:spcAft>
                <a:spcPts val="0"/>
              </a:spcAft>
            </a:pPr>
            <a:r>
              <a:rPr sz="1900" b="0" lang="ja-JP">
                <a:solidFill>
                  <a:srgbClr val="E6EEF2"/>
                </a:solidFill>
                <a:latin typeface="Yu Gothic"/>
                <a:ea typeface="Yu Gothic"/>
              </a:rPr>
              <a:t>総合商社モデル（架空データ）で確認する</a:t>
            </a:r>
          </a:p>
          <a:p>
            <a:pPr>
              <a:lnSpc>
                <a:spcPts val="2760"/>
              </a:lnSpc>
              <a:spcAft>
                <a:spcPts val="0"/>
              </a:spcAft>
            </a:pPr>
            <a:r>
              <a:rPr sz="1900" b="0" lang="ja-JP">
                <a:solidFill>
                  <a:srgbClr val="E6EEF2"/>
                </a:solidFill>
                <a:latin typeface="Yu Gothic"/>
                <a:ea typeface="Yu Gothic"/>
              </a:rPr>
              <a:t>Ontologyのデモと、導入の進め方</a:t>
            </a:r>
          </a:p>
        </p:txBody>
      </p:sp>
      <p:sp>
        <p:nvSpPr>
          <p:cNvPr id="32" name="TextBox 31"/>
          <p:cNvSpPr txBox="1"/>
          <p:nvPr/>
        </p:nvSpPr>
        <p:spPr>
          <a:xfrm>
            <a:off x="749808" y="5943600"/>
            <a:ext cx="2743200" cy="274320"/>
          </a:xfrm>
          <a:prstGeom prst="rect">
            <a:avLst/>
          </a:prstGeom>
          <a:noFill/>
        </p:spPr>
        <p:txBody>
          <a:bodyPr wrap="square" lIns="0" rIns="0" tIns="0" bIns="0">
            <a:spAutoFit/>
          </a:bodyPr>
          <a:lstStyle/>
          <a:p>
            <a:pPr>
              <a:lnSpc>
                <a:spcPts val="1400"/>
              </a:lnSpc>
              <a:spcAft>
                <a:spcPts val="0"/>
              </a:spcAft>
            </a:pPr>
            <a:r>
              <a:rPr sz="1400" b="1" lang="ja-JP">
                <a:solidFill>
                  <a:srgbClr val="A9DCD9"/>
                </a:solidFill>
                <a:latin typeface="Yu Gothic"/>
                <a:ea typeface="Yu Gothic"/>
              </a:rPr>
              <a:t>2026年10月</a:t>
            </a:r>
          </a:p>
        </p:txBody>
      </p:sp>
      <p:sp>
        <p:nvSpPr>
          <p:cNvPr id="33" name="TextBox 32"/>
          <p:cNvSpPr txBox="1"/>
          <p:nvPr/>
        </p:nvSpPr>
        <p:spPr>
          <a:xfrm>
            <a:off x="749808" y="6309360"/>
            <a:ext cx="8229600" cy="228600"/>
          </a:xfrm>
          <a:prstGeom prst="rect">
            <a:avLst/>
          </a:prstGeom>
          <a:noFill/>
        </p:spPr>
        <p:txBody>
          <a:bodyPr wrap="square" lIns="0" rIns="0" tIns="0" bIns="0">
            <a:spAutoFit/>
          </a:bodyPr>
          <a:lstStyle/>
          <a:p>
            <a:pPr>
              <a:lnSpc>
                <a:spcPts val="1100"/>
              </a:lnSpc>
              <a:spcAft>
                <a:spcPts val="0"/>
              </a:spcAft>
            </a:pPr>
            <a:r>
              <a:rPr sz="1100" b="0" lang="ja-JP">
                <a:solidFill>
                  <a:srgbClr val="E6EEF2"/>
                </a:solidFill>
                <a:latin typeface="Yu Gothic"/>
                <a:ea typeface="Yu Gothic"/>
              </a:rPr>
              <a:t>デモのデータは架空です。為替のみ、ECBが公表する日次の参考レートを使っています。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本日の内容</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はじめに  |  構成</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デモを中心に、Ontologyが経営の問いにどう答えるかを確認します。</a:t>
            </a:r>
          </a:p>
          <a:p>
            <a:pPr>
              <a:lnSpc>
                <a:spcPts val="2160"/>
              </a:lnSpc>
              <a:spcAft>
                <a:spcPts val="0"/>
              </a:spcAft>
            </a:pPr>
            <a:r>
              <a:rPr sz="1600" b="0" lang="ja-JP">
                <a:solidFill>
                  <a:srgbClr val="566A78"/>
                </a:solidFill>
                <a:latin typeface="Yu Gothic"/>
                <a:ea typeface="Yu Gothic"/>
              </a:rPr>
              <a:t>最後に、貴社のデータで試す進め方をご提案します。</a:t>
            </a:r>
          </a:p>
        </p:txBody>
      </p:sp>
      <p:sp>
        <p:nvSpPr>
          <p:cNvPr id="11" name="TextBox 10"/>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2" name="TextBox 11"/>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02</a:t>
            </a:r>
          </a:p>
        </p:txBody>
      </p:sp>
      <p:sp>
        <p:nvSpPr>
          <p:cNvPr id="13" name="Rounded Rectangle 12">
            <a:extLst>
              <a:ext uri="{C183D7F6-B498-43B3-948B-1728B52AA6E4}">
                <adec:decorative xmlns:adec="http://schemas.microsoft.com/office/drawing/2017/decorative" val="1"/>
              </a:ext>
            </a:extLst>
          </p:cNvPr>
          <p:cNvSpPr/>
          <p:nvPr/>
        </p:nvSpPr>
        <p:spPr>
          <a:xfrm>
            <a:off x="548640" y="2148840"/>
            <a:ext cx="11091672" cy="640080"/>
          </a:xfrm>
          <a:prstGeom prst="roundRect">
            <a:avLst>
              <a:gd name="adj" fmla="val 1142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a:extLst>
              <a:ext uri="{C183D7F6-B498-43B3-948B-1728B52AA6E4}">
                <adec:decorative xmlns:adec="http://schemas.microsoft.com/office/drawing/2017/decorative" val="1"/>
              </a:ext>
            </a:extLst>
          </p:cNvPr>
          <p:cNvSpPr/>
          <p:nvPr/>
        </p:nvSpPr>
        <p:spPr>
          <a:xfrm>
            <a:off x="758952" y="2267712"/>
            <a:ext cx="402336" cy="402336"/>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58952" y="2267712"/>
            <a:ext cx="402336" cy="402336"/>
          </a:xfrm>
          <a:prstGeom prst="rect">
            <a:avLst/>
          </a:prstGeom>
          <a:noFill/>
        </p:spPr>
        <p:txBody>
          <a:bodyPr wrap="square" lIns="0" rIns="0" tIns="0" bIns="0" anchor="ctr">
            <a:spAutoFit/>
          </a:bodyPr>
          <a:lstStyle/>
          <a:p>
            <a:pPr algn="ctr">
              <a:lnSpc>
                <a:spcPts val="1300"/>
              </a:lnSpc>
              <a:spcAft>
                <a:spcPts val="0"/>
              </a:spcAft>
            </a:pPr>
            <a:r>
              <a:rPr sz="1300" b="1" lang="ja-JP">
                <a:solidFill>
                  <a:srgbClr val="FFFFFF"/>
                </a:solidFill>
                <a:latin typeface="Yu Gothic"/>
                <a:ea typeface="Yu Gothic"/>
              </a:rPr>
              <a:t>1</a:t>
            </a:r>
          </a:p>
        </p:txBody>
      </p:sp>
      <p:sp>
        <p:nvSpPr>
          <p:cNvPr id="16" name="TextBox 15"/>
          <p:cNvSpPr txBox="1"/>
          <p:nvPr/>
        </p:nvSpPr>
        <p:spPr>
          <a:xfrm>
            <a:off x="1371600" y="2148840"/>
            <a:ext cx="2468880" cy="640080"/>
          </a:xfrm>
          <a:prstGeom prst="rect">
            <a:avLst/>
          </a:prstGeom>
          <a:noFill/>
        </p:spPr>
        <p:txBody>
          <a:bodyPr wrap="square" lIns="0" rIns="0" tIns="0" bIns="0" anchor="ctr">
            <a:spAutoFit/>
          </a:bodyPr>
          <a:lstStyle/>
          <a:p>
            <a:pPr>
              <a:lnSpc>
                <a:spcPts val="1900"/>
              </a:lnSpc>
              <a:spcAft>
                <a:spcPts val="0"/>
              </a:spcAft>
            </a:pPr>
            <a:r>
              <a:rPr sz="1900" b="1" lang="ja-JP">
                <a:solidFill>
                  <a:srgbClr val="17334A"/>
                </a:solidFill>
                <a:latin typeface="Yu Gothic"/>
                <a:ea typeface="Yu Gothic"/>
              </a:rPr>
              <a:t>課題と考え方</a:t>
            </a:r>
          </a:p>
        </p:txBody>
      </p:sp>
      <p:sp>
        <p:nvSpPr>
          <p:cNvPr id="17" name="TextBox 16"/>
          <p:cNvSpPr txBox="1"/>
          <p:nvPr/>
        </p:nvSpPr>
        <p:spPr>
          <a:xfrm>
            <a:off x="3931920" y="2148840"/>
            <a:ext cx="6035040" cy="640080"/>
          </a:xfrm>
          <a:prstGeom prst="rect">
            <a:avLst/>
          </a:prstGeom>
          <a:noFill/>
        </p:spPr>
        <p:txBody>
          <a:bodyPr wrap="square" lIns="0" rIns="0" tIns="0" bIns="0" anchor="ctr">
            <a:spAutoFit/>
          </a:bodyPr>
          <a:lstStyle/>
          <a:p>
            <a:pPr>
              <a:lnSpc>
                <a:spcPts val="1680"/>
              </a:lnSpc>
              <a:spcAft>
                <a:spcPts val="0"/>
              </a:spcAft>
            </a:pPr>
            <a:r>
              <a:rPr sz="1400" b="0" lang="ja-JP">
                <a:solidFill>
                  <a:srgbClr val="21374A"/>
                </a:solidFill>
                <a:latin typeface="Yu Gothic"/>
                <a:ea typeface="Yu Gothic"/>
              </a:rPr>
              <a:t>経営の問い、理由を出しにくい構造、Ontologyとは</a:t>
            </a:r>
          </a:p>
        </p:txBody>
      </p:sp>
      <p:sp>
        <p:nvSpPr>
          <p:cNvPr id="18" name="TextBox 17"/>
          <p:cNvSpPr txBox="1"/>
          <p:nvPr/>
        </p:nvSpPr>
        <p:spPr>
          <a:xfrm>
            <a:off x="10058400" y="2148840"/>
            <a:ext cx="1371600" cy="640080"/>
          </a:xfrm>
          <a:prstGeom prst="rect">
            <a:avLst/>
          </a:prstGeom>
          <a:noFill/>
        </p:spPr>
        <p:txBody>
          <a:bodyPr wrap="square" lIns="0" rIns="0" tIns="0" bIns="0" anchor="ctr">
            <a:spAutoFit/>
          </a:bodyPr>
          <a:lstStyle/>
          <a:p>
            <a:pPr algn="r">
              <a:lnSpc>
                <a:spcPts val="1500"/>
              </a:lnSpc>
              <a:spcAft>
                <a:spcPts val="0"/>
              </a:spcAft>
            </a:pPr>
            <a:r>
              <a:rPr sz="1500" b="1" lang="ja-JP">
                <a:solidFill>
                  <a:srgbClr val="087F83"/>
                </a:solidFill>
                <a:latin typeface="Yu Gothic"/>
                <a:ea typeface="Yu Gothic"/>
              </a:rPr>
              <a:t>p.4〜7</a:t>
            </a:r>
          </a:p>
        </p:txBody>
      </p:sp>
      <p:sp>
        <p:nvSpPr>
          <p:cNvPr id="19" name="Rounded Rectangle 18">
            <a:extLst>
              <a:ext uri="{C183D7F6-B498-43B3-948B-1728B52AA6E4}">
                <adec:decorative xmlns:adec="http://schemas.microsoft.com/office/drawing/2017/decorative" val="1"/>
              </a:ext>
            </a:extLst>
          </p:cNvPr>
          <p:cNvSpPr/>
          <p:nvPr/>
        </p:nvSpPr>
        <p:spPr>
          <a:xfrm>
            <a:off x="548640" y="2880360"/>
            <a:ext cx="11091672" cy="640080"/>
          </a:xfrm>
          <a:prstGeom prst="roundRect">
            <a:avLst>
              <a:gd name="adj" fmla="val 1142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a:extLst>
              <a:ext uri="{C183D7F6-B498-43B3-948B-1728B52AA6E4}">
                <adec:decorative xmlns:adec="http://schemas.microsoft.com/office/drawing/2017/decorative" val="1"/>
              </a:ext>
            </a:extLst>
          </p:cNvPr>
          <p:cNvSpPr/>
          <p:nvPr/>
        </p:nvSpPr>
        <p:spPr>
          <a:xfrm>
            <a:off x="758952" y="2999232"/>
            <a:ext cx="402336" cy="402336"/>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58952" y="2999232"/>
            <a:ext cx="402336" cy="402336"/>
          </a:xfrm>
          <a:prstGeom prst="rect">
            <a:avLst/>
          </a:prstGeom>
          <a:noFill/>
        </p:spPr>
        <p:txBody>
          <a:bodyPr wrap="square" lIns="0" rIns="0" tIns="0" bIns="0" anchor="ctr">
            <a:spAutoFit/>
          </a:bodyPr>
          <a:lstStyle/>
          <a:p>
            <a:pPr algn="ctr">
              <a:lnSpc>
                <a:spcPts val="1300"/>
              </a:lnSpc>
              <a:spcAft>
                <a:spcPts val="0"/>
              </a:spcAft>
            </a:pPr>
            <a:r>
              <a:rPr sz="1300" b="1" lang="ja-JP">
                <a:solidFill>
                  <a:srgbClr val="FFFFFF"/>
                </a:solidFill>
                <a:latin typeface="Yu Gothic"/>
                <a:ea typeface="Yu Gothic"/>
              </a:rPr>
              <a:t>2</a:t>
            </a:r>
          </a:p>
        </p:txBody>
      </p:sp>
      <p:sp>
        <p:nvSpPr>
          <p:cNvPr id="22" name="TextBox 21"/>
          <p:cNvSpPr txBox="1"/>
          <p:nvPr/>
        </p:nvSpPr>
        <p:spPr>
          <a:xfrm>
            <a:off x="1371600" y="2880360"/>
            <a:ext cx="2468880" cy="640080"/>
          </a:xfrm>
          <a:prstGeom prst="rect">
            <a:avLst/>
          </a:prstGeom>
          <a:noFill/>
        </p:spPr>
        <p:txBody>
          <a:bodyPr wrap="square" lIns="0" rIns="0" tIns="0" bIns="0" anchor="ctr">
            <a:spAutoFit/>
          </a:bodyPr>
          <a:lstStyle/>
          <a:p>
            <a:pPr>
              <a:lnSpc>
                <a:spcPts val="1900"/>
              </a:lnSpc>
              <a:spcAft>
                <a:spcPts val="0"/>
              </a:spcAft>
            </a:pPr>
            <a:r>
              <a:rPr sz="1900" b="1" lang="ja-JP">
                <a:solidFill>
                  <a:srgbClr val="17334A"/>
                </a:solidFill>
                <a:latin typeface="Yu Gothic"/>
                <a:ea typeface="Yu Gothic"/>
              </a:rPr>
              <a:t>デモで確認</a:t>
            </a:r>
          </a:p>
        </p:txBody>
      </p:sp>
      <p:sp>
        <p:nvSpPr>
          <p:cNvPr id="23" name="TextBox 22"/>
          <p:cNvSpPr txBox="1"/>
          <p:nvPr/>
        </p:nvSpPr>
        <p:spPr>
          <a:xfrm>
            <a:off x="3931920" y="2880360"/>
            <a:ext cx="6035040" cy="640080"/>
          </a:xfrm>
          <a:prstGeom prst="rect">
            <a:avLst/>
          </a:prstGeom>
          <a:noFill/>
        </p:spPr>
        <p:txBody>
          <a:bodyPr wrap="square" lIns="0" rIns="0" tIns="0" bIns="0" anchor="ctr">
            <a:spAutoFit/>
          </a:bodyPr>
          <a:lstStyle/>
          <a:p>
            <a:pPr>
              <a:lnSpc>
                <a:spcPts val="1680"/>
              </a:lnSpc>
              <a:spcAft>
                <a:spcPts val="0"/>
              </a:spcAft>
            </a:pPr>
            <a:r>
              <a:rPr sz="1400" b="0" lang="ja-JP">
                <a:solidFill>
                  <a:srgbClr val="21374A"/>
                </a:solidFill>
                <a:latin typeface="Yu Gothic"/>
                <a:ea typeface="Yu Gothic"/>
              </a:rPr>
              <a:t>4つの質問で、全体、原因、根拠、打ち手を確認</a:t>
            </a:r>
          </a:p>
        </p:txBody>
      </p:sp>
      <p:sp>
        <p:nvSpPr>
          <p:cNvPr id="24" name="TextBox 23"/>
          <p:cNvSpPr txBox="1"/>
          <p:nvPr/>
        </p:nvSpPr>
        <p:spPr>
          <a:xfrm>
            <a:off x="10058400" y="2880360"/>
            <a:ext cx="1371600" cy="640080"/>
          </a:xfrm>
          <a:prstGeom prst="rect">
            <a:avLst/>
          </a:prstGeom>
          <a:noFill/>
        </p:spPr>
        <p:txBody>
          <a:bodyPr wrap="square" lIns="0" rIns="0" tIns="0" bIns="0" anchor="ctr">
            <a:spAutoFit/>
          </a:bodyPr>
          <a:lstStyle/>
          <a:p>
            <a:pPr algn="r">
              <a:lnSpc>
                <a:spcPts val="1500"/>
              </a:lnSpc>
              <a:spcAft>
                <a:spcPts val="0"/>
              </a:spcAft>
            </a:pPr>
            <a:r>
              <a:rPr sz="1500" b="1" lang="ja-JP">
                <a:solidFill>
                  <a:srgbClr val="087F83"/>
                </a:solidFill>
                <a:latin typeface="Yu Gothic"/>
                <a:ea typeface="Yu Gothic"/>
              </a:rPr>
              <a:t>p.9〜16</a:t>
            </a:r>
          </a:p>
        </p:txBody>
      </p:sp>
      <p:sp>
        <p:nvSpPr>
          <p:cNvPr id="25" name="Rounded Rectangle 24">
            <a:extLst>
              <a:ext uri="{C183D7F6-B498-43B3-948B-1728B52AA6E4}">
                <adec:decorative xmlns:adec="http://schemas.microsoft.com/office/drawing/2017/decorative" val="1"/>
              </a:ext>
            </a:extLst>
          </p:cNvPr>
          <p:cNvSpPr/>
          <p:nvPr/>
        </p:nvSpPr>
        <p:spPr>
          <a:xfrm>
            <a:off x="548640" y="3611880"/>
            <a:ext cx="11091672" cy="640080"/>
          </a:xfrm>
          <a:prstGeom prst="roundRect">
            <a:avLst>
              <a:gd name="adj" fmla="val 1142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a:extLst>
              <a:ext uri="{C183D7F6-B498-43B3-948B-1728B52AA6E4}">
                <adec:decorative xmlns:adec="http://schemas.microsoft.com/office/drawing/2017/decorative" val="1"/>
              </a:ext>
            </a:extLst>
          </p:cNvPr>
          <p:cNvSpPr/>
          <p:nvPr/>
        </p:nvSpPr>
        <p:spPr>
          <a:xfrm>
            <a:off x="758952" y="3730752"/>
            <a:ext cx="402336" cy="402336"/>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58952" y="3730752"/>
            <a:ext cx="402336" cy="402336"/>
          </a:xfrm>
          <a:prstGeom prst="rect">
            <a:avLst/>
          </a:prstGeom>
          <a:noFill/>
        </p:spPr>
        <p:txBody>
          <a:bodyPr wrap="square" lIns="0" rIns="0" tIns="0" bIns="0" anchor="ctr">
            <a:spAutoFit/>
          </a:bodyPr>
          <a:lstStyle/>
          <a:p>
            <a:pPr algn="ctr">
              <a:lnSpc>
                <a:spcPts val="1300"/>
              </a:lnSpc>
              <a:spcAft>
                <a:spcPts val="0"/>
              </a:spcAft>
            </a:pPr>
            <a:r>
              <a:rPr sz="1300" b="1" lang="ja-JP">
                <a:solidFill>
                  <a:srgbClr val="FFFFFF"/>
                </a:solidFill>
                <a:latin typeface="Yu Gothic"/>
                <a:ea typeface="Yu Gothic"/>
              </a:rPr>
              <a:t>3</a:t>
            </a:r>
          </a:p>
        </p:txBody>
      </p:sp>
      <p:sp>
        <p:nvSpPr>
          <p:cNvPr id="28" name="TextBox 27"/>
          <p:cNvSpPr txBox="1"/>
          <p:nvPr/>
        </p:nvSpPr>
        <p:spPr>
          <a:xfrm>
            <a:off x="1371600" y="3611880"/>
            <a:ext cx="2468880" cy="640080"/>
          </a:xfrm>
          <a:prstGeom prst="rect">
            <a:avLst/>
          </a:prstGeom>
          <a:noFill/>
        </p:spPr>
        <p:txBody>
          <a:bodyPr wrap="square" lIns="0" rIns="0" tIns="0" bIns="0" anchor="ctr">
            <a:spAutoFit/>
          </a:bodyPr>
          <a:lstStyle/>
          <a:p>
            <a:pPr>
              <a:lnSpc>
                <a:spcPts val="1900"/>
              </a:lnSpc>
              <a:spcAft>
                <a:spcPts val="0"/>
              </a:spcAft>
            </a:pPr>
            <a:r>
              <a:rPr sz="1900" b="1" lang="ja-JP">
                <a:solidFill>
                  <a:srgbClr val="17334A"/>
                </a:solidFill>
                <a:latin typeface="Yu Gothic"/>
                <a:ea typeface="Yu Gothic"/>
              </a:rPr>
              <a:t>価値と仕組み</a:t>
            </a:r>
          </a:p>
        </p:txBody>
      </p:sp>
      <p:sp>
        <p:nvSpPr>
          <p:cNvPr id="29" name="TextBox 28"/>
          <p:cNvSpPr txBox="1"/>
          <p:nvPr/>
        </p:nvSpPr>
        <p:spPr>
          <a:xfrm>
            <a:off x="3931920" y="3611880"/>
            <a:ext cx="6035040" cy="640080"/>
          </a:xfrm>
          <a:prstGeom prst="rect">
            <a:avLst/>
          </a:prstGeom>
          <a:noFill/>
        </p:spPr>
        <p:txBody>
          <a:bodyPr wrap="square" lIns="0" rIns="0" tIns="0" bIns="0" anchor="ctr">
            <a:spAutoFit/>
          </a:bodyPr>
          <a:lstStyle/>
          <a:p>
            <a:pPr>
              <a:lnSpc>
                <a:spcPts val="1680"/>
              </a:lnSpc>
              <a:spcAft>
                <a:spcPts val="0"/>
              </a:spcAft>
            </a:pPr>
            <a:r>
              <a:rPr sz="1400" b="0" lang="ja-JP">
                <a:solidFill>
                  <a:srgbClr val="21374A"/>
                </a:solidFill>
                <a:latin typeface="Yu Gothic"/>
                <a:ea typeface="Yu Gothic"/>
              </a:rPr>
              <a:t>従来との違い、既存データの活用、権限、拡張</a:t>
            </a:r>
          </a:p>
        </p:txBody>
      </p:sp>
      <p:sp>
        <p:nvSpPr>
          <p:cNvPr id="30" name="TextBox 29"/>
          <p:cNvSpPr txBox="1"/>
          <p:nvPr/>
        </p:nvSpPr>
        <p:spPr>
          <a:xfrm>
            <a:off x="10058400" y="3611880"/>
            <a:ext cx="1371600" cy="640080"/>
          </a:xfrm>
          <a:prstGeom prst="rect">
            <a:avLst/>
          </a:prstGeom>
          <a:noFill/>
        </p:spPr>
        <p:txBody>
          <a:bodyPr wrap="square" lIns="0" rIns="0" tIns="0" bIns="0" anchor="ctr">
            <a:spAutoFit/>
          </a:bodyPr>
          <a:lstStyle/>
          <a:p>
            <a:pPr algn="r">
              <a:lnSpc>
                <a:spcPts val="1500"/>
              </a:lnSpc>
              <a:spcAft>
                <a:spcPts val="0"/>
              </a:spcAft>
            </a:pPr>
            <a:r>
              <a:rPr sz="1500" b="1" lang="ja-JP">
                <a:solidFill>
                  <a:srgbClr val="087F83"/>
                </a:solidFill>
                <a:latin typeface="Yu Gothic"/>
                <a:ea typeface="Yu Gothic"/>
              </a:rPr>
              <a:t>p.18〜21</a:t>
            </a:r>
          </a:p>
        </p:txBody>
      </p:sp>
      <p:sp>
        <p:nvSpPr>
          <p:cNvPr id="31" name="Rounded Rectangle 30">
            <a:extLst>
              <a:ext uri="{C183D7F6-B498-43B3-948B-1728B52AA6E4}">
                <adec:decorative xmlns:adec="http://schemas.microsoft.com/office/drawing/2017/decorative" val="1"/>
              </a:ext>
            </a:extLst>
          </p:cNvPr>
          <p:cNvSpPr/>
          <p:nvPr/>
        </p:nvSpPr>
        <p:spPr>
          <a:xfrm>
            <a:off x="548640" y="4343400"/>
            <a:ext cx="11091672" cy="640080"/>
          </a:xfrm>
          <a:prstGeom prst="roundRect">
            <a:avLst>
              <a:gd name="adj" fmla="val 1142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Oval 31">
            <a:extLst>
              <a:ext uri="{C183D7F6-B498-43B3-948B-1728B52AA6E4}">
                <adec:decorative xmlns:adec="http://schemas.microsoft.com/office/drawing/2017/decorative" val="1"/>
              </a:ext>
            </a:extLst>
          </p:cNvPr>
          <p:cNvSpPr/>
          <p:nvPr/>
        </p:nvSpPr>
        <p:spPr>
          <a:xfrm>
            <a:off x="758952" y="4462272"/>
            <a:ext cx="402336" cy="402336"/>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58952" y="4462272"/>
            <a:ext cx="402336" cy="402336"/>
          </a:xfrm>
          <a:prstGeom prst="rect">
            <a:avLst/>
          </a:prstGeom>
          <a:noFill/>
        </p:spPr>
        <p:txBody>
          <a:bodyPr wrap="square" lIns="0" rIns="0" tIns="0" bIns="0" anchor="ctr">
            <a:spAutoFit/>
          </a:bodyPr>
          <a:lstStyle/>
          <a:p>
            <a:pPr algn="ctr">
              <a:lnSpc>
                <a:spcPts val="1300"/>
              </a:lnSpc>
              <a:spcAft>
                <a:spcPts val="0"/>
              </a:spcAft>
            </a:pPr>
            <a:r>
              <a:rPr sz="1300" b="1" lang="ja-JP">
                <a:solidFill>
                  <a:srgbClr val="FFFFFF"/>
                </a:solidFill>
                <a:latin typeface="Yu Gothic"/>
                <a:ea typeface="Yu Gothic"/>
              </a:rPr>
              <a:t>4</a:t>
            </a:r>
          </a:p>
        </p:txBody>
      </p:sp>
      <p:sp>
        <p:nvSpPr>
          <p:cNvPr id="34" name="TextBox 33"/>
          <p:cNvSpPr txBox="1"/>
          <p:nvPr/>
        </p:nvSpPr>
        <p:spPr>
          <a:xfrm>
            <a:off x="1371600" y="4343400"/>
            <a:ext cx="2468880" cy="640080"/>
          </a:xfrm>
          <a:prstGeom prst="rect">
            <a:avLst/>
          </a:prstGeom>
          <a:noFill/>
        </p:spPr>
        <p:txBody>
          <a:bodyPr wrap="square" lIns="0" rIns="0" tIns="0" bIns="0" anchor="ctr">
            <a:spAutoFit/>
          </a:bodyPr>
          <a:lstStyle/>
          <a:p>
            <a:pPr>
              <a:lnSpc>
                <a:spcPts val="1900"/>
              </a:lnSpc>
              <a:spcAft>
                <a:spcPts val="0"/>
              </a:spcAft>
            </a:pPr>
            <a:r>
              <a:rPr sz="1900" b="1" lang="ja-JP">
                <a:solidFill>
                  <a:srgbClr val="17334A"/>
                </a:solidFill>
                <a:latin typeface="Yu Gothic"/>
                <a:ea typeface="Yu Gothic"/>
              </a:rPr>
              <a:t>進め方</a:t>
            </a:r>
          </a:p>
        </p:txBody>
      </p:sp>
      <p:sp>
        <p:nvSpPr>
          <p:cNvPr id="35" name="TextBox 34"/>
          <p:cNvSpPr txBox="1"/>
          <p:nvPr/>
        </p:nvSpPr>
        <p:spPr>
          <a:xfrm>
            <a:off x="3931920" y="4343400"/>
            <a:ext cx="6035040" cy="640080"/>
          </a:xfrm>
          <a:prstGeom prst="rect">
            <a:avLst/>
          </a:prstGeom>
          <a:noFill/>
        </p:spPr>
        <p:txBody>
          <a:bodyPr wrap="square" lIns="0" rIns="0" tIns="0" bIns="0" anchor="ctr">
            <a:spAutoFit/>
          </a:bodyPr>
          <a:lstStyle/>
          <a:p>
            <a:pPr>
              <a:lnSpc>
                <a:spcPts val="1680"/>
              </a:lnSpc>
              <a:spcAft>
                <a:spcPts val="0"/>
              </a:spcAft>
            </a:pPr>
            <a:r>
              <a:rPr sz="1400" b="0" lang="ja-JP">
                <a:solidFill>
                  <a:srgbClr val="21374A"/>
                </a:solidFill>
                <a:latin typeface="Yu Gothic"/>
                <a:ea typeface="Yu Gothic"/>
              </a:rPr>
              <a:t>小さく始める、PoCの確認項目、留意点、次のステップ</a:t>
            </a:r>
          </a:p>
        </p:txBody>
      </p:sp>
      <p:sp>
        <p:nvSpPr>
          <p:cNvPr id="36" name="TextBox 35"/>
          <p:cNvSpPr txBox="1"/>
          <p:nvPr/>
        </p:nvSpPr>
        <p:spPr>
          <a:xfrm>
            <a:off x="10058400" y="4343400"/>
            <a:ext cx="1371600" cy="640080"/>
          </a:xfrm>
          <a:prstGeom prst="rect">
            <a:avLst/>
          </a:prstGeom>
          <a:noFill/>
        </p:spPr>
        <p:txBody>
          <a:bodyPr wrap="square" lIns="0" rIns="0" tIns="0" bIns="0" anchor="ctr">
            <a:spAutoFit/>
          </a:bodyPr>
          <a:lstStyle/>
          <a:p>
            <a:pPr algn="r">
              <a:lnSpc>
                <a:spcPts val="1500"/>
              </a:lnSpc>
              <a:spcAft>
                <a:spcPts val="0"/>
              </a:spcAft>
            </a:pPr>
            <a:r>
              <a:rPr sz="1500" b="1" lang="ja-JP">
                <a:solidFill>
                  <a:srgbClr val="087F83"/>
                </a:solidFill>
                <a:latin typeface="Yu Gothic"/>
                <a:ea typeface="Yu Gothic"/>
              </a:rPr>
              <a:t>p.23〜26</a:t>
            </a:r>
          </a:p>
        </p:txBody>
      </p:sp>
      <p:sp>
        <p:nvSpPr>
          <p:cNvPr id="37" name="Rounded Rectangle 36">
            <a:extLst>
              <a:ext uri="{C183D7F6-B498-43B3-948B-1728B52AA6E4}">
                <adec:decorative xmlns:adec="http://schemas.microsoft.com/office/drawing/2017/decorative" val="1"/>
              </a:ext>
            </a:extLst>
          </p:cNvPr>
          <p:cNvSpPr/>
          <p:nvPr/>
        </p:nvSpPr>
        <p:spPr>
          <a:xfrm>
            <a:off x="548640" y="5074920"/>
            <a:ext cx="11091672" cy="640080"/>
          </a:xfrm>
          <a:prstGeom prst="roundRect">
            <a:avLst>
              <a:gd name="adj" fmla="val 11428"/>
            </a:avLst>
          </a:prstGeom>
          <a:solidFill>
            <a:srgbClr val="E5EBEE"/>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1371600" y="5074920"/>
            <a:ext cx="2468880" cy="640080"/>
          </a:xfrm>
          <a:prstGeom prst="rect">
            <a:avLst/>
          </a:prstGeom>
          <a:noFill/>
        </p:spPr>
        <p:txBody>
          <a:bodyPr wrap="square" lIns="0" rIns="0" tIns="0" bIns="0" anchor="ctr">
            <a:spAutoFit/>
          </a:bodyPr>
          <a:lstStyle/>
          <a:p>
            <a:pPr>
              <a:lnSpc>
                <a:spcPts val="1900"/>
              </a:lnSpc>
              <a:spcAft>
                <a:spcPts val="0"/>
              </a:spcAft>
            </a:pPr>
            <a:r>
              <a:rPr sz="1900" b="1" lang="ja-JP">
                <a:solidFill>
                  <a:srgbClr val="17334A"/>
                </a:solidFill>
                <a:latin typeface="Yu Gothic"/>
                <a:ea typeface="Yu Gothic"/>
              </a:rPr>
              <a:t>付録</a:t>
            </a:r>
          </a:p>
        </p:txBody>
      </p:sp>
      <p:sp>
        <p:nvSpPr>
          <p:cNvPr id="39" name="TextBox 38"/>
          <p:cNvSpPr txBox="1"/>
          <p:nvPr/>
        </p:nvSpPr>
        <p:spPr>
          <a:xfrm>
            <a:off x="3931920" y="5074920"/>
            <a:ext cx="6035040" cy="640080"/>
          </a:xfrm>
          <a:prstGeom prst="rect">
            <a:avLst/>
          </a:prstGeom>
          <a:noFill/>
        </p:spPr>
        <p:txBody>
          <a:bodyPr wrap="square" lIns="0" rIns="0" tIns="0" bIns="0" anchor="ctr">
            <a:spAutoFit/>
          </a:bodyPr>
          <a:lstStyle/>
          <a:p>
            <a:pPr>
              <a:lnSpc>
                <a:spcPts val="1680"/>
              </a:lnSpc>
              <a:spcAft>
                <a:spcPts val="0"/>
              </a:spcAft>
            </a:pPr>
            <a:r>
              <a:rPr sz="1400" b="0" lang="ja-JP">
                <a:solidFill>
                  <a:srgbClr val="21374A"/>
                </a:solidFill>
                <a:latin typeface="Yu Gothic"/>
                <a:ea typeface="Yu Gothic"/>
              </a:rPr>
              <a:t>環境、概念と関係の一覧、質問と回答、FAQ、用語集</a:t>
            </a:r>
          </a:p>
        </p:txBody>
      </p:sp>
      <p:sp>
        <p:nvSpPr>
          <p:cNvPr id="40" name="TextBox 39"/>
          <p:cNvSpPr txBox="1"/>
          <p:nvPr/>
        </p:nvSpPr>
        <p:spPr>
          <a:xfrm>
            <a:off x="10058400" y="5074920"/>
            <a:ext cx="1371600" cy="640080"/>
          </a:xfrm>
          <a:prstGeom prst="rect">
            <a:avLst/>
          </a:prstGeom>
          <a:noFill/>
        </p:spPr>
        <p:txBody>
          <a:bodyPr wrap="square" lIns="0" rIns="0" tIns="0" bIns="0" anchor="ctr">
            <a:spAutoFit/>
          </a:bodyPr>
          <a:lstStyle/>
          <a:p>
            <a:pPr algn="r">
              <a:lnSpc>
                <a:spcPts val="1500"/>
              </a:lnSpc>
              <a:spcAft>
                <a:spcPts val="0"/>
              </a:spcAft>
            </a:pPr>
            <a:r>
              <a:rPr sz="1500" b="1" lang="ja-JP">
                <a:solidFill>
                  <a:srgbClr val="087F83"/>
                </a:solidFill>
                <a:latin typeface="Yu Gothic"/>
                <a:ea typeface="Yu Gothic"/>
              </a:rPr>
              <a:t>p.28〜32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itle 1"/>
          <p:cNvSpPr>
            <a:spLocks noGrp="1"/>
          </p:cNvSpPr>
          <p:nvPr>
            <p:ph type="title"/>
          </p:nvPr>
        </p:nvSpPr>
        <p:spPr>
          <a:xfrm>
            <a:off x="731520" y="1828800"/>
            <a:ext cx="5486400" cy="1828800"/>
          </a:xfrm>
        </p:spPr>
        <p:txBody>
          <a:bodyPr wrap="square" lIns="0" rIns="0" tIns="0" bIns="0" anchor="t">
            <a:noAutofit/>
          </a:bodyPr>
          <a:lstStyle/>
          <a:p>
            <a:pPr algn="l">
              <a:lnSpc>
                <a:spcPts val="4400"/>
              </a:lnSpc>
              <a:spcAft>
                <a:spcPts val="2800"/>
              </a:spcAft>
            </a:pPr>
            <a:r>
              <a:rPr sz="4400" b="1" lang="ja-JP">
                <a:solidFill>
                  <a:srgbClr val="A9DCD9"/>
                </a:solidFill>
                <a:latin typeface="Yu Gothic"/>
                <a:ea typeface="Yu Gothic"/>
              </a:rPr>
              <a:t>第1章</a:t>
            </a:r>
          </a:p>
          <a:p>
            <a:pPr algn="l">
              <a:lnSpc>
                <a:spcPts val="4000"/>
              </a:lnSpc>
              <a:spcAft>
                <a:spcPts val="0"/>
              </a:spcAft>
            </a:pPr>
            <a:r>
              <a:rPr sz="4000" b="1" lang="ja-JP">
                <a:solidFill>
                  <a:srgbClr val="FFFFFF"/>
                </a:solidFill>
                <a:latin typeface="Yu Gothic"/>
                <a:ea typeface="Yu Gothic"/>
              </a:rPr>
              <a:t>課題と考え方</a:t>
            </a:r>
          </a:p>
        </p:txBody>
      </p:sp>
      <p:cxnSp>
        <p:nvCxnSpPr>
          <p:cNvPr id="3" name="Connector 2">
            <a:extLst>
              <a:ext uri="{C183D7F6-B498-43B3-948B-1728B52AA6E4}">
                <adec:decorative xmlns:adec="http://schemas.microsoft.com/office/drawing/2017/decorative" val="1"/>
              </a:ext>
            </a:extLst>
          </p:cNvPr>
          <p:cNvCxnSpPr/>
          <p:nvPr/>
        </p:nvCxnSpPr>
        <p:spPr>
          <a:xfrm flipV="1">
            <a:off x="731519" y="5806440"/>
            <a:ext cx="1188721" cy="38404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a:off x="1920240" y="5806440"/>
            <a:ext cx="1371600" cy="438912"/>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flipV="1">
            <a:off x="3291840" y="5641848"/>
            <a:ext cx="1188719" cy="603504"/>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C183D7F6-B498-43B3-948B-1728B52AA6E4}">
                <adec:decorative xmlns:adec="http://schemas.microsoft.com/office/drawing/2017/decorative" val="1"/>
              </a:ext>
            </a:extLst>
          </p:cNvPr>
          <p:cNvCxnSpPr/>
          <p:nvPr/>
        </p:nvCxnSpPr>
        <p:spPr>
          <a:xfrm>
            <a:off x="4480559" y="5641848"/>
            <a:ext cx="914400" cy="65836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C183D7F6-B498-43B3-948B-1728B52AA6E4}">
                <adec:decorative xmlns:adec="http://schemas.microsoft.com/office/drawing/2017/decorative" val="1"/>
              </a:ext>
            </a:extLst>
          </p:cNvPr>
          <p:cNvCxnSpPr/>
          <p:nvPr/>
        </p:nvCxnSpPr>
        <p:spPr>
          <a:xfrm flipV="1">
            <a:off x="1920240" y="5394960"/>
            <a:ext cx="914400" cy="411480"/>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8" name="Connector 7">
            <a:extLst>
              <a:ext uri="{C183D7F6-B498-43B3-948B-1728B52AA6E4}">
                <adec:decorative xmlns:adec="http://schemas.microsoft.com/office/drawing/2017/decorative" val="1"/>
              </a:ext>
            </a:extLst>
          </p:cNvPr>
          <p:cNvCxnSpPr/>
          <p:nvPr/>
        </p:nvCxnSpPr>
        <p:spPr>
          <a:xfrm>
            <a:off x="2834640" y="5394960"/>
            <a:ext cx="1645919" cy="24688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C183D7F6-B498-43B3-948B-1728B52AA6E4}">
                <adec:decorative xmlns:adec="http://schemas.microsoft.com/office/drawing/2017/decorative" val="1"/>
              </a:ext>
            </a:extLst>
          </p:cNvPr>
          <p:cNvCxnSpPr/>
          <p:nvPr/>
        </p:nvCxnSpPr>
        <p:spPr>
          <a:xfrm>
            <a:off x="3291840" y="6245352"/>
            <a:ext cx="548640" cy="10972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10" name="Connector 9">
            <a:extLst>
              <a:ext uri="{C183D7F6-B498-43B3-948B-1728B52AA6E4}">
                <adec:decorative xmlns:adec="http://schemas.microsoft.com/office/drawing/2017/decorative" val="1"/>
              </a:ext>
            </a:extLst>
          </p:cNvPr>
          <p:cNvCxnSpPr/>
          <p:nvPr/>
        </p:nvCxnSpPr>
        <p:spPr>
          <a:xfrm flipV="1">
            <a:off x="3840480" y="6300216"/>
            <a:ext cx="1554479" cy="54864"/>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sp>
        <p:nvSpPr>
          <p:cNvPr id="11" name="Oval 10">
            <a:extLst>
              <a:ext uri="{C183D7F6-B498-43B3-948B-1728B52AA6E4}">
                <adec:decorative xmlns:adec="http://schemas.microsoft.com/office/drawing/2017/decorative" val="1"/>
              </a:ext>
            </a:extLst>
          </p:cNvPr>
          <p:cNvSpPr/>
          <p:nvPr/>
        </p:nvSpPr>
        <p:spPr>
          <a:xfrm>
            <a:off x="576071" y="6035040"/>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a:extLst>
              <a:ext uri="{C183D7F6-B498-43B3-948B-1728B52AA6E4}">
                <adec:decorative xmlns:adec="http://schemas.microsoft.com/office/drawing/2017/decorative" val="1"/>
              </a:ext>
            </a:extLst>
          </p:cNvPr>
          <p:cNvSpPr/>
          <p:nvPr/>
        </p:nvSpPr>
        <p:spPr>
          <a:xfrm>
            <a:off x="1737360" y="5623560"/>
            <a:ext cx="365760" cy="365760"/>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a:extLst>
              <a:ext uri="{C183D7F6-B498-43B3-948B-1728B52AA6E4}">
                <adec:decorative xmlns:adec="http://schemas.microsoft.com/office/drawing/2017/decorative" val="1"/>
              </a:ext>
            </a:extLst>
          </p:cNvPr>
          <p:cNvSpPr/>
          <p:nvPr/>
        </p:nvSpPr>
        <p:spPr>
          <a:xfrm>
            <a:off x="3081528" y="6035040"/>
            <a:ext cx="420624" cy="420624"/>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a:extLst>
              <a:ext uri="{C183D7F6-B498-43B3-948B-1728B52AA6E4}">
                <adec:decorative xmlns:adec="http://schemas.microsoft.com/office/drawing/2017/decorative" val="1"/>
              </a:ext>
            </a:extLst>
          </p:cNvPr>
          <p:cNvSpPr/>
          <p:nvPr/>
        </p:nvSpPr>
        <p:spPr>
          <a:xfrm>
            <a:off x="4325112" y="5486400"/>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a:extLst>
              <a:ext uri="{C183D7F6-B498-43B3-948B-1728B52AA6E4}">
                <adec:decorative xmlns:adec="http://schemas.microsoft.com/office/drawing/2017/decorative" val="1"/>
              </a:ext>
            </a:extLst>
          </p:cNvPr>
          <p:cNvSpPr/>
          <p:nvPr/>
        </p:nvSpPr>
        <p:spPr>
          <a:xfrm>
            <a:off x="5212079" y="6117336"/>
            <a:ext cx="365760" cy="365760"/>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a:extLst>
              <a:ext uri="{C183D7F6-B498-43B3-948B-1728B52AA6E4}">
                <adec:decorative xmlns:adec="http://schemas.microsoft.com/office/drawing/2017/decorative" val="1"/>
              </a:ext>
            </a:extLst>
          </p:cNvPr>
          <p:cNvSpPr/>
          <p:nvPr/>
        </p:nvSpPr>
        <p:spPr>
          <a:xfrm>
            <a:off x="2624328" y="5184648"/>
            <a:ext cx="420624" cy="420624"/>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a:extLst>
              <a:ext uri="{C183D7F6-B498-43B3-948B-1728B52AA6E4}">
                <adec:decorative xmlns:adec="http://schemas.microsoft.com/office/drawing/2017/decorative" val="1"/>
              </a:ext>
            </a:extLst>
          </p:cNvPr>
          <p:cNvSpPr/>
          <p:nvPr/>
        </p:nvSpPr>
        <p:spPr>
          <a:xfrm>
            <a:off x="3685032" y="6199632"/>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a:extLst>
              <a:ext uri="{C183D7F6-B498-43B3-948B-1728B52AA6E4}">
                <adec:decorative xmlns:adec="http://schemas.microsoft.com/office/drawing/2017/decorative" val="1"/>
              </a:ext>
            </a:extLst>
          </p:cNvPr>
          <p:cNvCxnSpPr/>
          <p:nvPr/>
        </p:nvCxnSpPr>
        <p:spPr>
          <a:xfrm>
            <a:off x="805129" y="776325"/>
            <a:ext cx="304952" cy="94641"/>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19" name="Connector 18">
            <a:extLst>
              <a:ext uri="{C183D7F6-B498-43B3-948B-1728B52AA6E4}">
                <adec:decorative xmlns:adec="http://schemas.microsoft.com/office/drawing/2017/decorative" val="1"/>
              </a:ext>
            </a:extLst>
          </p:cNvPr>
          <p:cNvCxnSpPr/>
          <p:nvPr/>
        </p:nvCxnSpPr>
        <p:spPr>
          <a:xfrm flipH="1">
            <a:off x="910285" y="870966"/>
            <a:ext cx="199796" cy="241858"/>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20" name="Connector 19">
            <a:extLst>
              <a:ext uri="{C183D7F6-B498-43B3-948B-1728B52AA6E4}">
                <adec:decorative xmlns:adec="http://schemas.microsoft.com/office/drawing/2017/decorative" val="1"/>
              </a:ext>
            </a:extLst>
          </p:cNvPr>
          <p:cNvCxnSpPr/>
          <p:nvPr/>
        </p:nvCxnSpPr>
        <p:spPr>
          <a:xfrm>
            <a:off x="805129" y="776325"/>
            <a:ext cx="105156" cy="336499"/>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sp>
        <p:nvSpPr>
          <p:cNvPr id="21" name="Oval 20">
            <a:extLst>
              <a:ext uri="{C183D7F6-B498-43B3-948B-1728B52AA6E4}">
                <adec:decorative xmlns:adec="http://schemas.microsoft.com/office/drawing/2017/decorative" val="1"/>
              </a:ext>
            </a:extLst>
          </p:cNvPr>
          <p:cNvSpPr/>
          <p:nvPr/>
        </p:nvSpPr>
        <p:spPr>
          <a:xfrm>
            <a:off x="736777" y="70797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a:extLst>
              <a:ext uri="{C183D7F6-B498-43B3-948B-1728B52AA6E4}">
                <adec:decorative xmlns:adec="http://schemas.microsoft.com/office/drawing/2017/decorative" val="1"/>
              </a:ext>
            </a:extLst>
          </p:cNvPr>
          <p:cNvSpPr/>
          <p:nvPr/>
        </p:nvSpPr>
        <p:spPr>
          <a:xfrm>
            <a:off x="1041730" y="80261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a:extLst>
              <a:ext uri="{C183D7F6-B498-43B3-948B-1728B52AA6E4}">
                <adec:decorative xmlns:adec="http://schemas.microsoft.com/office/drawing/2017/decorative" val="1"/>
              </a:ext>
            </a:extLst>
          </p:cNvPr>
          <p:cNvSpPr/>
          <p:nvPr/>
        </p:nvSpPr>
        <p:spPr>
          <a:xfrm>
            <a:off x="841933" y="1044473"/>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371600" y="749808"/>
            <a:ext cx="3657600" cy="274320"/>
          </a:xfrm>
          <a:prstGeom prst="rect">
            <a:avLst/>
          </a:prstGeom>
          <a:noFill/>
        </p:spPr>
        <p:txBody>
          <a:bodyPr wrap="square" lIns="0" rIns="0" tIns="0" bIns="0">
            <a:spAutoFit/>
          </a:bodyPr>
          <a:lstStyle/>
          <a:p>
            <a:pPr>
              <a:lnSpc>
                <a:spcPts val="1400"/>
              </a:lnSpc>
              <a:spcAft>
                <a:spcPts val="0"/>
              </a:spcAft>
            </a:pPr>
            <a:r>
              <a:rPr sz="1400" b="1" lang="ja-JP">
                <a:solidFill>
                  <a:srgbClr val="A9DCD9"/>
                </a:solidFill>
                <a:latin typeface="Yu Gothic"/>
                <a:ea typeface="Yu Gothic"/>
              </a:rPr>
              <a:t>章立て</a:t>
            </a:r>
          </a:p>
        </p:txBody>
      </p:sp>
      <p:sp>
        <p:nvSpPr>
          <p:cNvPr id="25" name="TextBox 24"/>
          <p:cNvSpPr txBox="1"/>
          <p:nvPr/>
        </p:nvSpPr>
        <p:spPr>
          <a:xfrm>
            <a:off x="749808" y="4114800"/>
            <a:ext cx="5394960" cy="914400"/>
          </a:xfrm>
          <a:prstGeom prst="rect">
            <a:avLst/>
          </a:prstGeom>
          <a:noFill/>
        </p:spPr>
        <p:txBody>
          <a:bodyPr wrap="square" lIns="0" rIns="0" tIns="0" bIns="0">
            <a:spAutoFit/>
          </a:bodyPr>
          <a:lstStyle/>
          <a:p>
            <a:pPr>
              <a:lnSpc>
                <a:spcPts val="2700"/>
              </a:lnSpc>
              <a:spcAft>
                <a:spcPts val="0"/>
              </a:spcAft>
            </a:pPr>
            <a:r>
              <a:rPr sz="1800" b="0" lang="ja-JP">
                <a:solidFill>
                  <a:srgbClr val="E6EEF2"/>
                </a:solidFill>
                <a:latin typeface="Yu Gothic"/>
                <a:ea typeface="Yu Gothic"/>
              </a:rPr>
              <a:t>経営会議の問いと理由を出しにくい構造、</a:t>
            </a:r>
          </a:p>
          <a:p>
            <a:pPr>
              <a:lnSpc>
                <a:spcPts val="2700"/>
              </a:lnSpc>
              <a:spcAft>
                <a:spcPts val="0"/>
              </a:spcAft>
            </a:pPr>
            <a:r>
              <a:rPr sz="1800" b="0" lang="ja-JP">
                <a:solidFill>
                  <a:srgbClr val="E6EEF2"/>
                </a:solidFill>
                <a:latin typeface="Yu Gothic"/>
                <a:ea typeface="Yu Gothic"/>
              </a:rPr>
              <a:t>Ontologyの役割を整理します。</a:t>
            </a:r>
          </a:p>
        </p:txBody>
      </p:sp>
      <p:sp>
        <p:nvSpPr>
          <p:cNvPr id="26" name="Rounded Rectangle 25">
            <a:extLst>
              <a:ext uri="{C183D7F6-B498-43B3-948B-1728B52AA6E4}">
                <adec:decorative xmlns:adec="http://schemas.microsoft.com/office/drawing/2017/decorative" val="1"/>
              </a:ext>
            </a:extLst>
          </p:cNvPr>
          <p:cNvSpPr/>
          <p:nvPr/>
        </p:nvSpPr>
        <p:spPr>
          <a:xfrm>
            <a:off x="6537960" y="685800"/>
            <a:ext cx="5102352" cy="2570480"/>
          </a:xfrm>
          <a:prstGeom prst="roundRect">
            <a:avLst>
              <a:gd name="adj" fmla="val 569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858000" y="960120"/>
            <a:ext cx="4389120" cy="292608"/>
          </a:xfrm>
          <a:prstGeom prst="rect">
            <a:avLst/>
          </a:prstGeom>
          <a:noFill/>
        </p:spPr>
        <p:txBody>
          <a:bodyPr wrap="square" lIns="0" rIns="0" tIns="0" bIns="0">
            <a:spAutoFit/>
          </a:bodyPr>
          <a:lstStyle/>
          <a:p>
            <a:pPr>
              <a:lnSpc>
                <a:spcPts val="1600"/>
              </a:lnSpc>
              <a:spcAft>
                <a:spcPts val="0"/>
              </a:spcAft>
            </a:pPr>
            <a:r>
              <a:rPr sz="1600" b="1" lang="ja-JP">
                <a:solidFill>
                  <a:srgbClr val="087F83"/>
                </a:solidFill>
                <a:latin typeface="Yu Gothic"/>
                <a:ea typeface="Yu Gothic"/>
              </a:rPr>
              <a:t>この章のページ（4枚）</a:t>
            </a:r>
          </a:p>
        </p:txBody>
      </p:sp>
      <p:sp>
        <p:nvSpPr>
          <p:cNvPr id="28" name="TextBox 27"/>
          <p:cNvSpPr txBox="1"/>
          <p:nvPr/>
        </p:nvSpPr>
        <p:spPr>
          <a:xfrm>
            <a:off x="6858000" y="155448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p.4</a:t>
            </a:r>
          </a:p>
        </p:txBody>
      </p:sp>
      <p:sp>
        <p:nvSpPr>
          <p:cNvPr id="29" name="TextBox 28"/>
          <p:cNvSpPr txBox="1"/>
          <p:nvPr/>
        </p:nvSpPr>
        <p:spPr>
          <a:xfrm>
            <a:off x="7543800" y="155448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増減の理由と根拠が経営会議で問われる</a:t>
            </a:r>
          </a:p>
        </p:txBody>
      </p:sp>
      <p:sp>
        <p:nvSpPr>
          <p:cNvPr id="30" name="TextBox 29"/>
          <p:cNvSpPr txBox="1"/>
          <p:nvPr/>
        </p:nvSpPr>
        <p:spPr>
          <a:xfrm>
            <a:off x="6858000" y="196850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p.5</a:t>
            </a:r>
          </a:p>
        </p:txBody>
      </p:sp>
      <p:sp>
        <p:nvSpPr>
          <p:cNvPr id="31" name="TextBox 30"/>
          <p:cNvSpPr txBox="1"/>
          <p:nvPr/>
        </p:nvSpPr>
        <p:spPr>
          <a:xfrm>
            <a:off x="7543800" y="196850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理由の説明に手間がかかる3つの構造</a:t>
            </a:r>
          </a:p>
        </p:txBody>
      </p:sp>
      <p:sp>
        <p:nvSpPr>
          <p:cNvPr id="32" name="TextBox 31"/>
          <p:cNvSpPr txBox="1"/>
          <p:nvPr/>
        </p:nvSpPr>
        <p:spPr>
          <a:xfrm>
            <a:off x="6858000" y="238252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p.6</a:t>
            </a:r>
          </a:p>
        </p:txBody>
      </p:sp>
      <p:sp>
        <p:nvSpPr>
          <p:cNvPr id="33" name="TextBox 32"/>
          <p:cNvSpPr txBox="1"/>
          <p:nvPr/>
        </p:nvSpPr>
        <p:spPr>
          <a:xfrm>
            <a:off x="7543800" y="238252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Ontology：業務の概念と関係を定義する層</a:t>
            </a:r>
          </a:p>
        </p:txBody>
      </p:sp>
      <p:sp>
        <p:nvSpPr>
          <p:cNvPr id="34" name="TextBox 33"/>
          <p:cNvSpPr txBox="1"/>
          <p:nvPr/>
        </p:nvSpPr>
        <p:spPr>
          <a:xfrm>
            <a:off x="6858000" y="279654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p.7</a:t>
            </a:r>
          </a:p>
        </p:txBody>
      </p:sp>
      <p:sp>
        <p:nvSpPr>
          <p:cNvPr id="35" name="TextBox 34"/>
          <p:cNvSpPr txBox="1"/>
          <p:nvPr/>
        </p:nvSpPr>
        <p:spPr>
          <a:xfrm>
            <a:off x="7543800" y="279654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このデモのOntology：主な8概念と関係</a:t>
            </a:r>
          </a:p>
        </p:txBody>
      </p:sp>
      <p:sp>
        <p:nvSpPr>
          <p:cNvPr id="36" name="TextBox 35"/>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A9DCD9"/>
                </a:solidFill>
                <a:latin typeface="Yu Gothic"/>
                <a:ea typeface="Yu Gothic"/>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増減の理由と根拠が経営会議で問われる</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第1章 課題と考え方  |  経営の問い</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EBITDAが基準から動くと、どの事業のどのイベントが、どの契約を通じて効いたのかが問われます。</a:t>
            </a:r>
          </a:p>
          <a:p>
            <a:pPr>
              <a:lnSpc>
                <a:spcPts val="2160"/>
              </a:lnSpc>
              <a:spcAft>
                <a:spcPts val="0"/>
              </a:spcAft>
            </a:pPr>
            <a:r>
              <a:rPr sz="1600" b="0" lang="ja-JP">
                <a:solidFill>
                  <a:srgbClr val="566A78"/>
                </a:solidFill>
                <a:latin typeface="Yu Gothic"/>
                <a:ea typeface="Yu Gothic"/>
              </a:rPr>
              <a:t>答えるには、複数部門のデータを突き合わせる作業が要ります。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この4つの問いが、第2章のデモの質問①〜④に対応します。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04</a:t>
            </a:r>
          </a:p>
        </p:txBody>
      </p:sp>
      <p:sp>
        <p:nvSpPr>
          <p:cNvPr id="15" name="Rounded Rectangle 14">
            <a:extLst>
              <a:ext uri="{C183D7F6-B498-43B3-948B-1728B52AA6E4}">
                <adec:decorative xmlns:adec="http://schemas.microsoft.com/office/drawing/2017/decorative" val="1"/>
              </a:ext>
            </a:extLst>
          </p:cNvPr>
          <p:cNvSpPr/>
          <p:nvPr/>
        </p:nvSpPr>
        <p:spPr>
          <a:xfrm>
            <a:off x="548640" y="2194560"/>
            <a:ext cx="2606040" cy="3429000"/>
          </a:xfrm>
          <a:prstGeom prst="roundRect">
            <a:avLst>
              <a:gd name="adj" fmla="val 280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a:extLst>
              <a:ext uri="{C183D7F6-B498-43B3-948B-1728B52AA6E4}">
                <adec:decorative xmlns:adec="http://schemas.microsoft.com/office/drawing/2017/decorative" val="1"/>
              </a:ext>
            </a:extLst>
          </p:cNvPr>
          <p:cNvSpPr/>
          <p:nvPr/>
        </p:nvSpPr>
        <p:spPr>
          <a:xfrm>
            <a:off x="713232" y="2423160"/>
            <a:ext cx="493776" cy="493776"/>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13232" y="2423160"/>
            <a:ext cx="493776" cy="493776"/>
          </a:xfrm>
          <a:prstGeom prst="rect">
            <a:avLst/>
          </a:prstGeom>
          <a:noFill/>
        </p:spPr>
        <p:txBody>
          <a:bodyPr wrap="square" lIns="0" rIns="0" tIns="0" bIns="0" anchor="ctr">
            <a:spAutoFit/>
          </a:bodyPr>
          <a:lstStyle/>
          <a:p>
            <a:pPr algn="ctr">
              <a:lnSpc>
                <a:spcPts val="1500"/>
              </a:lnSpc>
              <a:spcAft>
                <a:spcPts val="0"/>
              </a:spcAft>
            </a:pPr>
            <a:r>
              <a:rPr sz="1500" b="1" lang="ja-JP">
                <a:solidFill>
                  <a:srgbClr val="FFFFFF"/>
                </a:solidFill>
                <a:latin typeface="Yu Gothic"/>
                <a:ea typeface="Yu Gothic"/>
              </a:rPr>
              <a:t>1</a:t>
            </a:r>
          </a:p>
        </p:txBody>
      </p:sp>
      <p:sp>
        <p:nvSpPr>
          <p:cNvPr id="18" name="TextBox 17"/>
          <p:cNvSpPr txBox="1"/>
          <p:nvPr/>
        </p:nvSpPr>
        <p:spPr>
          <a:xfrm>
            <a:off x="777240" y="3154680"/>
            <a:ext cx="2148840" cy="411480"/>
          </a:xfrm>
          <a:prstGeom prst="rect">
            <a:avLst/>
          </a:prstGeom>
          <a:noFill/>
        </p:spPr>
        <p:txBody>
          <a:bodyPr wrap="square" lIns="0" rIns="0" tIns="0" bIns="0">
            <a:spAutoFit/>
          </a:bodyPr>
          <a:lstStyle/>
          <a:p>
            <a:pPr>
              <a:lnSpc>
                <a:spcPts val="2160"/>
              </a:lnSpc>
              <a:spcAft>
                <a:spcPts val="0"/>
              </a:spcAft>
            </a:pPr>
            <a:r>
              <a:rPr sz="1800" b="1" lang="ja-JP">
                <a:solidFill>
                  <a:srgbClr val="17334A"/>
                </a:solidFill>
                <a:latin typeface="Yu Gothic"/>
                <a:ea typeface="Yu Gothic"/>
              </a:rPr>
              <a:t>どこで動いたか</a:t>
            </a:r>
          </a:p>
        </p:txBody>
      </p:sp>
      <p:sp>
        <p:nvSpPr>
          <p:cNvPr id="19" name="TextBox 18"/>
          <p:cNvSpPr txBox="1"/>
          <p:nvPr/>
        </p:nvSpPr>
        <p:spPr>
          <a:xfrm>
            <a:off x="777240" y="3703320"/>
            <a:ext cx="2148840" cy="1097280"/>
          </a:xfrm>
          <a:prstGeom prst="rect">
            <a:avLst/>
          </a:prstGeom>
          <a:noFill/>
        </p:spPr>
        <p:txBody>
          <a:bodyPr wrap="square" lIns="0" rIns="0" tIns="0" bIns="0">
            <a:spAutoFit/>
          </a:bodyPr>
          <a:lstStyle/>
          <a:p>
            <a:pPr>
              <a:lnSpc>
                <a:spcPts val="2030"/>
              </a:lnSpc>
              <a:spcAft>
                <a:spcPts val="0"/>
              </a:spcAft>
            </a:pPr>
            <a:r>
              <a:rPr sz="1450" b="0" lang="ja-JP">
                <a:solidFill>
                  <a:srgbClr val="21374A"/>
                </a:solidFill>
                <a:latin typeface="Yu Gothic"/>
                <a:ea typeface="Yu Gothic"/>
              </a:rPr>
              <a:t>会社や事業ごとの</a:t>
            </a:r>
            <a:br>
              <a:rPr lang="ja-JP" sz="1450"/>
            </a:br>
            <a:r>
              <a:rPr sz="1450" b="0" lang="ja-JP">
                <a:solidFill>
                  <a:srgbClr val="21374A"/>
                </a:solidFill>
                <a:latin typeface="Yu Gothic"/>
                <a:ea typeface="Yu Gothic"/>
              </a:rPr>
              <a:t>損益を見て、動いた</a:t>
            </a:r>
            <a:br>
              <a:rPr lang="ja-JP" sz="1450"/>
            </a:br>
            <a:r>
              <a:rPr sz="1450" b="0" lang="ja-JP">
                <a:solidFill>
                  <a:srgbClr val="21374A"/>
                </a:solidFill>
                <a:latin typeface="Yu Gothic"/>
                <a:ea typeface="Yu Gothic"/>
              </a:rPr>
              <a:t>場所を特定します。</a:t>
            </a:r>
          </a:p>
        </p:txBody>
      </p:sp>
      <p:sp>
        <p:nvSpPr>
          <p:cNvPr id="20" name="Rounded Rectangle 19">
            <a:extLst>
              <a:ext uri="{C183D7F6-B498-43B3-948B-1728B52AA6E4}">
                <adec:decorative xmlns:adec="http://schemas.microsoft.com/office/drawing/2017/decorative" val="1"/>
              </a:ext>
            </a:extLst>
          </p:cNvPr>
          <p:cNvSpPr/>
          <p:nvPr/>
        </p:nvSpPr>
        <p:spPr>
          <a:xfrm>
            <a:off x="731520" y="4937760"/>
            <a:ext cx="2240280" cy="566928"/>
          </a:xfrm>
          <a:prstGeom prst="roundRect">
            <a:avLst>
              <a:gd name="adj" fmla="val 12903"/>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59" y="4983480"/>
            <a:ext cx="2057400" cy="493776"/>
          </a:xfrm>
          <a:prstGeom prst="rect">
            <a:avLst/>
          </a:prstGeom>
          <a:noFill/>
        </p:spPr>
        <p:txBody>
          <a:bodyPr wrap="square" lIns="0" rIns="0" tIns="0" bIns="0">
            <a:spAutoFit/>
          </a:bodyPr>
          <a:lstStyle/>
          <a:p>
            <a:pPr>
              <a:lnSpc>
                <a:spcPts val="1260"/>
              </a:lnSpc>
              <a:spcAft>
                <a:spcPts val="0"/>
              </a:spcAft>
            </a:pPr>
            <a:r>
              <a:rPr sz="1050" b="1" lang="ja-JP">
                <a:solidFill>
                  <a:srgbClr val="566A78"/>
                </a:solidFill>
                <a:latin typeface="Yu Gothic"/>
                <a:ea typeface="Yu Gothic"/>
              </a:rPr>
              <a:t>必要なデータ</a:t>
            </a:r>
          </a:p>
          <a:p>
            <a:pPr>
              <a:lnSpc>
                <a:spcPts val="1440"/>
              </a:lnSpc>
              <a:spcAft>
                <a:spcPts val="0"/>
              </a:spcAft>
            </a:pPr>
            <a:r>
              <a:rPr sz="1200" b="1" lang="ja-JP">
                <a:solidFill>
                  <a:srgbClr val="17334A"/>
                </a:solidFill>
                <a:latin typeface="Yu Gothic"/>
                <a:ea typeface="Yu Gothic"/>
              </a:rPr>
              <a:t>会社別、事業別の損益</a:t>
            </a:r>
          </a:p>
        </p:txBody>
      </p:sp>
      <p:cxnSp>
        <p:nvCxnSpPr>
          <p:cNvPr id="22" name="Connector 21">
            <a:extLst>
              <a:ext uri="{C183D7F6-B498-43B3-948B-1728B52AA6E4}">
                <adec:decorative xmlns:adec="http://schemas.microsoft.com/office/drawing/2017/decorative" val="1"/>
              </a:ext>
            </a:extLst>
          </p:cNvPr>
          <p:cNvCxnSpPr/>
          <p:nvPr/>
        </p:nvCxnSpPr>
        <p:spPr>
          <a:xfrm>
            <a:off x="3172968" y="2670048"/>
            <a:ext cx="185928" cy="0"/>
          </a:xfrm>
          <a:prstGeom prst="line">
            <a:avLst/>
          </a:prstGeom>
          <a:ln w="25400">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a:extLst>
              <a:ext uri="{C183D7F6-B498-43B3-948B-1728B52AA6E4}">
                <adec:decorative xmlns:adec="http://schemas.microsoft.com/office/drawing/2017/decorative" val="1"/>
              </a:ext>
            </a:extLst>
          </p:cNvPr>
          <p:cNvSpPr/>
          <p:nvPr/>
        </p:nvSpPr>
        <p:spPr>
          <a:xfrm>
            <a:off x="3377184" y="2194560"/>
            <a:ext cx="2606040" cy="3429000"/>
          </a:xfrm>
          <a:prstGeom prst="roundRect">
            <a:avLst>
              <a:gd name="adj" fmla="val 280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a:extLst>
              <a:ext uri="{C183D7F6-B498-43B3-948B-1728B52AA6E4}">
                <adec:decorative xmlns:adec="http://schemas.microsoft.com/office/drawing/2017/decorative" val="1"/>
              </a:ext>
            </a:extLst>
          </p:cNvPr>
          <p:cNvSpPr/>
          <p:nvPr/>
        </p:nvSpPr>
        <p:spPr>
          <a:xfrm>
            <a:off x="3541776" y="2423160"/>
            <a:ext cx="493776" cy="493776"/>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3541776" y="2423160"/>
            <a:ext cx="493776" cy="493776"/>
          </a:xfrm>
          <a:prstGeom prst="rect">
            <a:avLst/>
          </a:prstGeom>
          <a:noFill/>
        </p:spPr>
        <p:txBody>
          <a:bodyPr wrap="square" lIns="0" rIns="0" tIns="0" bIns="0" anchor="ctr">
            <a:spAutoFit/>
          </a:bodyPr>
          <a:lstStyle/>
          <a:p>
            <a:pPr algn="ctr">
              <a:lnSpc>
                <a:spcPts val="1500"/>
              </a:lnSpc>
              <a:spcAft>
                <a:spcPts val="0"/>
              </a:spcAft>
            </a:pPr>
            <a:r>
              <a:rPr sz="1500" b="1" lang="ja-JP">
                <a:solidFill>
                  <a:srgbClr val="FFFFFF"/>
                </a:solidFill>
                <a:latin typeface="Yu Gothic"/>
                <a:ea typeface="Yu Gothic"/>
              </a:rPr>
              <a:t>2</a:t>
            </a:r>
          </a:p>
        </p:txBody>
      </p:sp>
      <p:sp>
        <p:nvSpPr>
          <p:cNvPr id="26" name="TextBox 25"/>
          <p:cNvSpPr txBox="1"/>
          <p:nvPr/>
        </p:nvSpPr>
        <p:spPr>
          <a:xfrm>
            <a:off x="3605784" y="3154680"/>
            <a:ext cx="2148840" cy="411480"/>
          </a:xfrm>
          <a:prstGeom prst="rect">
            <a:avLst/>
          </a:prstGeom>
          <a:noFill/>
        </p:spPr>
        <p:txBody>
          <a:bodyPr wrap="square" lIns="0" rIns="0" tIns="0" bIns="0">
            <a:spAutoFit/>
          </a:bodyPr>
          <a:lstStyle/>
          <a:p>
            <a:pPr>
              <a:lnSpc>
                <a:spcPts val="2160"/>
              </a:lnSpc>
              <a:spcAft>
                <a:spcPts val="0"/>
              </a:spcAft>
            </a:pPr>
            <a:r>
              <a:rPr sz="1800" b="1" lang="ja-JP">
                <a:solidFill>
                  <a:srgbClr val="17334A"/>
                </a:solidFill>
                <a:latin typeface="Yu Gothic"/>
                <a:ea typeface="Yu Gothic"/>
              </a:rPr>
              <a:t>何が効いたか</a:t>
            </a:r>
          </a:p>
        </p:txBody>
      </p:sp>
      <p:sp>
        <p:nvSpPr>
          <p:cNvPr id="27" name="TextBox 26"/>
          <p:cNvSpPr txBox="1"/>
          <p:nvPr/>
        </p:nvSpPr>
        <p:spPr>
          <a:xfrm>
            <a:off x="3605784" y="3703320"/>
            <a:ext cx="2148840" cy="1097280"/>
          </a:xfrm>
          <a:prstGeom prst="rect">
            <a:avLst/>
          </a:prstGeom>
          <a:noFill/>
        </p:spPr>
        <p:txBody>
          <a:bodyPr wrap="square" lIns="0" rIns="0" tIns="0" bIns="0">
            <a:spAutoFit/>
          </a:bodyPr>
          <a:lstStyle/>
          <a:p>
            <a:pPr>
              <a:lnSpc>
                <a:spcPts val="2030"/>
              </a:lnSpc>
              <a:spcAft>
                <a:spcPts val="0"/>
              </a:spcAft>
            </a:pPr>
            <a:r>
              <a:rPr sz="1450" b="0" lang="ja-JP">
                <a:solidFill>
                  <a:srgbClr val="21374A"/>
                </a:solidFill>
                <a:latin typeface="Yu Gothic"/>
                <a:ea typeface="Yu Gothic"/>
              </a:rPr>
              <a:t>イベントごとの増減を</a:t>
            </a:r>
            <a:br>
              <a:rPr lang="ja-JP" sz="1450"/>
            </a:br>
            <a:r>
              <a:rPr sz="1450" b="0" lang="ja-JP">
                <a:solidFill>
                  <a:srgbClr val="21374A"/>
                </a:solidFill>
                <a:latin typeface="Yu Gothic"/>
                <a:ea typeface="Yu Gothic"/>
              </a:rPr>
              <a:t>並べ、大きく効いた</a:t>
            </a:r>
            <a:br>
              <a:rPr lang="ja-JP" sz="1450"/>
            </a:br>
            <a:r>
              <a:rPr sz="1450" b="0" lang="ja-JP">
                <a:solidFill>
                  <a:srgbClr val="21374A"/>
                </a:solidFill>
                <a:latin typeface="Yu Gothic"/>
                <a:ea typeface="Yu Gothic"/>
              </a:rPr>
              <a:t>ものを選びます。</a:t>
            </a:r>
          </a:p>
        </p:txBody>
      </p:sp>
      <p:sp>
        <p:nvSpPr>
          <p:cNvPr id="28" name="Rounded Rectangle 27">
            <a:extLst>
              <a:ext uri="{C183D7F6-B498-43B3-948B-1728B52AA6E4}">
                <adec:decorative xmlns:adec="http://schemas.microsoft.com/office/drawing/2017/decorative" val="1"/>
              </a:ext>
            </a:extLst>
          </p:cNvPr>
          <p:cNvSpPr/>
          <p:nvPr/>
        </p:nvSpPr>
        <p:spPr>
          <a:xfrm>
            <a:off x="3560064" y="4937760"/>
            <a:ext cx="2240280" cy="566928"/>
          </a:xfrm>
          <a:prstGeom prst="roundRect">
            <a:avLst>
              <a:gd name="adj" fmla="val 12903"/>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3651504" y="4983480"/>
            <a:ext cx="2057400" cy="493776"/>
          </a:xfrm>
          <a:prstGeom prst="rect">
            <a:avLst/>
          </a:prstGeom>
          <a:noFill/>
        </p:spPr>
        <p:txBody>
          <a:bodyPr wrap="square" lIns="0" rIns="0" tIns="0" bIns="0">
            <a:spAutoFit/>
          </a:bodyPr>
          <a:lstStyle/>
          <a:p>
            <a:pPr>
              <a:lnSpc>
                <a:spcPts val="1260"/>
              </a:lnSpc>
              <a:spcAft>
                <a:spcPts val="0"/>
              </a:spcAft>
            </a:pPr>
            <a:r>
              <a:rPr sz="1050" b="1" lang="ja-JP">
                <a:solidFill>
                  <a:srgbClr val="566A78"/>
                </a:solidFill>
                <a:latin typeface="Yu Gothic"/>
                <a:ea typeface="Yu Gothic"/>
              </a:rPr>
              <a:t>必要なデータ</a:t>
            </a:r>
          </a:p>
          <a:p>
            <a:pPr>
              <a:lnSpc>
                <a:spcPts val="1440"/>
              </a:lnSpc>
              <a:spcAft>
                <a:spcPts val="0"/>
              </a:spcAft>
            </a:pPr>
            <a:r>
              <a:rPr sz="1200" b="1" lang="ja-JP">
                <a:solidFill>
                  <a:srgbClr val="17334A"/>
                </a:solidFill>
                <a:latin typeface="Yu Gothic"/>
                <a:ea typeface="Yu Gothic"/>
              </a:rPr>
              <a:t>イベントの一覧と影響額</a:t>
            </a:r>
          </a:p>
        </p:txBody>
      </p:sp>
      <p:cxnSp>
        <p:nvCxnSpPr>
          <p:cNvPr id="30" name="Connector 29">
            <a:extLst>
              <a:ext uri="{C183D7F6-B498-43B3-948B-1728B52AA6E4}">
                <adec:decorative xmlns:adec="http://schemas.microsoft.com/office/drawing/2017/decorative" val="1"/>
              </a:ext>
            </a:extLst>
          </p:cNvPr>
          <p:cNvCxnSpPr/>
          <p:nvPr/>
        </p:nvCxnSpPr>
        <p:spPr>
          <a:xfrm>
            <a:off x="6001512" y="2670048"/>
            <a:ext cx="185928" cy="0"/>
          </a:xfrm>
          <a:prstGeom prst="line">
            <a:avLst/>
          </a:prstGeom>
          <a:ln w="25400">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a:extLst>
              <a:ext uri="{C183D7F6-B498-43B3-948B-1728B52AA6E4}">
                <adec:decorative xmlns:adec="http://schemas.microsoft.com/office/drawing/2017/decorative" val="1"/>
              </a:ext>
            </a:extLst>
          </p:cNvPr>
          <p:cNvSpPr/>
          <p:nvPr/>
        </p:nvSpPr>
        <p:spPr>
          <a:xfrm>
            <a:off x="6205728" y="2194560"/>
            <a:ext cx="2606040" cy="3429000"/>
          </a:xfrm>
          <a:prstGeom prst="roundRect">
            <a:avLst>
              <a:gd name="adj" fmla="val 280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Oval 31">
            <a:extLst>
              <a:ext uri="{C183D7F6-B498-43B3-948B-1728B52AA6E4}">
                <adec:decorative xmlns:adec="http://schemas.microsoft.com/office/drawing/2017/decorative" val="1"/>
              </a:ext>
            </a:extLst>
          </p:cNvPr>
          <p:cNvSpPr/>
          <p:nvPr/>
        </p:nvSpPr>
        <p:spPr>
          <a:xfrm>
            <a:off x="6370320" y="2423160"/>
            <a:ext cx="493776" cy="493776"/>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370320" y="2423160"/>
            <a:ext cx="493776" cy="493776"/>
          </a:xfrm>
          <a:prstGeom prst="rect">
            <a:avLst/>
          </a:prstGeom>
          <a:noFill/>
        </p:spPr>
        <p:txBody>
          <a:bodyPr wrap="square" lIns="0" rIns="0" tIns="0" bIns="0" anchor="ctr">
            <a:spAutoFit/>
          </a:bodyPr>
          <a:lstStyle/>
          <a:p>
            <a:pPr algn="ctr">
              <a:lnSpc>
                <a:spcPts val="1500"/>
              </a:lnSpc>
              <a:spcAft>
                <a:spcPts val="0"/>
              </a:spcAft>
            </a:pPr>
            <a:r>
              <a:rPr sz="1500" b="1" lang="ja-JP">
                <a:solidFill>
                  <a:srgbClr val="FFFFFF"/>
                </a:solidFill>
                <a:latin typeface="Yu Gothic"/>
                <a:ea typeface="Yu Gothic"/>
              </a:rPr>
              <a:t>3</a:t>
            </a:r>
          </a:p>
        </p:txBody>
      </p:sp>
      <p:sp>
        <p:nvSpPr>
          <p:cNvPr id="34" name="TextBox 33"/>
          <p:cNvSpPr txBox="1"/>
          <p:nvPr/>
        </p:nvSpPr>
        <p:spPr>
          <a:xfrm>
            <a:off x="6434328" y="3154680"/>
            <a:ext cx="2148840" cy="411480"/>
          </a:xfrm>
          <a:prstGeom prst="rect">
            <a:avLst/>
          </a:prstGeom>
          <a:noFill/>
        </p:spPr>
        <p:txBody>
          <a:bodyPr wrap="square" lIns="0" rIns="0" tIns="0" bIns="0">
            <a:spAutoFit/>
          </a:bodyPr>
          <a:lstStyle/>
          <a:p>
            <a:pPr>
              <a:lnSpc>
                <a:spcPts val="2160"/>
              </a:lnSpc>
              <a:spcAft>
                <a:spcPts val="0"/>
              </a:spcAft>
            </a:pPr>
            <a:r>
              <a:rPr sz="1800" b="1" lang="ja-JP">
                <a:solidFill>
                  <a:srgbClr val="17334A"/>
                </a:solidFill>
                <a:latin typeface="Yu Gothic"/>
                <a:ea typeface="Yu Gothic"/>
              </a:rPr>
              <a:t>根拠は何か</a:t>
            </a:r>
          </a:p>
        </p:txBody>
      </p:sp>
      <p:sp>
        <p:nvSpPr>
          <p:cNvPr id="35" name="TextBox 34"/>
          <p:cNvSpPr txBox="1"/>
          <p:nvPr/>
        </p:nvSpPr>
        <p:spPr>
          <a:xfrm>
            <a:off x="6434328" y="3703320"/>
            <a:ext cx="2148840" cy="1097280"/>
          </a:xfrm>
          <a:prstGeom prst="rect">
            <a:avLst/>
          </a:prstGeom>
          <a:noFill/>
        </p:spPr>
        <p:txBody>
          <a:bodyPr wrap="square" lIns="0" rIns="0" tIns="0" bIns="0">
            <a:spAutoFit/>
          </a:bodyPr>
          <a:lstStyle/>
          <a:p>
            <a:pPr>
              <a:lnSpc>
                <a:spcPts val="2030"/>
              </a:lnSpc>
              <a:spcAft>
                <a:spcPts val="0"/>
              </a:spcAft>
            </a:pPr>
            <a:r>
              <a:rPr sz="1450" b="0" lang="ja-JP">
                <a:solidFill>
                  <a:srgbClr val="21374A"/>
                </a:solidFill>
                <a:latin typeface="Yu Gothic"/>
                <a:ea typeface="Yu Gothic"/>
              </a:rPr>
              <a:t>影響額から、契約、</a:t>
            </a:r>
            <a:br>
              <a:rPr lang="ja-JP" sz="1450"/>
            </a:br>
            <a:r>
              <a:rPr sz="1450" b="0" lang="ja-JP">
                <a:solidFill>
                  <a:srgbClr val="21374A"/>
                </a:solidFill>
                <a:latin typeface="Yu Gothic"/>
                <a:ea typeface="Yu Gothic"/>
              </a:rPr>
              <a:t>取引、元の記録まで</a:t>
            </a:r>
            <a:br>
              <a:rPr lang="ja-JP" sz="1450"/>
            </a:br>
            <a:r>
              <a:rPr sz="1450" b="0" lang="ja-JP">
                <a:solidFill>
                  <a:srgbClr val="21374A"/>
                </a:solidFill>
                <a:latin typeface="Yu Gothic"/>
                <a:ea typeface="Yu Gothic"/>
              </a:rPr>
              <a:t>さかのぼります。</a:t>
            </a:r>
          </a:p>
        </p:txBody>
      </p:sp>
      <p:sp>
        <p:nvSpPr>
          <p:cNvPr id="36" name="Rounded Rectangle 35">
            <a:extLst>
              <a:ext uri="{C183D7F6-B498-43B3-948B-1728B52AA6E4}">
                <adec:decorative xmlns:adec="http://schemas.microsoft.com/office/drawing/2017/decorative" val="1"/>
              </a:ext>
            </a:extLst>
          </p:cNvPr>
          <p:cNvSpPr/>
          <p:nvPr/>
        </p:nvSpPr>
        <p:spPr>
          <a:xfrm>
            <a:off x="6388608" y="4937760"/>
            <a:ext cx="2240280" cy="566928"/>
          </a:xfrm>
          <a:prstGeom prst="roundRect">
            <a:avLst>
              <a:gd name="adj" fmla="val 12903"/>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480048" y="4983480"/>
            <a:ext cx="2057400" cy="493776"/>
          </a:xfrm>
          <a:prstGeom prst="rect">
            <a:avLst/>
          </a:prstGeom>
          <a:noFill/>
        </p:spPr>
        <p:txBody>
          <a:bodyPr wrap="square" lIns="0" rIns="0" tIns="0" bIns="0">
            <a:spAutoFit/>
          </a:bodyPr>
          <a:lstStyle/>
          <a:p>
            <a:pPr>
              <a:lnSpc>
                <a:spcPts val="1260"/>
              </a:lnSpc>
              <a:spcAft>
                <a:spcPts val="0"/>
              </a:spcAft>
            </a:pPr>
            <a:r>
              <a:rPr sz="1050" b="1" lang="ja-JP">
                <a:solidFill>
                  <a:srgbClr val="566A78"/>
                </a:solidFill>
                <a:latin typeface="Yu Gothic"/>
                <a:ea typeface="Yu Gothic"/>
              </a:rPr>
              <a:t>必要なデータ</a:t>
            </a:r>
          </a:p>
          <a:p>
            <a:pPr>
              <a:lnSpc>
                <a:spcPts val="1440"/>
              </a:lnSpc>
              <a:spcAft>
                <a:spcPts val="0"/>
              </a:spcAft>
            </a:pPr>
            <a:r>
              <a:rPr sz="1200" b="1" lang="ja-JP">
                <a:solidFill>
                  <a:srgbClr val="17334A"/>
                </a:solidFill>
                <a:latin typeface="Yu Gothic"/>
                <a:ea typeface="Yu Gothic"/>
              </a:rPr>
              <a:t>契約、取引、記録の関係</a:t>
            </a:r>
          </a:p>
        </p:txBody>
      </p:sp>
      <p:cxnSp>
        <p:nvCxnSpPr>
          <p:cNvPr id="38" name="Connector 37">
            <a:extLst>
              <a:ext uri="{C183D7F6-B498-43B3-948B-1728B52AA6E4}">
                <adec:decorative xmlns:adec="http://schemas.microsoft.com/office/drawing/2017/decorative" val="1"/>
              </a:ext>
            </a:extLst>
          </p:cNvPr>
          <p:cNvCxnSpPr/>
          <p:nvPr/>
        </p:nvCxnSpPr>
        <p:spPr>
          <a:xfrm>
            <a:off x="8830056" y="2670048"/>
            <a:ext cx="185928" cy="0"/>
          </a:xfrm>
          <a:prstGeom prst="line">
            <a:avLst/>
          </a:prstGeom>
          <a:ln w="25400">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a:extLst>
              <a:ext uri="{C183D7F6-B498-43B3-948B-1728B52AA6E4}">
                <adec:decorative xmlns:adec="http://schemas.microsoft.com/office/drawing/2017/decorative" val="1"/>
              </a:ext>
            </a:extLst>
          </p:cNvPr>
          <p:cNvSpPr/>
          <p:nvPr/>
        </p:nvSpPr>
        <p:spPr>
          <a:xfrm>
            <a:off x="9034272" y="2194560"/>
            <a:ext cx="2606040" cy="3429000"/>
          </a:xfrm>
          <a:prstGeom prst="roundRect">
            <a:avLst>
              <a:gd name="adj" fmla="val 280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Oval 39">
            <a:extLst>
              <a:ext uri="{C183D7F6-B498-43B3-948B-1728B52AA6E4}">
                <adec:decorative xmlns:adec="http://schemas.microsoft.com/office/drawing/2017/decorative" val="1"/>
              </a:ext>
            </a:extLst>
          </p:cNvPr>
          <p:cNvSpPr/>
          <p:nvPr/>
        </p:nvSpPr>
        <p:spPr>
          <a:xfrm>
            <a:off x="9198864" y="2423160"/>
            <a:ext cx="493776" cy="493776"/>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198864" y="2423160"/>
            <a:ext cx="493776" cy="493776"/>
          </a:xfrm>
          <a:prstGeom prst="rect">
            <a:avLst/>
          </a:prstGeom>
          <a:noFill/>
        </p:spPr>
        <p:txBody>
          <a:bodyPr wrap="square" lIns="0" rIns="0" tIns="0" bIns="0" anchor="ctr">
            <a:spAutoFit/>
          </a:bodyPr>
          <a:lstStyle/>
          <a:p>
            <a:pPr algn="ctr">
              <a:lnSpc>
                <a:spcPts val="1500"/>
              </a:lnSpc>
              <a:spcAft>
                <a:spcPts val="0"/>
              </a:spcAft>
            </a:pPr>
            <a:r>
              <a:rPr sz="1500" b="1" lang="ja-JP">
                <a:solidFill>
                  <a:srgbClr val="FFFFFF"/>
                </a:solidFill>
                <a:latin typeface="Yu Gothic"/>
                <a:ea typeface="Yu Gothic"/>
              </a:rPr>
              <a:t>4</a:t>
            </a:r>
          </a:p>
        </p:txBody>
      </p:sp>
      <p:sp>
        <p:nvSpPr>
          <p:cNvPr id="42" name="TextBox 41"/>
          <p:cNvSpPr txBox="1"/>
          <p:nvPr/>
        </p:nvSpPr>
        <p:spPr>
          <a:xfrm>
            <a:off x="9262872" y="3154680"/>
            <a:ext cx="2148840" cy="411480"/>
          </a:xfrm>
          <a:prstGeom prst="rect">
            <a:avLst/>
          </a:prstGeom>
          <a:noFill/>
        </p:spPr>
        <p:txBody>
          <a:bodyPr wrap="square" lIns="0" rIns="0" tIns="0" bIns="0">
            <a:spAutoFit/>
          </a:bodyPr>
          <a:lstStyle/>
          <a:p>
            <a:pPr>
              <a:lnSpc>
                <a:spcPts val="2160"/>
              </a:lnSpc>
              <a:spcAft>
                <a:spcPts val="0"/>
              </a:spcAft>
            </a:pPr>
            <a:r>
              <a:rPr sz="1800" b="1" lang="ja-JP">
                <a:solidFill>
                  <a:srgbClr val="17334A"/>
                </a:solidFill>
                <a:latin typeface="Yu Gothic"/>
                <a:ea typeface="Yu Gothic"/>
              </a:rPr>
              <a:t>何から手を打つか</a:t>
            </a:r>
          </a:p>
        </p:txBody>
      </p:sp>
      <p:sp>
        <p:nvSpPr>
          <p:cNvPr id="43" name="TextBox 42"/>
          <p:cNvSpPr txBox="1"/>
          <p:nvPr/>
        </p:nvSpPr>
        <p:spPr>
          <a:xfrm>
            <a:off x="9262872" y="3703320"/>
            <a:ext cx="2148840" cy="1097280"/>
          </a:xfrm>
          <a:prstGeom prst="rect">
            <a:avLst/>
          </a:prstGeom>
          <a:noFill/>
        </p:spPr>
        <p:txBody>
          <a:bodyPr wrap="square" lIns="0" rIns="0" tIns="0" bIns="0">
            <a:spAutoFit/>
          </a:bodyPr>
          <a:lstStyle/>
          <a:p>
            <a:pPr>
              <a:lnSpc>
                <a:spcPts val="2030"/>
              </a:lnSpc>
              <a:spcAft>
                <a:spcPts val="0"/>
              </a:spcAft>
            </a:pPr>
            <a:r>
              <a:rPr sz="1450" b="0" lang="ja-JP">
                <a:solidFill>
                  <a:srgbClr val="21374A"/>
                </a:solidFill>
                <a:latin typeface="Yu Gothic"/>
                <a:ea typeface="Yu Gothic"/>
              </a:rPr>
              <a:t>影響額と重なりを</a:t>
            </a:r>
            <a:br>
              <a:rPr lang="ja-JP" sz="1450"/>
            </a:br>
            <a:r>
              <a:rPr sz="1450" b="0" lang="ja-JP">
                <a:solidFill>
                  <a:srgbClr val="21374A"/>
                </a:solidFill>
                <a:latin typeface="Yu Gothic"/>
                <a:ea typeface="Yu Gothic"/>
              </a:rPr>
              <a:t>見て、対応する契約の</a:t>
            </a:r>
            <a:br>
              <a:rPr lang="ja-JP" sz="1450"/>
            </a:br>
            <a:r>
              <a:rPr sz="1450" b="0" lang="ja-JP">
                <a:solidFill>
                  <a:srgbClr val="21374A"/>
                </a:solidFill>
                <a:latin typeface="Yu Gothic"/>
                <a:ea typeface="Yu Gothic"/>
              </a:rPr>
              <a:t>順番を決めます。</a:t>
            </a:r>
          </a:p>
        </p:txBody>
      </p:sp>
      <p:sp>
        <p:nvSpPr>
          <p:cNvPr id="44" name="Rounded Rectangle 43">
            <a:extLst>
              <a:ext uri="{C183D7F6-B498-43B3-948B-1728B52AA6E4}">
                <adec:decorative xmlns:adec="http://schemas.microsoft.com/office/drawing/2017/decorative" val="1"/>
              </a:ext>
            </a:extLst>
          </p:cNvPr>
          <p:cNvSpPr/>
          <p:nvPr/>
        </p:nvSpPr>
        <p:spPr>
          <a:xfrm>
            <a:off x="9217152" y="4937760"/>
            <a:ext cx="2240280" cy="566928"/>
          </a:xfrm>
          <a:prstGeom prst="roundRect">
            <a:avLst>
              <a:gd name="adj" fmla="val 12903"/>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9308592" y="4983480"/>
            <a:ext cx="2057400" cy="493776"/>
          </a:xfrm>
          <a:prstGeom prst="rect">
            <a:avLst/>
          </a:prstGeom>
          <a:noFill/>
        </p:spPr>
        <p:txBody>
          <a:bodyPr wrap="square" lIns="0" rIns="0" tIns="0" bIns="0">
            <a:spAutoFit/>
          </a:bodyPr>
          <a:lstStyle/>
          <a:p>
            <a:pPr>
              <a:lnSpc>
                <a:spcPts val="1260"/>
              </a:lnSpc>
              <a:spcAft>
                <a:spcPts val="0"/>
              </a:spcAft>
            </a:pPr>
            <a:r>
              <a:rPr sz="1050" b="1" lang="ja-JP">
                <a:solidFill>
                  <a:srgbClr val="566A78"/>
                </a:solidFill>
                <a:latin typeface="Yu Gothic"/>
                <a:ea typeface="Yu Gothic"/>
              </a:rPr>
              <a:t>必要なデータ</a:t>
            </a:r>
          </a:p>
          <a:p>
            <a:pPr>
              <a:lnSpc>
                <a:spcPts val="1440"/>
              </a:lnSpc>
              <a:spcAft>
                <a:spcPts val="0"/>
              </a:spcAft>
            </a:pPr>
            <a:r>
              <a:rPr sz="1200" b="1" lang="ja-JP">
                <a:solidFill>
                  <a:srgbClr val="17334A"/>
                </a:solidFill>
                <a:latin typeface="Yu Gothic"/>
                <a:ea typeface="Yu Gothic"/>
              </a:rPr>
              <a:t>契約別の影響額と重なり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理由の説明に手間がかかる3つの構造</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第1章 課題と考え方  |  理由を出しにくい構造</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金額が揃っていても、理由を出すには、表のつなぎ方と言葉の意味を知る担当者の手が要ります。</a:t>
            </a:r>
          </a:p>
          <a:p>
            <a:pPr>
              <a:lnSpc>
                <a:spcPts val="2160"/>
              </a:lnSpc>
              <a:spcAft>
                <a:spcPts val="0"/>
              </a:spcAft>
            </a:pPr>
            <a:r>
              <a:rPr sz="1600" b="0" lang="ja-JP">
                <a:solidFill>
                  <a:srgbClr val="566A78"/>
                </a:solidFill>
                <a:latin typeface="Yu Gothic"/>
                <a:ea typeface="Yu Gothic"/>
              </a:rPr>
              <a:t>質問のたびに、この作業が繰り返されます。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②のつながりと③の言葉の意味を、データの外に定義して共有する層が、次ページのOntologyです。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05</a:t>
            </a:r>
          </a:p>
        </p:txBody>
      </p:sp>
      <p:sp>
        <p:nvSpPr>
          <p:cNvPr id="15" name="Rounded Rectangle 14">
            <a:extLst>
              <a:ext uri="{C183D7F6-B498-43B3-948B-1728B52AA6E4}">
                <adec:decorative xmlns:adec="http://schemas.microsoft.com/office/drawing/2017/decorative" val="1"/>
              </a:ext>
            </a:extLst>
          </p:cNvPr>
          <p:cNvSpPr/>
          <p:nvPr/>
        </p:nvSpPr>
        <p:spPr>
          <a:xfrm>
            <a:off x="548640" y="2194560"/>
            <a:ext cx="3611880" cy="3429000"/>
          </a:xfrm>
          <a:prstGeom prst="roundRect">
            <a:avLst>
              <a:gd name="adj" fmla="val 2133"/>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a:extLst>
              <a:ext uri="{C183D7F6-B498-43B3-948B-1728B52AA6E4}">
                <adec:decorative xmlns:adec="http://schemas.microsoft.com/office/drawing/2017/decorative" val="1"/>
              </a:ext>
            </a:extLst>
          </p:cNvPr>
          <p:cNvSpPr/>
          <p:nvPr/>
        </p:nvSpPr>
        <p:spPr>
          <a:xfrm>
            <a:off x="713232" y="2423160"/>
            <a:ext cx="493776" cy="493776"/>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13232" y="2423160"/>
            <a:ext cx="493776" cy="493776"/>
          </a:xfrm>
          <a:prstGeom prst="rect">
            <a:avLst/>
          </a:prstGeom>
          <a:noFill/>
        </p:spPr>
        <p:txBody>
          <a:bodyPr wrap="square" lIns="0" rIns="0" tIns="0" bIns="0" anchor="ctr">
            <a:spAutoFit/>
          </a:bodyPr>
          <a:lstStyle/>
          <a:p>
            <a:pPr algn="ctr">
              <a:lnSpc>
                <a:spcPts val="1500"/>
              </a:lnSpc>
              <a:spcAft>
                <a:spcPts val="0"/>
              </a:spcAft>
            </a:pPr>
            <a:r>
              <a:rPr sz="1500" b="1" lang="ja-JP">
                <a:solidFill>
                  <a:srgbClr val="FFFFFF"/>
                </a:solidFill>
                <a:latin typeface="Yu Gothic"/>
                <a:ea typeface="Yu Gothic"/>
              </a:rPr>
              <a:t>1</a:t>
            </a:r>
          </a:p>
        </p:txBody>
      </p:sp>
      <p:sp>
        <p:nvSpPr>
          <p:cNvPr id="18" name="TextBox 17"/>
          <p:cNvSpPr txBox="1"/>
          <p:nvPr/>
        </p:nvSpPr>
        <p:spPr>
          <a:xfrm>
            <a:off x="777240" y="3108960"/>
            <a:ext cx="3154680" cy="365760"/>
          </a:xfrm>
          <a:prstGeom prst="rect">
            <a:avLst/>
          </a:prstGeom>
          <a:noFill/>
        </p:spPr>
        <p:txBody>
          <a:bodyPr wrap="square" lIns="0" rIns="0" tIns="0" bIns="0">
            <a:spAutoFit/>
          </a:bodyPr>
          <a:lstStyle/>
          <a:p>
            <a:pPr>
              <a:lnSpc>
                <a:spcPts val="2280"/>
              </a:lnSpc>
              <a:spcAft>
                <a:spcPts val="0"/>
              </a:spcAft>
            </a:pPr>
            <a:r>
              <a:rPr sz="1900" b="1" lang="ja-JP">
                <a:solidFill>
                  <a:srgbClr val="17334A"/>
                </a:solidFill>
                <a:latin typeface="Yu Gothic"/>
                <a:ea typeface="Yu Gothic"/>
              </a:rPr>
              <a:t>データが分散している</a:t>
            </a:r>
          </a:p>
        </p:txBody>
      </p:sp>
      <p:sp>
        <p:nvSpPr>
          <p:cNvPr id="19" name="TextBox 18"/>
          <p:cNvSpPr txBox="1"/>
          <p:nvPr/>
        </p:nvSpPr>
        <p:spPr>
          <a:xfrm>
            <a:off x="777240" y="3611880"/>
            <a:ext cx="3154680" cy="1371600"/>
          </a:xfrm>
          <a:prstGeom prst="rect">
            <a:avLst/>
          </a:prstGeom>
          <a:noFill/>
        </p:spPr>
        <p:txBody>
          <a:bodyPr wrap="square" lIns="0" rIns="0" tIns="0" bIns="0">
            <a:spAutoFit/>
          </a:bodyPr>
          <a:lstStyle/>
          <a:p>
            <a:pPr>
              <a:lnSpc>
                <a:spcPts val="2030"/>
              </a:lnSpc>
              <a:spcAft>
                <a:spcPts val="0"/>
              </a:spcAft>
            </a:pPr>
            <a:r>
              <a:rPr sz="1450" b="0" lang="ja-JP">
                <a:solidFill>
                  <a:srgbClr val="21374A"/>
                </a:solidFill>
                <a:latin typeface="Yu Gothic"/>
                <a:ea typeface="Yu Gothic"/>
              </a:rPr>
              <a:t>会社、事業、通貨ごとに別の</a:t>
            </a:r>
            <a:br>
              <a:rPr lang="ja-JP" sz="1450"/>
            </a:br>
            <a:r>
              <a:rPr sz="1450" b="0" lang="ja-JP">
                <a:solidFill>
                  <a:srgbClr val="21374A"/>
                </a:solidFill>
                <a:latin typeface="Yu Gothic"/>
                <a:ea typeface="Yu Gothic"/>
              </a:rPr>
              <a:t>表やシステムにあり、全体を</a:t>
            </a:r>
            <a:br>
              <a:rPr lang="ja-JP" sz="1450"/>
            </a:br>
            <a:r>
              <a:rPr sz="1450" b="0" lang="ja-JP">
                <a:solidFill>
                  <a:srgbClr val="21374A"/>
                </a:solidFill>
                <a:latin typeface="Yu Gothic"/>
                <a:ea typeface="Yu Gothic"/>
              </a:rPr>
              <a:t>見るたびに集め直します。</a:t>
            </a:r>
          </a:p>
        </p:txBody>
      </p:sp>
      <p:sp>
        <p:nvSpPr>
          <p:cNvPr id="20" name="Rounded Rectangle 19">
            <a:extLst>
              <a:ext uri="{C183D7F6-B498-43B3-948B-1728B52AA6E4}">
                <adec:decorative xmlns:adec="http://schemas.microsoft.com/office/drawing/2017/decorative" val="1"/>
              </a:ext>
            </a:extLst>
          </p:cNvPr>
          <p:cNvSpPr/>
          <p:nvPr/>
        </p:nvSpPr>
        <p:spPr>
          <a:xfrm>
            <a:off x="731520" y="4937760"/>
            <a:ext cx="3246120" cy="566928"/>
          </a:xfrm>
          <a:prstGeom prst="roundRect">
            <a:avLst>
              <a:gd name="adj" fmla="val 12903"/>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68680" y="4937760"/>
            <a:ext cx="3017520" cy="566928"/>
          </a:xfrm>
          <a:prstGeom prst="rect">
            <a:avLst/>
          </a:prstGeom>
          <a:noFill/>
        </p:spPr>
        <p:txBody>
          <a:bodyPr wrap="square" lIns="0" rIns="0" tIns="0" bIns="0" anchor="ctr">
            <a:spAutoFit/>
          </a:bodyPr>
          <a:lstStyle/>
          <a:p>
            <a:pPr>
              <a:lnSpc>
                <a:spcPts val="1380"/>
              </a:lnSpc>
              <a:spcAft>
                <a:spcPts val="0"/>
              </a:spcAft>
            </a:pPr>
            <a:r>
              <a:rPr sz="1150" b="1" lang="ja-JP">
                <a:solidFill>
                  <a:srgbClr val="17334A"/>
                </a:solidFill>
                <a:latin typeface="Yu Gothic"/>
                <a:ea typeface="Yu Gothic"/>
              </a:rPr>
              <a:t>デモ：8社の原本を、</a:t>
            </a:r>
          </a:p>
          <a:p>
            <a:pPr>
              <a:lnSpc>
                <a:spcPts val="1380"/>
              </a:lnSpc>
              <a:spcAft>
                <a:spcPts val="0"/>
              </a:spcAft>
            </a:pPr>
            <a:r>
              <a:rPr sz="1150" b="1" lang="ja-JP">
                <a:solidFill>
                  <a:srgbClr val="17334A"/>
                </a:solidFill>
                <a:latin typeface="Yu Gothic"/>
                <a:ea typeface="Yu Gothic"/>
              </a:rPr>
              <a:t>会社ごとの別Lakehouseに保持</a:t>
            </a:r>
          </a:p>
        </p:txBody>
      </p:sp>
      <p:sp>
        <p:nvSpPr>
          <p:cNvPr id="22" name="Rounded Rectangle 21">
            <a:extLst>
              <a:ext uri="{C183D7F6-B498-43B3-948B-1728B52AA6E4}">
                <adec:decorative xmlns:adec="http://schemas.microsoft.com/office/drawing/2017/decorative" val="1"/>
              </a:ext>
            </a:extLst>
          </p:cNvPr>
          <p:cNvSpPr/>
          <p:nvPr/>
        </p:nvSpPr>
        <p:spPr>
          <a:xfrm>
            <a:off x="4288536" y="2194560"/>
            <a:ext cx="3611880" cy="3429000"/>
          </a:xfrm>
          <a:prstGeom prst="roundRect">
            <a:avLst>
              <a:gd name="adj" fmla="val 2133"/>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a:extLst>
              <a:ext uri="{C183D7F6-B498-43B3-948B-1728B52AA6E4}">
                <adec:decorative xmlns:adec="http://schemas.microsoft.com/office/drawing/2017/decorative" val="1"/>
              </a:ext>
            </a:extLst>
          </p:cNvPr>
          <p:cNvSpPr/>
          <p:nvPr/>
        </p:nvSpPr>
        <p:spPr>
          <a:xfrm>
            <a:off x="4453127" y="2423160"/>
            <a:ext cx="493776" cy="493776"/>
          </a:xfrm>
          <a:prstGeom prst="ellipse">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53127" y="2423160"/>
            <a:ext cx="493776" cy="493776"/>
          </a:xfrm>
          <a:prstGeom prst="rect">
            <a:avLst/>
          </a:prstGeom>
          <a:noFill/>
        </p:spPr>
        <p:txBody>
          <a:bodyPr wrap="square" lIns="0" rIns="0" tIns="0" bIns="0" anchor="ctr">
            <a:spAutoFit/>
          </a:bodyPr>
          <a:lstStyle/>
          <a:p>
            <a:pPr algn="ctr">
              <a:lnSpc>
                <a:spcPts val="1500"/>
              </a:lnSpc>
              <a:spcAft>
                <a:spcPts val="0"/>
              </a:spcAft>
            </a:pPr>
            <a:r>
              <a:rPr sz="1500" b="1" lang="ja-JP">
                <a:solidFill>
                  <a:srgbClr val="FFFFFF"/>
                </a:solidFill>
                <a:latin typeface="Yu Gothic"/>
                <a:ea typeface="Yu Gothic"/>
              </a:rPr>
              <a:t>2</a:t>
            </a:r>
          </a:p>
        </p:txBody>
      </p:sp>
      <p:sp>
        <p:nvSpPr>
          <p:cNvPr id="25" name="TextBox 24"/>
          <p:cNvSpPr txBox="1"/>
          <p:nvPr/>
        </p:nvSpPr>
        <p:spPr>
          <a:xfrm>
            <a:off x="4517136" y="3108960"/>
            <a:ext cx="3154680" cy="365760"/>
          </a:xfrm>
          <a:prstGeom prst="rect">
            <a:avLst/>
          </a:prstGeom>
          <a:noFill/>
        </p:spPr>
        <p:txBody>
          <a:bodyPr wrap="square" lIns="0" rIns="0" tIns="0" bIns="0">
            <a:spAutoFit/>
          </a:bodyPr>
          <a:lstStyle/>
          <a:p>
            <a:pPr>
              <a:lnSpc>
                <a:spcPts val="2280"/>
              </a:lnSpc>
              <a:spcAft>
                <a:spcPts val="0"/>
              </a:spcAft>
            </a:pPr>
            <a:r>
              <a:rPr sz="1900" b="1" lang="ja-JP">
                <a:solidFill>
                  <a:srgbClr val="17334A"/>
                </a:solidFill>
                <a:latin typeface="Yu Gothic"/>
                <a:ea typeface="Yu Gothic"/>
              </a:rPr>
              <a:t>つながりの記録がない</a:t>
            </a:r>
          </a:p>
        </p:txBody>
      </p:sp>
      <p:sp>
        <p:nvSpPr>
          <p:cNvPr id="26" name="TextBox 25"/>
          <p:cNvSpPr txBox="1"/>
          <p:nvPr/>
        </p:nvSpPr>
        <p:spPr>
          <a:xfrm>
            <a:off x="4517136" y="3611880"/>
            <a:ext cx="3154680" cy="1371600"/>
          </a:xfrm>
          <a:prstGeom prst="rect">
            <a:avLst/>
          </a:prstGeom>
          <a:noFill/>
        </p:spPr>
        <p:txBody>
          <a:bodyPr wrap="square" lIns="0" rIns="0" tIns="0" bIns="0">
            <a:spAutoFit/>
          </a:bodyPr>
          <a:lstStyle/>
          <a:p>
            <a:pPr>
              <a:lnSpc>
                <a:spcPts val="2030"/>
              </a:lnSpc>
              <a:spcAft>
                <a:spcPts val="0"/>
              </a:spcAft>
            </a:pPr>
            <a:r>
              <a:rPr sz="1450" b="0" lang="ja-JP">
                <a:solidFill>
                  <a:srgbClr val="21374A"/>
                </a:solidFill>
                <a:latin typeface="Yu Gothic"/>
                <a:ea typeface="Yu Gothic"/>
              </a:rPr>
              <a:t>イベントから契約、会社、全社の</a:t>
            </a:r>
            <a:br>
              <a:rPr lang="ja-JP" sz="1450"/>
            </a:br>
            <a:r>
              <a:rPr sz="1450" b="0" lang="ja-JP">
                <a:solidFill>
                  <a:srgbClr val="21374A"/>
                </a:solidFill>
                <a:latin typeface="Yu Gothic"/>
                <a:ea typeface="Yu Gothic"/>
              </a:rPr>
              <a:t>数字へのつながりは、詳しい</a:t>
            </a:r>
            <a:br>
              <a:rPr lang="ja-JP" sz="1450"/>
            </a:br>
            <a:r>
              <a:rPr sz="1450" b="0" lang="ja-JP">
                <a:solidFill>
                  <a:srgbClr val="21374A"/>
                </a:solidFill>
                <a:latin typeface="Yu Gothic"/>
                <a:ea typeface="Yu Gothic"/>
              </a:rPr>
              <a:t>担当者の頭の中や、個別のクエリの</a:t>
            </a:r>
            <a:br>
              <a:rPr lang="ja-JP" sz="1450"/>
            </a:br>
            <a:r>
              <a:rPr sz="1450" b="0" lang="ja-JP">
                <a:solidFill>
                  <a:srgbClr val="21374A"/>
                </a:solidFill>
                <a:latin typeface="Yu Gothic"/>
                <a:ea typeface="Yu Gothic"/>
              </a:rPr>
              <a:t>中にあることが多くなります。</a:t>
            </a:r>
          </a:p>
        </p:txBody>
      </p:sp>
      <p:sp>
        <p:nvSpPr>
          <p:cNvPr id="27" name="Rounded Rectangle 26">
            <a:extLst>
              <a:ext uri="{C183D7F6-B498-43B3-948B-1728B52AA6E4}">
                <adec:decorative xmlns:adec="http://schemas.microsoft.com/office/drawing/2017/decorative" val="1"/>
              </a:ext>
            </a:extLst>
          </p:cNvPr>
          <p:cNvSpPr/>
          <p:nvPr/>
        </p:nvSpPr>
        <p:spPr>
          <a:xfrm>
            <a:off x="4471416" y="4937760"/>
            <a:ext cx="3246120" cy="566928"/>
          </a:xfrm>
          <a:prstGeom prst="roundRect">
            <a:avLst>
              <a:gd name="adj" fmla="val 12903"/>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4608575" y="4937760"/>
            <a:ext cx="3017520" cy="566928"/>
          </a:xfrm>
          <a:prstGeom prst="rect">
            <a:avLst/>
          </a:prstGeom>
          <a:noFill/>
        </p:spPr>
        <p:txBody>
          <a:bodyPr wrap="square" lIns="0" rIns="0" tIns="0" bIns="0" anchor="ctr">
            <a:spAutoFit/>
          </a:bodyPr>
          <a:lstStyle/>
          <a:p>
            <a:pPr>
              <a:lnSpc>
                <a:spcPts val="1380"/>
              </a:lnSpc>
              <a:spcAft>
                <a:spcPts val="0"/>
              </a:spcAft>
            </a:pPr>
            <a:r>
              <a:rPr sz="1150" b="1" lang="ja-JP">
                <a:solidFill>
                  <a:srgbClr val="17334A"/>
                </a:solidFill>
                <a:latin typeface="Yu Gothic"/>
                <a:ea typeface="Yu Gothic"/>
              </a:rPr>
              <a:t>デモ：イベント、影響額、契約、</a:t>
            </a:r>
          </a:p>
          <a:p>
            <a:pPr>
              <a:lnSpc>
                <a:spcPts val="1380"/>
              </a:lnSpc>
              <a:spcAft>
                <a:spcPts val="0"/>
              </a:spcAft>
            </a:pPr>
            <a:r>
              <a:rPr sz="1150" b="1" lang="ja-JP">
                <a:solidFill>
                  <a:srgbClr val="17334A"/>
                </a:solidFill>
                <a:latin typeface="Yu Gothic"/>
                <a:ea typeface="Yu Gothic"/>
              </a:rPr>
              <a:t>会社、全社KPIのつながり</a:t>
            </a:r>
          </a:p>
        </p:txBody>
      </p:sp>
      <p:sp>
        <p:nvSpPr>
          <p:cNvPr id="29" name="Rounded Rectangle 28">
            <a:extLst>
              <a:ext uri="{C183D7F6-B498-43B3-948B-1728B52AA6E4}">
                <adec:decorative xmlns:adec="http://schemas.microsoft.com/office/drawing/2017/decorative" val="1"/>
              </a:ext>
            </a:extLst>
          </p:cNvPr>
          <p:cNvSpPr/>
          <p:nvPr/>
        </p:nvSpPr>
        <p:spPr>
          <a:xfrm>
            <a:off x="8028431" y="2194560"/>
            <a:ext cx="3611880" cy="3429000"/>
          </a:xfrm>
          <a:prstGeom prst="roundRect">
            <a:avLst>
              <a:gd name="adj" fmla="val 2133"/>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val 29">
            <a:extLst>
              <a:ext uri="{C183D7F6-B498-43B3-948B-1728B52AA6E4}">
                <adec:decorative xmlns:adec="http://schemas.microsoft.com/office/drawing/2017/decorative" val="1"/>
              </a:ext>
            </a:extLst>
          </p:cNvPr>
          <p:cNvSpPr/>
          <p:nvPr/>
        </p:nvSpPr>
        <p:spPr>
          <a:xfrm>
            <a:off x="8193023" y="2423160"/>
            <a:ext cx="493776" cy="493776"/>
          </a:xfrm>
          <a:prstGeom prst="ellipse">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193023" y="2423160"/>
            <a:ext cx="493776" cy="493776"/>
          </a:xfrm>
          <a:prstGeom prst="rect">
            <a:avLst/>
          </a:prstGeom>
          <a:noFill/>
        </p:spPr>
        <p:txBody>
          <a:bodyPr wrap="square" lIns="0" rIns="0" tIns="0" bIns="0" anchor="ctr">
            <a:spAutoFit/>
          </a:bodyPr>
          <a:lstStyle/>
          <a:p>
            <a:pPr algn="ctr">
              <a:lnSpc>
                <a:spcPts val="1500"/>
              </a:lnSpc>
              <a:spcAft>
                <a:spcPts val="0"/>
              </a:spcAft>
            </a:pPr>
            <a:r>
              <a:rPr sz="1500" b="1" lang="ja-JP">
                <a:solidFill>
                  <a:srgbClr val="FFFFFF"/>
                </a:solidFill>
                <a:latin typeface="Yu Gothic"/>
                <a:ea typeface="Yu Gothic"/>
              </a:rPr>
              <a:t>3</a:t>
            </a:r>
          </a:p>
        </p:txBody>
      </p:sp>
      <p:sp>
        <p:nvSpPr>
          <p:cNvPr id="32" name="TextBox 31"/>
          <p:cNvSpPr txBox="1"/>
          <p:nvPr/>
        </p:nvSpPr>
        <p:spPr>
          <a:xfrm>
            <a:off x="8257031" y="3108960"/>
            <a:ext cx="3154680" cy="365760"/>
          </a:xfrm>
          <a:prstGeom prst="rect">
            <a:avLst/>
          </a:prstGeom>
          <a:noFill/>
        </p:spPr>
        <p:txBody>
          <a:bodyPr wrap="square" lIns="0" rIns="0" tIns="0" bIns="0">
            <a:spAutoFit/>
          </a:bodyPr>
          <a:lstStyle/>
          <a:p>
            <a:pPr>
              <a:lnSpc>
                <a:spcPts val="2280"/>
              </a:lnSpc>
              <a:spcAft>
                <a:spcPts val="0"/>
              </a:spcAft>
            </a:pPr>
            <a:r>
              <a:rPr sz="1900" b="1" lang="ja-JP">
                <a:solidFill>
                  <a:srgbClr val="17334A"/>
                </a:solidFill>
                <a:latin typeface="Yu Gothic"/>
                <a:ea typeface="Yu Gothic"/>
              </a:rPr>
              <a:t>言葉の意味が揺れる</a:t>
            </a:r>
          </a:p>
        </p:txBody>
      </p:sp>
      <p:sp>
        <p:nvSpPr>
          <p:cNvPr id="33" name="TextBox 32"/>
          <p:cNvSpPr txBox="1"/>
          <p:nvPr/>
        </p:nvSpPr>
        <p:spPr>
          <a:xfrm>
            <a:off x="8257031" y="3611880"/>
            <a:ext cx="3154680" cy="1371600"/>
          </a:xfrm>
          <a:prstGeom prst="rect">
            <a:avLst/>
          </a:prstGeom>
          <a:noFill/>
        </p:spPr>
        <p:txBody>
          <a:bodyPr wrap="square" lIns="0" rIns="0" tIns="0" bIns="0">
            <a:spAutoFit/>
          </a:bodyPr>
          <a:lstStyle/>
          <a:p>
            <a:pPr>
              <a:lnSpc>
                <a:spcPts val="2030"/>
              </a:lnSpc>
              <a:spcAft>
                <a:spcPts val="0"/>
              </a:spcAft>
            </a:pPr>
            <a:r>
              <a:rPr sz="1450" b="0" lang="ja-JP">
                <a:solidFill>
                  <a:srgbClr val="21374A"/>
                </a:solidFill>
                <a:latin typeface="Yu Gothic"/>
                <a:ea typeface="Yu Gothic"/>
              </a:rPr>
              <a:t>同じEBITDAでも、全額</a:t>
            </a:r>
            <a:br>
              <a:rPr lang="ja-JP" sz="1450"/>
            </a:br>
            <a:r>
              <a:rPr sz="1450" b="0" lang="ja-JP">
                <a:solidFill>
                  <a:srgbClr val="21374A"/>
                </a:solidFill>
                <a:latin typeface="Yu Gothic"/>
                <a:ea typeface="Yu Gothic"/>
              </a:rPr>
              <a:t>連結か持分管理か、基準が</a:t>
            </a:r>
            <a:br>
              <a:rPr lang="ja-JP" sz="1450"/>
            </a:br>
            <a:r>
              <a:rPr sz="1450" b="0" lang="ja-JP">
                <a:solidFill>
                  <a:srgbClr val="21374A"/>
                </a:solidFill>
                <a:latin typeface="Yu Gothic"/>
                <a:ea typeface="Yu Gothic"/>
              </a:rPr>
              <a:t>予算か見通しかは、部門や</a:t>
            </a:r>
            <a:br>
              <a:rPr lang="ja-JP" sz="1450"/>
            </a:br>
            <a:r>
              <a:rPr sz="1450" b="0" lang="ja-JP">
                <a:solidFill>
                  <a:srgbClr val="21374A"/>
                </a:solidFill>
                <a:latin typeface="Yu Gothic"/>
                <a:ea typeface="Yu Gothic"/>
              </a:rPr>
              <a:t>資料によって異なります。</a:t>
            </a:r>
          </a:p>
        </p:txBody>
      </p:sp>
      <p:sp>
        <p:nvSpPr>
          <p:cNvPr id="34" name="Rounded Rectangle 33">
            <a:extLst>
              <a:ext uri="{C183D7F6-B498-43B3-948B-1728B52AA6E4}">
                <adec:decorative xmlns:adec="http://schemas.microsoft.com/office/drawing/2017/decorative" val="1"/>
              </a:ext>
            </a:extLst>
          </p:cNvPr>
          <p:cNvSpPr/>
          <p:nvPr/>
        </p:nvSpPr>
        <p:spPr>
          <a:xfrm>
            <a:off x="8211311" y="4937760"/>
            <a:ext cx="3246120" cy="566928"/>
          </a:xfrm>
          <a:prstGeom prst="roundRect">
            <a:avLst>
              <a:gd name="adj" fmla="val 12903"/>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8348471" y="4937760"/>
            <a:ext cx="3017520" cy="566928"/>
          </a:xfrm>
          <a:prstGeom prst="rect">
            <a:avLst/>
          </a:prstGeom>
          <a:noFill/>
        </p:spPr>
        <p:txBody>
          <a:bodyPr wrap="square" lIns="0" rIns="0" tIns="0" bIns="0" anchor="ctr">
            <a:spAutoFit/>
          </a:bodyPr>
          <a:lstStyle/>
          <a:p>
            <a:pPr>
              <a:lnSpc>
                <a:spcPts val="1380"/>
              </a:lnSpc>
              <a:spcAft>
                <a:spcPts val="0"/>
              </a:spcAft>
            </a:pPr>
            <a:r>
              <a:rPr sz="1150" b="1" lang="ja-JP">
                <a:solidFill>
                  <a:srgbClr val="17334A"/>
                </a:solidFill>
                <a:latin typeface="Yu Gothic"/>
                <a:ea typeface="Yu Gothic"/>
              </a:rPr>
              <a:t>デモ：持分51%の会社を、</a:t>
            </a:r>
          </a:p>
          <a:p>
            <a:pPr>
              <a:lnSpc>
                <a:spcPts val="1380"/>
              </a:lnSpc>
              <a:spcAft>
                <a:spcPts val="0"/>
              </a:spcAft>
            </a:pPr>
            <a:r>
              <a:rPr sz="1150" b="1" lang="ja-JP">
                <a:solidFill>
                  <a:srgbClr val="17334A"/>
                </a:solidFill>
                <a:latin typeface="Yu Gothic"/>
                <a:ea typeface="Yu Gothic"/>
              </a:rPr>
              <a:t>全額で見るか持分で見るか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Ontology：業務の概念と関係を定義する層</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第1章 課題と考え方  |  Ontologyとは</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定義を、データの置き場所と切り離して管理できます。</a:t>
            </a:r>
          </a:p>
          <a:p>
            <a:pPr>
              <a:lnSpc>
                <a:spcPts val="2160"/>
              </a:lnSpc>
              <a:spcAft>
                <a:spcPts val="0"/>
              </a:spcAft>
            </a:pPr>
            <a:r>
              <a:rPr sz="1600" b="0" lang="ja-JP">
                <a:solidFill>
                  <a:srgbClr val="566A78"/>
                </a:solidFill>
                <a:latin typeface="Yu Gothic"/>
                <a:ea typeface="Yu Gothic"/>
              </a:rPr>
              <a:t>その定義を一度作り、人もAIも同じ形で参照できるようにします。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使う側として対応しているかどうかは、製品ごとに異なります。Previewの機能で、仕様は変わる場合があります。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06</a:t>
            </a:r>
          </a:p>
        </p:txBody>
      </p:sp>
      <p:sp>
        <p:nvSpPr>
          <p:cNvPr id="15" name="TextBox 14"/>
          <p:cNvSpPr txBox="1"/>
          <p:nvPr/>
        </p:nvSpPr>
        <p:spPr>
          <a:xfrm>
            <a:off x="548640" y="2148840"/>
            <a:ext cx="1097280" cy="868680"/>
          </a:xfrm>
          <a:prstGeom prst="rect">
            <a:avLst/>
          </a:prstGeom>
          <a:noFill/>
        </p:spPr>
        <p:txBody>
          <a:bodyPr wrap="square" lIns="0" rIns="0" tIns="0" bIns="0" anchor="ctr">
            <a:spAutoFit/>
          </a:bodyPr>
          <a:lstStyle/>
          <a:p>
            <a:pPr>
              <a:lnSpc>
                <a:spcPts val="1500"/>
              </a:lnSpc>
              <a:spcAft>
                <a:spcPts val="0"/>
              </a:spcAft>
            </a:pPr>
            <a:r>
              <a:rPr sz="1500" b="1" lang="ja-JP">
                <a:solidFill>
                  <a:srgbClr val="087F83"/>
                </a:solidFill>
                <a:latin typeface="Yu Gothic"/>
                <a:ea typeface="Yu Gothic"/>
              </a:rPr>
              <a:t>使う側</a:t>
            </a:r>
          </a:p>
        </p:txBody>
      </p:sp>
      <p:sp>
        <p:nvSpPr>
          <p:cNvPr id="16" name="TextBox 15"/>
          <p:cNvSpPr txBox="1"/>
          <p:nvPr/>
        </p:nvSpPr>
        <p:spPr>
          <a:xfrm>
            <a:off x="548640" y="3520440"/>
            <a:ext cx="1097280" cy="1051560"/>
          </a:xfrm>
          <a:prstGeom prst="rect">
            <a:avLst/>
          </a:prstGeom>
          <a:noFill/>
        </p:spPr>
        <p:txBody>
          <a:bodyPr wrap="square" lIns="0" rIns="0" tIns="0" bIns="0" anchor="ctr">
            <a:spAutoFit/>
          </a:bodyPr>
          <a:lstStyle/>
          <a:p>
            <a:pPr>
              <a:lnSpc>
                <a:spcPts val="1500"/>
              </a:lnSpc>
              <a:spcAft>
                <a:spcPts val="0"/>
              </a:spcAft>
            </a:pPr>
            <a:r>
              <a:rPr sz="1500" b="1" lang="ja-JP">
                <a:solidFill>
                  <a:srgbClr val="087F83"/>
                </a:solidFill>
                <a:latin typeface="Yu Gothic"/>
                <a:ea typeface="Yu Gothic"/>
              </a:rPr>
              <a:t>意味の層</a:t>
            </a:r>
          </a:p>
        </p:txBody>
      </p:sp>
      <p:sp>
        <p:nvSpPr>
          <p:cNvPr id="17" name="TextBox 16"/>
          <p:cNvSpPr txBox="1"/>
          <p:nvPr/>
        </p:nvSpPr>
        <p:spPr>
          <a:xfrm>
            <a:off x="548640" y="5029200"/>
            <a:ext cx="1097280" cy="640080"/>
          </a:xfrm>
          <a:prstGeom prst="rect">
            <a:avLst/>
          </a:prstGeom>
          <a:noFill/>
        </p:spPr>
        <p:txBody>
          <a:bodyPr wrap="square" lIns="0" rIns="0" tIns="0" bIns="0" anchor="ctr">
            <a:spAutoFit/>
          </a:bodyPr>
          <a:lstStyle/>
          <a:p>
            <a:pPr>
              <a:lnSpc>
                <a:spcPts val="1500"/>
              </a:lnSpc>
              <a:spcAft>
                <a:spcPts val="0"/>
              </a:spcAft>
            </a:pPr>
            <a:r>
              <a:rPr sz="1500" b="1" lang="ja-JP">
                <a:solidFill>
                  <a:srgbClr val="087F83"/>
                </a:solidFill>
                <a:latin typeface="Yu Gothic"/>
                <a:ea typeface="Yu Gothic"/>
              </a:rPr>
              <a:t>データ</a:t>
            </a:r>
          </a:p>
        </p:txBody>
      </p:sp>
      <p:sp>
        <p:nvSpPr>
          <p:cNvPr id="18" name="Rounded Rectangle 17">
            <a:extLst>
              <a:ext uri="{C183D7F6-B498-43B3-948B-1728B52AA6E4}">
                <adec:decorative xmlns:adec="http://schemas.microsoft.com/office/drawing/2017/decorative" val="1"/>
              </a:ext>
            </a:extLst>
          </p:cNvPr>
          <p:cNvSpPr/>
          <p:nvPr/>
        </p:nvSpPr>
        <p:spPr>
          <a:xfrm>
            <a:off x="1783080" y="2148840"/>
            <a:ext cx="1874519" cy="868680"/>
          </a:xfrm>
          <a:prstGeom prst="roundRect">
            <a:avLst>
              <a:gd name="adj" fmla="val 842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892807" y="2148840"/>
            <a:ext cx="1691640" cy="868680"/>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Data Agent</a:t>
            </a:r>
          </a:p>
          <a:p>
            <a:pPr>
              <a:lnSpc>
                <a:spcPts val="1380"/>
              </a:lnSpc>
              <a:spcAft>
                <a:spcPts val="0"/>
              </a:spcAft>
            </a:pPr>
            <a:r>
              <a:rPr sz="1100" b="0" lang="ja-JP">
                <a:solidFill>
                  <a:srgbClr val="566A78"/>
                </a:solidFill>
                <a:latin typeface="Yu Gothic"/>
                <a:ea typeface="Yu Gothic"/>
              </a:rPr>
              <a:t>日本語で質問</a:t>
            </a:r>
          </a:p>
        </p:txBody>
      </p:sp>
      <p:sp>
        <p:nvSpPr>
          <p:cNvPr id="20" name="Rounded Rectangle 19">
            <a:extLst>
              <a:ext uri="{C183D7F6-B498-43B3-948B-1728B52AA6E4}">
                <adec:decorative xmlns:adec="http://schemas.microsoft.com/office/drawing/2017/decorative" val="1"/>
              </a:ext>
            </a:extLst>
          </p:cNvPr>
          <p:cNvSpPr/>
          <p:nvPr/>
        </p:nvSpPr>
        <p:spPr>
          <a:xfrm>
            <a:off x="3817620" y="2148840"/>
            <a:ext cx="1874519" cy="868680"/>
          </a:xfrm>
          <a:prstGeom prst="roundRect">
            <a:avLst>
              <a:gd name="adj" fmla="val 842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3927348" y="2148840"/>
            <a:ext cx="1691640" cy="868680"/>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Copilot Studioなど</a:t>
            </a:r>
          </a:p>
          <a:p>
            <a:pPr>
              <a:lnSpc>
                <a:spcPts val="1380"/>
              </a:lnSpc>
              <a:spcAft>
                <a:spcPts val="0"/>
              </a:spcAft>
            </a:pPr>
            <a:r>
              <a:rPr sz="1100" b="0" lang="ja-JP">
                <a:solidFill>
                  <a:srgbClr val="566A78"/>
                </a:solidFill>
                <a:latin typeface="Yu Gothic"/>
                <a:ea typeface="Yu Gothic"/>
              </a:rPr>
              <a:t>対応は製品ごと</a:t>
            </a:r>
          </a:p>
        </p:txBody>
      </p:sp>
      <p:sp>
        <p:nvSpPr>
          <p:cNvPr id="22" name="Rounded Rectangle 21">
            <a:extLst>
              <a:ext uri="{C183D7F6-B498-43B3-948B-1728B52AA6E4}">
                <adec:decorative xmlns:adec="http://schemas.microsoft.com/office/drawing/2017/decorative" val="1"/>
              </a:ext>
            </a:extLst>
          </p:cNvPr>
          <p:cNvSpPr/>
          <p:nvPr/>
        </p:nvSpPr>
        <p:spPr>
          <a:xfrm>
            <a:off x="5852159" y="2148840"/>
            <a:ext cx="1874519" cy="868680"/>
          </a:xfrm>
          <a:prstGeom prst="roundRect">
            <a:avLst>
              <a:gd name="adj" fmla="val 842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961888" y="2148840"/>
            <a:ext cx="1691640" cy="868680"/>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独自のエージェント</a:t>
            </a:r>
          </a:p>
          <a:p>
            <a:pPr>
              <a:lnSpc>
                <a:spcPts val="1380"/>
              </a:lnSpc>
              <a:spcAft>
                <a:spcPts val="0"/>
              </a:spcAft>
            </a:pPr>
            <a:r>
              <a:rPr sz="1100" b="0" lang="ja-JP">
                <a:solidFill>
                  <a:srgbClr val="566A78"/>
                </a:solidFill>
                <a:latin typeface="Yu Gothic"/>
                <a:ea typeface="Yu Gothic"/>
              </a:rPr>
              <a:t>MCPで接続</a:t>
            </a:r>
          </a:p>
        </p:txBody>
      </p:sp>
      <p:cxnSp>
        <p:nvCxnSpPr>
          <p:cNvPr id="24" name="Connector 23">
            <a:extLst>
              <a:ext uri="{C183D7F6-B498-43B3-948B-1728B52AA6E4}">
                <adec:decorative xmlns:adec="http://schemas.microsoft.com/office/drawing/2017/decorative" val="1"/>
              </a:ext>
            </a:extLst>
          </p:cNvPr>
          <p:cNvCxnSpPr/>
          <p:nvPr/>
        </p:nvCxnSpPr>
        <p:spPr>
          <a:xfrm flipV="1">
            <a:off x="2720340" y="3044952"/>
            <a:ext cx="0" cy="448056"/>
          </a:xfrm>
          <a:prstGeom prst="line">
            <a:avLst/>
          </a:prstGeom>
          <a:ln w="28575">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a:extLst>
              <a:ext uri="{C183D7F6-B498-43B3-948B-1728B52AA6E4}">
                <adec:decorative xmlns:adec="http://schemas.microsoft.com/office/drawing/2017/decorative" val="1"/>
              </a:ext>
            </a:extLst>
          </p:cNvPr>
          <p:cNvCxnSpPr/>
          <p:nvPr/>
        </p:nvCxnSpPr>
        <p:spPr>
          <a:xfrm flipV="1">
            <a:off x="4754880" y="3044952"/>
            <a:ext cx="0" cy="448056"/>
          </a:xfrm>
          <a:prstGeom prst="line">
            <a:avLst/>
          </a:prstGeom>
          <a:ln w="28575">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a:extLst>
              <a:ext uri="{C183D7F6-B498-43B3-948B-1728B52AA6E4}">
                <adec:decorative xmlns:adec="http://schemas.microsoft.com/office/drawing/2017/decorative" val="1"/>
              </a:ext>
            </a:extLst>
          </p:cNvPr>
          <p:cNvCxnSpPr/>
          <p:nvPr/>
        </p:nvCxnSpPr>
        <p:spPr>
          <a:xfrm flipV="1">
            <a:off x="6789420" y="3044952"/>
            <a:ext cx="0" cy="448056"/>
          </a:xfrm>
          <a:prstGeom prst="line">
            <a:avLst/>
          </a:prstGeom>
          <a:ln w="28575">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017520" y="3127248"/>
            <a:ext cx="1645920" cy="274320"/>
          </a:xfrm>
          <a:prstGeom prst="rect">
            <a:avLst/>
          </a:prstGeom>
          <a:noFill/>
        </p:spPr>
        <p:txBody>
          <a:bodyPr wrap="square" lIns="0" rIns="0" tIns="0" bIns="0">
            <a:spAutoFit/>
          </a:bodyPr>
          <a:lstStyle/>
          <a:p>
            <a:pPr algn="ctr">
              <a:lnSpc>
                <a:spcPts val="1200"/>
              </a:lnSpc>
              <a:spcAft>
                <a:spcPts val="0"/>
              </a:spcAft>
            </a:pPr>
            <a:r>
              <a:rPr sz="1200" b="1" lang="ja-JP">
                <a:solidFill>
                  <a:srgbClr val="087F83"/>
                </a:solidFill>
                <a:latin typeface="Yu Gothic"/>
                <a:ea typeface="Yu Gothic"/>
              </a:rPr>
              <a:t>同じ定義を参照</a:t>
            </a:r>
          </a:p>
        </p:txBody>
      </p:sp>
      <p:sp>
        <p:nvSpPr>
          <p:cNvPr id="28" name="Rounded Rectangle 27">
            <a:extLst>
              <a:ext uri="{C183D7F6-B498-43B3-948B-1728B52AA6E4}">
                <adec:decorative xmlns:adec="http://schemas.microsoft.com/office/drawing/2017/decorative" val="1"/>
              </a:ext>
            </a:extLst>
          </p:cNvPr>
          <p:cNvSpPr/>
          <p:nvPr/>
        </p:nvSpPr>
        <p:spPr>
          <a:xfrm>
            <a:off x="1783080" y="3520440"/>
            <a:ext cx="5943600" cy="1051560"/>
          </a:xfrm>
          <a:prstGeom prst="roundRect">
            <a:avLst>
              <a:gd name="adj" fmla="val 6956"/>
            </a:avLst>
          </a:prstGeom>
          <a:solidFill>
            <a:srgbClr val="FFFFFF"/>
          </a:solidFill>
          <a:ln w="25400">
            <a:solidFill>
              <a:srgbClr val="087F8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1965960" y="3584448"/>
            <a:ext cx="2286000" cy="310896"/>
          </a:xfrm>
          <a:prstGeom prst="rect">
            <a:avLst/>
          </a:prstGeom>
          <a:noFill/>
        </p:spPr>
        <p:txBody>
          <a:bodyPr wrap="square" lIns="0" rIns="0" tIns="0" bIns="0">
            <a:spAutoFit/>
          </a:bodyPr>
          <a:lstStyle/>
          <a:p>
            <a:pPr>
              <a:lnSpc>
                <a:spcPts val="1800"/>
              </a:lnSpc>
              <a:spcAft>
                <a:spcPts val="0"/>
              </a:spcAft>
            </a:pPr>
            <a:r>
              <a:rPr sz="1800" b="1" lang="ja-JP">
                <a:solidFill>
                  <a:srgbClr val="087F83"/>
                </a:solidFill>
                <a:latin typeface="Yu Gothic"/>
                <a:ea typeface="Yu Gothic"/>
              </a:rPr>
              <a:t>Ontology</a:t>
            </a:r>
          </a:p>
        </p:txBody>
      </p:sp>
      <p:sp>
        <p:nvSpPr>
          <p:cNvPr id="30" name="TextBox 29"/>
          <p:cNvSpPr txBox="1"/>
          <p:nvPr/>
        </p:nvSpPr>
        <p:spPr>
          <a:xfrm>
            <a:off x="3566160" y="3630168"/>
            <a:ext cx="4023360" cy="274320"/>
          </a:xfrm>
          <a:prstGeom prst="rect">
            <a:avLst/>
          </a:prstGeom>
          <a:noFill/>
        </p:spPr>
        <p:txBody>
          <a:bodyPr wrap="square" lIns="0" rIns="0" tIns="0" bIns="0">
            <a:spAutoFit/>
          </a:bodyPr>
          <a:lstStyle/>
          <a:p>
            <a:pPr>
              <a:lnSpc>
                <a:spcPts val="1250"/>
              </a:lnSpc>
              <a:spcAft>
                <a:spcPts val="0"/>
              </a:spcAft>
            </a:pPr>
            <a:r>
              <a:rPr sz="1250" b="0" lang="ja-JP">
                <a:solidFill>
                  <a:srgbClr val="21374A"/>
                </a:solidFill>
                <a:latin typeface="Yu Gothic"/>
                <a:ea typeface="Yu Gothic"/>
              </a:rPr>
              <a:t>業務の言葉で、一度だけ定義する</a:t>
            </a:r>
          </a:p>
        </p:txBody>
      </p:sp>
      <p:sp>
        <p:nvSpPr>
          <p:cNvPr id="31" name="Rounded Rectangle 30">
            <a:extLst>
              <a:ext uri="{C183D7F6-B498-43B3-948B-1728B52AA6E4}">
                <adec:decorative xmlns:adec="http://schemas.microsoft.com/office/drawing/2017/decorative" val="1"/>
              </a:ext>
            </a:extLst>
          </p:cNvPr>
          <p:cNvSpPr/>
          <p:nvPr/>
        </p:nvSpPr>
        <p:spPr>
          <a:xfrm>
            <a:off x="1965960" y="4078224"/>
            <a:ext cx="1280160" cy="329184"/>
          </a:xfrm>
          <a:prstGeom prst="roundRect">
            <a:avLst>
              <a:gd name="adj" fmla="val 50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1965960" y="4078224"/>
            <a:ext cx="1280160" cy="329184"/>
          </a:xfrm>
          <a:prstGeom prst="rect">
            <a:avLst/>
          </a:prstGeom>
          <a:noFill/>
        </p:spPr>
        <p:txBody>
          <a:bodyPr wrap="square" lIns="0" rIns="0" tIns="0" bIns="0" anchor="ctr">
            <a:spAutoFit/>
          </a:bodyPr>
          <a:lstStyle/>
          <a:p>
            <a:pPr algn="ctr">
              <a:lnSpc>
                <a:spcPts val="1200"/>
              </a:lnSpc>
              <a:spcAft>
                <a:spcPts val="0"/>
              </a:spcAft>
            </a:pPr>
            <a:r>
              <a:rPr sz="1200" b="1" lang="ja-JP">
                <a:solidFill>
                  <a:srgbClr val="087F83"/>
                </a:solidFill>
                <a:latin typeface="Yu Gothic"/>
                <a:ea typeface="Yu Gothic"/>
              </a:rPr>
              <a:t>概念</a:t>
            </a:r>
          </a:p>
        </p:txBody>
      </p:sp>
      <p:sp>
        <p:nvSpPr>
          <p:cNvPr id="33" name="Rounded Rectangle 32">
            <a:extLst>
              <a:ext uri="{C183D7F6-B498-43B3-948B-1728B52AA6E4}">
                <adec:decorative xmlns:adec="http://schemas.microsoft.com/office/drawing/2017/decorative" val="1"/>
              </a:ext>
            </a:extLst>
          </p:cNvPr>
          <p:cNvSpPr/>
          <p:nvPr/>
        </p:nvSpPr>
        <p:spPr>
          <a:xfrm>
            <a:off x="3383280" y="4078224"/>
            <a:ext cx="1280160" cy="329184"/>
          </a:xfrm>
          <a:prstGeom prst="roundRect">
            <a:avLst>
              <a:gd name="adj" fmla="val 50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3383280" y="4078224"/>
            <a:ext cx="1280160" cy="329184"/>
          </a:xfrm>
          <a:prstGeom prst="rect">
            <a:avLst/>
          </a:prstGeom>
          <a:noFill/>
        </p:spPr>
        <p:txBody>
          <a:bodyPr wrap="square" lIns="0" rIns="0" tIns="0" bIns="0" anchor="ctr">
            <a:spAutoFit/>
          </a:bodyPr>
          <a:lstStyle/>
          <a:p>
            <a:pPr algn="ctr">
              <a:lnSpc>
                <a:spcPts val="1200"/>
              </a:lnSpc>
              <a:spcAft>
                <a:spcPts val="0"/>
              </a:spcAft>
            </a:pPr>
            <a:r>
              <a:rPr sz="1200" b="1" lang="ja-JP">
                <a:solidFill>
                  <a:srgbClr val="087F83"/>
                </a:solidFill>
                <a:latin typeface="Yu Gothic"/>
                <a:ea typeface="Yu Gothic"/>
              </a:rPr>
              <a:t>属性</a:t>
            </a:r>
          </a:p>
        </p:txBody>
      </p:sp>
      <p:sp>
        <p:nvSpPr>
          <p:cNvPr id="35" name="Rounded Rectangle 34">
            <a:extLst>
              <a:ext uri="{C183D7F6-B498-43B3-948B-1728B52AA6E4}">
                <adec:decorative xmlns:adec="http://schemas.microsoft.com/office/drawing/2017/decorative" val="1"/>
              </a:ext>
            </a:extLst>
          </p:cNvPr>
          <p:cNvSpPr/>
          <p:nvPr/>
        </p:nvSpPr>
        <p:spPr>
          <a:xfrm>
            <a:off x="4800600" y="4078224"/>
            <a:ext cx="1280160" cy="329184"/>
          </a:xfrm>
          <a:prstGeom prst="roundRect">
            <a:avLst>
              <a:gd name="adj" fmla="val 50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4800600" y="4078224"/>
            <a:ext cx="1280160" cy="329184"/>
          </a:xfrm>
          <a:prstGeom prst="rect">
            <a:avLst/>
          </a:prstGeom>
          <a:noFill/>
        </p:spPr>
        <p:txBody>
          <a:bodyPr wrap="square" lIns="0" rIns="0" tIns="0" bIns="0" anchor="ctr">
            <a:spAutoFit/>
          </a:bodyPr>
          <a:lstStyle/>
          <a:p>
            <a:pPr algn="ctr">
              <a:lnSpc>
                <a:spcPts val="1200"/>
              </a:lnSpc>
              <a:spcAft>
                <a:spcPts val="0"/>
              </a:spcAft>
            </a:pPr>
            <a:r>
              <a:rPr sz="1200" b="1" lang="ja-JP">
                <a:solidFill>
                  <a:srgbClr val="087F83"/>
                </a:solidFill>
                <a:latin typeface="Yu Gothic"/>
                <a:ea typeface="Yu Gothic"/>
              </a:rPr>
              <a:t>関係</a:t>
            </a:r>
          </a:p>
        </p:txBody>
      </p:sp>
      <p:sp>
        <p:nvSpPr>
          <p:cNvPr id="37" name="Rounded Rectangle 36">
            <a:extLst>
              <a:ext uri="{C183D7F6-B498-43B3-948B-1728B52AA6E4}">
                <adec:decorative xmlns:adec="http://schemas.microsoft.com/office/drawing/2017/decorative" val="1"/>
              </a:ext>
            </a:extLst>
          </p:cNvPr>
          <p:cNvSpPr/>
          <p:nvPr/>
        </p:nvSpPr>
        <p:spPr>
          <a:xfrm>
            <a:off x="6217920" y="4078224"/>
            <a:ext cx="1417320" cy="329184"/>
          </a:xfrm>
          <a:prstGeom prst="roundRect">
            <a:avLst>
              <a:gd name="adj" fmla="val 50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217920" y="4078224"/>
            <a:ext cx="1417320" cy="329184"/>
          </a:xfrm>
          <a:prstGeom prst="rect">
            <a:avLst/>
          </a:prstGeom>
          <a:noFill/>
        </p:spPr>
        <p:txBody>
          <a:bodyPr wrap="square" lIns="0" rIns="0" tIns="0" bIns="0" anchor="ctr">
            <a:spAutoFit/>
          </a:bodyPr>
          <a:lstStyle/>
          <a:p>
            <a:pPr algn="ctr">
              <a:lnSpc>
                <a:spcPts val="1200"/>
              </a:lnSpc>
              <a:spcAft>
                <a:spcPts val="0"/>
              </a:spcAft>
            </a:pPr>
            <a:r>
              <a:rPr sz="1200" b="1" lang="ja-JP">
                <a:solidFill>
                  <a:srgbClr val="087F83"/>
                </a:solidFill>
                <a:latin typeface="Yu Gothic"/>
                <a:ea typeface="Yu Gothic"/>
              </a:rPr>
              <a:t>ルール・指標</a:t>
            </a:r>
          </a:p>
        </p:txBody>
      </p:sp>
      <p:cxnSp>
        <p:nvCxnSpPr>
          <p:cNvPr id="39" name="Connector 38">
            <a:extLst>
              <a:ext uri="{C183D7F6-B498-43B3-948B-1728B52AA6E4}">
                <adec:decorative xmlns:adec="http://schemas.microsoft.com/office/drawing/2017/decorative" val="1"/>
              </a:ext>
            </a:extLst>
          </p:cNvPr>
          <p:cNvCxnSpPr/>
          <p:nvPr/>
        </p:nvCxnSpPr>
        <p:spPr>
          <a:xfrm flipV="1">
            <a:off x="4754880" y="4599432"/>
            <a:ext cx="0" cy="402336"/>
          </a:xfrm>
          <a:prstGeom prst="line">
            <a:avLst/>
          </a:prstGeom>
          <a:ln w="28575">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892040" y="4663440"/>
            <a:ext cx="2834640" cy="274320"/>
          </a:xfrm>
          <a:prstGeom prst="rect">
            <a:avLst/>
          </a:prstGeom>
          <a:noFill/>
        </p:spPr>
        <p:txBody>
          <a:bodyPr wrap="square" lIns="0" rIns="0" tIns="0" bIns="0">
            <a:spAutoFit/>
          </a:bodyPr>
          <a:lstStyle/>
          <a:p>
            <a:pPr>
              <a:lnSpc>
                <a:spcPts val="1200"/>
              </a:lnSpc>
              <a:spcAft>
                <a:spcPts val="0"/>
              </a:spcAft>
            </a:pPr>
            <a:r>
              <a:rPr sz="1200" b="1" lang="ja-JP">
                <a:solidFill>
                  <a:srgbClr val="087F83"/>
                </a:solidFill>
                <a:latin typeface="Yu Gothic"/>
                <a:ea typeface="Yu Gothic"/>
              </a:rPr>
              <a:t>結び付け（参照する</a:t>
            </a:r>
            <a:br>
              <a:rPr lang="ja-JP" sz="1200"/>
            </a:br>
            <a:r>
              <a:rPr sz="1200" b="1" lang="ja-JP">
                <a:solidFill>
                  <a:srgbClr val="087F83"/>
                </a:solidFill>
                <a:latin typeface="Yu Gothic"/>
                <a:ea typeface="Yu Gothic"/>
              </a:rPr>
              <a:t>データは移さない）</a:t>
            </a:r>
          </a:p>
        </p:txBody>
      </p:sp>
      <p:sp>
        <p:nvSpPr>
          <p:cNvPr id="41" name="Rounded Rectangle 40">
            <a:extLst>
              <a:ext uri="{C183D7F6-B498-43B3-948B-1728B52AA6E4}">
                <adec:decorative xmlns:adec="http://schemas.microsoft.com/office/drawing/2017/decorative" val="1"/>
              </a:ext>
            </a:extLst>
          </p:cNvPr>
          <p:cNvSpPr/>
          <p:nvPr/>
        </p:nvSpPr>
        <p:spPr>
          <a:xfrm>
            <a:off x="1783080" y="5029200"/>
            <a:ext cx="1417320" cy="640080"/>
          </a:xfrm>
          <a:prstGeom prst="roundRect">
            <a:avLst>
              <a:gd name="adj" fmla="val 11428"/>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1828800" y="5029200"/>
            <a:ext cx="1325880" cy="640080"/>
          </a:xfrm>
          <a:prstGeom prst="rect">
            <a:avLst/>
          </a:prstGeom>
          <a:noFill/>
        </p:spPr>
        <p:txBody>
          <a:bodyPr wrap="square" lIns="0" rIns="0" tIns="0" bIns="0" anchor="ctr">
            <a:spAutoFit/>
          </a:bodyPr>
          <a:lstStyle/>
          <a:p>
            <a:pPr algn="ctr">
              <a:lnSpc>
                <a:spcPts val="1210"/>
              </a:lnSpc>
              <a:spcAft>
                <a:spcPts val="0"/>
              </a:spcAft>
            </a:pPr>
            <a:r>
              <a:rPr sz="1050" b="1" lang="ja-JP">
                <a:solidFill>
                  <a:srgbClr val="21374A"/>
                </a:solidFill>
                <a:latin typeface="Yu Gothic"/>
                <a:ea typeface="Yu Gothic"/>
              </a:rPr>
              <a:t>Lakehouse、</a:t>
            </a:r>
          </a:p>
          <a:p>
            <a:pPr algn="ctr">
              <a:lnSpc>
                <a:spcPts val="1210"/>
              </a:lnSpc>
              <a:spcAft>
                <a:spcPts val="0"/>
              </a:spcAft>
            </a:pPr>
            <a:r>
              <a:rPr sz="1050" b="1" lang="ja-JP">
                <a:solidFill>
                  <a:srgbClr val="21374A"/>
                </a:solidFill>
                <a:latin typeface="Yu Gothic"/>
                <a:ea typeface="Yu Gothic"/>
              </a:rPr>
              <a:t>Warehouse</a:t>
            </a:r>
          </a:p>
        </p:txBody>
      </p:sp>
      <p:sp>
        <p:nvSpPr>
          <p:cNvPr id="43" name="Rounded Rectangle 42">
            <a:extLst>
              <a:ext uri="{C183D7F6-B498-43B3-948B-1728B52AA6E4}">
                <adec:decorative xmlns:adec="http://schemas.microsoft.com/office/drawing/2017/decorative" val="1"/>
              </a:ext>
            </a:extLst>
          </p:cNvPr>
          <p:cNvSpPr/>
          <p:nvPr/>
        </p:nvSpPr>
        <p:spPr>
          <a:xfrm>
            <a:off x="3291839" y="5029200"/>
            <a:ext cx="1417320" cy="640080"/>
          </a:xfrm>
          <a:prstGeom prst="roundRect">
            <a:avLst>
              <a:gd name="adj" fmla="val 11428"/>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3337559" y="5029200"/>
            <a:ext cx="1325880" cy="640080"/>
          </a:xfrm>
          <a:prstGeom prst="rect">
            <a:avLst/>
          </a:prstGeom>
          <a:noFill/>
        </p:spPr>
        <p:txBody>
          <a:bodyPr wrap="square" lIns="0" rIns="0" tIns="0" bIns="0" anchor="ctr">
            <a:spAutoFit/>
          </a:bodyPr>
          <a:lstStyle/>
          <a:p>
            <a:pPr algn="ctr">
              <a:lnSpc>
                <a:spcPts val="1210"/>
              </a:lnSpc>
              <a:spcAft>
                <a:spcPts val="0"/>
              </a:spcAft>
            </a:pPr>
            <a:r>
              <a:rPr sz="1050" b="1" lang="ja-JP">
                <a:solidFill>
                  <a:srgbClr val="21374A"/>
                </a:solidFill>
                <a:latin typeface="Yu Gothic"/>
                <a:ea typeface="Yu Gothic"/>
              </a:rPr>
              <a:t>Eventhouse</a:t>
            </a:r>
          </a:p>
        </p:txBody>
      </p:sp>
      <p:sp>
        <p:nvSpPr>
          <p:cNvPr id="45" name="Rounded Rectangle 44">
            <a:extLst>
              <a:ext uri="{C183D7F6-B498-43B3-948B-1728B52AA6E4}">
                <adec:decorative xmlns:adec="http://schemas.microsoft.com/office/drawing/2017/decorative" val="1"/>
              </a:ext>
            </a:extLst>
          </p:cNvPr>
          <p:cNvSpPr/>
          <p:nvPr/>
        </p:nvSpPr>
        <p:spPr>
          <a:xfrm>
            <a:off x="4800600" y="5029200"/>
            <a:ext cx="1417320" cy="640080"/>
          </a:xfrm>
          <a:prstGeom prst="roundRect">
            <a:avLst>
              <a:gd name="adj" fmla="val 11428"/>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846320" y="5029200"/>
            <a:ext cx="1325880" cy="640080"/>
          </a:xfrm>
          <a:prstGeom prst="rect">
            <a:avLst/>
          </a:prstGeom>
          <a:noFill/>
        </p:spPr>
        <p:txBody>
          <a:bodyPr wrap="square" lIns="0" rIns="0" tIns="0" bIns="0" anchor="ctr">
            <a:spAutoFit/>
          </a:bodyPr>
          <a:lstStyle/>
          <a:p>
            <a:pPr algn="ctr">
              <a:lnSpc>
                <a:spcPts val="1210"/>
              </a:lnSpc>
              <a:spcAft>
                <a:spcPts val="0"/>
              </a:spcAft>
            </a:pPr>
            <a:r>
              <a:rPr sz="1050" b="1" lang="ja-JP">
                <a:solidFill>
                  <a:srgbClr val="21374A"/>
                </a:solidFill>
                <a:latin typeface="Yu Gothic"/>
                <a:ea typeface="Yu Gothic"/>
              </a:rPr>
              <a:t>SQLデータベース</a:t>
            </a:r>
          </a:p>
        </p:txBody>
      </p:sp>
      <p:sp>
        <p:nvSpPr>
          <p:cNvPr id="47" name="Rounded Rectangle 46">
            <a:extLst>
              <a:ext uri="{C183D7F6-B498-43B3-948B-1728B52AA6E4}">
                <adec:decorative xmlns:adec="http://schemas.microsoft.com/office/drawing/2017/decorative" val="1"/>
              </a:ext>
            </a:extLst>
          </p:cNvPr>
          <p:cNvSpPr/>
          <p:nvPr/>
        </p:nvSpPr>
        <p:spPr>
          <a:xfrm>
            <a:off x="6309359" y="5029200"/>
            <a:ext cx="1417320" cy="640080"/>
          </a:xfrm>
          <a:prstGeom prst="roundRect">
            <a:avLst>
              <a:gd name="adj" fmla="val 11428"/>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6355079" y="5029200"/>
            <a:ext cx="1325880" cy="640080"/>
          </a:xfrm>
          <a:prstGeom prst="rect">
            <a:avLst/>
          </a:prstGeom>
          <a:noFill/>
        </p:spPr>
        <p:txBody>
          <a:bodyPr wrap="square" lIns="0" rIns="0" tIns="0" bIns="0" anchor="ctr">
            <a:spAutoFit/>
          </a:bodyPr>
          <a:lstStyle/>
          <a:p>
            <a:pPr algn="ctr">
              <a:lnSpc>
                <a:spcPts val="1210"/>
              </a:lnSpc>
              <a:spcAft>
                <a:spcPts val="0"/>
              </a:spcAft>
            </a:pPr>
            <a:r>
              <a:rPr sz="1050" b="1" lang="ja-JP">
                <a:solidFill>
                  <a:srgbClr val="21374A"/>
                </a:solidFill>
                <a:latin typeface="Yu Gothic"/>
                <a:ea typeface="Yu Gothic"/>
              </a:rPr>
              <a:t>Power BI</a:t>
            </a:r>
          </a:p>
          <a:p>
            <a:pPr algn="ctr">
              <a:lnSpc>
                <a:spcPts val="1210"/>
              </a:lnSpc>
              <a:spcAft>
                <a:spcPts val="0"/>
              </a:spcAft>
            </a:pPr>
            <a:r>
              <a:rPr sz="1050" b="1" lang="ja-JP">
                <a:solidFill>
                  <a:srgbClr val="21374A"/>
                </a:solidFill>
                <a:latin typeface="Yu Gothic"/>
                <a:ea typeface="Yu Gothic"/>
              </a:rPr>
              <a:t>セマンティック</a:t>
            </a:r>
          </a:p>
          <a:p>
            <a:pPr algn="ctr">
              <a:lnSpc>
                <a:spcPts val="1210"/>
              </a:lnSpc>
              <a:spcAft>
                <a:spcPts val="0"/>
              </a:spcAft>
            </a:pPr>
            <a:r>
              <a:rPr sz="1050" b="1" lang="ja-JP">
                <a:solidFill>
                  <a:srgbClr val="21374A"/>
                </a:solidFill>
                <a:latin typeface="Yu Gothic"/>
                <a:ea typeface="Yu Gothic"/>
              </a:rPr>
              <a:t>モデル</a:t>
            </a:r>
          </a:p>
        </p:txBody>
      </p:sp>
      <p:sp>
        <p:nvSpPr>
          <p:cNvPr id="49" name="Rounded Rectangle 48">
            <a:extLst>
              <a:ext uri="{C183D7F6-B498-43B3-948B-1728B52AA6E4}">
                <adec:decorative xmlns:adec="http://schemas.microsoft.com/office/drawing/2017/decorative" val="1"/>
              </a:ext>
            </a:extLst>
          </p:cNvPr>
          <p:cNvSpPr/>
          <p:nvPr/>
        </p:nvSpPr>
        <p:spPr>
          <a:xfrm>
            <a:off x="8046720" y="2148840"/>
            <a:ext cx="3593592" cy="1691640"/>
          </a:xfrm>
          <a:prstGeom prst="roundRect">
            <a:avLst>
              <a:gd name="adj" fmla="val 4324"/>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8275320" y="2286000"/>
            <a:ext cx="3200400" cy="292608"/>
          </a:xfrm>
          <a:prstGeom prst="rect">
            <a:avLst/>
          </a:prstGeom>
          <a:noFill/>
        </p:spPr>
        <p:txBody>
          <a:bodyPr wrap="square" lIns="0" rIns="0" tIns="0" bIns="0">
            <a:spAutoFit/>
          </a:bodyPr>
          <a:lstStyle/>
          <a:p>
            <a:pPr>
              <a:lnSpc>
                <a:spcPts val="1600"/>
              </a:lnSpc>
              <a:spcAft>
                <a:spcPts val="0"/>
              </a:spcAft>
            </a:pPr>
            <a:r>
              <a:rPr sz="1600" b="1" lang="ja-JP">
                <a:solidFill>
                  <a:srgbClr val="087F83"/>
                </a:solidFill>
                <a:latin typeface="Yu Gothic"/>
                <a:ea typeface="Yu Gothic"/>
              </a:rPr>
              <a:t>Ontologyが持つもの</a:t>
            </a:r>
          </a:p>
        </p:txBody>
      </p:sp>
      <p:sp>
        <p:nvSpPr>
          <p:cNvPr id="51" name="TextBox 50"/>
          <p:cNvSpPr txBox="1"/>
          <p:nvPr/>
        </p:nvSpPr>
        <p:spPr>
          <a:xfrm>
            <a:off x="8275320" y="2697480"/>
            <a:ext cx="3200400" cy="1051560"/>
          </a:xfrm>
          <a:prstGeom prst="rect">
            <a:avLst/>
          </a:prstGeom>
          <a:noFill/>
        </p:spPr>
        <p:txBody>
          <a:bodyPr wrap="square" lIns="0" rIns="0" tIns="0" bIns="0">
            <a:spAutoFit/>
          </a:bodyPr>
          <a:lstStyle/>
          <a:p>
            <a:pPr>
              <a:lnSpc>
                <a:spcPts val="1960"/>
              </a:lnSpc>
              <a:spcAft>
                <a:spcPts val="0"/>
              </a:spcAft>
            </a:pPr>
            <a:r>
              <a:rPr sz="1350" b="0" lang="ja-JP">
                <a:solidFill>
                  <a:srgbClr val="21374A"/>
                </a:solidFill>
                <a:latin typeface="Yu Gothic"/>
                <a:ea typeface="Yu Gothic"/>
              </a:rPr>
              <a:t>・概念、属性、関係の定義</a:t>
            </a:r>
          </a:p>
          <a:p>
            <a:pPr>
              <a:lnSpc>
                <a:spcPts val="1960"/>
              </a:lnSpc>
              <a:spcAft>
                <a:spcPts val="0"/>
              </a:spcAft>
            </a:pPr>
            <a:r>
              <a:rPr sz="1350" b="0" lang="ja-JP">
                <a:solidFill>
                  <a:srgbClr val="21374A"/>
                </a:solidFill>
                <a:latin typeface="Yu Gothic"/>
                <a:ea typeface="Yu Gothic"/>
              </a:rPr>
              <a:t>・ルールと指標（Preview）</a:t>
            </a:r>
          </a:p>
          <a:p>
            <a:pPr>
              <a:lnSpc>
                <a:spcPts val="1960"/>
              </a:lnSpc>
              <a:spcAft>
                <a:spcPts val="0"/>
              </a:spcAft>
            </a:pPr>
            <a:r>
              <a:rPr sz="1350" b="0" lang="ja-JP">
                <a:solidFill>
                  <a:srgbClr val="21374A"/>
                </a:solidFill>
                <a:latin typeface="Yu Gothic"/>
                <a:ea typeface="Yu Gothic"/>
              </a:rPr>
              <a:t>・データへの結び付け</a:t>
            </a:r>
          </a:p>
        </p:txBody>
      </p:sp>
      <p:sp>
        <p:nvSpPr>
          <p:cNvPr id="52" name="Rounded Rectangle 51">
            <a:extLst>
              <a:ext uri="{C183D7F6-B498-43B3-948B-1728B52AA6E4}">
                <adec:decorative xmlns:adec="http://schemas.microsoft.com/office/drawing/2017/decorative" val="1"/>
              </a:ext>
            </a:extLst>
          </p:cNvPr>
          <p:cNvSpPr/>
          <p:nvPr/>
        </p:nvSpPr>
        <p:spPr>
          <a:xfrm>
            <a:off x="8046720" y="3977639"/>
            <a:ext cx="3593592" cy="1691640"/>
          </a:xfrm>
          <a:prstGeom prst="roundRect">
            <a:avLst>
              <a:gd name="adj" fmla="val 4324"/>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8275320" y="4114800"/>
            <a:ext cx="3200400" cy="292608"/>
          </a:xfrm>
          <a:prstGeom prst="rect">
            <a:avLst/>
          </a:prstGeom>
          <a:noFill/>
        </p:spPr>
        <p:txBody>
          <a:bodyPr wrap="square" lIns="0" rIns="0" tIns="0" bIns="0">
            <a:spAutoFit/>
          </a:bodyPr>
          <a:lstStyle/>
          <a:p>
            <a:pPr>
              <a:lnSpc>
                <a:spcPts val="1600"/>
              </a:lnSpc>
              <a:spcAft>
                <a:spcPts val="0"/>
              </a:spcAft>
            </a:pPr>
            <a:r>
              <a:rPr sz="1600" b="1" lang="ja-JP">
                <a:solidFill>
                  <a:srgbClr val="BD4354"/>
                </a:solidFill>
                <a:latin typeface="Yu Gothic"/>
                <a:ea typeface="Yu Gothic"/>
              </a:rPr>
              <a:t>Ontologyが持たないもの</a:t>
            </a:r>
          </a:p>
        </p:txBody>
      </p:sp>
      <p:sp>
        <p:nvSpPr>
          <p:cNvPr id="54" name="TextBox 53"/>
          <p:cNvSpPr txBox="1"/>
          <p:nvPr/>
        </p:nvSpPr>
        <p:spPr>
          <a:xfrm>
            <a:off x="8275320" y="4526280"/>
            <a:ext cx="3200400" cy="1097280"/>
          </a:xfrm>
          <a:prstGeom prst="rect">
            <a:avLst/>
          </a:prstGeom>
          <a:noFill/>
        </p:spPr>
        <p:txBody>
          <a:bodyPr wrap="square" lIns="0" rIns="0" tIns="0" bIns="0">
            <a:spAutoFit/>
          </a:bodyPr>
          <a:lstStyle/>
          <a:p>
            <a:pPr>
              <a:lnSpc>
                <a:spcPts val="1960"/>
              </a:lnSpc>
              <a:spcAft>
                <a:spcPts val="0"/>
              </a:spcAft>
            </a:pPr>
            <a:r>
              <a:rPr sz="1350" b="0" lang="ja-JP">
                <a:solidFill>
                  <a:srgbClr val="21374A"/>
                </a:solidFill>
                <a:latin typeface="Yu Gothic"/>
                <a:ea typeface="Yu Gothic"/>
              </a:rPr>
              <a:t>・データそのもの（元の場所に残る）</a:t>
            </a:r>
          </a:p>
          <a:p>
            <a:pPr>
              <a:lnSpc>
                <a:spcPts val="1960"/>
              </a:lnSpc>
              <a:spcAft>
                <a:spcPts val="0"/>
              </a:spcAft>
            </a:pPr>
            <a:r>
              <a:rPr sz="1350" b="0" lang="ja-JP">
                <a:solidFill>
                  <a:srgbClr val="21374A"/>
                </a:solidFill>
                <a:latin typeface="Yu Gothic"/>
                <a:ea typeface="Yu Gothic"/>
              </a:rPr>
              <a:t>・問い合わせの実行（利用側が行う）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このデモのOntology：主な8概念と関係</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第1章 課題と考え方  |  Ontologyの構成要素</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左は、Ontologyの4つの部品と、このデモでの例です。</a:t>
            </a:r>
          </a:p>
          <a:p>
            <a:pPr>
              <a:lnSpc>
                <a:spcPts val="2160"/>
              </a:lnSpc>
              <a:spcAft>
                <a:spcPts val="0"/>
              </a:spcAft>
            </a:pPr>
            <a:r>
              <a:rPr sz="1600" b="0" lang="ja-JP">
                <a:solidFill>
                  <a:srgbClr val="566A78"/>
                </a:solidFill>
                <a:latin typeface="Yu Gothic"/>
                <a:ea typeface="Yu Gothic"/>
              </a:rPr>
              <a:t>右は、このデモの定義のうち、イベントから全社KPIまでの主な関係です。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このデモの全体は、17種類の概念と39種類の関係です（p.29）。質問ごとに必要な範囲は、第4章で示します。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07</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4754880" cy="822960"/>
          </a:xfrm>
          <a:prstGeom prst="roundRect">
            <a:avLst>
              <a:gd name="adj" fmla="val 888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a:extLst>
              <a:ext uri="{C183D7F6-B498-43B3-948B-1728B52AA6E4}">
                <adec:decorative xmlns:adec="http://schemas.microsoft.com/office/drawing/2017/decorative" val="1"/>
              </a:ext>
            </a:extLst>
          </p:cNvPr>
          <p:cNvSpPr/>
          <p:nvPr/>
        </p:nvSpPr>
        <p:spPr>
          <a:xfrm>
            <a:off x="566928" y="2231136"/>
            <a:ext cx="64008" cy="658368"/>
          </a:xfrm>
          <a:prstGeom prst="roundRect">
            <a:avLst>
              <a:gd name="adj" fmla="val 5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04672" y="2221992"/>
            <a:ext cx="4389120" cy="256032"/>
          </a:xfrm>
          <a:prstGeom prst="rect">
            <a:avLst/>
          </a:prstGeom>
          <a:noFill/>
        </p:spPr>
        <p:txBody>
          <a:bodyPr wrap="square" lIns="0" rIns="0" tIns="0" bIns="0">
            <a:spAutoFit/>
          </a:bodyPr>
          <a:lstStyle/>
          <a:p>
            <a:pPr>
              <a:lnSpc>
                <a:spcPts val="1500"/>
              </a:lnSpc>
              <a:spcAft>
                <a:spcPts val="0"/>
              </a:spcAft>
            </a:pPr>
            <a:r>
              <a:rPr sz="1500" b="1" lang="ja-JP">
                <a:solidFill>
                  <a:srgbClr val="087F83"/>
                </a:solidFill>
                <a:latin typeface="Yu Gothic"/>
                <a:ea typeface="Yu Gothic"/>
              </a:rPr>
              <a:t>概念（エンティティ）</a:t>
            </a:r>
          </a:p>
        </p:txBody>
      </p:sp>
      <p:sp>
        <p:nvSpPr>
          <p:cNvPr id="18" name="TextBox 17"/>
          <p:cNvSpPr txBox="1"/>
          <p:nvPr/>
        </p:nvSpPr>
        <p:spPr>
          <a:xfrm>
            <a:off x="804672" y="2496312"/>
            <a:ext cx="4389120" cy="201168"/>
          </a:xfrm>
          <a:prstGeom prst="rect">
            <a:avLst/>
          </a:prstGeom>
          <a:noFill/>
        </p:spPr>
        <p:txBody>
          <a:bodyPr wrap="square" lIns="0" rIns="0" tIns="0" bIns="0">
            <a:spAutoFit/>
          </a:bodyPr>
          <a:lstStyle/>
          <a:p>
            <a:pPr>
              <a:lnSpc>
                <a:spcPts val="1200"/>
              </a:lnSpc>
              <a:spcAft>
                <a:spcPts val="0"/>
              </a:spcAft>
            </a:pPr>
            <a:r>
              <a:rPr sz="1200" b="0" lang="ja-JP">
                <a:solidFill>
                  <a:srgbClr val="21374A"/>
                </a:solidFill>
                <a:latin typeface="Yu Gothic"/>
                <a:ea typeface="Yu Gothic"/>
              </a:rPr>
              <a:t>業務に登場する「もの」や「こと」</a:t>
            </a:r>
          </a:p>
        </p:txBody>
      </p:sp>
      <p:sp>
        <p:nvSpPr>
          <p:cNvPr id="19" name="TextBox 18"/>
          <p:cNvSpPr txBox="1"/>
          <p:nvPr/>
        </p:nvSpPr>
        <p:spPr>
          <a:xfrm>
            <a:off x="804672" y="2724912"/>
            <a:ext cx="4389120" cy="201168"/>
          </a:xfrm>
          <a:prstGeom prst="rect">
            <a:avLst/>
          </a:prstGeom>
          <a:noFill/>
        </p:spPr>
        <p:txBody>
          <a:bodyPr wrap="square" lIns="0" rIns="0" tIns="0" bIns="0">
            <a:spAutoFit/>
          </a:bodyPr>
          <a:lstStyle/>
          <a:p>
            <a:pPr>
              <a:lnSpc>
                <a:spcPts val="1100"/>
              </a:lnSpc>
              <a:spcAft>
                <a:spcPts val="0"/>
              </a:spcAft>
            </a:pPr>
            <a:r>
              <a:rPr sz="1100" b="0" lang="ja-JP">
                <a:solidFill>
                  <a:srgbClr val="566A78"/>
                </a:solidFill>
                <a:latin typeface="Yu Gothic"/>
                <a:ea typeface="Yu Gothic"/>
              </a:rPr>
              <a:t>例：会社、契約、イベント、影響額（17種類）</a:t>
            </a:r>
          </a:p>
        </p:txBody>
      </p:sp>
      <p:sp>
        <p:nvSpPr>
          <p:cNvPr id="20" name="Rounded Rectangle 19">
            <a:extLst>
              <a:ext uri="{C183D7F6-B498-43B3-948B-1728B52AA6E4}">
                <adec:decorative xmlns:adec="http://schemas.microsoft.com/office/drawing/2017/decorative" val="1"/>
              </a:ext>
            </a:extLst>
          </p:cNvPr>
          <p:cNvSpPr/>
          <p:nvPr/>
        </p:nvSpPr>
        <p:spPr>
          <a:xfrm>
            <a:off x="548640" y="3063240"/>
            <a:ext cx="4754880" cy="822960"/>
          </a:xfrm>
          <a:prstGeom prst="roundRect">
            <a:avLst>
              <a:gd name="adj" fmla="val 888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unded Rectangle 20">
            <a:extLst>
              <a:ext uri="{C183D7F6-B498-43B3-948B-1728B52AA6E4}">
                <adec:decorative xmlns:adec="http://schemas.microsoft.com/office/drawing/2017/decorative" val="1"/>
              </a:ext>
            </a:extLst>
          </p:cNvPr>
          <p:cNvSpPr/>
          <p:nvPr/>
        </p:nvSpPr>
        <p:spPr>
          <a:xfrm>
            <a:off x="566928" y="3145536"/>
            <a:ext cx="64008" cy="658368"/>
          </a:xfrm>
          <a:prstGeom prst="roundRect">
            <a:avLst>
              <a:gd name="adj" fmla="val 50000"/>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04672" y="3136392"/>
            <a:ext cx="4389120" cy="256032"/>
          </a:xfrm>
          <a:prstGeom prst="rect">
            <a:avLst/>
          </a:prstGeom>
          <a:noFill/>
        </p:spPr>
        <p:txBody>
          <a:bodyPr wrap="square" lIns="0" rIns="0" tIns="0" bIns="0">
            <a:spAutoFit/>
          </a:bodyPr>
          <a:lstStyle/>
          <a:p>
            <a:pPr>
              <a:lnSpc>
                <a:spcPts val="1500"/>
              </a:lnSpc>
              <a:spcAft>
                <a:spcPts val="0"/>
              </a:spcAft>
            </a:pPr>
            <a:r>
              <a:rPr sz="1500" b="1" lang="ja-JP">
                <a:solidFill>
                  <a:srgbClr val="7352AD"/>
                </a:solidFill>
                <a:latin typeface="Yu Gothic"/>
                <a:ea typeface="Yu Gothic"/>
              </a:rPr>
              <a:t>属性（プロパティ）</a:t>
            </a:r>
          </a:p>
        </p:txBody>
      </p:sp>
      <p:sp>
        <p:nvSpPr>
          <p:cNvPr id="23" name="TextBox 22"/>
          <p:cNvSpPr txBox="1"/>
          <p:nvPr/>
        </p:nvSpPr>
        <p:spPr>
          <a:xfrm>
            <a:off x="804672" y="3410712"/>
            <a:ext cx="4389120" cy="201168"/>
          </a:xfrm>
          <a:prstGeom prst="rect">
            <a:avLst/>
          </a:prstGeom>
          <a:noFill/>
        </p:spPr>
        <p:txBody>
          <a:bodyPr wrap="square" lIns="0" rIns="0" tIns="0" bIns="0">
            <a:spAutoFit/>
          </a:bodyPr>
          <a:lstStyle/>
          <a:p>
            <a:pPr>
              <a:lnSpc>
                <a:spcPts val="1200"/>
              </a:lnSpc>
              <a:spcAft>
                <a:spcPts val="0"/>
              </a:spcAft>
            </a:pPr>
            <a:r>
              <a:rPr sz="1200" b="0" lang="ja-JP">
                <a:solidFill>
                  <a:srgbClr val="21374A"/>
                </a:solidFill>
                <a:latin typeface="Yu Gothic"/>
                <a:ea typeface="Yu Gothic"/>
              </a:rPr>
              <a:t>概念が持つ項目</a:t>
            </a:r>
          </a:p>
        </p:txBody>
      </p:sp>
      <p:sp>
        <p:nvSpPr>
          <p:cNvPr id="24" name="TextBox 23"/>
          <p:cNvSpPr txBox="1"/>
          <p:nvPr/>
        </p:nvSpPr>
        <p:spPr>
          <a:xfrm>
            <a:off x="804672" y="3639312"/>
            <a:ext cx="4389120" cy="201168"/>
          </a:xfrm>
          <a:prstGeom prst="rect">
            <a:avLst/>
          </a:prstGeom>
          <a:noFill/>
        </p:spPr>
        <p:txBody>
          <a:bodyPr wrap="square" lIns="0" rIns="0" tIns="0" bIns="0">
            <a:spAutoFit/>
          </a:bodyPr>
          <a:lstStyle/>
          <a:p>
            <a:pPr>
              <a:lnSpc>
                <a:spcPts val="1100"/>
              </a:lnSpc>
              <a:spcAft>
                <a:spcPts val="0"/>
              </a:spcAft>
            </a:pPr>
            <a:r>
              <a:rPr sz="1100" b="0" lang="ja-JP">
                <a:solidFill>
                  <a:srgbClr val="566A78"/>
                </a:solidFill>
                <a:latin typeface="Yu Gothic"/>
                <a:ea typeface="Yu Gothic"/>
              </a:rPr>
              <a:t>例：契約ID、日付、金額、通貨、所有比率</a:t>
            </a:r>
          </a:p>
        </p:txBody>
      </p:sp>
      <p:sp>
        <p:nvSpPr>
          <p:cNvPr id="25" name="Rounded Rectangle 24">
            <a:extLst>
              <a:ext uri="{C183D7F6-B498-43B3-948B-1728B52AA6E4}">
                <adec:decorative xmlns:adec="http://schemas.microsoft.com/office/drawing/2017/decorative" val="1"/>
              </a:ext>
            </a:extLst>
          </p:cNvPr>
          <p:cNvSpPr/>
          <p:nvPr/>
        </p:nvSpPr>
        <p:spPr>
          <a:xfrm>
            <a:off x="548640" y="3977639"/>
            <a:ext cx="4754880" cy="822960"/>
          </a:xfrm>
          <a:prstGeom prst="roundRect">
            <a:avLst>
              <a:gd name="adj" fmla="val 888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a:extLst>
              <a:ext uri="{C183D7F6-B498-43B3-948B-1728B52AA6E4}">
                <adec:decorative xmlns:adec="http://schemas.microsoft.com/office/drawing/2017/decorative" val="1"/>
              </a:ext>
            </a:extLst>
          </p:cNvPr>
          <p:cNvSpPr/>
          <p:nvPr/>
        </p:nvSpPr>
        <p:spPr>
          <a:xfrm>
            <a:off x="566928" y="4059935"/>
            <a:ext cx="64008" cy="658368"/>
          </a:xfrm>
          <a:prstGeom prst="roundRect">
            <a:avLst>
              <a:gd name="adj" fmla="val 50000"/>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04672" y="4050791"/>
            <a:ext cx="4389120" cy="256032"/>
          </a:xfrm>
          <a:prstGeom prst="rect">
            <a:avLst/>
          </a:prstGeom>
          <a:noFill/>
        </p:spPr>
        <p:txBody>
          <a:bodyPr wrap="square" lIns="0" rIns="0" tIns="0" bIns="0">
            <a:spAutoFit/>
          </a:bodyPr>
          <a:lstStyle/>
          <a:p>
            <a:pPr>
              <a:lnSpc>
                <a:spcPts val="1500"/>
              </a:lnSpc>
              <a:spcAft>
                <a:spcPts val="0"/>
              </a:spcAft>
            </a:pPr>
            <a:r>
              <a:rPr sz="1500" b="1" lang="ja-JP">
                <a:solidFill>
                  <a:srgbClr val="BD4354"/>
                </a:solidFill>
                <a:latin typeface="Yu Gothic"/>
                <a:ea typeface="Yu Gothic"/>
              </a:rPr>
              <a:t>関係</a:t>
            </a:r>
          </a:p>
        </p:txBody>
      </p:sp>
      <p:sp>
        <p:nvSpPr>
          <p:cNvPr id="28" name="TextBox 27"/>
          <p:cNvSpPr txBox="1"/>
          <p:nvPr/>
        </p:nvSpPr>
        <p:spPr>
          <a:xfrm>
            <a:off x="804672" y="4325112"/>
            <a:ext cx="4389120" cy="201168"/>
          </a:xfrm>
          <a:prstGeom prst="rect">
            <a:avLst/>
          </a:prstGeom>
          <a:noFill/>
        </p:spPr>
        <p:txBody>
          <a:bodyPr wrap="square" lIns="0" rIns="0" tIns="0" bIns="0">
            <a:spAutoFit/>
          </a:bodyPr>
          <a:lstStyle/>
          <a:p>
            <a:pPr>
              <a:lnSpc>
                <a:spcPts val="1200"/>
              </a:lnSpc>
              <a:spcAft>
                <a:spcPts val="0"/>
              </a:spcAft>
            </a:pPr>
            <a:r>
              <a:rPr sz="1200" b="0" lang="ja-JP">
                <a:solidFill>
                  <a:srgbClr val="21374A"/>
                </a:solidFill>
                <a:latin typeface="Yu Gothic"/>
                <a:ea typeface="Yu Gothic"/>
              </a:rPr>
              <a:t>概念どうしのつながり</a:t>
            </a:r>
          </a:p>
        </p:txBody>
      </p:sp>
      <p:sp>
        <p:nvSpPr>
          <p:cNvPr id="29" name="TextBox 28"/>
          <p:cNvSpPr txBox="1"/>
          <p:nvPr/>
        </p:nvSpPr>
        <p:spPr>
          <a:xfrm>
            <a:off x="804672" y="4553712"/>
            <a:ext cx="4389120" cy="201168"/>
          </a:xfrm>
          <a:prstGeom prst="rect">
            <a:avLst/>
          </a:prstGeom>
          <a:noFill/>
        </p:spPr>
        <p:txBody>
          <a:bodyPr wrap="square" lIns="0" rIns="0" tIns="0" bIns="0">
            <a:spAutoFit/>
          </a:bodyPr>
          <a:lstStyle/>
          <a:p>
            <a:pPr>
              <a:lnSpc>
                <a:spcPts val="1100"/>
              </a:lnSpc>
              <a:spcAft>
                <a:spcPts val="0"/>
              </a:spcAft>
            </a:pPr>
            <a:r>
              <a:rPr sz="1100" b="0" lang="ja-JP">
                <a:solidFill>
                  <a:srgbClr val="566A78"/>
                </a:solidFill>
                <a:latin typeface="Yu Gothic"/>
                <a:ea typeface="Yu Gothic"/>
              </a:rPr>
              <a:t>例：イベントが影響額を生む（39種類）</a:t>
            </a:r>
          </a:p>
        </p:txBody>
      </p:sp>
      <p:sp>
        <p:nvSpPr>
          <p:cNvPr id="30" name="Rounded Rectangle 29">
            <a:extLst>
              <a:ext uri="{C183D7F6-B498-43B3-948B-1728B52AA6E4}">
                <adec:decorative xmlns:adec="http://schemas.microsoft.com/office/drawing/2017/decorative" val="1"/>
              </a:ext>
            </a:extLst>
          </p:cNvPr>
          <p:cNvSpPr/>
          <p:nvPr/>
        </p:nvSpPr>
        <p:spPr>
          <a:xfrm>
            <a:off x="548640" y="4892040"/>
            <a:ext cx="4754880" cy="822960"/>
          </a:xfrm>
          <a:prstGeom prst="roundRect">
            <a:avLst>
              <a:gd name="adj" fmla="val 888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a:extLst>
              <a:ext uri="{C183D7F6-B498-43B3-948B-1728B52AA6E4}">
                <adec:decorative xmlns:adec="http://schemas.microsoft.com/office/drawing/2017/decorative" val="1"/>
              </a:ext>
            </a:extLst>
          </p:cNvPr>
          <p:cNvSpPr/>
          <p:nvPr/>
        </p:nvSpPr>
        <p:spPr>
          <a:xfrm>
            <a:off x="566928" y="4974336"/>
            <a:ext cx="64008" cy="658368"/>
          </a:xfrm>
          <a:prstGeom prst="roundRect">
            <a:avLst>
              <a:gd name="adj" fmla="val 50000"/>
            </a:avLst>
          </a:prstGeom>
          <a:solidFill>
            <a:srgbClr val="1733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04672" y="4965192"/>
            <a:ext cx="4389120" cy="256032"/>
          </a:xfrm>
          <a:prstGeom prst="rect">
            <a:avLst/>
          </a:prstGeom>
          <a:noFill/>
        </p:spPr>
        <p:txBody>
          <a:bodyPr wrap="square" lIns="0" rIns="0" tIns="0" bIns="0">
            <a:spAutoFit/>
          </a:bodyPr>
          <a:lstStyle/>
          <a:p>
            <a:pPr>
              <a:lnSpc>
                <a:spcPts val="1500"/>
              </a:lnSpc>
              <a:spcAft>
                <a:spcPts val="0"/>
              </a:spcAft>
            </a:pPr>
            <a:r>
              <a:rPr sz="1500" b="1" lang="ja-JP">
                <a:solidFill>
                  <a:srgbClr val="17334A"/>
                </a:solidFill>
                <a:latin typeface="Yu Gothic"/>
                <a:ea typeface="Yu Gothic"/>
              </a:rPr>
              <a:t>ルール・指標</a:t>
            </a:r>
          </a:p>
        </p:txBody>
      </p:sp>
      <p:sp>
        <p:nvSpPr>
          <p:cNvPr id="33" name="TextBox 32"/>
          <p:cNvSpPr txBox="1"/>
          <p:nvPr/>
        </p:nvSpPr>
        <p:spPr>
          <a:xfrm>
            <a:off x="804672" y="5239512"/>
            <a:ext cx="4389120" cy="201168"/>
          </a:xfrm>
          <a:prstGeom prst="rect">
            <a:avLst/>
          </a:prstGeom>
          <a:noFill/>
        </p:spPr>
        <p:txBody>
          <a:bodyPr wrap="square" lIns="0" rIns="0" tIns="0" bIns="0">
            <a:spAutoFit/>
          </a:bodyPr>
          <a:lstStyle/>
          <a:p>
            <a:pPr>
              <a:lnSpc>
                <a:spcPts val="1200"/>
              </a:lnSpc>
              <a:spcAft>
                <a:spcPts val="0"/>
              </a:spcAft>
            </a:pPr>
            <a:r>
              <a:rPr sz="1200" b="0" lang="ja-JP">
                <a:solidFill>
                  <a:srgbClr val="21374A"/>
                </a:solidFill>
                <a:latin typeface="Yu Gothic"/>
                <a:ea typeface="Yu Gothic"/>
              </a:rPr>
              <a:t>業務の決まりと、共通の計算（Preview）</a:t>
            </a:r>
          </a:p>
        </p:txBody>
      </p:sp>
      <p:sp>
        <p:nvSpPr>
          <p:cNvPr id="34" name="TextBox 33"/>
          <p:cNvSpPr txBox="1"/>
          <p:nvPr/>
        </p:nvSpPr>
        <p:spPr>
          <a:xfrm>
            <a:off x="804672" y="5468112"/>
            <a:ext cx="4389120" cy="201168"/>
          </a:xfrm>
          <a:prstGeom prst="rect">
            <a:avLst/>
          </a:prstGeom>
          <a:noFill/>
        </p:spPr>
        <p:txBody>
          <a:bodyPr wrap="square" lIns="0" rIns="0" tIns="0" bIns="0">
            <a:spAutoFit/>
          </a:bodyPr>
          <a:lstStyle/>
          <a:p>
            <a:pPr>
              <a:lnSpc>
                <a:spcPts val="1100"/>
              </a:lnSpc>
              <a:spcAft>
                <a:spcPts val="0"/>
              </a:spcAft>
            </a:pPr>
            <a:r>
              <a:rPr sz="1100" b="0" lang="ja-JP">
                <a:solidFill>
                  <a:srgbClr val="566A78"/>
                </a:solidFill>
                <a:latin typeface="Yu Gothic"/>
                <a:ea typeface="Yu Gothic"/>
              </a:rPr>
              <a:t>例：全額連結と持分管理の区別。デモでは未実装</a:t>
            </a:r>
          </a:p>
        </p:txBody>
      </p:sp>
      <p:sp>
        <p:nvSpPr>
          <p:cNvPr id="35" name="Rounded Rectangle 34">
            <a:extLst>
              <a:ext uri="{C183D7F6-B498-43B3-948B-1728B52AA6E4}">
                <adec:decorative xmlns:adec="http://schemas.microsoft.com/office/drawing/2017/decorative" val="1"/>
              </a:ext>
            </a:extLst>
          </p:cNvPr>
          <p:cNvSpPr/>
          <p:nvPr/>
        </p:nvSpPr>
        <p:spPr>
          <a:xfrm>
            <a:off x="5486400" y="2148840"/>
            <a:ext cx="615391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715000" y="2286000"/>
            <a:ext cx="4572000" cy="274320"/>
          </a:xfrm>
          <a:prstGeom prst="rect">
            <a:avLst/>
          </a:prstGeom>
          <a:noFill/>
        </p:spPr>
        <p:txBody>
          <a:bodyPr wrap="square" lIns="0" rIns="0" tIns="0" bIns="0">
            <a:spAutoFit/>
          </a:bodyPr>
          <a:lstStyle/>
          <a:p>
            <a:pPr>
              <a:lnSpc>
                <a:spcPts val="1300"/>
              </a:lnSpc>
              <a:spcAft>
                <a:spcPts val="0"/>
              </a:spcAft>
            </a:pPr>
            <a:r>
              <a:rPr sz="1300" b="1" lang="ja-JP">
                <a:solidFill>
                  <a:srgbClr val="087F83"/>
                </a:solidFill>
                <a:latin typeface="Yu Gothic"/>
                <a:ea typeface="Yu Gothic"/>
              </a:rPr>
              <a:t>このデモの定義（主な関係のみ）</a:t>
            </a:r>
          </a:p>
        </p:txBody>
      </p:sp>
      <p:sp>
        <p:nvSpPr>
          <p:cNvPr id="37" name="Rounded Rectangle 36">
            <a:extLst>
              <a:ext uri="{C183D7F6-B498-43B3-948B-1728B52AA6E4}">
                <adec:decorative xmlns:adec="http://schemas.microsoft.com/office/drawing/2017/decorative" val="1"/>
              </a:ext>
            </a:extLst>
          </p:cNvPr>
          <p:cNvSpPr/>
          <p:nvPr/>
        </p:nvSpPr>
        <p:spPr>
          <a:xfrm>
            <a:off x="5669280" y="3758184"/>
            <a:ext cx="1188720" cy="603504"/>
          </a:xfrm>
          <a:prstGeom prst="roundRect">
            <a:avLst>
              <a:gd name="adj" fmla="val 10606"/>
            </a:avLst>
          </a:prstGeom>
          <a:solidFill>
            <a:srgbClr val="FFFFFF"/>
          </a:solidFill>
          <a:ln w="22225">
            <a:solidFill>
              <a:srgbClr val="7352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669280" y="3758184"/>
            <a:ext cx="1188720" cy="603504"/>
          </a:xfrm>
          <a:prstGeom prst="rect">
            <a:avLst/>
          </a:prstGeom>
          <a:noFill/>
        </p:spPr>
        <p:txBody>
          <a:bodyPr wrap="square" lIns="0" rIns="0" tIns="0" bIns="0" anchor="ctr">
            <a:spAutoFit/>
          </a:bodyPr>
          <a:lstStyle/>
          <a:p>
            <a:pPr algn="ctr">
              <a:lnSpc>
                <a:spcPts val="1440"/>
              </a:lnSpc>
              <a:spcAft>
                <a:spcPts val="0"/>
              </a:spcAft>
            </a:pPr>
            <a:r>
              <a:rPr sz="1250" b="1" lang="ja-JP">
                <a:solidFill>
                  <a:srgbClr val="21374A"/>
                </a:solidFill>
                <a:latin typeface="Yu Gothic"/>
                <a:ea typeface="Yu Gothic"/>
              </a:rPr>
              <a:t>イベント</a:t>
            </a:r>
          </a:p>
          <a:p>
            <a:pPr algn="ctr">
              <a:lnSpc>
                <a:spcPts val="1150"/>
              </a:lnSpc>
              <a:spcAft>
                <a:spcPts val="0"/>
              </a:spcAft>
            </a:pPr>
            <a:r>
              <a:rPr sz="1000" b="0" lang="ja-JP">
                <a:solidFill>
                  <a:srgbClr val="566A78"/>
                </a:solidFill>
                <a:latin typeface="Yu Gothic"/>
                <a:ea typeface="Yu Gothic"/>
              </a:rPr>
              <a:t>RiskEvent</a:t>
            </a:r>
          </a:p>
        </p:txBody>
      </p:sp>
      <p:sp>
        <p:nvSpPr>
          <p:cNvPr id="39" name="Rounded Rectangle 38">
            <a:extLst>
              <a:ext uri="{C183D7F6-B498-43B3-948B-1728B52AA6E4}">
                <adec:decorative xmlns:adec="http://schemas.microsoft.com/office/drawing/2017/decorative" val="1"/>
              </a:ext>
            </a:extLst>
          </p:cNvPr>
          <p:cNvSpPr/>
          <p:nvPr/>
        </p:nvSpPr>
        <p:spPr>
          <a:xfrm>
            <a:off x="7260336" y="3758184"/>
            <a:ext cx="1188720" cy="603504"/>
          </a:xfrm>
          <a:prstGeom prst="roundRect">
            <a:avLst>
              <a:gd name="adj" fmla="val 10606"/>
            </a:avLst>
          </a:prstGeom>
          <a:solidFill>
            <a:srgbClr val="FFFFFF"/>
          </a:solidFill>
          <a:ln w="22225">
            <a:solidFill>
              <a:srgbClr val="BD43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7260336" y="3758184"/>
            <a:ext cx="1188720" cy="603504"/>
          </a:xfrm>
          <a:prstGeom prst="rect">
            <a:avLst/>
          </a:prstGeom>
          <a:noFill/>
        </p:spPr>
        <p:txBody>
          <a:bodyPr wrap="square" lIns="0" rIns="0" tIns="0" bIns="0" anchor="ctr">
            <a:spAutoFit/>
          </a:bodyPr>
          <a:lstStyle/>
          <a:p>
            <a:pPr algn="ctr">
              <a:lnSpc>
                <a:spcPts val="1440"/>
              </a:lnSpc>
              <a:spcAft>
                <a:spcPts val="0"/>
              </a:spcAft>
            </a:pPr>
            <a:r>
              <a:rPr sz="1250" b="1" lang="ja-JP">
                <a:solidFill>
                  <a:srgbClr val="21374A"/>
                </a:solidFill>
                <a:latin typeface="Yu Gothic"/>
                <a:ea typeface="Yu Gothic"/>
              </a:rPr>
              <a:t>影響額</a:t>
            </a:r>
          </a:p>
          <a:p>
            <a:pPr algn="ctr">
              <a:lnSpc>
                <a:spcPts val="1150"/>
              </a:lnSpc>
              <a:spcAft>
                <a:spcPts val="0"/>
              </a:spcAft>
            </a:pPr>
            <a:r>
              <a:rPr sz="1000" b="0" lang="ja-JP">
                <a:solidFill>
                  <a:srgbClr val="566A78"/>
                </a:solidFill>
                <a:latin typeface="Yu Gothic"/>
                <a:ea typeface="Yu Gothic"/>
              </a:rPr>
              <a:t>FinancialEffect</a:t>
            </a:r>
          </a:p>
        </p:txBody>
      </p:sp>
      <p:sp>
        <p:nvSpPr>
          <p:cNvPr id="41" name="Rounded Rectangle 40">
            <a:extLst>
              <a:ext uri="{C183D7F6-B498-43B3-948B-1728B52AA6E4}">
                <adec:decorative xmlns:adec="http://schemas.microsoft.com/office/drawing/2017/decorative" val="1"/>
              </a:ext>
            </a:extLst>
          </p:cNvPr>
          <p:cNvSpPr/>
          <p:nvPr/>
        </p:nvSpPr>
        <p:spPr>
          <a:xfrm>
            <a:off x="8851392" y="3758184"/>
            <a:ext cx="1188720" cy="603504"/>
          </a:xfrm>
          <a:prstGeom prst="roundRect">
            <a:avLst>
              <a:gd name="adj" fmla="val 10606"/>
            </a:avLst>
          </a:prstGeom>
          <a:solidFill>
            <a:srgbClr val="FFFFFF"/>
          </a:solidFill>
          <a:ln w="22225">
            <a:solidFill>
              <a:srgbClr val="1733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8851392" y="3758184"/>
            <a:ext cx="1188720" cy="603504"/>
          </a:xfrm>
          <a:prstGeom prst="rect">
            <a:avLst/>
          </a:prstGeom>
          <a:noFill/>
        </p:spPr>
        <p:txBody>
          <a:bodyPr wrap="square" lIns="0" rIns="0" tIns="0" bIns="0" anchor="ctr">
            <a:spAutoFit/>
          </a:bodyPr>
          <a:lstStyle/>
          <a:p>
            <a:pPr algn="ctr">
              <a:lnSpc>
                <a:spcPts val="1440"/>
              </a:lnSpc>
              <a:spcAft>
                <a:spcPts val="0"/>
              </a:spcAft>
            </a:pPr>
            <a:r>
              <a:rPr sz="1250" b="1" lang="ja-JP">
                <a:solidFill>
                  <a:srgbClr val="21374A"/>
                </a:solidFill>
                <a:latin typeface="Yu Gothic"/>
                <a:ea typeface="Yu Gothic"/>
              </a:rPr>
              <a:t>取引活動</a:t>
            </a:r>
          </a:p>
          <a:p>
            <a:pPr algn="ctr">
              <a:lnSpc>
                <a:spcPts val="1150"/>
              </a:lnSpc>
              <a:spcAft>
                <a:spcPts val="0"/>
              </a:spcAft>
            </a:pPr>
            <a:r>
              <a:rPr sz="1000" b="0" lang="ja-JP">
                <a:solidFill>
                  <a:srgbClr val="566A78"/>
                </a:solidFill>
                <a:latin typeface="Yu Gothic"/>
                <a:ea typeface="Yu Gothic"/>
              </a:rPr>
              <a:t>Activity</a:t>
            </a:r>
          </a:p>
        </p:txBody>
      </p:sp>
      <p:sp>
        <p:nvSpPr>
          <p:cNvPr id="43" name="Rounded Rectangle 42">
            <a:extLst>
              <a:ext uri="{C183D7F6-B498-43B3-948B-1728B52AA6E4}">
                <adec:decorative xmlns:adec="http://schemas.microsoft.com/office/drawing/2017/decorative" val="1"/>
              </a:ext>
            </a:extLst>
          </p:cNvPr>
          <p:cNvSpPr/>
          <p:nvPr/>
        </p:nvSpPr>
        <p:spPr>
          <a:xfrm>
            <a:off x="10442448" y="3758184"/>
            <a:ext cx="1188720" cy="603504"/>
          </a:xfrm>
          <a:prstGeom prst="roundRect">
            <a:avLst>
              <a:gd name="adj" fmla="val 10606"/>
            </a:avLst>
          </a:prstGeom>
          <a:solidFill>
            <a:srgbClr val="FFFFFF"/>
          </a:solidFill>
          <a:ln w="22225">
            <a:solidFill>
              <a:srgbClr val="1733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442448" y="3758184"/>
            <a:ext cx="1188720" cy="603504"/>
          </a:xfrm>
          <a:prstGeom prst="rect">
            <a:avLst/>
          </a:prstGeom>
          <a:noFill/>
        </p:spPr>
        <p:txBody>
          <a:bodyPr wrap="square" lIns="0" rIns="0" tIns="0" bIns="0" anchor="ctr">
            <a:spAutoFit/>
          </a:bodyPr>
          <a:lstStyle/>
          <a:p>
            <a:pPr algn="ctr">
              <a:lnSpc>
                <a:spcPts val="1440"/>
              </a:lnSpc>
              <a:spcAft>
                <a:spcPts val="0"/>
              </a:spcAft>
            </a:pPr>
            <a:r>
              <a:rPr sz="1250" b="1" lang="ja-JP">
                <a:solidFill>
                  <a:srgbClr val="21374A"/>
                </a:solidFill>
                <a:latin typeface="Yu Gothic"/>
                <a:ea typeface="Yu Gothic"/>
              </a:rPr>
              <a:t>契約</a:t>
            </a:r>
          </a:p>
          <a:p>
            <a:pPr algn="ctr">
              <a:lnSpc>
                <a:spcPts val="1150"/>
              </a:lnSpc>
              <a:spcAft>
                <a:spcPts val="0"/>
              </a:spcAft>
            </a:pPr>
            <a:r>
              <a:rPr sz="1000" b="0" lang="ja-JP">
                <a:solidFill>
                  <a:srgbClr val="566A78"/>
                </a:solidFill>
                <a:latin typeface="Yu Gothic"/>
                <a:ea typeface="Yu Gothic"/>
              </a:rPr>
              <a:t>Contract</a:t>
            </a:r>
          </a:p>
        </p:txBody>
      </p:sp>
      <p:sp>
        <p:nvSpPr>
          <p:cNvPr id="45" name="Rounded Rectangle 44">
            <a:extLst>
              <a:ext uri="{C183D7F6-B498-43B3-948B-1728B52AA6E4}">
                <adec:decorative xmlns:adec="http://schemas.microsoft.com/office/drawing/2017/decorative" val="1"/>
              </a:ext>
            </a:extLst>
          </p:cNvPr>
          <p:cNvSpPr/>
          <p:nvPr/>
        </p:nvSpPr>
        <p:spPr>
          <a:xfrm>
            <a:off x="7260336" y="2743200"/>
            <a:ext cx="1188720" cy="603504"/>
          </a:xfrm>
          <a:prstGeom prst="roundRect">
            <a:avLst>
              <a:gd name="adj" fmla="val 10606"/>
            </a:avLst>
          </a:prstGeom>
          <a:solidFill>
            <a:srgbClr val="FFFFFF"/>
          </a:solidFill>
          <a:ln w="22225">
            <a:solidFill>
              <a:srgbClr val="6B7F8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7260336" y="2743200"/>
            <a:ext cx="1188720" cy="603504"/>
          </a:xfrm>
          <a:prstGeom prst="rect">
            <a:avLst/>
          </a:prstGeom>
          <a:noFill/>
        </p:spPr>
        <p:txBody>
          <a:bodyPr wrap="square" lIns="0" rIns="0" tIns="0" bIns="0" anchor="ctr">
            <a:spAutoFit/>
          </a:bodyPr>
          <a:lstStyle/>
          <a:p>
            <a:pPr algn="ctr">
              <a:lnSpc>
                <a:spcPts val="1440"/>
              </a:lnSpc>
              <a:spcAft>
                <a:spcPts val="0"/>
              </a:spcAft>
            </a:pPr>
            <a:r>
              <a:rPr sz="1250" b="1" lang="ja-JP">
                <a:solidFill>
                  <a:srgbClr val="21374A"/>
                </a:solidFill>
                <a:latin typeface="Yu Gothic"/>
                <a:ea typeface="Yu Gothic"/>
              </a:rPr>
              <a:t>根拠</a:t>
            </a:r>
          </a:p>
          <a:p>
            <a:pPr algn="ctr">
              <a:lnSpc>
                <a:spcPts val="1150"/>
              </a:lnSpc>
              <a:spcAft>
                <a:spcPts val="0"/>
              </a:spcAft>
            </a:pPr>
            <a:r>
              <a:rPr sz="1000" b="0" lang="ja-JP">
                <a:solidFill>
                  <a:srgbClr val="566A78"/>
                </a:solidFill>
                <a:latin typeface="Yu Gothic"/>
                <a:ea typeface="Yu Gothic"/>
              </a:rPr>
              <a:t>Evidence</a:t>
            </a:r>
          </a:p>
        </p:txBody>
      </p:sp>
      <p:sp>
        <p:nvSpPr>
          <p:cNvPr id="47" name="Rounded Rectangle 46">
            <a:extLst>
              <a:ext uri="{C183D7F6-B498-43B3-948B-1728B52AA6E4}">
                <adec:decorative xmlns:adec="http://schemas.microsoft.com/office/drawing/2017/decorative" val="1"/>
              </a:ext>
            </a:extLst>
          </p:cNvPr>
          <p:cNvSpPr/>
          <p:nvPr/>
        </p:nvSpPr>
        <p:spPr>
          <a:xfrm>
            <a:off x="10442448" y="2743200"/>
            <a:ext cx="1188720" cy="603504"/>
          </a:xfrm>
          <a:prstGeom prst="roundRect">
            <a:avLst>
              <a:gd name="adj" fmla="val 10606"/>
            </a:avLst>
          </a:prstGeom>
          <a:solidFill>
            <a:srgbClr val="FFFFFF"/>
          </a:solidFill>
          <a:ln w="22225">
            <a:solidFill>
              <a:srgbClr val="087F8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10442448" y="2743200"/>
            <a:ext cx="1188720" cy="603504"/>
          </a:xfrm>
          <a:prstGeom prst="rect">
            <a:avLst/>
          </a:prstGeom>
          <a:noFill/>
        </p:spPr>
        <p:txBody>
          <a:bodyPr wrap="square" lIns="0" rIns="0" tIns="0" bIns="0" anchor="ctr">
            <a:spAutoFit/>
          </a:bodyPr>
          <a:lstStyle/>
          <a:p>
            <a:pPr algn="ctr">
              <a:lnSpc>
                <a:spcPts val="1440"/>
              </a:lnSpc>
              <a:spcAft>
                <a:spcPts val="0"/>
              </a:spcAft>
            </a:pPr>
            <a:r>
              <a:rPr sz="1250" b="1" lang="ja-JP">
                <a:solidFill>
                  <a:srgbClr val="21374A"/>
                </a:solidFill>
                <a:latin typeface="Yu Gothic"/>
                <a:ea typeface="Yu Gothic"/>
              </a:rPr>
              <a:t>会社</a:t>
            </a:r>
          </a:p>
          <a:p>
            <a:pPr algn="ctr">
              <a:lnSpc>
                <a:spcPts val="1150"/>
              </a:lnSpc>
              <a:spcAft>
                <a:spcPts val="0"/>
              </a:spcAft>
            </a:pPr>
            <a:r>
              <a:rPr sz="1000" b="0" lang="ja-JP">
                <a:solidFill>
                  <a:srgbClr val="566A78"/>
                </a:solidFill>
                <a:latin typeface="Yu Gothic"/>
                <a:ea typeface="Yu Gothic"/>
              </a:rPr>
              <a:t>Company</a:t>
            </a:r>
          </a:p>
        </p:txBody>
      </p:sp>
      <p:sp>
        <p:nvSpPr>
          <p:cNvPr id="49" name="Rounded Rectangle 48">
            <a:extLst>
              <a:ext uri="{C183D7F6-B498-43B3-948B-1728B52AA6E4}">
                <adec:decorative xmlns:adec="http://schemas.microsoft.com/office/drawing/2017/decorative" val="1"/>
              </a:ext>
            </a:extLst>
          </p:cNvPr>
          <p:cNvSpPr/>
          <p:nvPr/>
        </p:nvSpPr>
        <p:spPr>
          <a:xfrm>
            <a:off x="7260336" y="4773168"/>
            <a:ext cx="1188720" cy="603504"/>
          </a:xfrm>
          <a:prstGeom prst="roundRect">
            <a:avLst>
              <a:gd name="adj" fmla="val 10606"/>
            </a:avLst>
          </a:prstGeom>
          <a:solidFill>
            <a:srgbClr val="FFFFFF"/>
          </a:solidFill>
          <a:ln w="22225">
            <a:solidFill>
              <a:srgbClr val="087F8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7260336" y="4773168"/>
            <a:ext cx="1188720" cy="603504"/>
          </a:xfrm>
          <a:prstGeom prst="rect">
            <a:avLst/>
          </a:prstGeom>
          <a:noFill/>
        </p:spPr>
        <p:txBody>
          <a:bodyPr wrap="square" lIns="0" rIns="0" tIns="0" bIns="0" anchor="ctr">
            <a:spAutoFit/>
          </a:bodyPr>
          <a:lstStyle/>
          <a:p>
            <a:pPr algn="ctr">
              <a:lnSpc>
                <a:spcPts val="1440"/>
              </a:lnSpc>
              <a:spcAft>
                <a:spcPts val="0"/>
              </a:spcAft>
            </a:pPr>
            <a:r>
              <a:rPr sz="1250" b="1" lang="ja-JP">
                <a:solidFill>
                  <a:srgbClr val="21374A"/>
                </a:solidFill>
                <a:latin typeface="Yu Gothic"/>
                <a:ea typeface="Yu Gothic"/>
              </a:rPr>
              <a:t>日次指標</a:t>
            </a:r>
          </a:p>
          <a:p>
            <a:pPr algn="ctr">
              <a:lnSpc>
                <a:spcPts val="1150"/>
              </a:lnSpc>
              <a:spcAft>
                <a:spcPts val="0"/>
              </a:spcAft>
            </a:pPr>
            <a:r>
              <a:rPr sz="1000" b="0" lang="ja-JP">
                <a:solidFill>
                  <a:srgbClr val="566A78"/>
                </a:solidFill>
                <a:latin typeface="Yu Gothic"/>
                <a:ea typeface="Yu Gothic"/>
              </a:rPr>
              <a:t>FinancialMetric</a:t>
            </a:r>
          </a:p>
        </p:txBody>
      </p:sp>
      <p:sp>
        <p:nvSpPr>
          <p:cNvPr id="51" name="Rounded Rectangle 50">
            <a:extLst>
              <a:ext uri="{C183D7F6-B498-43B3-948B-1728B52AA6E4}">
                <adec:decorative xmlns:adec="http://schemas.microsoft.com/office/drawing/2017/decorative" val="1"/>
              </a:ext>
            </a:extLst>
          </p:cNvPr>
          <p:cNvSpPr/>
          <p:nvPr/>
        </p:nvSpPr>
        <p:spPr>
          <a:xfrm>
            <a:off x="8851392" y="4773168"/>
            <a:ext cx="1188720" cy="603504"/>
          </a:xfrm>
          <a:prstGeom prst="roundRect">
            <a:avLst>
              <a:gd name="adj" fmla="val 10606"/>
            </a:avLst>
          </a:prstGeom>
          <a:solidFill>
            <a:srgbClr val="FFFFFF"/>
          </a:solidFill>
          <a:ln w="22225">
            <a:solidFill>
              <a:srgbClr val="087F8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8851392" y="4773168"/>
            <a:ext cx="1188720" cy="603504"/>
          </a:xfrm>
          <a:prstGeom prst="rect">
            <a:avLst/>
          </a:prstGeom>
          <a:noFill/>
        </p:spPr>
        <p:txBody>
          <a:bodyPr wrap="square" lIns="0" rIns="0" tIns="0" bIns="0" anchor="ctr">
            <a:spAutoFit/>
          </a:bodyPr>
          <a:lstStyle/>
          <a:p>
            <a:pPr algn="ctr">
              <a:lnSpc>
                <a:spcPts val="1440"/>
              </a:lnSpc>
              <a:spcAft>
                <a:spcPts val="0"/>
              </a:spcAft>
            </a:pPr>
            <a:r>
              <a:rPr sz="1250" b="1" lang="ja-JP">
                <a:solidFill>
                  <a:srgbClr val="21374A"/>
                </a:solidFill>
                <a:latin typeface="Yu Gothic"/>
                <a:ea typeface="Yu Gothic"/>
              </a:rPr>
              <a:t>全社KPI</a:t>
            </a:r>
          </a:p>
          <a:p>
            <a:pPr algn="ctr">
              <a:lnSpc>
                <a:spcPts val="1150"/>
              </a:lnSpc>
              <a:spcAft>
                <a:spcPts val="0"/>
              </a:spcAft>
            </a:pPr>
            <a:r>
              <a:rPr sz="1000" b="0" lang="ja-JP">
                <a:solidFill>
                  <a:srgbClr val="566A78"/>
                </a:solidFill>
                <a:latin typeface="Yu Gothic"/>
                <a:ea typeface="Yu Gothic"/>
              </a:rPr>
              <a:t>GroupKPI</a:t>
            </a:r>
          </a:p>
        </p:txBody>
      </p:sp>
      <p:cxnSp>
        <p:nvCxnSpPr>
          <p:cNvPr id="53" name="Connector 52">
            <a:extLst>
              <a:ext uri="{C183D7F6-B498-43B3-948B-1728B52AA6E4}">
                <adec:decorative xmlns:adec="http://schemas.microsoft.com/office/drawing/2017/decorative" val="1"/>
              </a:ext>
            </a:extLst>
          </p:cNvPr>
          <p:cNvCxnSpPr/>
          <p:nvPr/>
        </p:nvCxnSpPr>
        <p:spPr>
          <a:xfrm>
            <a:off x="6885432" y="4059936"/>
            <a:ext cx="347472" cy="0"/>
          </a:xfrm>
          <a:prstGeom prst="line">
            <a:avLst/>
          </a:prstGeom>
          <a:ln w="22225">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775704" y="3785616"/>
            <a:ext cx="566927" cy="201168"/>
          </a:xfrm>
          <a:prstGeom prst="rect">
            <a:avLst/>
          </a:prstGeom>
          <a:noFill/>
        </p:spPr>
        <p:txBody>
          <a:bodyPr wrap="square" lIns="0" rIns="0" tIns="0" bIns="0">
            <a:spAutoFit/>
          </a:bodyPr>
          <a:lstStyle/>
          <a:p>
            <a:pPr algn="ctr">
              <a:lnSpc>
                <a:spcPts val="1000"/>
              </a:lnSpc>
              <a:spcAft>
                <a:spcPts val="0"/>
              </a:spcAft>
            </a:pPr>
            <a:r>
              <a:rPr sz="1000" b="1" lang="ja-JP">
                <a:solidFill>
                  <a:srgbClr val="6B7F8E"/>
                </a:solidFill>
                <a:latin typeface="Yu Gothic"/>
                <a:ea typeface="Yu Gothic"/>
              </a:rPr>
              <a:t>生む</a:t>
            </a:r>
          </a:p>
        </p:txBody>
      </p:sp>
      <p:cxnSp>
        <p:nvCxnSpPr>
          <p:cNvPr id="55" name="Connector 54">
            <a:extLst>
              <a:ext uri="{C183D7F6-B498-43B3-948B-1728B52AA6E4}">
                <adec:decorative xmlns:adec="http://schemas.microsoft.com/office/drawing/2017/decorative" val="1"/>
              </a:ext>
            </a:extLst>
          </p:cNvPr>
          <p:cNvCxnSpPr/>
          <p:nvPr/>
        </p:nvCxnSpPr>
        <p:spPr>
          <a:xfrm>
            <a:off x="8476488" y="4059936"/>
            <a:ext cx="347472" cy="0"/>
          </a:xfrm>
          <a:prstGeom prst="line">
            <a:avLst/>
          </a:prstGeom>
          <a:ln w="22225">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366760" y="3785616"/>
            <a:ext cx="566928" cy="201168"/>
          </a:xfrm>
          <a:prstGeom prst="rect">
            <a:avLst/>
          </a:prstGeom>
          <a:noFill/>
        </p:spPr>
        <p:txBody>
          <a:bodyPr wrap="square" lIns="0" rIns="0" tIns="0" bIns="0">
            <a:spAutoFit/>
          </a:bodyPr>
          <a:lstStyle/>
          <a:p>
            <a:pPr algn="ctr">
              <a:lnSpc>
                <a:spcPts val="1000"/>
              </a:lnSpc>
              <a:spcAft>
                <a:spcPts val="0"/>
              </a:spcAft>
            </a:pPr>
            <a:r>
              <a:rPr sz="1000" b="1" lang="ja-JP">
                <a:solidFill>
                  <a:srgbClr val="6B7F8E"/>
                </a:solidFill>
                <a:latin typeface="Yu Gothic"/>
                <a:ea typeface="Yu Gothic"/>
              </a:rPr>
              <a:t>対象</a:t>
            </a:r>
          </a:p>
        </p:txBody>
      </p:sp>
      <p:cxnSp>
        <p:nvCxnSpPr>
          <p:cNvPr id="57" name="Connector 56">
            <a:extLst>
              <a:ext uri="{C183D7F6-B498-43B3-948B-1728B52AA6E4}">
                <adec:decorative xmlns:adec="http://schemas.microsoft.com/office/drawing/2017/decorative" val="1"/>
              </a:ext>
            </a:extLst>
          </p:cNvPr>
          <p:cNvCxnSpPr/>
          <p:nvPr/>
        </p:nvCxnSpPr>
        <p:spPr>
          <a:xfrm>
            <a:off x="10067544" y="4059936"/>
            <a:ext cx="347472" cy="0"/>
          </a:xfrm>
          <a:prstGeom prst="line">
            <a:avLst/>
          </a:prstGeom>
          <a:ln w="22225">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9957816" y="3785616"/>
            <a:ext cx="566928" cy="201168"/>
          </a:xfrm>
          <a:prstGeom prst="rect">
            <a:avLst/>
          </a:prstGeom>
          <a:noFill/>
        </p:spPr>
        <p:txBody>
          <a:bodyPr wrap="square" lIns="0" rIns="0" tIns="0" bIns="0">
            <a:spAutoFit/>
          </a:bodyPr>
          <a:lstStyle/>
          <a:p>
            <a:pPr algn="ctr">
              <a:lnSpc>
                <a:spcPts val="1000"/>
              </a:lnSpc>
              <a:spcAft>
                <a:spcPts val="0"/>
              </a:spcAft>
            </a:pPr>
            <a:r>
              <a:rPr sz="1000" b="1" lang="ja-JP">
                <a:solidFill>
                  <a:srgbClr val="6B7F8E"/>
                </a:solidFill>
                <a:latin typeface="Yu Gothic"/>
                <a:ea typeface="Yu Gothic"/>
              </a:rPr>
              <a:t>属する</a:t>
            </a:r>
          </a:p>
        </p:txBody>
      </p:sp>
      <p:cxnSp>
        <p:nvCxnSpPr>
          <p:cNvPr id="59" name="Connector 58">
            <a:extLst>
              <a:ext uri="{C183D7F6-B498-43B3-948B-1728B52AA6E4}">
                <adec:decorative xmlns:adec="http://schemas.microsoft.com/office/drawing/2017/decorative" val="1"/>
              </a:ext>
            </a:extLst>
          </p:cNvPr>
          <p:cNvCxnSpPr/>
          <p:nvPr/>
        </p:nvCxnSpPr>
        <p:spPr>
          <a:xfrm>
            <a:off x="8476488" y="5074920"/>
            <a:ext cx="347472" cy="0"/>
          </a:xfrm>
          <a:prstGeom prst="line">
            <a:avLst/>
          </a:prstGeom>
          <a:ln w="22225">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8366760" y="4800600"/>
            <a:ext cx="566928" cy="201168"/>
          </a:xfrm>
          <a:prstGeom prst="rect">
            <a:avLst/>
          </a:prstGeom>
          <a:noFill/>
        </p:spPr>
        <p:txBody>
          <a:bodyPr wrap="square" lIns="0" rIns="0" tIns="0" bIns="0">
            <a:spAutoFit/>
          </a:bodyPr>
          <a:lstStyle/>
          <a:p>
            <a:pPr algn="ctr">
              <a:lnSpc>
                <a:spcPts val="1000"/>
              </a:lnSpc>
              <a:spcAft>
                <a:spcPts val="0"/>
              </a:spcAft>
            </a:pPr>
            <a:r>
              <a:rPr sz="1000" b="1" lang="ja-JP">
                <a:solidFill>
                  <a:srgbClr val="6B7F8E"/>
                </a:solidFill>
                <a:latin typeface="Yu Gothic"/>
                <a:ea typeface="Yu Gothic"/>
              </a:rPr>
              <a:t>集約</a:t>
            </a:r>
          </a:p>
        </p:txBody>
      </p:sp>
      <p:cxnSp>
        <p:nvCxnSpPr>
          <p:cNvPr id="61" name="Connector 60">
            <a:extLst>
              <a:ext uri="{C183D7F6-B498-43B3-948B-1728B52AA6E4}">
                <adec:decorative xmlns:adec="http://schemas.microsoft.com/office/drawing/2017/decorative" val="1"/>
              </a:ext>
            </a:extLst>
          </p:cNvPr>
          <p:cNvCxnSpPr/>
          <p:nvPr/>
        </p:nvCxnSpPr>
        <p:spPr>
          <a:xfrm flipV="1">
            <a:off x="7854696" y="3374136"/>
            <a:ext cx="0" cy="356616"/>
          </a:xfrm>
          <a:prstGeom prst="line">
            <a:avLst/>
          </a:prstGeom>
          <a:ln w="22225">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964423" y="3461003"/>
            <a:ext cx="822960" cy="201168"/>
          </a:xfrm>
          <a:prstGeom prst="rect">
            <a:avLst/>
          </a:prstGeom>
          <a:noFill/>
        </p:spPr>
        <p:txBody>
          <a:bodyPr wrap="square" lIns="0" rIns="0" tIns="0" bIns="0">
            <a:spAutoFit/>
          </a:bodyPr>
          <a:lstStyle/>
          <a:p>
            <a:pPr>
              <a:lnSpc>
                <a:spcPts val="1000"/>
              </a:lnSpc>
              <a:spcAft>
                <a:spcPts val="0"/>
              </a:spcAft>
            </a:pPr>
            <a:r>
              <a:rPr sz="1000" b="1" lang="ja-JP">
                <a:solidFill>
                  <a:srgbClr val="6B7F8E"/>
                </a:solidFill>
                <a:latin typeface="Yu Gothic"/>
                <a:ea typeface="Yu Gothic"/>
              </a:rPr>
              <a:t>根拠で説明</a:t>
            </a:r>
          </a:p>
        </p:txBody>
      </p:sp>
      <p:cxnSp>
        <p:nvCxnSpPr>
          <p:cNvPr id="63" name="Connector 62">
            <a:extLst>
              <a:ext uri="{C183D7F6-B498-43B3-948B-1728B52AA6E4}">
                <adec:decorative xmlns:adec="http://schemas.microsoft.com/office/drawing/2017/decorative" val="1"/>
              </a:ext>
            </a:extLst>
          </p:cNvPr>
          <p:cNvCxnSpPr/>
          <p:nvPr/>
        </p:nvCxnSpPr>
        <p:spPr>
          <a:xfrm>
            <a:off x="7854696" y="4389120"/>
            <a:ext cx="0" cy="356616"/>
          </a:xfrm>
          <a:prstGeom prst="line">
            <a:avLst/>
          </a:prstGeom>
          <a:ln w="22225">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7964423" y="4475988"/>
            <a:ext cx="822960" cy="201168"/>
          </a:xfrm>
          <a:prstGeom prst="rect">
            <a:avLst/>
          </a:prstGeom>
          <a:noFill/>
        </p:spPr>
        <p:txBody>
          <a:bodyPr wrap="square" lIns="0" rIns="0" tIns="0" bIns="0">
            <a:spAutoFit/>
          </a:bodyPr>
          <a:lstStyle/>
          <a:p>
            <a:pPr>
              <a:lnSpc>
                <a:spcPts val="1000"/>
              </a:lnSpc>
              <a:spcAft>
                <a:spcPts val="0"/>
              </a:spcAft>
            </a:pPr>
            <a:r>
              <a:rPr sz="1000" b="1" lang="ja-JP">
                <a:solidFill>
                  <a:srgbClr val="6B7F8E"/>
                </a:solidFill>
                <a:latin typeface="Yu Gothic"/>
                <a:ea typeface="Yu Gothic"/>
              </a:rPr>
              <a:t>反映</a:t>
            </a:r>
          </a:p>
        </p:txBody>
      </p:sp>
      <p:cxnSp>
        <p:nvCxnSpPr>
          <p:cNvPr id="65" name="Connector 64">
            <a:extLst>
              <a:ext uri="{C183D7F6-B498-43B3-948B-1728B52AA6E4}">
                <adec:decorative xmlns:adec="http://schemas.microsoft.com/office/drawing/2017/decorative" val="1"/>
              </a:ext>
            </a:extLst>
          </p:cNvPr>
          <p:cNvCxnSpPr/>
          <p:nvPr/>
        </p:nvCxnSpPr>
        <p:spPr>
          <a:xfrm flipV="1">
            <a:off x="11036808" y="3374136"/>
            <a:ext cx="0" cy="356616"/>
          </a:xfrm>
          <a:prstGeom prst="line">
            <a:avLst/>
          </a:prstGeom>
          <a:ln w="22225">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1146536" y="3461003"/>
            <a:ext cx="822960" cy="201168"/>
          </a:xfrm>
          <a:prstGeom prst="rect">
            <a:avLst/>
          </a:prstGeom>
          <a:noFill/>
        </p:spPr>
        <p:txBody>
          <a:bodyPr wrap="square" lIns="0" rIns="0" tIns="0" bIns="0">
            <a:spAutoFit/>
          </a:bodyPr>
          <a:lstStyle/>
          <a:p>
            <a:pPr>
              <a:lnSpc>
                <a:spcPts val="1000"/>
              </a:lnSpc>
              <a:spcAft>
                <a:spcPts val="0"/>
              </a:spcAft>
            </a:pPr>
            <a:r>
              <a:rPr sz="1000" b="1" lang="ja-JP">
                <a:solidFill>
                  <a:srgbClr val="6B7F8E"/>
                </a:solidFill>
                <a:latin typeface="Yu Gothic"/>
                <a:ea typeface="Yu Gothic"/>
              </a:rPr>
              <a:t>所有者</a:t>
            </a:r>
          </a:p>
        </p:txBody>
      </p:sp>
      <p:sp>
        <p:nvSpPr>
          <p:cNvPr id="67" name="TextBox 66"/>
          <p:cNvSpPr txBox="1"/>
          <p:nvPr/>
        </p:nvSpPr>
        <p:spPr>
          <a:xfrm>
            <a:off x="5715000" y="5394960"/>
            <a:ext cx="5669280" cy="219456"/>
          </a:xfrm>
          <a:prstGeom prst="rect">
            <a:avLst/>
          </a:prstGeom>
          <a:noFill/>
        </p:spPr>
        <p:txBody>
          <a:bodyPr wrap="square" lIns="0" rIns="0" tIns="0" bIns="0">
            <a:spAutoFit/>
          </a:bodyPr>
          <a:lstStyle/>
          <a:p>
            <a:pPr>
              <a:lnSpc>
                <a:spcPts val="1100"/>
              </a:lnSpc>
              <a:spcAft>
                <a:spcPts val="0"/>
              </a:spcAft>
            </a:pPr>
            <a:r>
              <a:rPr sz="1100" b="0" lang="ja-JP">
                <a:solidFill>
                  <a:srgbClr val="566A78"/>
                </a:solidFill>
                <a:latin typeface="Yu Gothic"/>
                <a:ea typeface="Yu Gothic"/>
              </a:rPr>
              <a:t>矢印は関係の向き。全体の一覧は付録2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itle 1"/>
          <p:cNvSpPr>
            <a:spLocks noGrp="1"/>
          </p:cNvSpPr>
          <p:nvPr>
            <p:ph type="title"/>
          </p:nvPr>
        </p:nvSpPr>
        <p:spPr>
          <a:xfrm>
            <a:off x="731520" y="1828800"/>
            <a:ext cx="5486400" cy="1828800"/>
          </a:xfrm>
        </p:spPr>
        <p:txBody>
          <a:bodyPr wrap="square" lIns="0" rIns="0" tIns="0" bIns="0" anchor="t">
            <a:noAutofit/>
          </a:bodyPr>
          <a:lstStyle/>
          <a:p>
            <a:pPr algn="l">
              <a:lnSpc>
                <a:spcPts val="4400"/>
              </a:lnSpc>
              <a:spcAft>
                <a:spcPts val="2800"/>
              </a:spcAft>
            </a:pPr>
            <a:r>
              <a:rPr sz="4400" b="1" lang="ja-JP">
                <a:solidFill>
                  <a:srgbClr val="A9DCD9"/>
                </a:solidFill>
                <a:latin typeface="Yu Gothic"/>
                <a:ea typeface="Yu Gothic"/>
              </a:rPr>
              <a:t>第2章</a:t>
            </a:r>
          </a:p>
          <a:p>
            <a:pPr algn="l">
              <a:lnSpc>
                <a:spcPts val="4000"/>
              </a:lnSpc>
              <a:spcAft>
                <a:spcPts val="0"/>
              </a:spcAft>
            </a:pPr>
            <a:r>
              <a:rPr sz="4000" b="1" lang="ja-JP">
                <a:solidFill>
                  <a:srgbClr val="FFFFFF"/>
                </a:solidFill>
                <a:latin typeface="Yu Gothic"/>
                <a:ea typeface="Yu Gothic"/>
              </a:rPr>
              <a:t>デモで確認</a:t>
            </a:r>
          </a:p>
        </p:txBody>
      </p:sp>
      <p:cxnSp>
        <p:nvCxnSpPr>
          <p:cNvPr id="3" name="Connector 2">
            <a:extLst>
              <a:ext uri="{C183D7F6-B498-43B3-948B-1728B52AA6E4}">
                <adec:decorative xmlns:adec="http://schemas.microsoft.com/office/drawing/2017/decorative" val="1"/>
              </a:ext>
            </a:extLst>
          </p:cNvPr>
          <p:cNvCxnSpPr/>
          <p:nvPr/>
        </p:nvCxnSpPr>
        <p:spPr>
          <a:xfrm flipV="1">
            <a:off x="731519" y="5806440"/>
            <a:ext cx="1188721" cy="38404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a:off x="1920240" y="5806440"/>
            <a:ext cx="1371600" cy="438912"/>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flipV="1">
            <a:off x="3291840" y="5641848"/>
            <a:ext cx="1188719" cy="603504"/>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C183D7F6-B498-43B3-948B-1728B52AA6E4}">
                <adec:decorative xmlns:adec="http://schemas.microsoft.com/office/drawing/2017/decorative" val="1"/>
              </a:ext>
            </a:extLst>
          </p:cNvPr>
          <p:cNvCxnSpPr/>
          <p:nvPr/>
        </p:nvCxnSpPr>
        <p:spPr>
          <a:xfrm>
            <a:off x="4480559" y="5641848"/>
            <a:ext cx="914400" cy="65836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C183D7F6-B498-43B3-948B-1728B52AA6E4}">
                <adec:decorative xmlns:adec="http://schemas.microsoft.com/office/drawing/2017/decorative" val="1"/>
              </a:ext>
            </a:extLst>
          </p:cNvPr>
          <p:cNvCxnSpPr/>
          <p:nvPr/>
        </p:nvCxnSpPr>
        <p:spPr>
          <a:xfrm flipV="1">
            <a:off x="1920240" y="5394960"/>
            <a:ext cx="914400" cy="411480"/>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8" name="Connector 7">
            <a:extLst>
              <a:ext uri="{C183D7F6-B498-43B3-948B-1728B52AA6E4}">
                <adec:decorative xmlns:adec="http://schemas.microsoft.com/office/drawing/2017/decorative" val="1"/>
              </a:ext>
            </a:extLst>
          </p:cNvPr>
          <p:cNvCxnSpPr/>
          <p:nvPr/>
        </p:nvCxnSpPr>
        <p:spPr>
          <a:xfrm>
            <a:off x="2834640" y="5394960"/>
            <a:ext cx="1645919" cy="24688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C183D7F6-B498-43B3-948B-1728B52AA6E4}">
                <adec:decorative xmlns:adec="http://schemas.microsoft.com/office/drawing/2017/decorative" val="1"/>
              </a:ext>
            </a:extLst>
          </p:cNvPr>
          <p:cNvCxnSpPr/>
          <p:nvPr/>
        </p:nvCxnSpPr>
        <p:spPr>
          <a:xfrm>
            <a:off x="3291840" y="6245352"/>
            <a:ext cx="548640" cy="10972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10" name="Connector 9">
            <a:extLst>
              <a:ext uri="{C183D7F6-B498-43B3-948B-1728B52AA6E4}">
                <adec:decorative xmlns:adec="http://schemas.microsoft.com/office/drawing/2017/decorative" val="1"/>
              </a:ext>
            </a:extLst>
          </p:cNvPr>
          <p:cNvCxnSpPr/>
          <p:nvPr/>
        </p:nvCxnSpPr>
        <p:spPr>
          <a:xfrm flipV="1">
            <a:off x="3840480" y="6300216"/>
            <a:ext cx="1554479" cy="54864"/>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sp>
        <p:nvSpPr>
          <p:cNvPr id="11" name="Oval 10">
            <a:extLst>
              <a:ext uri="{C183D7F6-B498-43B3-948B-1728B52AA6E4}">
                <adec:decorative xmlns:adec="http://schemas.microsoft.com/office/drawing/2017/decorative" val="1"/>
              </a:ext>
            </a:extLst>
          </p:cNvPr>
          <p:cNvSpPr/>
          <p:nvPr/>
        </p:nvSpPr>
        <p:spPr>
          <a:xfrm>
            <a:off x="576071" y="6035040"/>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a:extLst>
              <a:ext uri="{C183D7F6-B498-43B3-948B-1728B52AA6E4}">
                <adec:decorative xmlns:adec="http://schemas.microsoft.com/office/drawing/2017/decorative" val="1"/>
              </a:ext>
            </a:extLst>
          </p:cNvPr>
          <p:cNvSpPr/>
          <p:nvPr/>
        </p:nvSpPr>
        <p:spPr>
          <a:xfrm>
            <a:off x="1737360" y="5623560"/>
            <a:ext cx="365760" cy="365760"/>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a:extLst>
              <a:ext uri="{C183D7F6-B498-43B3-948B-1728B52AA6E4}">
                <adec:decorative xmlns:adec="http://schemas.microsoft.com/office/drawing/2017/decorative" val="1"/>
              </a:ext>
            </a:extLst>
          </p:cNvPr>
          <p:cNvSpPr/>
          <p:nvPr/>
        </p:nvSpPr>
        <p:spPr>
          <a:xfrm>
            <a:off x="3081528" y="6035040"/>
            <a:ext cx="420624" cy="420624"/>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a:extLst>
              <a:ext uri="{C183D7F6-B498-43B3-948B-1728B52AA6E4}">
                <adec:decorative xmlns:adec="http://schemas.microsoft.com/office/drawing/2017/decorative" val="1"/>
              </a:ext>
            </a:extLst>
          </p:cNvPr>
          <p:cNvSpPr/>
          <p:nvPr/>
        </p:nvSpPr>
        <p:spPr>
          <a:xfrm>
            <a:off x="4325112" y="5486400"/>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a:extLst>
              <a:ext uri="{C183D7F6-B498-43B3-948B-1728B52AA6E4}">
                <adec:decorative xmlns:adec="http://schemas.microsoft.com/office/drawing/2017/decorative" val="1"/>
              </a:ext>
            </a:extLst>
          </p:cNvPr>
          <p:cNvSpPr/>
          <p:nvPr/>
        </p:nvSpPr>
        <p:spPr>
          <a:xfrm>
            <a:off x="5212079" y="6117336"/>
            <a:ext cx="365760" cy="365760"/>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a:extLst>
              <a:ext uri="{C183D7F6-B498-43B3-948B-1728B52AA6E4}">
                <adec:decorative xmlns:adec="http://schemas.microsoft.com/office/drawing/2017/decorative" val="1"/>
              </a:ext>
            </a:extLst>
          </p:cNvPr>
          <p:cNvSpPr/>
          <p:nvPr/>
        </p:nvSpPr>
        <p:spPr>
          <a:xfrm>
            <a:off x="2624328" y="5184648"/>
            <a:ext cx="420624" cy="420624"/>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a:extLst>
              <a:ext uri="{C183D7F6-B498-43B3-948B-1728B52AA6E4}">
                <adec:decorative xmlns:adec="http://schemas.microsoft.com/office/drawing/2017/decorative" val="1"/>
              </a:ext>
            </a:extLst>
          </p:cNvPr>
          <p:cNvSpPr/>
          <p:nvPr/>
        </p:nvSpPr>
        <p:spPr>
          <a:xfrm>
            <a:off x="3685032" y="6199632"/>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a:extLst>
              <a:ext uri="{C183D7F6-B498-43B3-948B-1728B52AA6E4}">
                <adec:decorative xmlns:adec="http://schemas.microsoft.com/office/drawing/2017/decorative" val="1"/>
              </a:ext>
            </a:extLst>
          </p:cNvPr>
          <p:cNvCxnSpPr/>
          <p:nvPr/>
        </p:nvCxnSpPr>
        <p:spPr>
          <a:xfrm>
            <a:off x="805129" y="776325"/>
            <a:ext cx="304952" cy="94641"/>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19" name="Connector 18">
            <a:extLst>
              <a:ext uri="{C183D7F6-B498-43B3-948B-1728B52AA6E4}">
                <adec:decorative xmlns:adec="http://schemas.microsoft.com/office/drawing/2017/decorative" val="1"/>
              </a:ext>
            </a:extLst>
          </p:cNvPr>
          <p:cNvCxnSpPr/>
          <p:nvPr/>
        </p:nvCxnSpPr>
        <p:spPr>
          <a:xfrm flipH="1">
            <a:off x="910285" y="870966"/>
            <a:ext cx="199796" cy="241858"/>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20" name="Connector 19">
            <a:extLst>
              <a:ext uri="{C183D7F6-B498-43B3-948B-1728B52AA6E4}">
                <adec:decorative xmlns:adec="http://schemas.microsoft.com/office/drawing/2017/decorative" val="1"/>
              </a:ext>
            </a:extLst>
          </p:cNvPr>
          <p:cNvCxnSpPr/>
          <p:nvPr/>
        </p:nvCxnSpPr>
        <p:spPr>
          <a:xfrm>
            <a:off x="805129" y="776325"/>
            <a:ext cx="105156" cy="336499"/>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sp>
        <p:nvSpPr>
          <p:cNvPr id="21" name="Oval 20">
            <a:extLst>
              <a:ext uri="{C183D7F6-B498-43B3-948B-1728B52AA6E4}">
                <adec:decorative xmlns:adec="http://schemas.microsoft.com/office/drawing/2017/decorative" val="1"/>
              </a:ext>
            </a:extLst>
          </p:cNvPr>
          <p:cNvSpPr/>
          <p:nvPr/>
        </p:nvSpPr>
        <p:spPr>
          <a:xfrm>
            <a:off x="736777" y="70797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a:extLst>
              <a:ext uri="{C183D7F6-B498-43B3-948B-1728B52AA6E4}">
                <adec:decorative xmlns:adec="http://schemas.microsoft.com/office/drawing/2017/decorative" val="1"/>
              </a:ext>
            </a:extLst>
          </p:cNvPr>
          <p:cNvSpPr/>
          <p:nvPr/>
        </p:nvSpPr>
        <p:spPr>
          <a:xfrm>
            <a:off x="1041730" y="80261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a:extLst>
              <a:ext uri="{C183D7F6-B498-43B3-948B-1728B52AA6E4}">
                <adec:decorative xmlns:adec="http://schemas.microsoft.com/office/drawing/2017/decorative" val="1"/>
              </a:ext>
            </a:extLst>
          </p:cNvPr>
          <p:cNvSpPr/>
          <p:nvPr/>
        </p:nvSpPr>
        <p:spPr>
          <a:xfrm>
            <a:off x="841933" y="1044473"/>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371600" y="749808"/>
            <a:ext cx="3657600" cy="274320"/>
          </a:xfrm>
          <a:prstGeom prst="rect">
            <a:avLst/>
          </a:prstGeom>
          <a:noFill/>
        </p:spPr>
        <p:txBody>
          <a:bodyPr wrap="square" lIns="0" rIns="0" tIns="0" bIns="0">
            <a:spAutoFit/>
          </a:bodyPr>
          <a:lstStyle/>
          <a:p>
            <a:pPr>
              <a:lnSpc>
                <a:spcPts val="1400"/>
              </a:lnSpc>
              <a:spcAft>
                <a:spcPts val="0"/>
              </a:spcAft>
            </a:pPr>
            <a:r>
              <a:rPr sz="1400" b="1" lang="ja-JP">
                <a:solidFill>
                  <a:srgbClr val="A9DCD9"/>
                </a:solidFill>
                <a:latin typeface="Yu Gothic"/>
                <a:ea typeface="Yu Gothic"/>
              </a:rPr>
              <a:t>章立て</a:t>
            </a:r>
          </a:p>
        </p:txBody>
      </p:sp>
      <p:sp>
        <p:nvSpPr>
          <p:cNvPr id="25" name="TextBox 24"/>
          <p:cNvSpPr txBox="1"/>
          <p:nvPr/>
        </p:nvSpPr>
        <p:spPr>
          <a:xfrm>
            <a:off x="749808" y="4114800"/>
            <a:ext cx="5394960" cy="914400"/>
          </a:xfrm>
          <a:prstGeom prst="rect">
            <a:avLst/>
          </a:prstGeom>
          <a:noFill/>
        </p:spPr>
        <p:txBody>
          <a:bodyPr wrap="square" lIns="0" rIns="0" tIns="0" bIns="0">
            <a:spAutoFit/>
          </a:bodyPr>
          <a:lstStyle/>
          <a:p>
            <a:pPr>
              <a:lnSpc>
                <a:spcPts val="2700"/>
              </a:lnSpc>
              <a:spcAft>
                <a:spcPts val="0"/>
              </a:spcAft>
            </a:pPr>
            <a:r>
              <a:rPr sz="1800" b="0" lang="ja-JP">
                <a:solidFill>
                  <a:srgbClr val="E6EEF2"/>
                </a:solidFill>
                <a:latin typeface="Yu Gothic"/>
                <a:ea typeface="Yu Gothic"/>
              </a:rPr>
              <a:t>架空の総合商社グループで、4つの質問を</a:t>
            </a:r>
          </a:p>
          <a:p>
            <a:pPr>
              <a:lnSpc>
                <a:spcPts val="2700"/>
              </a:lnSpc>
              <a:spcAft>
                <a:spcPts val="0"/>
              </a:spcAft>
            </a:pPr>
            <a:r>
              <a:rPr sz="1800" b="0" lang="ja-JP">
                <a:solidFill>
                  <a:srgbClr val="E6EEF2"/>
                </a:solidFill>
                <a:latin typeface="Yu Gothic"/>
                <a:ea typeface="Yu Gothic"/>
              </a:rPr>
              <a:t>日本語で入力し、答えと根拠を確認します。</a:t>
            </a:r>
          </a:p>
        </p:txBody>
      </p:sp>
      <p:sp>
        <p:nvSpPr>
          <p:cNvPr id="26" name="Rounded Rectangle 25">
            <a:extLst>
              <a:ext uri="{C183D7F6-B498-43B3-948B-1728B52AA6E4}">
                <adec:decorative xmlns:adec="http://schemas.microsoft.com/office/drawing/2017/decorative" val="1"/>
              </a:ext>
            </a:extLst>
          </p:cNvPr>
          <p:cNvSpPr/>
          <p:nvPr/>
        </p:nvSpPr>
        <p:spPr>
          <a:xfrm>
            <a:off x="6537960" y="685800"/>
            <a:ext cx="5102352" cy="4919980"/>
          </a:xfrm>
          <a:prstGeom prst="roundRect">
            <a:avLst>
              <a:gd name="adj" fmla="val 2973"/>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858000" y="960120"/>
            <a:ext cx="4389120" cy="292608"/>
          </a:xfrm>
          <a:prstGeom prst="rect">
            <a:avLst/>
          </a:prstGeom>
          <a:noFill/>
        </p:spPr>
        <p:txBody>
          <a:bodyPr wrap="square" lIns="0" rIns="0" tIns="0" bIns="0">
            <a:spAutoFit/>
          </a:bodyPr>
          <a:lstStyle/>
          <a:p>
            <a:pPr>
              <a:lnSpc>
                <a:spcPts val="1600"/>
              </a:lnSpc>
              <a:spcAft>
                <a:spcPts val="0"/>
              </a:spcAft>
            </a:pPr>
            <a:r>
              <a:rPr sz="1600" b="1" lang="ja-JP">
                <a:solidFill>
                  <a:srgbClr val="087F83"/>
                </a:solidFill>
                <a:latin typeface="Yu Gothic"/>
                <a:ea typeface="Yu Gothic"/>
              </a:rPr>
              <a:t>この章のページ（8枚）</a:t>
            </a:r>
          </a:p>
        </p:txBody>
      </p:sp>
      <p:sp>
        <p:nvSpPr>
          <p:cNvPr id="28" name="TextBox 27"/>
          <p:cNvSpPr txBox="1"/>
          <p:nvPr/>
        </p:nvSpPr>
        <p:spPr>
          <a:xfrm>
            <a:off x="6858000" y="155448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p.9</a:t>
            </a:r>
          </a:p>
        </p:txBody>
      </p:sp>
      <p:sp>
        <p:nvSpPr>
          <p:cNvPr id="29" name="TextBox 28"/>
          <p:cNvSpPr txBox="1"/>
          <p:nvPr/>
        </p:nvSpPr>
        <p:spPr>
          <a:xfrm>
            <a:off x="7543800" y="155448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デモの設定：架空の総合商社グループ</a:t>
            </a:r>
          </a:p>
        </p:txBody>
      </p:sp>
      <p:sp>
        <p:nvSpPr>
          <p:cNvPr id="30" name="TextBox 29"/>
          <p:cNvSpPr txBox="1"/>
          <p:nvPr/>
        </p:nvSpPr>
        <p:spPr>
          <a:xfrm>
            <a:off x="6858000" y="196850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p.10</a:t>
            </a:r>
          </a:p>
        </p:txBody>
      </p:sp>
      <p:sp>
        <p:nvSpPr>
          <p:cNvPr id="31" name="TextBox 30"/>
          <p:cNvSpPr txBox="1"/>
          <p:nvPr/>
        </p:nvSpPr>
        <p:spPr>
          <a:xfrm>
            <a:off x="7543800" y="196850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4つの質問で全体から打ち手まで進む</a:t>
            </a:r>
          </a:p>
        </p:txBody>
      </p:sp>
      <p:sp>
        <p:nvSpPr>
          <p:cNvPr id="32" name="TextBox 31"/>
          <p:cNvSpPr txBox="1"/>
          <p:nvPr/>
        </p:nvSpPr>
        <p:spPr>
          <a:xfrm>
            <a:off x="6858000" y="238252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p.11</a:t>
            </a:r>
          </a:p>
        </p:txBody>
      </p:sp>
      <p:sp>
        <p:nvSpPr>
          <p:cNvPr id="33" name="TextBox 32"/>
          <p:cNvSpPr txBox="1"/>
          <p:nvPr/>
        </p:nvSpPr>
        <p:spPr>
          <a:xfrm>
            <a:off x="7543800" y="2382520"/>
            <a:ext cx="3977639" cy="48056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年間の差は−1.03億円、</a:t>
            </a:r>
            <a:br>
              <a:rPr lang="ja-JP" sz="1400"/>
            </a:br>
            <a:r>
              <a:rPr sz="1400" b="0" lang="ja-JP">
                <a:solidFill>
                  <a:srgbClr val="21374A"/>
                </a:solidFill>
                <a:latin typeface="Yu Gothic"/>
                <a:ea typeface="Yu Gothic"/>
              </a:rPr>
              <a:t>月次の最大差は6.83億円</a:t>
            </a:r>
          </a:p>
        </p:txBody>
      </p:sp>
      <p:sp>
        <p:nvSpPr>
          <p:cNvPr id="34" name="TextBox 33"/>
          <p:cNvSpPr txBox="1"/>
          <p:nvPr/>
        </p:nvSpPr>
        <p:spPr>
          <a:xfrm>
            <a:off x="6858000" y="302768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p.12</a:t>
            </a:r>
          </a:p>
        </p:txBody>
      </p:sp>
      <p:sp>
        <p:nvSpPr>
          <p:cNvPr id="35" name="TextBox 34"/>
          <p:cNvSpPr txBox="1"/>
          <p:nvPr/>
        </p:nvSpPr>
        <p:spPr>
          <a:xfrm>
            <a:off x="7543800" y="3027680"/>
            <a:ext cx="3977639" cy="48056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10件のイベントに分解すると</a:t>
            </a:r>
            <a:br>
              <a:rPr lang="ja-JP" sz="1400"/>
            </a:br>
            <a:r>
              <a:rPr sz="1400" b="0" lang="ja-JP">
                <a:solidFill>
                  <a:srgbClr val="21374A"/>
                </a:solidFill>
                <a:latin typeface="Yu Gothic"/>
                <a:ea typeface="Yu Gothic"/>
              </a:rPr>
              <a:t>増減の中身が見える</a:t>
            </a:r>
          </a:p>
        </p:txBody>
      </p:sp>
      <p:sp>
        <p:nvSpPr>
          <p:cNvPr id="36" name="TextBox 35"/>
          <p:cNvSpPr txBox="1"/>
          <p:nvPr/>
        </p:nvSpPr>
        <p:spPr>
          <a:xfrm>
            <a:off x="6858000" y="367284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p.13</a:t>
            </a:r>
          </a:p>
        </p:txBody>
      </p:sp>
      <p:sp>
        <p:nvSpPr>
          <p:cNvPr id="37" name="TextBox 36"/>
          <p:cNvSpPr txBox="1"/>
          <p:nvPr/>
        </p:nvSpPr>
        <p:spPr>
          <a:xfrm>
            <a:off x="7543800" y="367284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食品損失は6契約に効き、合計−1.14億円</a:t>
            </a:r>
          </a:p>
        </p:txBody>
      </p:sp>
      <p:sp>
        <p:nvSpPr>
          <p:cNvPr id="38" name="TextBox 37"/>
          <p:cNvSpPr txBox="1"/>
          <p:nvPr/>
        </p:nvSpPr>
        <p:spPr>
          <a:xfrm>
            <a:off x="6858000" y="4086859"/>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p.14</a:t>
            </a:r>
          </a:p>
        </p:txBody>
      </p:sp>
      <p:sp>
        <p:nvSpPr>
          <p:cNvPr id="39" name="TextBox 38"/>
          <p:cNvSpPr txBox="1"/>
          <p:nvPr/>
        </p:nvSpPr>
        <p:spPr>
          <a:xfrm>
            <a:off x="7543800" y="4086859"/>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根拠記録から全社KPIまでの経路が見える</a:t>
            </a:r>
          </a:p>
        </p:txBody>
      </p:sp>
      <p:sp>
        <p:nvSpPr>
          <p:cNvPr id="40" name="TextBox 39"/>
          <p:cNvSpPr txBox="1"/>
          <p:nvPr/>
        </p:nvSpPr>
        <p:spPr>
          <a:xfrm>
            <a:off x="6858000" y="4500879"/>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p.15</a:t>
            </a:r>
          </a:p>
        </p:txBody>
      </p:sp>
      <p:sp>
        <p:nvSpPr>
          <p:cNvPr id="41" name="TextBox 40"/>
          <p:cNvSpPr txBox="1"/>
          <p:nvPr/>
        </p:nvSpPr>
        <p:spPr>
          <a:xfrm>
            <a:off x="7543800" y="4500879"/>
            <a:ext cx="3977639" cy="48056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手を打つ契約の候補を、</a:t>
            </a:r>
            <a:br>
              <a:rPr lang="ja-JP" sz="1400"/>
            </a:br>
            <a:r>
              <a:rPr sz="1400" b="0" lang="ja-JP">
                <a:solidFill>
                  <a:srgbClr val="21374A"/>
                </a:solidFill>
                <a:latin typeface="Yu Gothic"/>
                <a:ea typeface="Yu Gothic"/>
              </a:rPr>
              <a:t>優先度つきで一覧にできる</a:t>
            </a:r>
          </a:p>
        </p:txBody>
      </p:sp>
      <p:sp>
        <p:nvSpPr>
          <p:cNvPr id="42" name="TextBox 41"/>
          <p:cNvSpPr txBox="1"/>
          <p:nvPr/>
        </p:nvSpPr>
        <p:spPr>
          <a:xfrm>
            <a:off x="6858000" y="514604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p.16</a:t>
            </a:r>
          </a:p>
        </p:txBody>
      </p:sp>
      <p:sp>
        <p:nvSpPr>
          <p:cNvPr id="43" name="TextBox 42"/>
          <p:cNvSpPr txBox="1"/>
          <p:nvPr/>
        </p:nvSpPr>
        <p:spPr>
          <a:xfrm>
            <a:off x="7543800" y="514604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全社に及ぶイベントも同じ経路で追える</a:t>
            </a:r>
          </a:p>
        </p:txBody>
      </p:sp>
      <p:sp>
        <p:nvSpPr>
          <p:cNvPr id="44" name="TextBox 4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A9DCD9"/>
                </a:solidFill>
                <a:latin typeface="Yu Gothic"/>
                <a:ea typeface="Yu Gothic"/>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デモの設定：架空の総合商社グループ</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第2章 デモで確認  |  デモの設定</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事業、通貨、所有比率が異なる8社の数字を、同じ定義でJPYに揃えて扱う設定です。</a:t>
            </a:r>
          </a:p>
          <a:p>
            <a:pPr>
              <a:lnSpc>
                <a:spcPts val="2160"/>
              </a:lnSpc>
              <a:spcAft>
                <a:spcPts val="0"/>
              </a:spcAft>
            </a:pPr>
            <a:r>
              <a:rPr sz="1600" b="0" lang="ja-JP">
                <a:solidFill>
                  <a:srgbClr val="566A78"/>
                </a:solidFill>
                <a:latin typeface="Yu Gothic"/>
                <a:ea typeface="Yu Gothic"/>
              </a:rPr>
              <a:t>データはすべて架空で、為替だけがECBの公表する実データです。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デモで示すのは分析の進め方です。金額や会社の動きは、実在の企業の実績を表すものではありません。</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09</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6675120"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77240" y="2258568"/>
            <a:ext cx="114300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事業</a:t>
            </a:r>
          </a:p>
        </p:txBody>
      </p:sp>
      <p:sp>
        <p:nvSpPr>
          <p:cNvPr id="17" name="TextBox 16"/>
          <p:cNvSpPr txBox="1"/>
          <p:nvPr/>
        </p:nvSpPr>
        <p:spPr>
          <a:xfrm>
            <a:off x="1920240" y="2258568"/>
            <a:ext cx="301752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会社名</a:t>
            </a:r>
          </a:p>
        </p:txBody>
      </p:sp>
      <p:sp>
        <p:nvSpPr>
          <p:cNvPr id="18" name="TextBox 17"/>
          <p:cNvSpPr txBox="1"/>
          <p:nvPr/>
        </p:nvSpPr>
        <p:spPr>
          <a:xfrm>
            <a:off x="4983479" y="2258568"/>
            <a:ext cx="123444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国／通貨</a:t>
            </a:r>
          </a:p>
        </p:txBody>
      </p:sp>
      <p:sp>
        <p:nvSpPr>
          <p:cNvPr id="19" name="TextBox 18"/>
          <p:cNvSpPr txBox="1"/>
          <p:nvPr/>
        </p:nvSpPr>
        <p:spPr>
          <a:xfrm>
            <a:off x="6309359" y="2258568"/>
            <a:ext cx="77724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所有比率</a:t>
            </a:r>
          </a:p>
        </p:txBody>
      </p:sp>
      <p:sp>
        <p:nvSpPr>
          <p:cNvPr id="20" name="TextBox 19"/>
          <p:cNvSpPr txBox="1"/>
          <p:nvPr/>
        </p:nvSpPr>
        <p:spPr>
          <a:xfrm>
            <a:off x="777240" y="2596896"/>
            <a:ext cx="1143000" cy="310896"/>
          </a:xfrm>
          <a:prstGeom prst="rect">
            <a:avLst/>
          </a:prstGeom>
          <a:noFill/>
        </p:spPr>
        <p:txBody>
          <a:bodyPr wrap="square" lIns="0" rIns="0" tIns="0" bIns="0" anchor="ctr">
            <a:spAutoFit/>
          </a:bodyPr>
          <a:lstStyle/>
          <a:p>
            <a:pPr>
              <a:lnSpc>
                <a:spcPts val="1300"/>
              </a:lnSpc>
              <a:spcAft>
                <a:spcPts val="0"/>
              </a:spcAft>
            </a:pPr>
            <a:r>
              <a:rPr sz="1300" b="1" lang="ja-JP">
                <a:solidFill>
                  <a:srgbClr val="087F83"/>
                </a:solidFill>
                <a:latin typeface="Yu Gothic"/>
                <a:ea typeface="Yu Gothic"/>
              </a:rPr>
              <a:t>金属</a:t>
            </a:r>
          </a:p>
        </p:txBody>
      </p:sp>
      <p:sp>
        <p:nvSpPr>
          <p:cNvPr id="21" name="TextBox 20"/>
          <p:cNvSpPr txBox="1"/>
          <p:nvPr/>
        </p:nvSpPr>
        <p:spPr>
          <a:xfrm>
            <a:off x="1920240" y="2596896"/>
            <a:ext cx="3017520" cy="310896"/>
          </a:xfrm>
          <a:prstGeom prst="rect">
            <a:avLst/>
          </a:prstGeom>
          <a:noFill/>
        </p:spPr>
        <p:txBody>
          <a:bodyPr wrap="square" lIns="0" rIns="0" tIns="0" bIns="0" anchor="ctr">
            <a:spAutoFit/>
          </a:bodyPr>
          <a:lstStyle/>
          <a:p>
            <a:pPr>
              <a:lnSpc>
                <a:spcPts val="1300"/>
              </a:lnSpc>
              <a:spcAft>
                <a:spcPts val="0"/>
              </a:spcAft>
            </a:pPr>
            <a:r>
              <a:rPr sz="1300" b="1" lang="ja-JP">
                <a:solidFill>
                  <a:srgbClr val="17334A"/>
                </a:solidFill>
                <a:latin typeface="Yu Gothic"/>
                <a:ea typeface="Yu Gothic"/>
              </a:rPr>
              <a:t>Veltrona Metals Japan KK</a:t>
            </a:r>
          </a:p>
        </p:txBody>
      </p:sp>
      <p:sp>
        <p:nvSpPr>
          <p:cNvPr id="22" name="TextBox 21"/>
          <p:cNvSpPr txBox="1"/>
          <p:nvPr/>
        </p:nvSpPr>
        <p:spPr>
          <a:xfrm>
            <a:off x="4983479" y="2596896"/>
            <a:ext cx="1234440" cy="310896"/>
          </a:xfrm>
          <a:prstGeom prst="rect">
            <a:avLst/>
          </a:prstGeom>
          <a:noFill/>
        </p:spPr>
        <p:txBody>
          <a:bodyPr wrap="square" lIns="0" rIns="0" tIns="0" bIns="0" anchor="ctr">
            <a:spAutoFit/>
          </a:bodyPr>
          <a:lstStyle/>
          <a:p>
            <a:pPr>
              <a:lnSpc>
                <a:spcPts val="1300"/>
              </a:lnSpc>
              <a:spcAft>
                <a:spcPts val="0"/>
              </a:spcAft>
            </a:pPr>
            <a:r>
              <a:rPr sz="1300" b="0" lang="ja-JP">
                <a:solidFill>
                  <a:srgbClr val="21374A"/>
                </a:solidFill>
                <a:latin typeface="Yu Gothic"/>
                <a:ea typeface="Yu Gothic"/>
              </a:rPr>
              <a:t>日本／JPY</a:t>
            </a:r>
          </a:p>
        </p:txBody>
      </p:sp>
      <p:sp>
        <p:nvSpPr>
          <p:cNvPr id="23" name="TextBox 22"/>
          <p:cNvSpPr txBox="1"/>
          <p:nvPr/>
        </p:nvSpPr>
        <p:spPr>
          <a:xfrm>
            <a:off x="6309359" y="2596896"/>
            <a:ext cx="777240" cy="310896"/>
          </a:xfrm>
          <a:prstGeom prst="rect">
            <a:avLst/>
          </a:prstGeom>
          <a:noFill/>
        </p:spPr>
        <p:txBody>
          <a:bodyPr wrap="square" lIns="0" rIns="0" tIns="0" bIns="0" anchor="ctr">
            <a:spAutoFit/>
          </a:bodyPr>
          <a:lstStyle/>
          <a:p>
            <a:pPr>
              <a:lnSpc>
                <a:spcPts val="1300"/>
              </a:lnSpc>
              <a:spcAft>
                <a:spcPts val="0"/>
              </a:spcAft>
            </a:pPr>
            <a:r>
              <a:rPr sz="1300" b="1" lang="ja-JP">
                <a:solidFill>
                  <a:srgbClr val="21374A"/>
                </a:solidFill>
                <a:latin typeface="Yu Gothic"/>
                <a:ea typeface="Yu Gothic"/>
              </a:rPr>
              <a:t>100%</a:t>
            </a:r>
          </a:p>
        </p:txBody>
      </p:sp>
      <p:sp>
        <p:nvSpPr>
          <p:cNvPr id="24" name="TextBox 23"/>
          <p:cNvSpPr txBox="1"/>
          <p:nvPr/>
        </p:nvSpPr>
        <p:spPr>
          <a:xfrm>
            <a:off x="777240" y="2980944"/>
            <a:ext cx="1143000" cy="310896"/>
          </a:xfrm>
          <a:prstGeom prst="rect">
            <a:avLst/>
          </a:prstGeom>
          <a:noFill/>
        </p:spPr>
        <p:txBody>
          <a:bodyPr wrap="square" lIns="0" rIns="0" tIns="0" bIns="0" anchor="ctr">
            <a:spAutoFit/>
          </a:bodyPr>
          <a:lstStyle/>
          <a:p>
            <a:pPr>
              <a:lnSpc>
                <a:spcPts val="1300"/>
              </a:lnSpc>
              <a:spcAft>
                <a:spcPts val="0"/>
              </a:spcAft>
            </a:pPr>
            <a:r>
              <a:rPr sz="1300" b="1" lang="ja-JP">
                <a:solidFill>
                  <a:srgbClr val="087F83"/>
                </a:solidFill>
                <a:latin typeface="Yu Gothic"/>
                <a:ea typeface="Yu Gothic"/>
              </a:rPr>
              <a:t>金属</a:t>
            </a:r>
          </a:p>
        </p:txBody>
      </p:sp>
      <p:sp>
        <p:nvSpPr>
          <p:cNvPr id="25" name="TextBox 24"/>
          <p:cNvSpPr txBox="1"/>
          <p:nvPr/>
        </p:nvSpPr>
        <p:spPr>
          <a:xfrm>
            <a:off x="1920240" y="2980944"/>
            <a:ext cx="3017520" cy="310896"/>
          </a:xfrm>
          <a:prstGeom prst="rect">
            <a:avLst/>
          </a:prstGeom>
          <a:noFill/>
        </p:spPr>
        <p:txBody>
          <a:bodyPr wrap="square" lIns="0" rIns="0" tIns="0" bIns="0" anchor="ctr">
            <a:spAutoFit/>
          </a:bodyPr>
          <a:lstStyle/>
          <a:p>
            <a:pPr>
              <a:lnSpc>
                <a:spcPts val="1300"/>
              </a:lnSpc>
              <a:spcAft>
                <a:spcPts val="0"/>
              </a:spcAft>
            </a:pPr>
            <a:r>
              <a:rPr sz="1300" b="1" lang="ja-JP">
                <a:solidFill>
                  <a:srgbClr val="17334A"/>
                </a:solidFill>
                <a:latin typeface="Yu Gothic"/>
                <a:ea typeface="Yu Gothic"/>
              </a:rPr>
              <a:t>Veltrona Metals USA Inc.</a:t>
            </a:r>
          </a:p>
        </p:txBody>
      </p:sp>
      <p:sp>
        <p:nvSpPr>
          <p:cNvPr id="26" name="TextBox 25"/>
          <p:cNvSpPr txBox="1"/>
          <p:nvPr/>
        </p:nvSpPr>
        <p:spPr>
          <a:xfrm>
            <a:off x="4983479" y="2980944"/>
            <a:ext cx="1234440" cy="310896"/>
          </a:xfrm>
          <a:prstGeom prst="rect">
            <a:avLst/>
          </a:prstGeom>
          <a:noFill/>
        </p:spPr>
        <p:txBody>
          <a:bodyPr wrap="square" lIns="0" rIns="0" tIns="0" bIns="0" anchor="ctr">
            <a:spAutoFit/>
          </a:bodyPr>
          <a:lstStyle/>
          <a:p>
            <a:pPr>
              <a:lnSpc>
                <a:spcPts val="1300"/>
              </a:lnSpc>
              <a:spcAft>
                <a:spcPts val="0"/>
              </a:spcAft>
            </a:pPr>
            <a:r>
              <a:rPr sz="1300" b="0" lang="ja-JP">
                <a:solidFill>
                  <a:srgbClr val="21374A"/>
                </a:solidFill>
                <a:latin typeface="Yu Gothic"/>
                <a:ea typeface="Yu Gothic"/>
              </a:rPr>
              <a:t>米国／USD</a:t>
            </a:r>
          </a:p>
        </p:txBody>
      </p:sp>
      <p:sp>
        <p:nvSpPr>
          <p:cNvPr id="27" name="TextBox 26"/>
          <p:cNvSpPr txBox="1"/>
          <p:nvPr/>
        </p:nvSpPr>
        <p:spPr>
          <a:xfrm>
            <a:off x="6309359" y="2980944"/>
            <a:ext cx="777240" cy="310896"/>
          </a:xfrm>
          <a:prstGeom prst="rect">
            <a:avLst/>
          </a:prstGeom>
          <a:noFill/>
        </p:spPr>
        <p:txBody>
          <a:bodyPr wrap="square" lIns="0" rIns="0" tIns="0" bIns="0" anchor="ctr">
            <a:spAutoFit/>
          </a:bodyPr>
          <a:lstStyle/>
          <a:p>
            <a:pPr>
              <a:lnSpc>
                <a:spcPts val="1300"/>
              </a:lnSpc>
              <a:spcAft>
                <a:spcPts val="0"/>
              </a:spcAft>
            </a:pPr>
            <a:r>
              <a:rPr sz="1300" b="1" lang="ja-JP">
                <a:solidFill>
                  <a:srgbClr val="21374A"/>
                </a:solidFill>
                <a:latin typeface="Yu Gothic"/>
                <a:ea typeface="Yu Gothic"/>
              </a:rPr>
              <a:t>51%</a:t>
            </a:r>
          </a:p>
        </p:txBody>
      </p:sp>
      <p:sp>
        <p:nvSpPr>
          <p:cNvPr id="28" name="Rounded Rectangle 27">
            <a:extLst>
              <a:ext uri="{C183D7F6-B498-43B3-948B-1728B52AA6E4}">
                <adec:decorative xmlns:adec="http://schemas.microsoft.com/office/drawing/2017/decorative" val="1"/>
              </a:ext>
            </a:extLst>
          </p:cNvPr>
          <p:cNvSpPr/>
          <p:nvPr/>
        </p:nvSpPr>
        <p:spPr>
          <a:xfrm>
            <a:off x="621792" y="3328415"/>
            <a:ext cx="6528816" cy="365760"/>
          </a:xfrm>
          <a:prstGeom prst="roundRect">
            <a:avLst>
              <a:gd name="adj" fmla="val 15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77240" y="3364991"/>
            <a:ext cx="1143000" cy="310896"/>
          </a:xfrm>
          <a:prstGeom prst="rect">
            <a:avLst/>
          </a:prstGeom>
          <a:noFill/>
        </p:spPr>
        <p:txBody>
          <a:bodyPr wrap="square" lIns="0" rIns="0" tIns="0" bIns="0" anchor="ctr">
            <a:spAutoFit/>
          </a:bodyPr>
          <a:lstStyle/>
          <a:p>
            <a:pPr>
              <a:lnSpc>
                <a:spcPts val="1300"/>
              </a:lnSpc>
              <a:spcAft>
                <a:spcPts val="0"/>
              </a:spcAft>
            </a:pPr>
            <a:r>
              <a:rPr sz="1300" b="1" lang="ja-JP">
                <a:solidFill>
                  <a:srgbClr val="087F83"/>
                </a:solidFill>
                <a:latin typeface="Yu Gothic"/>
                <a:ea typeface="Yu Gothic"/>
              </a:rPr>
              <a:t>エネルギー</a:t>
            </a:r>
          </a:p>
        </p:txBody>
      </p:sp>
      <p:sp>
        <p:nvSpPr>
          <p:cNvPr id="30" name="TextBox 29"/>
          <p:cNvSpPr txBox="1"/>
          <p:nvPr/>
        </p:nvSpPr>
        <p:spPr>
          <a:xfrm>
            <a:off x="1920240" y="3364991"/>
            <a:ext cx="3017520" cy="310896"/>
          </a:xfrm>
          <a:prstGeom prst="rect">
            <a:avLst/>
          </a:prstGeom>
          <a:noFill/>
        </p:spPr>
        <p:txBody>
          <a:bodyPr wrap="square" lIns="0" rIns="0" tIns="0" bIns="0" anchor="ctr">
            <a:spAutoFit/>
          </a:bodyPr>
          <a:lstStyle/>
          <a:p>
            <a:pPr>
              <a:lnSpc>
                <a:spcPts val="1300"/>
              </a:lnSpc>
              <a:spcAft>
                <a:spcPts val="0"/>
              </a:spcAft>
            </a:pPr>
            <a:r>
              <a:rPr sz="1300" b="1" lang="ja-JP">
                <a:solidFill>
                  <a:srgbClr val="17334A"/>
                </a:solidFill>
                <a:latin typeface="Yu Gothic"/>
                <a:ea typeface="Yu Gothic"/>
              </a:rPr>
              <a:t>Orivexa Energy Japan KK</a:t>
            </a:r>
          </a:p>
        </p:txBody>
      </p:sp>
      <p:sp>
        <p:nvSpPr>
          <p:cNvPr id="31" name="TextBox 30"/>
          <p:cNvSpPr txBox="1"/>
          <p:nvPr/>
        </p:nvSpPr>
        <p:spPr>
          <a:xfrm>
            <a:off x="4983479" y="3364991"/>
            <a:ext cx="1234440" cy="310896"/>
          </a:xfrm>
          <a:prstGeom prst="rect">
            <a:avLst/>
          </a:prstGeom>
          <a:noFill/>
        </p:spPr>
        <p:txBody>
          <a:bodyPr wrap="square" lIns="0" rIns="0" tIns="0" bIns="0" anchor="ctr">
            <a:spAutoFit/>
          </a:bodyPr>
          <a:lstStyle/>
          <a:p>
            <a:pPr>
              <a:lnSpc>
                <a:spcPts val="1300"/>
              </a:lnSpc>
              <a:spcAft>
                <a:spcPts val="0"/>
              </a:spcAft>
            </a:pPr>
            <a:r>
              <a:rPr sz="1300" b="0" lang="ja-JP">
                <a:solidFill>
                  <a:srgbClr val="21374A"/>
                </a:solidFill>
                <a:latin typeface="Yu Gothic"/>
                <a:ea typeface="Yu Gothic"/>
              </a:rPr>
              <a:t>日本／JPY</a:t>
            </a:r>
          </a:p>
        </p:txBody>
      </p:sp>
      <p:sp>
        <p:nvSpPr>
          <p:cNvPr id="32" name="TextBox 31"/>
          <p:cNvSpPr txBox="1"/>
          <p:nvPr/>
        </p:nvSpPr>
        <p:spPr>
          <a:xfrm>
            <a:off x="6309359" y="3364991"/>
            <a:ext cx="777240" cy="310896"/>
          </a:xfrm>
          <a:prstGeom prst="rect">
            <a:avLst/>
          </a:prstGeom>
          <a:noFill/>
        </p:spPr>
        <p:txBody>
          <a:bodyPr wrap="square" lIns="0" rIns="0" tIns="0" bIns="0" anchor="ctr">
            <a:spAutoFit/>
          </a:bodyPr>
          <a:lstStyle/>
          <a:p>
            <a:pPr>
              <a:lnSpc>
                <a:spcPts val="1300"/>
              </a:lnSpc>
              <a:spcAft>
                <a:spcPts val="0"/>
              </a:spcAft>
            </a:pPr>
            <a:r>
              <a:rPr sz="1300" b="1" lang="ja-JP">
                <a:solidFill>
                  <a:srgbClr val="21374A"/>
                </a:solidFill>
                <a:latin typeface="Yu Gothic"/>
                <a:ea typeface="Yu Gothic"/>
              </a:rPr>
              <a:t>100%</a:t>
            </a:r>
          </a:p>
        </p:txBody>
      </p:sp>
      <p:sp>
        <p:nvSpPr>
          <p:cNvPr id="33" name="Rounded Rectangle 32">
            <a:extLst>
              <a:ext uri="{C183D7F6-B498-43B3-948B-1728B52AA6E4}">
                <adec:decorative xmlns:adec="http://schemas.microsoft.com/office/drawing/2017/decorative" val="1"/>
              </a:ext>
            </a:extLst>
          </p:cNvPr>
          <p:cNvSpPr/>
          <p:nvPr/>
        </p:nvSpPr>
        <p:spPr>
          <a:xfrm>
            <a:off x="621792" y="3712464"/>
            <a:ext cx="6528816" cy="365760"/>
          </a:xfrm>
          <a:prstGeom prst="roundRect">
            <a:avLst>
              <a:gd name="adj" fmla="val 15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77240" y="3749039"/>
            <a:ext cx="1143000" cy="310896"/>
          </a:xfrm>
          <a:prstGeom prst="rect">
            <a:avLst/>
          </a:prstGeom>
          <a:noFill/>
        </p:spPr>
        <p:txBody>
          <a:bodyPr wrap="square" lIns="0" rIns="0" tIns="0" bIns="0" anchor="ctr">
            <a:spAutoFit/>
          </a:bodyPr>
          <a:lstStyle/>
          <a:p>
            <a:pPr>
              <a:lnSpc>
                <a:spcPts val="1300"/>
              </a:lnSpc>
              <a:spcAft>
                <a:spcPts val="0"/>
              </a:spcAft>
            </a:pPr>
            <a:r>
              <a:rPr sz="1300" b="1" lang="ja-JP">
                <a:solidFill>
                  <a:srgbClr val="087F83"/>
                </a:solidFill>
                <a:latin typeface="Yu Gothic"/>
                <a:ea typeface="Yu Gothic"/>
              </a:rPr>
              <a:t>エネルギー</a:t>
            </a:r>
          </a:p>
        </p:txBody>
      </p:sp>
      <p:sp>
        <p:nvSpPr>
          <p:cNvPr id="35" name="TextBox 34"/>
          <p:cNvSpPr txBox="1"/>
          <p:nvPr/>
        </p:nvSpPr>
        <p:spPr>
          <a:xfrm>
            <a:off x="1920240" y="3749039"/>
            <a:ext cx="3017520" cy="310896"/>
          </a:xfrm>
          <a:prstGeom prst="rect">
            <a:avLst/>
          </a:prstGeom>
          <a:noFill/>
        </p:spPr>
        <p:txBody>
          <a:bodyPr wrap="square" lIns="0" rIns="0" tIns="0" bIns="0" anchor="ctr">
            <a:spAutoFit/>
          </a:bodyPr>
          <a:lstStyle/>
          <a:p>
            <a:pPr>
              <a:lnSpc>
                <a:spcPts val="1300"/>
              </a:lnSpc>
              <a:spcAft>
                <a:spcPts val="0"/>
              </a:spcAft>
            </a:pPr>
            <a:r>
              <a:rPr sz="1300" b="1" lang="ja-JP">
                <a:solidFill>
                  <a:srgbClr val="17334A"/>
                </a:solidFill>
                <a:latin typeface="Yu Gothic"/>
                <a:ea typeface="Yu Gothic"/>
              </a:rPr>
              <a:t>Orivexa Energy USA Inc.</a:t>
            </a:r>
          </a:p>
        </p:txBody>
      </p:sp>
      <p:sp>
        <p:nvSpPr>
          <p:cNvPr id="36" name="TextBox 35"/>
          <p:cNvSpPr txBox="1"/>
          <p:nvPr/>
        </p:nvSpPr>
        <p:spPr>
          <a:xfrm>
            <a:off x="4983479" y="3749039"/>
            <a:ext cx="1234440" cy="310896"/>
          </a:xfrm>
          <a:prstGeom prst="rect">
            <a:avLst/>
          </a:prstGeom>
          <a:noFill/>
        </p:spPr>
        <p:txBody>
          <a:bodyPr wrap="square" lIns="0" rIns="0" tIns="0" bIns="0" anchor="ctr">
            <a:spAutoFit/>
          </a:bodyPr>
          <a:lstStyle/>
          <a:p>
            <a:pPr>
              <a:lnSpc>
                <a:spcPts val="1300"/>
              </a:lnSpc>
              <a:spcAft>
                <a:spcPts val="0"/>
              </a:spcAft>
            </a:pPr>
            <a:r>
              <a:rPr sz="1300" b="0" lang="ja-JP">
                <a:solidFill>
                  <a:srgbClr val="21374A"/>
                </a:solidFill>
                <a:latin typeface="Yu Gothic"/>
                <a:ea typeface="Yu Gothic"/>
              </a:rPr>
              <a:t>米国／USD</a:t>
            </a:r>
          </a:p>
        </p:txBody>
      </p:sp>
      <p:sp>
        <p:nvSpPr>
          <p:cNvPr id="37" name="TextBox 36"/>
          <p:cNvSpPr txBox="1"/>
          <p:nvPr/>
        </p:nvSpPr>
        <p:spPr>
          <a:xfrm>
            <a:off x="6309359" y="3749039"/>
            <a:ext cx="777240" cy="310896"/>
          </a:xfrm>
          <a:prstGeom prst="rect">
            <a:avLst/>
          </a:prstGeom>
          <a:noFill/>
        </p:spPr>
        <p:txBody>
          <a:bodyPr wrap="square" lIns="0" rIns="0" tIns="0" bIns="0" anchor="ctr">
            <a:spAutoFit/>
          </a:bodyPr>
          <a:lstStyle/>
          <a:p>
            <a:pPr>
              <a:lnSpc>
                <a:spcPts val="1300"/>
              </a:lnSpc>
              <a:spcAft>
                <a:spcPts val="0"/>
              </a:spcAft>
            </a:pPr>
            <a:r>
              <a:rPr sz="1300" b="1" lang="ja-JP">
                <a:solidFill>
                  <a:srgbClr val="21374A"/>
                </a:solidFill>
                <a:latin typeface="Yu Gothic"/>
                <a:ea typeface="Yu Gothic"/>
              </a:rPr>
              <a:t>51%</a:t>
            </a:r>
          </a:p>
        </p:txBody>
      </p:sp>
      <p:sp>
        <p:nvSpPr>
          <p:cNvPr id="38" name="TextBox 37"/>
          <p:cNvSpPr txBox="1"/>
          <p:nvPr/>
        </p:nvSpPr>
        <p:spPr>
          <a:xfrm>
            <a:off x="777240" y="4133087"/>
            <a:ext cx="1143000" cy="310896"/>
          </a:xfrm>
          <a:prstGeom prst="rect">
            <a:avLst/>
          </a:prstGeom>
          <a:noFill/>
        </p:spPr>
        <p:txBody>
          <a:bodyPr wrap="square" lIns="0" rIns="0" tIns="0" bIns="0" anchor="ctr">
            <a:spAutoFit/>
          </a:bodyPr>
          <a:lstStyle/>
          <a:p>
            <a:pPr>
              <a:lnSpc>
                <a:spcPts val="1300"/>
              </a:lnSpc>
              <a:spcAft>
                <a:spcPts val="0"/>
              </a:spcAft>
            </a:pPr>
            <a:r>
              <a:rPr sz="1300" b="1" lang="ja-JP">
                <a:solidFill>
                  <a:srgbClr val="087F83"/>
                </a:solidFill>
                <a:latin typeface="Yu Gothic"/>
                <a:ea typeface="Yu Gothic"/>
              </a:rPr>
              <a:t>食品</a:t>
            </a:r>
          </a:p>
        </p:txBody>
      </p:sp>
      <p:sp>
        <p:nvSpPr>
          <p:cNvPr id="39" name="TextBox 38"/>
          <p:cNvSpPr txBox="1"/>
          <p:nvPr/>
        </p:nvSpPr>
        <p:spPr>
          <a:xfrm>
            <a:off x="1920240" y="4133087"/>
            <a:ext cx="3017520" cy="310896"/>
          </a:xfrm>
          <a:prstGeom prst="rect">
            <a:avLst/>
          </a:prstGeom>
          <a:noFill/>
        </p:spPr>
        <p:txBody>
          <a:bodyPr wrap="square" lIns="0" rIns="0" tIns="0" bIns="0" anchor="ctr">
            <a:spAutoFit/>
          </a:bodyPr>
          <a:lstStyle/>
          <a:p>
            <a:pPr>
              <a:lnSpc>
                <a:spcPts val="1300"/>
              </a:lnSpc>
              <a:spcAft>
                <a:spcPts val="0"/>
              </a:spcAft>
            </a:pPr>
            <a:r>
              <a:rPr sz="1300" b="1" lang="ja-JP">
                <a:solidFill>
                  <a:srgbClr val="17334A"/>
                </a:solidFill>
                <a:latin typeface="Yu Gothic"/>
                <a:ea typeface="Yu Gothic"/>
              </a:rPr>
              <a:t>Caldriva Foods Japan KK</a:t>
            </a:r>
          </a:p>
        </p:txBody>
      </p:sp>
      <p:sp>
        <p:nvSpPr>
          <p:cNvPr id="40" name="TextBox 39"/>
          <p:cNvSpPr txBox="1"/>
          <p:nvPr/>
        </p:nvSpPr>
        <p:spPr>
          <a:xfrm>
            <a:off x="4983479" y="4133087"/>
            <a:ext cx="1234440" cy="310896"/>
          </a:xfrm>
          <a:prstGeom prst="rect">
            <a:avLst/>
          </a:prstGeom>
          <a:noFill/>
        </p:spPr>
        <p:txBody>
          <a:bodyPr wrap="square" lIns="0" rIns="0" tIns="0" bIns="0" anchor="ctr">
            <a:spAutoFit/>
          </a:bodyPr>
          <a:lstStyle/>
          <a:p>
            <a:pPr>
              <a:lnSpc>
                <a:spcPts val="1300"/>
              </a:lnSpc>
              <a:spcAft>
                <a:spcPts val="0"/>
              </a:spcAft>
            </a:pPr>
            <a:r>
              <a:rPr sz="1300" b="0" lang="ja-JP">
                <a:solidFill>
                  <a:srgbClr val="21374A"/>
                </a:solidFill>
                <a:latin typeface="Yu Gothic"/>
                <a:ea typeface="Yu Gothic"/>
              </a:rPr>
              <a:t>日本／JPY</a:t>
            </a:r>
          </a:p>
        </p:txBody>
      </p:sp>
      <p:sp>
        <p:nvSpPr>
          <p:cNvPr id="41" name="TextBox 40"/>
          <p:cNvSpPr txBox="1"/>
          <p:nvPr/>
        </p:nvSpPr>
        <p:spPr>
          <a:xfrm>
            <a:off x="6309359" y="4133087"/>
            <a:ext cx="777240" cy="310896"/>
          </a:xfrm>
          <a:prstGeom prst="rect">
            <a:avLst/>
          </a:prstGeom>
          <a:noFill/>
        </p:spPr>
        <p:txBody>
          <a:bodyPr wrap="square" lIns="0" rIns="0" tIns="0" bIns="0" anchor="ctr">
            <a:spAutoFit/>
          </a:bodyPr>
          <a:lstStyle/>
          <a:p>
            <a:pPr>
              <a:lnSpc>
                <a:spcPts val="1300"/>
              </a:lnSpc>
              <a:spcAft>
                <a:spcPts val="0"/>
              </a:spcAft>
            </a:pPr>
            <a:r>
              <a:rPr sz="1300" b="1" lang="ja-JP">
                <a:solidFill>
                  <a:srgbClr val="21374A"/>
                </a:solidFill>
                <a:latin typeface="Yu Gothic"/>
                <a:ea typeface="Yu Gothic"/>
              </a:rPr>
              <a:t>51%</a:t>
            </a:r>
          </a:p>
        </p:txBody>
      </p:sp>
      <p:sp>
        <p:nvSpPr>
          <p:cNvPr id="42" name="TextBox 41"/>
          <p:cNvSpPr txBox="1"/>
          <p:nvPr/>
        </p:nvSpPr>
        <p:spPr>
          <a:xfrm>
            <a:off x="777240" y="4517136"/>
            <a:ext cx="1143000" cy="310896"/>
          </a:xfrm>
          <a:prstGeom prst="rect">
            <a:avLst/>
          </a:prstGeom>
          <a:noFill/>
        </p:spPr>
        <p:txBody>
          <a:bodyPr wrap="square" lIns="0" rIns="0" tIns="0" bIns="0" anchor="ctr">
            <a:spAutoFit/>
          </a:bodyPr>
          <a:lstStyle/>
          <a:p>
            <a:pPr>
              <a:lnSpc>
                <a:spcPts val="1300"/>
              </a:lnSpc>
              <a:spcAft>
                <a:spcPts val="0"/>
              </a:spcAft>
            </a:pPr>
            <a:r>
              <a:rPr sz="1300" b="1" lang="ja-JP">
                <a:solidFill>
                  <a:srgbClr val="087F83"/>
                </a:solidFill>
                <a:latin typeface="Yu Gothic"/>
                <a:ea typeface="Yu Gothic"/>
              </a:rPr>
              <a:t>食品</a:t>
            </a:r>
          </a:p>
        </p:txBody>
      </p:sp>
      <p:sp>
        <p:nvSpPr>
          <p:cNvPr id="43" name="TextBox 42"/>
          <p:cNvSpPr txBox="1"/>
          <p:nvPr/>
        </p:nvSpPr>
        <p:spPr>
          <a:xfrm>
            <a:off x="1920240" y="4517136"/>
            <a:ext cx="3017520" cy="310896"/>
          </a:xfrm>
          <a:prstGeom prst="rect">
            <a:avLst/>
          </a:prstGeom>
          <a:noFill/>
        </p:spPr>
        <p:txBody>
          <a:bodyPr wrap="square" lIns="0" rIns="0" tIns="0" bIns="0" anchor="ctr">
            <a:spAutoFit/>
          </a:bodyPr>
          <a:lstStyle/>
          <a:p>
            <a:pPr>
              <a:lnSpc>
                <a:spcPts val="1300"/>
              </a:lnSpc>
              <a:spcAft>
                <a:spcPts val="0"/>
              </a:spcAft>
            </a:pPr>
            <a:r>
              <a:rPr sz="1300" b="1" lang="ja-JP">
                <a:solidFill>
                  <a:srgbClr val="17334A"/>
                </a:solidFill>
                <a:latin typeface="Yu Gothic"/>
                <a:ea typeface="Yu Gothic"/>
              </a:rPr>
              <a:t>Caldriva Foods USA Inc.</a:t>
            </a:r>
          </a:p>
        </p:txBody>
      </p:sp>
      <p:sp>
        <p:nvSpPr>
          <p:cNvPr id="44" name="TextBox 43"/>
          <p:cNvSpPr txBox="1"/>
          <p:nvPr/>
        </p:nvSpPr>
        <p:spPr>
          <a:xfrm>
            <a:off x="4983479" y="4517136"/>
            <a:ext cx="1234440" cy="310896"/>
          </a:xfrm>
          <a:prstGeom prst="rect">
            <a:avLst/>
          </a:prstGeom>
          <a:noFill/>
        </p:spPr>
        <p:txBody>
          <a:bodyPr wrap="square" lIns="0" rIns="0" tIns="0" bIns="0" anchor="ctr">
            <a:spAutoFit/>
          </a:bodyPr>
          <a:lstStyle/>
          <a:p>
            <a:pPr>
              <a:lnSpc>
                <a:spcPts val="1300"/>
              </a:lnSpc>
              <a:spcAft>
                <a:spcPts val="0"/>
              </a:spcAft>
            </a:pPr>
            <a:r>
              <a:rPr sz="1300" b="0" lang="ja-JP">
                <a:solidFill>
                  <a:srgbClr val="21374A"/>
                </a:solidFill>
                <a:latin typeface="Yu Gothic"/>
                <a:ea typeface="Yu Gothic"/>
              </a:rPr>
              <a:t>米国／USD</a:t>
            </a:r>
          </a:p>
        </p:txBody>
      </p:sp>
      <p:sp>
        <p:nvSpPr>
          <p:cNvPr id="45" name="TextBox 44"/>
          <p:cNvSpPr txBox="1"/>
          <p:nvPr/>
        </p:nvSpPr>
        <p:spPr>
          <a:xfrm>
            <a:off x="6309359" y="4517136"/>
            <a:ext cx="777240" cy="310896"/>
          </a:xfrm>
          <a:prstGeom prst="rect">
            <a:avLst/>
          </a:prstGeom>
          <a:noFill/>
        </p:spPr>
        <p:txBody>
          <a:bodyPr wrap="square" lIns="0" rIns="0" tIns="0" bIns="0" anchor="ctr">
            <a:spAutoFit/>
          </a:bodyPr>
          <a:lstStyle/>
          <a:p>
            <a:pPr>
              <a:lnSpc>
                <a:spcPts val="1300"/>
              </a:lnSpc>
              <a:spcAft>
                <a:spcPts val="0"/>
              </a:spcAft>
            </a:pPr>
            <a:r>
              <a:rPr sz="1300" b="1" lang="ja-JP">
                <a:solidFill>
                  <a:srgbClr val="21374A"/>
                </a:solidFill>
                <a:latin typeface="Yu Gothic"/>
                <a:ea typeface="Yu Gothic"/>
              </a:rPr>
              <a:t>100%</a:t>
            </a:r>
          </a:p>
        </p:txBody>
      </p:sp>
      <p:sp>
        <p:nvSpPr>
          <p:cNvPr id="46" name="Rounded Rectangle 45">
            <a:extLst>
              <a:ext uri="{C183D7F6-B498-43B3-948B-1728B52AA6E4}">
                <adec:decorative xmlns:adec="http://schemas.microsoft.com/office/drawing/2017/decorative" val="1"/>
              </a:ext>
            </a:extLst>
          </p:cNvPr>
          <p:cNvSpPr/>
          <p:nvPr/>
        </p:nvSpPr>
        <p:spPr>
          <a:xfrm>
            <a:off x="621792" y="4864608"/>
            <a:ext cx="6528816" cy="365760"/>
          </a:xfrm>
          <a:prstGeom prst="roundRect">
            <a:avLst>
              <a:gd name="adj" fmla="val 15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77240" y="4901183"/>
            <a:ext cx="1143000" cy="310896"/>
          </a:xfrm>
          <a:prstGeom prst="rect">
            <a:avLst/>
          </a:prstGeom>
          <a:noFill/>
        </p:spPr>
        <p:txBody>
          <a:bodyPr wrap="square" lIns="0" rIns="0" tIns="0" bIns="0" anchor="ctr">
            <a:spAutoFit/>
          </a:bodyPr>
          <a:lstStyle/>
          <a:p>
            <a:pPr>
              <a:lnSpc>
                <a:spcPts val="1300"/>
              </a:lnSpc>
              <a:spcAft>
                <a:spcPts val="0"/>
              </a:spcAft>
            </a:pPr>
            <a:r>
              <a:rPr sz="1300" b="1" lang="ja-JP">
                <a:solidFill>
                  <a:srgbClr val="087F83"/>
                </a:solidFill>
                <a:latin typeface="Yu Gothic"/>
                <a:ea typeface="Yu Gothic"/>
              </a:rPr>
              <a:t>金融</a:t>
            </a:r>
          </a:p>
        </p:txBody>
      </p:sp>
      <p:sp>
        <p:nvSpPr>
          <p:cNvPr id="48" name="TextBox 47"/>
          <p:cNvSpPr txBox="1"/>
          <p:nvPr/>
        </p:nvSpPr>
        <p:spPr>
          <a:xfrm>
            <a:off x="1920240" y="4901183"/>
            <a:ext cx="3017520" cy="310896"/>
          </a:xfrm>
          <a:prstGeom prst="rect">
            <a:avLst/>
          </a:prstGeom>
          <a:noFill/>
        </p:spPr>
        <p:txBody>
          <a:bodyPr wrap="square" lIns="0" rIns="0" tIns="0" bIns="0" anchor="ctr">
            <a:spAutoFit/>
          </a:bodyPr>
          <a:lstStyle/>
          <a:p>
            <a:pPr>
              <a:lnSpc>
                <a:spcPts val="1300"/>
              </a:lnSpc>
              <a:spcAft>
                <a:spcPts val="0"/>
              </a:spcAft>
            </a:pPr>
            <a:r>
              <a:rPr sz="1300" b="1" lang="ja-JP">
                <a:solidFill>
                  <a:srgbClr val="17334A"/>
                </a:solidFill>
                <a:latin typeface="Yu Gothic"/>
                <a:ea typeface="Yu Gothic"/>
              </a:rPr>
              <a:t>Nuvellora Finance Japan KK</a:t>
            </a:r>
          </a:p>
        </p:txBody>
      </p:sp>
      <p:sp>
        <p:nvSpPr>
          <p:cNvPr id="49" name="TextBox 48"/>
          <p:cNvSpPr txBox="1"/>
          <p:nvPr/>
        </p:nvSpPr>
        <p:spPr>
          <a:xfrm>
            <a:off x="4983479" y="4901183"/>
            <a:ext cx="1234440" cy="310896"/>
          </a:xfrm>
          <a:prstGeom prst="rect">
            <a:avLst/>
          </a:prstGeom>
          <a:noFill/>
        </p:spPr>
        <p:txBody>
          <a:bodyPr wrap="square" lIns="0" rIns="0" tIns="0" bIns="0" anchor="ctr">
            <a:spAutoFit/>
          </a:bodyPr>
          <a:lstStyle/>
          <a:p>
            <a:pPr>
              <a:lnSpc>
                <a:spcPts val="1300"/>
              </a:lnSpc>
              <a:spcAft>
                <a:spcPts val="0"/>
              </a:spcAft>
            </a:pPr>
            <a:r>
              <a:rPr sz="1300" b="0" lang="ja-JP">
                <a:solidFill>
                  <a:srgbClr val="21374A"/>
                </a:solidFill>
                <a:latin typeface="Yu Gothic"/>
                <a:ea typeface="Yu Gothic"/>
              </a:rPr>
              <a:t>日本／JPY</a:t>
            </a:r>
          </a:p>
        </p:txBody>
      </p:sp>
      <p:sp>
        <p:nvSpPr>
          <p:cNvPr id="50" name="TextBox 49"/>
          <p:cNvSpPr txBox="1"/>
          <p:nvPr/>
        </p:nvSpPr>
        <p:spPr>
          <a:xfrm>
            <a:off x="6309359" y="4901183"/>
            <a:ext cx="777240" cy="310896"/>
          </a:xfrm>
          <a:prstGeom prst="rect">
            <a:avLst/>
          </a:prstGeom>
          <a:noFill/>
        </p:spPr>
        <p:txBody>
          <a:bodyPr wrap="square" lIns="0" rIns="0" tIns="0" bIns="0" anchor="ctr">
            <a:spAutoFit/>
          </a:bodyPr>
          <a:lstStyle/>
          <a:p>
            <a:pPr>
              <a:lnSpc>
                <a:spcPts val="1300"/>
              </a:lnSpc>
              <a:spcAft>
                <a:spcPts val="0"/>
              </a:spcAft>
            </a:pPr>
            <a:r>
              <a:rPr sz="1300" b="1" lang="ja-JP">
                <a:solidFill>
                  <a:srgbClr val="21374A"/>
                </a:solidFill>
                <a:latin typeface="Yu Gothic"/>
                <a:ea typeface="Yu Gothic"/>
              </a:rPr>
              <a:t>100%</a:t>
            </a:r>
          </a:p>
        </p:txBody>
      </p:sp>
      <p:sp>
        <p:nvSpPr>
          <p:cNvPr id="51" name="Rounded Rectangle 50">
            <a:extLst>
              <a:ext uri="{C183D7F6-B498-43B3-948B-1728B52AA6E4}">
                <adec:decorative xmlns:adec="http://schemas.microsoft.com/office/drawing/2017/decorative" val="1"/>
              </a:ext>
            </a:extLst>
          </p:cNvPr>
          <p:cNvSpPr/>
          <p:nvPr/>
        </p:nvSpPr>
        <p:spPr>
          <a:xfrm>
            <a:off x="621792" y="5248656"/>
            <a:ext cx="6528816" cy="365760"/>
          </a:xfrm>
          <a:prstGeom prst="roundRect">
            <a:avLst>
              <a:gd name="adj" fmla="val 15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77240" y="5285231"/>
            <a:ext cx="1143000" cy="310896"/>
          </a:xfrm>
          <a:prstGeom prst="rect">
            <a:avLst/>
          </a:prstGeom>
          <a:noFill/>
        </p:spPr>
        <p:txBody>
          <a:bodyPr wrap="square" lIns="0" rIns="0" tIns="0" bIns="0" anchor="ctr">
            <a:spAutoFit/>
          </a:bodyPr>
          <a:lstStyle/>
          <a:p>
            <a:pPr>
              <a:lnSpc>
                <a:spcPts val="1300"/>
              </a:lnSpc>
              <a:spcAft>
                <a:spcPts val="0"/>
              </a:spcAft>
            </a:pPr>
            <a:r>
              <a:rPr sz="1300" b="1" lang="ja-JP">
                <a:solidFill>
                  <a:srgbClr val="087F83"/>
                </a:solidFill>
                <a:latin typeface="Yu Gothic"/>
                <a:ea typeface="Yu Gothic"/>
              </a:rPr>
              <a:t>金融</a:t>
            </a:r>
          </a:p>
        </p:txBody>
      </p:sp>
      <p:sp>
        <p:nvSpPr>
          <p:cNvPr id="53" name="TextBox 52"/>
          <p:cNvSpPr txBox="1"/>
          <p:nvPr/>
        </p:nvSpPr>
        <p:spPr>
          <a:xfrm>
            <a:off x="1920240" y="5285231"/>
            <a:ext cx="3017520" cy="310896"/>
          </a:xfrm>
          <a:prstGeom prst="rect">
            <a:avLst/>
          </a:prstGeom>
          <a:noFill/>
        </p:spPr>
        <p:txBody>
          <a:bodyPr wrap="square" lIns="0" rIns="0" tIns="0" bIns="0" anchor="ctr">
            <a:spAutoFit/>
          </a:bodyPr>
          <a:lstStyle/>
          <a:p>
            <a:pPr>
              <a:lnSpc>
                <a:spcPts val="1300"/>
              </a:lnSpc>
              <a:spcAft>
                <a:spcPts val="0"/>
              </a:spcAft>
            </a:pPr>
            <a:r>
              <a:rPr sz="1300" b="1" lang="ja-JP">
                <a:solidFill>
                  <a:srgbClr val="17334A"/>
                </a:solidFill>
                <a:latin typeface="Yu Gothic"/>
                <a:ea typeface="Yu Gothic"/>
              </a:rPr>
              <a:t>Nuvellora Finance USA Inc.</a:t>
            </a:r>
          </a:p>
        </p:txBody>
      </p:sp>
      <p:sp>
        <p:nvSpPr>
          <p:cNvPr id="54" name="TextBox 53"/>
          <p:cNvSpPr txBox="1"/>
          <p:nvPr/>
        </p:nvSpPr>
        <p:spPr>
          <a:xfrm>
            <a:off x="4983479" y="5285231"/>
            <a:ext cx="1234440" cy="310896"/>
          </a:xfrm>
          <a:prstGeom prst="rect">
            <a:avLst/>
          </a:prstGeom>
          <a:noFill/>
        </p:spPr>
        <p:txBody>
          <a:bodyPr wrap="square" lIns="0" rIns="0" tIns="0" bIns="0" anchor="ctr">
            <a:spAutoFit/>
          </a:bodyPr>
          <a:lstStyle/>
          <a:p>
            <a:pPr>
              <a:lnSpc>
                <a:spcPts val="1300"/>
              </a:lnSpc>
              <a:spcAft>
                <a:spcPts val="0"/>
              </a:spcAft>
            </a:pPr>
            <a:r>
              <a:rPr sz="1300" b="0" lang="ja-JP">
                <a:solidFill>
                  <a:srgbClr val="21374A"/>
                </a:solidFill>
                <a:latin typeface="Yu Gothic"/>
                <a:ea typeface="Yu Gothic"/>
              </a:rPr>
              <a:t>米国／USD</a:t>
            </a:r>
          </a:p>
        </p:txBody>
      </p:sp>
      <p:sp>
        <p:nvSpPr>
          <p:cNvPr id="55" name="TextBox 54"/>
          <p:cNvSpPr txBox="1"/>
          <p:nvPr/>
        </p:nvSpPr>
        <p:spPr>
          <a:xfrm>
            <a:off x="6309359" y="5285231"/>
            <a:ext cx="777240" cy="310896"/>
          </a:xfrm>
          <a:prstGeom prst="rect">
            <a:avLst/>
          </a:prstGeom>
          <a:noFill/>
        </p:spPr>
        <p:txBody>
          <a:bodyPr wrap="square" lIns="0" rIns="0" tIns="0" bIns="0" anchor="ctr">
            <a:spAutoFit/>
          </a:bodyPr>
          <a:lstStyle/>
          <a:p>
            <a:pPr>
              <a:lnSpc>
                <a:spcPts val="1300"/>
              </a:lnSpc>
              <a:spcAft>
                <a:spcPts val="0"/>
              </a:spcAft>
            </a:pPr>
            <a:r>
              <a:rPr sz="1300" b="1" lang="ja-JP">
                <a:solidFill>
                  <a:srgbClr val="21374A"/>
                </a:solidFill>
                <a:latin typeface="Yu Gothic"/>
                <a:ea typeface="Yu Gothic"/>
              </a:rPr>
              <a:t>51%</a:t>
            </a:r>
          </a:p>
        </p:txBody>
      </p:sp>
      <p:sp>
        <p:nvSpPr>
          <p:cNvPr id="56" name="Rounded Rectangle 55">
            <a:extLst>
              <a:ext uri="{C183D7F6-B498-43B3-948B-1728B52AA6E4}">
                <adec:decorative xmlns:adec="http://schemas.microsoft.com/office/drawing/2017/decorative" val="1"/>
              </a:ext>
            </a:extLst>
          </p:cNvPr>
          <p:cNvSpPr/>
          <p:nvPr/>
        </p:nvSpPr>
        <p:spPr>
          <a:xfrm>
            <a:off x="7452360" y="2148840"/>
            <a:ext cx="2057400" cy="1115568"/>
          </a:xfrm>
          <a:prstGeom prst="roundRect">
            <a:avLst>
              <a:gd name="adj" fmla="val 655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7616952" y="2258568"/>
            <a:ext cx="1828800" cy="384048"/>
          </a:xfrm>
          <a:prstGeom prst="rect">
            <a:avLst/>
          </a:prstGeom>
          <a:noFill/>
        </p:spPr>
        <p:txBody>
          <a:bodyPr wrap="square" lIns="0" rIns="0" tIns="0" bIns="0">
            <a:spAutoFit/>
          </a:bodyPr>
          <a:lstStyle/>
          <a:p>
            <a:pPr>
              <a:lnSpc>
                <a:spcPts val="2100"/>
              </a:lnSpc>
              <a:spcAft>
                <a:spcPts val="0"/>
              </a:spcAft>
            </a:pPr>
            <a:r>
              <a:rPr sz="2100" b="1" lang="ja-JP">
                <a:solidFill>
                  <a:srgbClr val="087F83"/>
                </a:solidFill>
                <a:latin typeface="Yu Gothic"/>
                <a:ea typeface="Yu Gothic"/>
              </a:rPr>
              <a:t>約448億円</a:t>
            </a:r>
          </a:p>
        </p:txBody>
      </p:sp>
      <p:sp>
        <p:nvSpPr>
          <p:cNvPr id="58" name="TextBox 57"/>
          <p:cNvSpPr txBox="1"/>
          <p:nvPr/>
        </p:nvSpPr>
        <p:spPr>
          <a:xfrm>
            <a:off x="7616952" y="2697480"/>
            <a:ext cx="1783080" cy="502920"/>
          </a:xfrm>
          <a:prstGeom prst="rect">
            <a:avLst/>
          </a:prstGeom>
          <a:noFill/>
        </p:spPr>
        <p:txBody>
          <a:bodyPr wrap="square" lIns="0" rIns="0" tIns="0" bIns="0">
            <a:spAutoFit/>
          </a:bodyPr>
          <a:lstStyle/>
          <a:p>
            <a:pPr>
              <a:lnSpc>
                <a:spcPts val="1320"/>
              </a:lnSpc>
              <a:spcAft>
                <a:spcPts val="0"/>
              </a:spcAft>
            </a:pPr>
            <a:r>
              <a:rPr sz="1100" b="0" lang="ja-JP">
                <a:solidFill>
                  <a:srgbClr val="566A78"/>
                </a:solidFill>
                <a:latin typeface="Yu Gothic"/>
                <a:ea typeface="Yu Gothic"/>
              </a:rPr>
              <a:t>年間EBITDA</a:t>
            </a:r>
          </a:p>
          <a:p>
            <a:pPr>
              <a:lnSpc>
                <a:spcPts val="1320"/>
              </a:lnSpc>
              <a:spcAft>
                <a:spcPts val="0"/>
              </a:spcAft>
            </a:pPr>
            <a:r>
              <a:rPr sz="1100" b="0" lang="ja-JP">
                <a:solidFill>
                  <a:srgbClr val="566A78"/>
                </a:solidFill>
                <a:latin typeface="Yu Gothic"/>
                <a:ea typeface="Yu Gothic"/>
              </a:rPr>
              <a:t>（実績、全額連結）</a:t>
            </a:r>
          </a:p>
        </p:txBody>
      </p:sp>
      <p:sp>
        <p:nvSpPr>
          <p:cNvPr id="59" name="Rounded Rectangle 58">
            <a:extLst>
              <a:ext uri="{C183D7F6-B498-43B3-948B-1728B52AA6E4}">
                <adec:decorative xmlns:adec="http://schemas.microsoft.com/office/drawing/2017/decorative" val="1"/>
              </a:ext>
            </a:extLst>
          </p:cNvPr>
          <p:cNvSpPr/>
          <p:nvPr/>
        </p:nvSpPr>
        <p:spPr>
          <a:xfrm>
            <a:off x="9582912" y="2148840"/>
            <a:ext cx="2057400" cy="1115568"/>
          </a:xfrm>
          <a:prstGeom prst="roundRect">
            <a:avLst>
              <a:gd name="adj" fmla="val 655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747504" y="2258568"/>
            <a:ext cx="1828800" cy="384048"/>
          </a:xfrm>
          <a:prstGeom prst="rect">
            <a:avLst/>
          </a:prstGeom>
          <a:noFill/>
        </p:spPr>
        <p:txBody>
          <a:bodyPr wrap="square" lIns="0" rIns="0" tIns="0" bIns="0">
            <a:spAutoFit/>
          </a:bodyPr>
          <a:lstStyle/>
          <a:p>
            <a:pPr>
              <a:lnSpc>
                <a:spcPts val="2100"/>
              </a:lnSpc>
              <a:spcAft>
                <a:spcPts val="0"/>
              </a:spcAft>
            </a:pPr>
            <a:r>
              <a:rPr sz="2100" b="1" lang="ja-JP">
                <a:solidFill>
                  <a:srgbClr val="17334A"/>
                </a:solidFill>
                <a:latin typeface="Yu Gothic"/>
                <a:ea typeface="Yu Gothic"/>
              </a:rPr>
              <a:t>約3,111億円</a:t>
            </a:r>
          </a:p>
        </p:txBody>
      </p:sp>
      <p:sp>
        <p:nvSpPr>
          <p:cNvPr id="61" name="TextBox 60"/>
          <p:cNvSpPr txBox="1"/>
          <p:nvPr/>
        </p:nvSpPr>
        <p:spPr>
          <a:xfrm>
            <a:off x="9747504" y="2697480"/>
            <a:ext cx="1783080" cy="502920"/>
          </a:xfrm>
          <a:prstGeom prst="rect">
            <a:avLst/>
          </a:prstGeom>
          <a:noFill/>
        </p:spPr>
        <p:txBody>
          <a:bodyPr wrap="square" lIns="0" rIns="0" tIns="0" bIns="0">
            <a:spAutoFit/>
          </a:bodyPr>
          <a:lstStyle/>
          <a:p>
            <a:pPr>
              <a:lnSpc>
                <a:spcPts val="1320"/>
              </a:lnSpc>
              <a:spcAft>
                <a:spcPts val="0"/>
              </a:spcAft>
            </a:pPr>
            <a:r>
              <a:rPr sz="1100" b="0" lang="ja-JP">
                <a:solidFill>
                  <a:srgbClr val="566A78"/>
                </a:solidFill>
                <a:latin typeface="Yu Gothic"/>
                <a:ea typeface="Yu Gothic"/>
              </a:rPr>
              <a:t>年間売上</a:t>
            </a:r>
          </a:p>
          <a:p>
            <a:pPr>
              <a:lnSpc>
                <a:spcPts val="1320"/>
              </a:lnSpc>
              <a:spcAft>
                <a:spcPts val="0"/>
              </a:spcAft>
            </a:pPr>
            <a:r>
              <a:rPr sz="1100" b="0" lang="ja-JP">
                <a:solidFill>
                  <a:srgbClr val="566A78"/>
                </a:solidFill>
                <a:latin typeface="Yu Gothic"/>
                <a:ea typeface="Yu Gothic"/>
              </a:rPr>
              <a:t>（実績）</a:t>
            </a:r>
          </a:p>
        </p:txBody>
      </p:sp>
      <p:sp>
        <p:nvSpPr>
          <p:cNvPr id="62" name="Rounded Rectangle 61">
            <a:extLst>
              <a:ext uri="{C183D7F6-B498-43B3-948B-1728B52AA6E4}">
                <adec:decorative xmlns:adec="http://schemas.microsoft.com/office/drawing/2017/decorative" val="1"/>
              </a:ext>
            </a:extLst>
          </p:cNvPr>
          <p:cNvSpPr/>
          <p:nvPr/>
        </p:nvSpPr>
        <p:spPr>
          <a:xfrm>
            <a:off x="7452360" y="3355848"/>
            <a:ext cx="2057400" cy="1115568"/>
          </a:xfrm>
          <a:prstGeom prst="roundRect">
            <a:avLst>
              <a:gd name="adj" fmla="val 655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7616952" y="3465576"/>
            <a:ext cx="1828800" cy="384048"/>
          </a:xfrm>
          <a:prstGeom prst="rect">
            <a:avLst/>
          </a:prstGeom>
          <a:noFill/>
        </p:spPr>
        <p:txBody>
          <a:bodyPr wrap="square" lIns="0" rIns="0" tIns="0" bIns="0">
            <a:spAutoFit/>
          </a:bodyPr>
          <a:lstStyle/>
          <a:p>
            <a:pPr>
              <a:lnSpc>
                <a:spcPts val="2100"/>
              </a:lnSpc>
              <a:spcAft>
                <a:spcPts val="0"/>
              </a:spcAft>
            </a:pPr>
            <a:r>
              <a:rPr sz="2100" b="1" lang="ja-JP">
                <a:solidFill>
                  <a:srgbClr val="7352AD"/>
                </a:solidFill>
                <a:latin typeface="Yu Gothic"/>
                <a:ea typeface="Yu Gothic"/>
              </a:rPr>
              <a:t>10件</a:t>
            </a:r>
          </a:p>
        </p:txBody>
      </p:sp>
      <p:sp>
        <p:nvSpPr>
          <p:cNvPr id="64" name="TextBox 63"/>
          <p:cNvSpPr txBox="1"/>
          <p:nvPr/>
        </p:nvSpPr>
        <p:spPr>
          <a:xfrm>
            <a:off x="7616952" y="3904487"/>
            <a:ext cx="1783080" cy="502920"/>
          </a:xfrm>
          <a:prstGeom prst="rect">
            <a:avLst/>
          </a:prstGeom>
          <a:noFill/>
        </p:spPr>
        <p:txBody>
          <a:bodyPr wrap="square" lIns="0" rIns="0" tIns="0" bIns="0">
            <a:spAutoFit/>
          </a:bodyPr>
          <a:lstStyle/>
          <a:p>
            <a:pPr>
              <a:lnSpc>
                <a:spcPts val="1320"/>
              </a:lnSpc>
              <a:spcAft>
                <a:spcPts val="0"/>
              </a:spcAft>
            </a:pPr>
            <a:r>
              <a:rPr sz="1100" b="0" lang="ja-JP">
                <a:solidFill>
                  <a:srgbClr val="566A78"/>
                </a:solidFill>
                <a:latin typeface="Yu Gothic"/>
                <a:ea typeface="Yu Gothic"/>
              </a:rPr>
              <a:t>イベント</a:t>
            </a:r>
          </a:p>
          <a:p>
            <a:pPr>
              <a:lnSpc>
                <a:spcPts val="1320"/>
              </a:lnSpc>
              <a:spcAft>
                <a:spcPts val="0"/>
              </a:spcAft>
            </a:pPr>
            <a:r>
              <a:rPr sz="1100" b="0" lang="ja-JP">
                <a:solidFill>
                  <a:srgbClr val="566A78"/>
                </a:solidFill>
                <a:latin typeface="Yu Gothic"/>
                <a:ea typeface="Yu Gothic"/>
              </a:rPr>
              <a:t>（プラス5・マイナス5）</a:t>
            </a:r>
          </a:p>
        </p:txBody>
      </p:sp>
      <p:sp>
        <p:nvSpPr>
          <p:cNvPr id="65" name="Rounded Rectangle 64">
            <a:extLst>
              <a:ext uri="{C183D7F6-B498-43B3-948B-1728B52AA6E4}">
                <adec:decorative xmlns:adec="http://schemas.microsoft.com/office/drawing/2017/decorative" val="1"/>
              </a:ext>
            </a:extLst>
          </p:cNvPr>
          <p:cNvSpPr/>
          <p:nvPr/>
        </p:nvSpPr>
        <p:spPr>
          <a:xfrm>
            <a:off x="9582912" y="3355848"/>
            <a:ext cx="2057400" cy="1115568"/>
          </a:xfrm>
          <a:prstGeom prst="roundRect">
            <a:avLst>
              <a:gd name="adj" fmla="val 655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9747504" y="3465576"/>
            <a:ext cx="1828800" cy="384048"/>
          </a:xfrm>
          <a:prstGeom prst="rect">
            <a:avLst/>
          </a:prstGeom>
          <a:noFill/>
        </p:spPr>
        <p:txBody>
          <a:bodyPr wrap="square" lIns="0" rIns="0" tIns="0" bIns="0">
            <a:spAutoFit/>
          </a:bodyPr>
          <a:lstStyle/>
          <a:p>
            <a:pPr>
              <a:lnSpc>
                <a:spcPts val="2100"/>
              </a:lnSpc>
              <a:spcAft>
                <a:spcPts val="0"/>
              </a:spcAft>
            </a:pPr>
            <a:r>
              <a:rPr sz="2100" b="1" lang="ja-JP">
                <a:solidFill>
                  <a:srgbClr val="BD4354"/>
                </a:solidFill>
                <a:latin typeface="Yu Gothic"/>
                <a:ea typeface="Yu Gothic"/>
              </a:rPr>
              <a:t>1,344件</a:t>
            </a:r>
          </a:p>
        </p:txBody>
      </p:sp>
      <p:sp>
        <p:nvSpPr>
          <p:cNvPr id="67" name="TextBox 66"/>
          <p:cNvSpPr txBox="1"/>
          <p:nvPr/>
        </p:nvSpPr>
        <p:spPr>
          <a:xfrm>
            <a:off x="9747504" y="3904487"/>
            <a:ext cx="1783080" cy="502920"/>
          </a:xfrm>
          <a:prstGeom prst="rect">
            <a:avLst/>
          </a:prstGeom>
          <a:noFill/>
        </p:spPr>
        <p:txBody>
          <a:bodyPr wrap="square" lIns="0" rIns="0" tIns="0" bIns="0">
            <a:spAutoFit/>
          </a:bodyPr>
          <a:lstStyle/>
          <a:p>
            <a:pPr>
              <a:lnSpc>
                <a:spcPts val="1320"/>
              </a:lnSpc>
              <a:spcAft>
                <a:spcPts val="0"/>
              </a:spcAft>
            </a:pPr>
            <a:r>
              <a:rPr sz="1100" b="0" lang="ja-JP">
                <a:solidFill>
                  <a:srgbClr val="566A78"/>
                </a:solidFill>
                <a:latin typeface="Yu Gothic"/>
                <a:ea typeface="Yu Gothic"/>
              </a:rPr>
              <a:t>影響額の明細</a:t>
            </a:r>
          </a:p>
          <a:p>
            <a:pPr>
              <a:lnSpc>
                <a:spcPts val="1320"/>
              </a:lnSpc>
              <a:spcAft>
                <a:spcPts val="0"/>
              </a:spcAft>
            </a:pPr>
            <a:r>
              <a:rPr sz="1100" b="0" lang="ja-JP">
                <a:solidFill>
                  <a:srgbClr val="566A78"/>
                </a:solidFill>
                <a:latin typeface="Yu Gothic"/>
                <a:ea typeface="Yu Gothic"/>
              </a:rPr>
              <a:t>（イベントと取引の組）</a:t>
            </a:r>
          </a:p>
        </p:txBody>
      </p:sp>
      <p:sp>
        <p:nvSpPr>
          <p:cNvPr id="68" name="Rounded Rectangle 67">
            <a:extLst>
              <a:ext uri="{C183D7F6-B498-43B3-948B-1728B52AA6E4}">
                <adec:decorative xmlns:adec="http://schemas.microsoft.com/office/drawing/2017/decorative" val="1"/>
              </a:ext>
            </a:extLst>
          </p:cNvPr>
          <p:cNvSpPr/>
          <p:nvPr/>
        </p:nvSpPr>
        <p:spPr>
          <a:xfrm>
            <a:off x="7452360" y="4617720"/>
            <a:ext cx="4187952" cy="1097280"/>
          </a:xfrm>
          <a:prstGeom prst="roundRect">
            <a:avLst>
              <a:gd name="adj" fmla="val 6666"/>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7635240" y="4709160"/>
            <a:ext cx="3840480" cy="237744"/>
          </a:xfrm>
          <a:prstGeom prst="rect">
            <a:avLst/>
          </a:prstGeom>
          <a:noFill/>
        </p:spPr>
        <p:txBody>
          <a:bodyPr wrap="square" lIns="0" rIns="0" tIns="0" bIns="0">
            <a:spAutoFit/>
          </a:bodyPr>
          <a:lstStyle/>
          <a:p>
            <a:pPr>
              <a:lnSpc>
                <a:spcPts val="1300"/>
              </a:lnSpc>
              <a:spcAft>
                <a:spcPts val="0"/>
              </a:spcAft>
            </a:pPr>
            <a:r>
              <a:rPr sz="1300" b="1" lang="ja-JP">
                <a:solidFill>
                  <a:srgbClr val="087F83"/>
                </a:solidFill>
                <a:latin typeface="Yu Gothic"/>
                <a:ea typeface="Yu Gothic"/>
              </a:rPr>
              <a:t>2つの金額の見方</a:t>
            </a:r>
          </a:p>
        </p:txBody>
      </p:sp>
      <p:sp>
        <p:nvSpPr>
          <p:cNvPr id="70" name="TextBox 69"/>
          <p:cNvSpPr txBox="1"/>
          <p:nvPr/>
        </p:nvSpPr>
        <p:spPr>
          <a:xfrm>
            <a:off x="7635240" y="5029200"/>
            <a:ext cx="3840480" cy="640080"/>
          </a:xfrm>
          <a:prstGeom prst="rect">
            <a:avLst/>
          </a:prstGeom>
          <a:noFill/>
        </p:spPr>
        <p:txBody>
          <a:bodyPr wrap="square" lIns="0" rIns="0" tIns="0" bIns="0">
            <a:spAutoFit/>
          </a:bodyPr>
          <a:lstStyle/>
          <a:p>
            <a:pPr>
              <a:lnSpc>
                <a:spcPts val="1750"/>
              </a:lnSpc>
              <a:spcAft>
                <a:spcPts val="0"/>
              </a:spcAft>
            </a:pPr>
            <a:r>
              <a:rPr sz="1250" b="0" lang="ja-JP">
                <a:solidFill>
                  <a:srgbClr val="17334A"/>
                </a:solidFill>
                <a:latin typeface="Yu Gothic"/>
                <a:ea typeface="Yu Gothic"/>
              </a:rPr>
              <a:t>全額連結：8社の値を100%で合算</a:t>
            </a:r>
          </a:p>
          <a:p>
            <a:pPr>
              <a:lnSpc>
                <a:spcPts val="1750"/>
              </a:lnSpc>
              <a:spcAft>
                <a:spcPts val="0"/>
              </a:spcAft>
            </a:pPr>
            <a:r>
              <a:rPr sz="1250" b="0" lang="ja-JP">
                <a:solidFill>
                  <a:srgbClr val="17334A"/>
                </a:solidFill>
                <a:latin typeface="Yu Gothic"/>
                <a:ea typeface="Yu Gothic"/>
              </a:rPr>
              <a:t>持分管理：8社の値に所有比率を掛けて合算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4つの質問で全体から打ち手まで進む</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第2章 デモで確認  |  デモの流れ</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経営会議の流れと同じ順に、Data Agentへ日本語で質問します。</a:t>
            </a:r>
          </a:p>
          <a:p>
            <a:pPr>
              <a:lnSpc>
                <a:spcPts val="2160"/>
              </a:lnSpc>
              <a:spcAft>
                <a:spcPts val="0"/>
              </a:spcAft>
            </a:pPr>
            <a:r>
              <a:rPr sz="1600" b="0" lang="ja-JP">
                <a:solidFill>
                  <a:srgbClr val="566A78"/>
                </a:solidFill>
                <a:latin typeface="Yu Gothic"/>
                <a:ea typeface="Yu Gothic"/>
              </a:rPr>
              <a:t>前半の2問は集計で答え、後半の2問は、Ontologyの関係から表のつなぎ方を決めて答えます。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回答の金額は、元データの集計と一致しました（2026年10月27日、各質問1回）。文面は実行ごとに変わります。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10</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2606040" cy="3520440"/>
          </a:xfrm>
          <a:prstGeom prst="roundRect">
            <a:avLst>
              <a:gd name="adj" fmla="val 280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a:extLst>
              <a:ext uri="{C183D7F6-B498-43B3-948B-1728B52AA6E4}">
                <adec:decorative xmlns:adec="http://schemas.microsoft.com/office/drawing/2017/decorative" val="1"/>
              </a:ext>
            </a:extLst>
          </p:cNvPr>
          <p:cNvSpPr/>
          <p:nvPr/>
        </p:nvSpPr>
        <p:spPr>
          <a:xfrm>
            <a:off x="713232" y="2386584"/>
            <a:ext cx="438912" cy="438912"/>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13232" y="2386584"/>
            <a:ext cx="438912" cy="438912"/>
          </a:xfrm>
          <a:prstGeom prst="rect">
            <a:avLst/>
          </a:prstGeom>
          <a:noFill/>
        </p:spPr>
        <p:txBody>
          <a:bodyPr wrap="square" lIns="0" rIns="0" tIns="0" bIns="0" anchor="ctr">
            <a:spAutoFit/>
          </a:bodyPr>
          <a:lstStyle/>
          <a:p>
            <a:pPr algn="ctr">
              <a:lnSpc>
                <a:spcPts val="1400"/>
              </a:lnSpc>
              <a:spcAft>
                <a:spcPts val="0"/>
              </a:spcAft>
            </a:pPr>
            <a:r>
              <a:rPr sz="1400" b="1" lang="ja-JP">
                <a:solidFill>
                  <a:srgbClr val="FFFFFF"/>
                </a:solidFill>
                <a:latin typeface="Yu Gothic"/>
                <a:ea typeface="Yu Gothic"/>
              </a:rPr>
              <a:t>1</a:t>
            </a:r>
          </a:p>
        </p:txBody>
      </p:sp>
      <p:sp>
        <p:nvSpPr>
          <p:cNvPr id="18" name="TextBox 17"/>
          <p:cNvSpPr txBox="1"/>
          <p:nvPr/>
        </p:nvSpPr>
        <p:spPr>
          <a:xfrm>
            <a:off x="1280160" y="2359152"/>
            <a:ext cx="1645920" cy="502920"/>
          </a:xfrm>
          <a:prstGeom prst="rect">
            <a:avLst/>
          </a:prstGeom>
          <a:noFill/>
        </p:spPr>
        <p:txBody>
          <a:bodyPr wrap="square" lIns="0" rIns="0" tIns="0" bIns="0" anchor="ctr">
            <a:spAutoFit/>
          </a:bodyPr>
          <a:lstStyle/>
          <a:p>
            <a:pPr>
              <a:lnSpc>
                <a:spcPts val="2000"/>
              </a:lnSpc>
              <a:spcAft>
                <a:spcPts val="0"/>
              </a:spcAft>
            </a:pPr>
            <a:r>
              <a:rPr sz="2000" b="1" lang="ja-JP">
                <a:solidFill>
                  <a:srgbClr val="17334A"/>
                </a:solidFill>
                <a:latin typeface="Yu Gothic"/>
                <a:ea typeface="Yu Gothic"/>
              </a:rPr>
              <a:t>全体</a:t>
            </a:r>
          </a:p>
        </p:txBody>
      </p:sp>
      <p:sp>
        <p:nvSpPr>
          <p:cNvPr id="19" name="TextBox 18"/>
          <p:cNvSpPr txBox="1"/>
          <p:nvPr/>
        </p:nvSpPr>
        <p:spPr>
          <a:xfrm>
            <a:off x="777240" y="3017520"/>
            <a:ext cx="2148840"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入力する質問</a:t>
            </a:r>
          </a:p>
        </p:txBody>
      </p:sp>
      <p:sp>
        <p:nvSpPr>
          <p:cNvPr id="20" name="TextBox 19"/>
          <p:cNvSpPr txBox="1"/>
          <p:nvPr/>
        </p:nvSpPr>
        <p:spPr>
          <a:xfrm>
            <a:off x="777240" y="3255264"/>
            <a:ext cx="2148840" cy="868680"/>
          </a:xfrm>
          <a:prstGeom prst="rect">
            <a:avLst/>
          </a:prstGeom>
          <a:noFill/>
        </p:spPr>
        <p:txBody>
          <a:bodyPr wrap="square" lIns="0" rIns="0" tIns="0" bIns="0">
            <a:spAutoFit/>
          </a:bodyPr>
          <a:lstStyle/>
          <a:p>
            <a:pPr>
              <a:lnSpc>
                <a:spcPts val="1889"/>
              </a:lnSpc>
              <a:spcAft>
                <a:spcPts val="0"/>
              </a:spcAft>
            </a:pPr>
            <a:r>
              <a:rPr sz="1400" b="1" lang="ja-JP">
                <a:solidFill>
                  <a:srgbClr val="21374A"/>
                </a:solidFill>
                <a:latin typeface="Yu Gothic"/>
                <a:ea typeface="Yu Gothic"/>
              </a:rPr>
              <a:t>今期のEBITDAって、</a:t>
            </a:r>
          </a:p>
          <a:p>
            <a:pPr>
              <a:lnSpc>
                <a:spcPts val="1889"/>
              </a:lnSpc>
              <a:spcAft>
                <a:spcPts val="0"/>
              </a:spcAft>
            </a:pPr>
            <a:r>
              <a:rPr sz="1400" b="1" lang="ja-JP">
                <a:solidFill>
                  <a:srgbClr val="21374A"/>
                </a:solidFill>
                <a:latin typeface="Yu Gothic"/>
                <a:ea typeface="Yu Gothic"/>
              </a:rPr>
              <a:t>予算に対して</a:t>
            </a:r>
          </a:p>
          <a:p>
            <a:pPr>
              <a:lnSpc>
                <a:spcPts val="1889"/>
              </a:lnSpc>
              <a:spcAft>
                <a:spcPts val="0"/>
              </a:spcAft>
            </a:pPr>
            <a:r>
              <a:rPr sz="1400" b="1" lang="ja-JP">
                <a:solidFill>
                  <a:srgbClr val="21374A"/>
                </a:solidFill>
                <a:latin typeface="Yu Gothic"/>
                <a:ea typeface="Yu Gothic"/>
              </a:rPr>
              <a:t>どうだった？</a:t>
            </a:r>
          </a:p>
        </p:txBody>
      </p:sp>
      <p:sp>
        <p:nvSpPr>
          <p:cNvPr id="21" name="Rectangle 20">
            <a:extLst>
              <a:ext uri="{C183D7F6-B498-43B3-948B-1728B52AA6E4}">
                <adec:decorative xmlns:adec="http://schemas.microsoft.com/office/drawing/2017/decorative" val="1"/>
              </a:ext>
            </a:extLst>
          </p:cNvPr>
          <p:cNvSpPr/>
          <p:nvPr/>
        </p:nvSpPr>
        <p:spPr>
          <a:xfrm>
            <a:off x="777240" y="4187952"/>
            <a:ext cx="2148840"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7240" y="4270248"/>
            <a:ext cx="2148840"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回答の要点</a:t>
            </a:r>
          </a:p>
        </p:txBody>
      </p:sp>
      <p:sp>
        <p:nvSpPr>
          <p:cNvPr id="23" name="TextBox 22"/>
          <p:cNvSpPr txBox="1"/>
          <p:nvPr/>
        </p:nvSpPr>
        <p:spPr>
          <a:xfrm>
            <a:off x="777240" y="4507992"/>
            <a:ext cx="2148840" cy="640080"/>
          </a:xfrm>
          <a:prstGeom prst="rect">
            <a:avLst/>
          </a:prstGeom>
          <a:noFill/>
        </p:spPr>
        <p:txBody>
          <a:bodyPr wrap="square" lIns="0" rIns="0" tIns="0" bIns="0">
            <a:spAutoFit/>
          </a:bodyPr>
          <a:lstStyle/>
          <a:p>
            <a:pPr>
              <a:lnSpc>
                <a:spcPts val="1760"/>
              </a:lnSpc>
              <a:spcAft>
                <a:spcPts val="0"/>
              </a:spcAft>
            </a:pPr>
            <a:r>
              <a:rPr sz="1350" b="1" lang="ja-JP">
                <a:solidFill>
                  <a:srgbClr val="BD4354"/>
                </a:solidFill>
                <a:latin typeface="Yu Gothic"/>
                <a:ea typeface="Yu Gothic"/>
              </a:rPr>
              <a:t>想定値との差−1.03億円</a:t>
            </a:r>
          </a:p>
          <a:p>
            <a:pPr>
              <a:lnSpc>
                <a:spcPts val="1760"/>
              </a:lnSpc>
              <a:spcAft>
                <a:spcPts val="0"/>
              </a:spcAft>
            </a:pPr>
            <a:r>
              <a:rPr sz="1350" b="1" lang="ja-JP">
                <a:solidFill>
                  <a:srgbClr val="BD4354"/>
                </a:solidFill>
                <a:latin typeface="Yu Gothic"/>
                <a:ea typeface="Yu Gothic"/>
              </a:rPr>
              <a:t>（−0.23%）</a:t>
            </a:r>
          </a:p>
        </p:txBody>
      </p:sp>
      <p:sp>
        <p:nvSpPr>
          <p:cNvPr id="24" name="Rounded Rectangle 23">
            <a:extLst>
              <a:ext uri="{C183D7F6-B498-43B3-948B-1728B52AA6E4}">
                <adec:decorative xmlns:adec="http://schemas.microsoft.com/office/drawing/2017/decorative" val="1"/>
              </a:ext>
            </a:extLst>
          </p:cNvPr>
          <p:cNvSpPr/>
          <p:nvPr/>
        </p:nvSpPr>
        <p:spPr>
          <a:xfrm>
            <a:off x="777240" y="5193792"/>
            <a:ext cx="2148840" cy="329184"/>
          </a:xfrm>
          <a:prstGeom prst="roundRect">
            <a:avLst>
              <a:gd name="adj" fmla="val 50000"/>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77240" y="5193792"/>
            <a:ext cx="2148840" cy="329184"/>
          </a:xfrm>
          <a:prstGeom prst="rect">
            <a:avLst/>
          </a:prstGeom>
          <a:noFill/>
        </p:spPr>
        <p:txBody>
          <a:bodyPr wrap="square" lIns="0" rIns="0" tIns="0" bIns="0" anchor="ctr">
            <a:spAutoFit/>
          </a:bodyPr>
          <a:lstStyle/>
          <a:p>
            <a:pPr algn="ctr">
              <a:lnSpc>
                <a:spcPts val="1150"/>
              </a:lnSpc>
              <a:spcAft>
                <a:spcPts val="0"/>
              </a:spcAft>
            </a:pPr>
            <a:r>
              <a:rPr sz="1150" b="1" lang="ja-JP">
                <a:solidFill>
                  <a:srgbClr val="6B7F8E"/>
                </a:solidFill>
                <a:latin typeface="Yu Gothic"/>
                <a:ea typeface="Yu Gothic"/>
              </a:rPr>
              <a:t>集計で回答</a:t>
            </a:r>
          </a:p>
        </p:txBody>
      </p:sp>
      <p:cxnSp>
        <p:nvCxnSpPr>
          <p:cNvPr id="26" name="Connector 25">
            <a:extLst>
              <a:ext uri="{C183D7F6-B498-43B3-948B-1728B52AA6E4}">
                <adec:decorative xmlns:adec="http://schemas.microsoft.com/office/drawing/2017/decorative" val="1"/>
              </a:ext>
            </a:extLst>
          </p:cNvPr>
          <p:cNvCxnSpPr/>
          <p:nvPr/>
        </p:nvCxnSpPr>
        <p:spPr>
          <a:xfrm>
            <a:off x="3172968" y="2606040"/>
            <a:ext cx="185928" cy="0"/>
          </a:xfrm>
          <a:prstGeom prst="line">
            <a:avLst/>
          </a:prstGeom>
          <a:ln w="25400">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a:extLst>
              <a:ext uri="{C183D7F6-B498-43B3-948B-1728B52AA6E4}">
                <adec:decorative xmlns:adec="http://schemas.microsoft.com/office/drawing/2017/decorative" val="1"/>
              </a:ext>
            </a:extLst>
          </p:cNvPr>
          <p:cNvSpPr/>
          <p:nvPr/>
        </p:nvSpPr>
        <p:spPr>
          <a:xfrm>
            <a:off x="3377184" y="2148840"/>
            <a:ext cx="2606040" cy="3520440"/>
          </a:xfrm>
          <a:prstGeom prst="roundRect">
            <a:avLst>
              <a:gd name="adj" fmla="val 280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val 27">
            <a:extLst>
              <a:ext uri="{C183D7F6-B498-43B3-948B-1728B52AA6E4}">
                <adec:decorative xmlns:adec="http://schemas.microsoft.com/office/drawing/2017/decorative" val="1"/>
              </a:ext>
            </a:extLst>
          </p:cNvPr>
          <p:cNvSpPr/>
          <p:nvPr/>
        </p:nvSpPr>
        <p:spPr>
          <a:xfrm>
            <a:off x="3541776" y="2386584"/>
            <a:ext cx="438912" cy="438912"/>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3541776" y="2386584"/>
            <a:ext cx="438912" cy="438912"/>
          </a:xfrm>
          <a:prstGeom prst="rect">
            <a:avLst/>
          </a:prstGeom>
          <a:noFill/>
        </p:spPr>
        <p:txBody>
          <a:bodyPr wrap="square" lIns="0" rIns="0" tIns="0" bIns="0" anchor="ctr">
            <a:spAutoFit/>
          </a:bodyPr>
          <a:lstStyle/>
          <a:p>
            <a:pPr algn="ctr">
              <a:lnSpc>
                <a:spcPts val="1400"/>
              </a:lnSpc>
              <a:spcAft>
                <a:spcPts val="0"/>
              </a:spcAft>
            </a:pPr>
            <a:r>
              <a:rPr sz="1400" b="1" lang="ja-JP">
                <a:solidFill>
                  <a:srgbClr val="FFFFFF"/>
                </a:solidFill>
                <a:latin typeface="Yu Gothic"/>
                <a:ea typeface="Yu Gothic"/>
              </a:rPr>
              <a:t>2</a:t>
            </a:r>
          </a:p>
        </p:txBody>
      </p:sp>
      <p:sp>
        <p:nvSpPr>
          <p:cNvPr id="30" name="TextBox 29"/>
          <p:cNvSpPr txBox="1"/>
          <p:nvPr/>
        </p:nvSpPr>
        <p:spPr>
          <a:xfrm>
            <a:off x="4108704" y="2359152"/>
            <a:ext cx="1645920" cy="502920"/>
          </a:xfrm>
          <a:prstGeom prst="rect">
            <a:avLst/>
          </a:prstGeom>
          <a:noFill/>
        </p:spPr>
        <p:txBody>
          <a:bodyPr wrap="square" lIns="0" rIns="0" tIns="0" bIns="0" anchor="ctr">
            <a:spAutoFit/>
          </a:bodyPr>
          <a:lstStyle/>
          <a:p>
            <a:pPr>
              <a:lnSpc>
                <a:spcPts val="2000"/>
              </a:lnSpc>
              <a:spcAft>
                <a:spcPts val="0"/>
              </a:spcAft>
            </a:pPr>
            <a:r>
              <a:rPr sz="2000" b="1" lang="ja-JP">
                <a:solidFill>
                  <a:srgbClr val="17334A"/>
                </a:solidFill>
                <a:latin typeface="Yu Gothic"/>
                <a:ea typeface="Yu Gothic"/>
              </a:rPr>
              <a:t>原因</a:t>
            </a:r>
          </a:p>
        </p:txBody>
      </p:sp>
      <p:sp>
        <p:nvSpPr>
          <p:cNvPr id="31" name="TextBox 30"/>
          <p:cNvSpPr txBox="1"/>
          <p:nvPr/>
        </p:nvSpPr>
        <p:spPr>
          <a:xfrm>
            <a:off x="3605784" y="3017520"/>
            <a:ext cx="2148840"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入力する質問</a:t>
            </a:r>
          </a:p>
        </p:txBody>
      </p:sp>
      <p:sp>
        <p:nvSpPr>
          <p:cNvPr id="32" name="TextBox 31"/>
          <p:cNvSpPr txBox="1"/>
          <p:nvPr/>
        </p:nvSpPr>
        <p:spPr>
          <a:xfrm>
            <a:off x="3605784" y="3255264"/>
            <a:ext cx="2148840" cy="868680"/>
          </a:xfrm>
          <a:prstGeom prst="rect">
            <a:avLst/>
          </a:prstGeom>
          <a:noFill/>
        </p:spPr>
        <p:txBody>
          <a:bodyPr wrap="square" lIns="0" rIns="0" tIns="0" bIns="0">
            <a:spAutoFit/>
          </a:bodyPr>
          <a:lstStyle/>
          <a:p>
            <a:pPr>
              <a:lnSpc>
                <a:spcPts val="1889"/>
              </a:lnSpc>
              <a:spcAft>
                <a:spcPts val="0"/>
              </a:spcAft>
            </a:pPr>
            <a:r>
              <a:rPr sz="1400" b="1" lang="ja-JP">
                <a:solidFill>
                  <a:srgbClr val="21374A"/>
                </a:solidFill>
                <a:latin typeface="Yu Gothic"/>
                <a:ea typeface="Yu Gothic"/>
              </a:rPr>
              <a:t>一番足を引っ張った</a:t>
            </a:r>
          </a:p>
          <a:p>
            <a:pPr>
              <a:lnSpc>
                <a:spcPts val="1889"/>
              </a:lnSpc>
              <a:spcAft>
                <a:spcPts val="0"/>
              </a:spcAft>
            </a:pPr>
            <a:r>
              <a:rPr sz="1400" b="1" lang="ja-JP">
                <a:solidFill>
                  <a:srgbClr val="21374A"/>
                </a:solidFill>
                <a:latin typeface="Yu Gothic"/>
                <a:ea typeface="Yu Gothic"/>
              </a:rPr>
              <a:t>イベントは？</a:t>
            </a:r>
          </a:p>
          <a:p>
            <a:pPr>
              <a:lnSpc>
                <a:spcPts val="1490"/>
              </a:lnSpc>
              <a:spcAft>
                <a:spcPts val="0"/>
              </a:spcAft>
            </a:pPr>
            <a:r>
              <a:rPr sz="1100" b="0" lang="ja-JP">
                <a:solidFill>
                  <a:srgbClr val="566A78"/>
                </a:solidFill>
                <a:latin typeface="Yu Gothic"/>
                <a:ea typeface="Yu Gothic"/>
              </a:rPr>
              <a:t>※プラス側も続けて質問</a:t>
            </a:r>
          </a:p>
        </p:txBody>
      </p:sp>
      <p:sp>
        <p:nvSpPr>
          <p:cNvPr id="33" name="Rectangle 32">
            <a:extLst>
              <a:ext uri="{C183D7F6-B498-43B3-948B-1728B52AA6E4}">
                <adec:decorative xmlns:adec="http://schemas.microsoft.com/office/drawing/2017/decorative" val="1"/>
              </a:ext>
            </a:extLst>
          </p:cNvPr>
          <p:cNvSpPr/>
          <p:nvPr/>
        </p:nvSpPr>
        <p:spPr>
          <a:xfrm>
            <a:off x="3605784" y="4187952"/>
            <a:ext cx="2148840"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3605784" y="4270248"/>
            <a:ext cx="2148840"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回答の要点</a:t>
            </a:r>
          </a:p>
        </p:txBody>
      </p:sp>
      <p:sp>
        <p:nvSpPr>
          <p:cNvPr id="35" name="TextBox 34"/>
          <p:cNvSpPr txBox="1"/>
          <p:nvPr/>
        </p:nvSpPr>
        <p:spPr>
          <a:xfrm>
            <a:off x="3605784" y="4507992"/>
            <a:ext cx="2148840" cy="640080"/>
          </a:xfrm>
          <a:prstGeom prst="rect">
            <a:avLst/>
          </a:prstGeom>
          <a:noFill/>
        </p:spPr>
        <p:txBody>
          <a:bodyPr wrap="square" lIns="0" rIns="0" tIns="0" bIns="0">
            <a:spAutoFit/>
          </a:bodyPr>
          <a:lstStyle/>
          <a:p>
            <a:pPr>
              <a:lnSpc>
                <a:spcPts val="1760"/>
              </a:lnSpc>
              <a:spcAft>
                <a:spcPts val="0"/>
              </a:spcAft>
            </a:pPr>
            <a:r>
              <a:rPr sz="1350" b="1" lang="ja-JP">
                <a:solidFill>
                  <a:srgbClr val="BD4354"/>
                </a:solidFill>
                <a:latin typeface="Yu Gothic"/>
                <a:ea typeface="Yu Gothic"/>
              </a:rPr>
              <a:t>横断混乱（港湾・流動性）</a:t>
            </a:r>
          </a:p>
          <a:p>
            <a:pPr>
              <a:lnSpc>
                <a:spcPts val="1760"/>
              </a:lnSpc>
              <a:spcAft>
                <a:spcPts val="0"/>
              </a:spcAft>
            </a:pPr>
            <a:r>
              <a:rPr sz="1350" b="1" lang="ja-JP">
                <a:solidFill>
                  <a:srgbClr val="BD4354"/>
                </a:solidFill>
                <a:latin typeface="Yu Gothic"/>
                <a:ea typeface="Yu Gothic"/>
              </a:rPr>
              <a:t>−6.80億円</a:t>
            </a:r>
          </a:p>
        </p:txBody>
      </p:sp>
      <p:sp>
        <p:nvSpPr>
          <p:cNvPr id="36" name="Rounded Rectangle 35">
            <a:extLst>
              <a:ext uri="{C183D7F6-B498-43B3-948B-1728B52AA6E4}">
                <adec:decorative xmlns:adec="http://schemas.microsoft.com/office/drawing/2017/decorative" val="1"/>
              </a:ext>
            </a:extLst>
          </p:cNvPr>
          <p:cNvSpPr/>
          <p:nvPr/>
        </p:nvSpPr>
        <p:spPr>
          <a:xfrm>
            <a:off x="3605784" y="5193792"/>
            <a:ext cx="2148840" cy="329184"/>
          </a:xfrm>
          <a:prstGeom prst="roundRect">
            <a:avLst>
              <a:gd name="adj" fmla="val 50000"/>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3605784" y="5193792"/>
            <a:ext cx="2148840" cy="329184"/>
          </a:xfrm>
          <a:prstGeom prst="rect">
            <a:avLst/>
          </a:prstGeom>
          <a:noFill/>
        </p:spPr>
        <p:txBody>
          <a:bodyPr wrap="square" lIns="0" rIns="0" tIns="0" bIns="0" anchor="ctr">
            <a:spAutoFit/>
          </a:bodyPr>
          <a:lstStyle/>
          <a:p>
            <a:pPr algn="ctr">
              <a:lnSpc>
                <a:spcPts val="1150"/>
              </a:lnSpc>
              <a:spcAft>
                <a:spcPts val="0"/>
              </a:spcAft>
            </a:pPr>
            <a:r>
              <a:rPr sz="1150" b="1" lang="ja-JP">
                <a:solidFill>
                  <a:srgbClr val="6B7F8E"/>
                </a:solidFill>
                <a:latin typeface="Yu Gothic"/>
                <a:ea typeface="Yu Gothic"/>
              </a:rPr>
              <a:t>集計で回答</a:t>
            </a:r>
          </a:p>
        </p:txBody>
      </p:sp>
      <p:cxnSp>
        <p:nvCxnSpPr>
          <p:cNvPr id="38" name="Connector 37">
            <a:extLst>
              <a:ext uri="{C183D7F6-B498-43B3-948B-1728B52AA6E4}">
                <adec:decorative xmlns:adec="http://schemas.microsoft.com/office/drawing/2017/decorative" val="1"/>
              </a:ext>
            </a:extLst>
          </p:cNvPr>
          <p:cNvCxnSpPr/>
          <p:nvPr/>
        </p:nvCxnSpPr>
        <p:spPr>
          <a:xfrm>
            <a:off x="6001512" y="2606040"/>
            <a:ext cx="185928" cy="0"/>
          </a:xfrm>
          <a:prstGeom prst="line">
            <a:avLst/>
          </a:prstGeom>
          <a:ln w="25400">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a:extLst>
              <a:ext uri="{C183D7F6-B498-43B3-948B-1728B52AA6E4}">
                <adec:decorative xmlns:adec="http://schemas.microsoft.com/office/drawing/2017/decorative" val="1"/>
              </a:ext>
            </a:extLst>
          </p:cNvPr>
          <p:cNvSpPr/>
          <p:nvPr/>
        </p:nvSpPr>
        <p:spPr>
          <a:xfrm>
            <a:off x="6205728" y="2148840"/>
            <a:ext cx="2606040" cy="3520440"/>
          </a:xfrm>
          <a:prstGeom prst="roundRect">
            <a:avLst>
              <a:gd name="adj" fmla="val 280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Oval 39">
            <a:extLst>
              <a:ext uri="{C183D7F6-B498-43B3-948B-1728B52AA6E4}">
                <adec:decorative xmlns:adec="http://schemas.microsoft.com/office/drawing/2017/decorative" val="1"/>
              </a:ext>
            </a:extLst>
          </p:cNvPr>
          <p:cNvSpPr/>
          <p:nvPr/>
        </p:nvSpPr>
        <p:spPr>
          <a:xfrm>
            <a:off x="6370320" y="2386584"/>
            <a:ext cx="438912" cy="438912"/>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6370320" y="2386584"/>
            <a:ext cx="438912" cy="438912"/>
          </a:xfrm>
          <a:prstGeom prst="rect">
            <a:avLst/>
          </a:prstGeom>
          <a:noFill/>
        </p:spPr>
        <p:txBody>
          <a:bodyPr wrap="square" lIns="0" rIns="0" tIns="0" bIns="0" anchor="ctr">
            <a:spAutoFit/>
          </a:bodyPr>
          <a:lstStyle/>
          <a:p>
            <a:pPr algn="ctr">
              <a:lnSpc>
                <a:spcPts val="1400"/>
              </a:lnSpc>
              <a:spcAft>
                <a:spcPts val="0"/>
              </a:spcAft>
            </a:pPr>
            <a:r>
              <a:rPr sz="1400" b="1" lang="ja-JP">
                <a:solidFill>
                  <a:srgbClr val="FFFFFF"/>
                </a:solidFill>
                <a:latin typeface="Yu Gothic"/>
                <a:ea typeface="Yu Gothic"/>
              </a:rPr>
              <a:t>3</a:t>
            </a:r>
          </a:p>
        </p:txBody>
      </p:sp>
      <p:sp>
        <p:nvSpPr>
          <p:cNvPr id="42" name="TextBox 41"/>
          <p:cNvSpPr txBox="1"/>
          <p:nvPr/>
        </p:nvSpPr>
        <p:spPr>
          <a:xfrm>
            <a:off x="6937248" y="2359152"/>
            <a:ext cx="1645920" cy="502920"/>
          </a:xfrm>
          <a:prstGeom prst="rect">
            <a:avLst/>
          </a:prstGeom>
          <a:noFill/>
        </p:spPr>
        <p:txBody>
          <a:bodyPr wrap="square" lIns="0" rIns="0" tIns="0" bIns="0" anchor="ctr">
            <a:spAutoFit/>
          </a:bodyPr>
          <a:lstStyle/>
          <a:p>
            <a:pPr>
              <a:lnSpc>
                <a:spcPts val="2000"/>
              </a:lnSpc>
              <a:spcAft>
                <a:spcPts val="0"/>
              </a:spcAft>
            </a:pPr>
            <a:r>
              <a:rPr sz="2000" b="1" lang="ja-JP">
                <a:solidFill>
                  <a:srgbClr val="17334A"/>
                </a:solidFill>
                <a:latin typeface="Yu Gothic"/>
                <a:ea typeface="Yu Gothic"/>
              </a:rPr>
              <a:t>根拠</a:t>
            </a:r>
          </a:p>
        </p:txBody>
      </p:sp>
      <p:sp>
        <p:nvSpPr>
          <p:cNvPr id="43" name="TextBox 42"/>
          <p:cNvSpPr txBox="1"/>
          <p:nvPr/>
        </p:nvSpPr>
        <p:spPr>
          <a:xfrm>
            <a:off x="6434328" y="3017520"/>
            <a:ext cx="2148840"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入力する質問</a:t>
            </a:r>
          </a:p>
        </p:txBody>
      </p:sp>
      <p:sp>
        <p:nvSpPr>
          <p:cNvPr id="44" name="TextBox 43"/>
          <p:cNvSpPr txBox="1"/>
          <p:nvPr/>
        </p:nvSpPr>
        <p:spPr>
          <a:xfrm>
            <a:off x="6434328" y="3255264"/>
            <a:ext cx="2148840" cy="868680"/>
          </a:xfrm>
          <a:prstGeom prst="rect">
            <a:avLst/>
          </a:prstGeom>
          <a:noFill/>
        </p:spPr>
        <p:txBody>
          <a:bodyPr wrap="square" lIns="0" rIns="0" tIns="0" bIns="0">
            <a:spAutoFit/>
          </a:bodyPr>
          <a:lstStyle/>
          <a:p>
            <a:pPr>
              <a:lnSpc>
                <a:spcPts val="1889"/>
              </a:lnSpc>
              <a:spcAft>
                <a:spcPts val="0"/>
              </a:spcAft>
            </a:pPr>
            <a:r>
              <a:rPr sz="1400" b="1" lang="ja-JP">
                <a:solidFill>
                  <a:srgbClr val="21374A"/>
                </a:solidFill>
                <a:latin typeface="Yu Gothic"/>
                <a:ea typeface="Yu Gothic"/>
              </a:rPr>
              <a:t>食品の損失は、</a:t>
            </a:r>
          </a:p>
          <a:p>
            <a:pPr>
              <a:lnSpc>
                <a:spcPts val="1889"/>
              </a:lnSpc>
              <a:spcAft>
                <a:spcPts val="0"/>
              </a:spcAft>
            </a:pPr>
            <a:r>
              <a:rPr sz="1400" b="1" lang="ja-JP">
                <a:solidFill>
                  <a:srgbClr val="21374A"/>
                </a:solidFill>
                <a:latin typeface="Yu Gothic"/>
                <a:ea typeface="Yu Gothic"/>
              </a:rPr>
              <a:t>どの契約に響いたの？</a:t>
            </a:r>
          </a:p>
        </p:txBody>
      </p:sp>
      <p:sp>
        <p:nvSpPr>
          <p:cNvPr id="45" name="Rectangle 44">
            <a:extLst>
              <a:ext uri="{C183D7F6-B498-43B3-948B-1728B52AA6E4}">
                <adec:decorative xmlns:adec="http://schemas.microsoft.com/office/drawing/2017/decorative" val="1"/>
              </a:ext>
            </a:extLst>
          </p:cNvPr>
          <p:cNvSpPr/>
          <p:nvPr/>
        </p:nvSpPr>
        <p:spPr>
          <a:xfrm>
            <a:off x="6434328" y="4187952"/>
            <a:ext cx="2148840"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6434328" y="4270248"/>
            <a:ext cx="2148840"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回答の要点</a:t>
            </a:r>
          </a:p>
        </p:txBody>
      </p:sp>
      <p:sp>
        <p:nvSpPr>
          <p:cNvPr id="47" name="TextBox 46"/>
          <p:cNvSpPr txBox="1"/>
          <p:nvPr/>
        </p:nvSpPr>
        <p:spPr>
          <a:xfrm>
            <a:off x="6434328" y="4507992"/>
            <a:ext cx="2148840" cy="640080"/>
          </a:xfrm>
          <a:prstGeom prst="rect">
            <a:avLst/>
          </a:prstGeom>
          <a:noFill/>
        </p:spPr>
        <p:txBody>
          <a:bodyPr wrap="square" lIns="0" rIns="0" tIns="0" bIns="0">
            <a:spAutoFit/>
          </a:bodyPr>
          <a:lstStyle/>
          <a:p>
            <a:pPr>
              <a:lnSpc>
                <a:spcPts val="1760"/>
              </a:lnSpc>
              <a:spcAft>
                <a:spcPts val="0"/>
              </a:spcAft>
            </a:pPr>
            <a:r>
              <a:rPr sz="1350" b="1" lang="ja-JP">
                <a:solidFill>
                  <a:srgbClr val="BD4354"/>
                </a:solidFill>
                <a:latin typeface="Yu Gothic"/>
                <a:ea typeface="Yu Gothic"/>
              </a:rPr>
              <a:t>6契約に効き、</a:t>
            </a:r>
          </a:p>
          <a:p>
            <a:pPr>
              <a:lnSpc>
                <a:spcPts val="1760"/>
              </a:lnSpc>
              <a:spcAft>
                <a:spcPts val="0"/>
              </a:spcAft>
            </a:pPr>
            <a:r>
              <a:rPr sz="1350" b="1" lang="ja-JP">
                <a:solidFill>
                  <a:srgbClr val="BD4354"/>
                </a:solidFill>
                <a:latin typeface="Yu Gothic"/>
                <a:ea typeface="Yu Gothic"/>
              </a:rPr>
              <a:t>合計−1.14億円</a:t>
            </a:r>
          </a:p>
        </p:txBody>
      </p:sp>
      <p:sp>
        <p:nvSpPr>
          <p:cNvPr id="48" name="Rounded Rectangle 47">
            <a:extLst>
              <a:ext uri="{C183D7F6-B498-43B3-948B-1728B52AA6E4}">
                <adec:decorative xmlns:adec="http://schemas.microsoft.com/office/drawing/2017/decorative" val="1"/>
              </a:ext>
            </a:extLst>
          </p:cNvPr>
          <p:cNvSpPr/>
          <p:nvPr/>
        </p:nvSpPr>
        <p:spPr>
          <a:xfrm>
            <a:off x="6434328" y="5193792"/>
            <a:ext cx="2148840" cy="329184"/>
          </a:xfrm>
          <a:prstGeom prst="roundRect">
            <a:avLst>
              <a:gd name="adj" fmla="val 50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34328" y="5193792"/>
            <a:ext cx="2148840" cy="329184"/>
          </a:xfrm>
          <a:prstGeom prst="rect">
            <a:avLst/>
          </a:prstGeom>
          <a:noFill/>
        </p:spPr>
        <p:txBody>
          <a:bodyPr wrap="square" lIns="0" rIns="0" tIns="0" bIns="0" anchor="ctr">
            <a:spAutoFit/>
          </a:bodyPr>
          <a:lstStyle/>
          <a:p>
            <a:pPr algn="ctr">
              <a:lnSpc>
                <a:spcPts val="1150"/>
              </a:lnSpc>
              <a:spcAft>
                <a:spcPts val="0"/>
              </a:spcAft>
            </a:pPr>
            <a:r>
              <a:rPr sz="1150" b="1" lang="ja-JP">
                <a:solidFill>
                  <a:srgbClr val="087F83"/>
                </a:solidFill>
                <a:latin typeface="Yu Gothic"/>
                <a:ea typeface="Yu Gothic"/>
              </a:rPr>
              <a:t>関係から表を結んで回答</a:t>
            </a:r>
          </a:p>
        </p:txBody>
      </p:sp>
      <p:cxnSp>
        <p:nvCxnSpPr>
          <p:cNvPr id="50" name="Connector 49">
            <a:extLst>
              <a:ext uri="{C183D7F6-B498-43B3-948B-1728B52AA6E4}">
                <adec:decorative xmlns:adec="http://schemas.microsoft.com/office/drawing/2017/decorative" val="1"/>
              </a:ext>
            </a:extLst>
          </p:cNvPr>
          <p:cNvCxnSpPr/>
          <p:nvPr/>
        </p:nvCxnSpPr>
        <p:spPr>
          <a:xfrm>
            <a:off x="8830056" y="2606040"/>
            <a:ext cx="185928" cy="0"/>
          </a:xfrm>
          <a:prstGeom prst="line">
            <a:avLst/>
          </a:prstGeom>
          <a:ln w="25400">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a:extLst>
              <a:ext uri="{C183D7F6-B498-43B3-948B-1728B52AA6E4}">
                <adec:decorative xmlns:adec="http://schemas.microsoft.com/office/drawing/2017/decorative" val="1"/>
              </a:ext>
            </a:extLst>
          </p:cNvPr>
          <p:cNvSpPr/>
          <p:nvPr/>
        </p:nvSpPr>
        <p:spPr>
          <a:xfrm>
            <a:off x="9034272" y="2148840"/>
            <a:ext cx="2606040" cy="3520440"/>
          </a:xfrm>
          <a:prstGeom prst="roundRect">
            <a:avLst>
              <a:gd name="adj" fmla="val 2807"/>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Oval 51">
            <a:extLst>
              <a:ext uri="{C183D7F6-B498-43B3-948B-1728B52AA6E4}">
                <adec:decorative xmlns:adec="http://schemas.microsoft.com/office/drawing/2017/decorative" val="1"/>
              </a:ext>
            </a:extLst>
          </p:cNvPr>
          <p:cNvSpPr/>
          <p:nvPr/>
        </p:nvSpPr>
        <p:spPr>
          <a:xfrm>
            <a:off x="9198864" y="2386584"/>
            <a:ext cx="438912" cy="438912"/>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198864" y="2386584"/>
            <a:ext cx="438912" cy="438912"/>
          </a:xfrm>
          <a:prstGeom prst="rect">
            <a:avLst/>
          </a:prstGeom>
          <a:noFill/>
        </p:spPr>
        <p:txBody>
          <a:bodyPr wrap="square" lIns="0" rIns="0" tIns="0" bIns="0" anchor="ctr">
            <a:spAutoFit/>
          </a:bodyPr>
          <a:lstStyle/>
          <a:p>
            <a:pPr algn="ctr">
              <a:lnSpc>
                <a:spcPts val="1400"/>
              </a:lnSpc>
              <a:spcAft>
                <a:spcPts val="0"/>
              </a:spcAft>
            </a:pPr>
            <a:r>
              <a:rPr sz="1400" b="1" lang="ja-JP">
                <a:solidFill>
                  <a:srgbClr val="FFFFFF"/>
                </a:solidFill>
                <a:latin typeface="Yu Gothic"/>
                <a:ea typeface="Yu Gothic"/>
              </a:rPr>
              <a:t>4</a:t>
            </a:r>
          </a:p>
        </p:txBody>
      </p:sp>
      <p:sp>
        <p:nvSpPr>
          <p:cNvPr id="54" name="TextBox 53"/>
          <p:cNvSpPr txBox="1"/>
          <p:nvPr/>
        </p:nvSpPr>
        <p:spPr>
          <a:xfrm>
            <a:off x="9765792" y="2359152"/>
            <a:ext cx="1645920" cy="502920"/>
          </a:xfrm>
          <a:prstGeom prst="rect">
            <a:avLst/>
          </a:prstGeom>
          <a:noFill/>
        </p:spPr>
        <p:txBody>
          <a:bodyPr wrap="square" lIns="0" rIns="0" tIns="0" bIns="0" anchor="ctr">
            <a:spAutoFit/>
          </a:bodyPr>
          <a:lstStyle/>
          <a:p>
            <a:pPr>
              <a:lnSpc>
                <a:spcPts val="2000"/>
              </a:lnSpc>
              <a:spcAft>
                <a:spcPts val="0"/>
              </a:spcAft>
            </a:pPr>
            <a:r>
              <a:rPr sz="2000" b="1" lang="ja-JP">
                <a:solidFill>
                  <a:srgbClr val="17334A"/>
                </a:solidFill>
                <a:latin typeface="Yu Gothic"/>
                <a:ea typeface="Yu Gothic"/>
              </a:rPr>
              <a:t>打ち手</a:t>
            </a:r>
          </a:p>
        </p:txBody>
      </p:sp>
      <p:sp>
        <p:nvSpPr>
          <p:cNvPr id="55" name="TextBox 54"/>
          <p:cNvSpPr txBox="1"/>
          <p:nvPr/>
        </p:nvSpPr>
        <p:spPr>
          <a:xfrm>
            <a:off x="9262872" y="3017520"/>
            <a:ext cx="2148840"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入力する質問</a:t>
            </a:r>
          </a:p>
        </p:txBody>
      </p:sp>
      <p:sp>
        <p:nvSpPr>
          <p:cNvPr id="56" name="TextBox 55"/>
          <p:cNvSpPr txBox="1"/>
          <p:nvPr/>
        </p:nvSpPr>
        <p:spPr>
          <a:xfrm>
            <a:off x="9262872" y="3255264"/>
            <a:ext cx="2148840" cy="868680"/>
          </a:xfrm>
          <a:prstGeom prst="rect">
            <a:avLst/>
          </a:prstGeom>
          <a:noFill/>
        </p:spPr>
        <p:txBody>
          <a:bodyPr wrap="square" lIns="0" rIns="0" tIns="0" bIns="0">
            <a:spAutoFit/>
          </a:bodyPr>
          <a:lstStyle/>
          <a:p>
            <a:pPr>
              <a:lnSpc>
                <a:spcPts val="1889"/>
              </a:lnSpc>
              <a:spcAft>
                <a:spcPts val="0"/>
              </a:spcAft>
            </a:pPr>
            <a:r>
              <a:rPr sz="1400" b="1" lang="ja-JP">
                <a:solidFill>
                  <a:srgbClr val="21374A"/>
                </a:solidFill>
                <a:latin typeface="Yu Gothic"/>
                <a:ea typeface="Yu Gothic"/>
              </a:rPr>
              <a:t>いま手を打つべき</a:t>
            </a:r>
          </a:p>
          <a:p>
            <a:pPr>
              <a:lnSpc>
                <a:spcPts val="1889"/>
              </a:lnSpc>
              <a:spcAft>
                <a:spcPts val="0"/>
              </a:spcAft>
            </a:pPr>
            <a:r>
              <a:rPr sz="1400" b="1" lang="ja-JP">
                <a:solidFill>
                  <a:srgbClr val="21374A"/>
                </a:solidFill>
                <a:latin typeface="Yu Gothic"/>
                <a:ea typeface="Yu Gothic"/>
              </a:rPr>
              <a:t>契約ってどれ？</a:t>
            </a:r>
          </a:p>
        </p:txBody>
      </p:sp>
      <p:sp>
        <p:nvSpPr>
          <p:cNvPr id="57" name="Rectangle 56">
            <a:extLst>
              <a:ext uri="{C183D7F6-B498-43B3-948B-1728B52AA6E4}">
                <adec:decorative xmlns:adec="http://schemas.microsoft.com/office/drawing/2017/decorative" val="1"/>
              </a:ext>
            </a:extLst>
          </p:cNvPr>
          <p:cNvSpPr/>
          <p:nvPr/>
        </p:nvSpPr>
        <p:spPr>
          <a:xfrm>
            <a:off x="9262872" y="4187952"/>
            <a:ext cx="2148840"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9262872" y="4270248"/>
            <a:ext cx="2148840"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回答の要点</a:t>
            </a:r>
          </a:p>
        </p:txBody>
      </p:sp>
      <p:sp>
        <p:nvSpPr>
          <p:cNvPr id="59" name="TextBox 58"/>
          <p:cNvSpPr txBox="1"/>
          <p:nvPr/>
        </p:nvSpPr>
        <p:spPr>
          <a:xfrm>
            <a:off x="9262872" y="4507992"/>
            <a:ext cx="2148840" cy="640080"/>
          </a:xfrm>
          <a:prstGeom prst="rect">
            <a:avLst/>
          </a:prstGeom>
          <a:noFill/>
        </p:spPr>
        <p:txBody>
          <a:bodyPr wrap="square" lIns="0" rIns="0" tIns="0" bIns="0">
            <a:spAutoFit/>
          </a:bodyPr>
          <a:lstStyle/>
          <a:p>
            <a:pPr>
              <a:lnSpc>
                <a:spcPts val="1760"/>
              </a:lnSpc>
              <a:spcAft>
                <a:spcPts val="0"/>
              </a:spcAft>
            </a:pPr>
            <a:r>
              <a:rPr sz="1350" b="1" lang="ja-JP">
                <a:solidFill>
                  <a:srgbClr val="17334A"/>
                </a:solidFill>
                <a:latin typeface="Yu Gothic"/>
                <a:ea typeface="Yu Gothic"/>
              </a:rPr>
              <a:t>貿易金融の4契約を</a:t>
            </a:r>
          </a:p>
          <a:p>
            <a:pPr>
              <a:lnSpc>
                <a:spcPts val="1760"/>
              </a:lnSpc>
              <a:spcAft>
                <a:spcPts val="0"/>
              </a:spcAft>
            </a:pPr>
            <a:r>
              <a:rPr sz="1350" b="1" lang="ja-JP">
                <a:solidFill>
                  <a:srgbClr val="17334A"/>
                </a:solidFill>
                <a:latin typeface="Yu Gothic"/>
                <a:ea typeface="Yu Gothic"/>
              </a:rPr>
              <a:t>高優先と提案</a:t>
            </a:r>
          </a:p>
        </p:txBody>
      </p:sp>
      <p:sp>
        <p:nvSpPr>
          <p:cNvPr id="60" name="Rounded Rectangle 59">
            <a:extLst>
              <a:ext uri="{C183D7F6-B498-43B3-948B-1728B52AA6E4}">
                <adec:decorative xmlns:adec="http://schemas.microsoft.com/office/drawing/2017/decorative" val="1"/>
              </a:ext>
            </a:extLst>
          </p:cNvPr>
          <p:cNvSpPr/>
          <p:nvPr/>
        </p:nvSpPr>
        <p:spPr>
          <a:xfrm>
            <a:off x="9262872" y="5193792"/>
            <a:ext cx="2148840" cy="329184"/>
          </a:xfrm>
          <a:prstGeom prst="roundRect">
            <a:avLst>
              <a:gd name="adj" fmla="val 50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9262872" y="5193792"/>
            <a:ext cx="2148840" cy="329184"/>
          </a:xfrm>
          <a:prstGeom prst="rect">
            <a:avLst/>
          </a:prstGeom>
          <a:noFill/>
        </p:spPr>
        <p:txBody>
          <a:bodyPr wrap="square" lIns="0" rIns="0" tIns="0" bIns="0" anchor="ctr">
            <a:spAutoFit/>
          </a:bodyPr>
          <a:lstStyle/>
          <a:p>
            <a:pPr algn="ctr">
              <a:lnSpc>
                <a:spcPts val="1150"/>
              </a:lnSpc>
              <a:spcAft>
                <a:spcPts val="0"/>
              </a:spcAft>
            </a:pPr>
            <a:r>
              <a:rPr sz="1150" b="1" lang="ja-JP">
                <a:solidFill>
                  <a:srgbClr val="087F83"/>
                </a:solidFill>
                <a:latin typeface="Yu Gothic"/>
                <a:ea typeface="Yu Gothic"/>
              </a:rPr>
              <a:t>関係から表を結んで回答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年間の差は−1.03億円、月次の最大差は6.83億円</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第2章 デモで確認  |  質問① 全体</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年間の差だけを見ると小さくても、月次では大きな差が出ている場合があります。</a:t>
            </a:r>
          </a:p>
          <a:p>
            <a:pPr>
              <a:lnSpc>
                <a:spcPts val="2160"/>
              </a:lnSpc>
              <a:spcAft>
                <a:spcPts val="0"/>
              </a:spcAft>
            </a:pPr>
            <a:r>
              <a:rPr sz="1600" b="0" lang="ja-JP">
                <a:solidFill>
                  <a:srgbClr val="566A78"/>
                </a:solidFill>
                <a:latin typeface="Yu Gothic"/>
                <a:ea typeface="Yu Gothic"/>
              </a:rPr>
              <a:t>最初に、全体の動きと差の大きい月を押さえてから、原因に進みます。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差が大きい2026年5月と2026年9月は、横断イベント（5月11日〜31日、9月1日〜21日）の期間と重なります。次の質問で分解します。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11</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3794760" cy="1188720"/>
          </a:xfrm>
          <a:prstGeom prst="roundRect">
            <a:avLst>
              <a:gd name="adj" fmla="val 6153"/>
            </a:avLst>
          </a:prstGeom>
          <a:solidFill>
            <a:srgbClr val="FFFFFF"/>
          </a:solidFill>
          <a:ln w="22225">
            <a:solidFill>
              <a:srgbClr val="087F8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49808" y="2267712"/>
            <a:ext cx="3392424" cy="201168"/>
          </a:xfrm>
          <a:prstGeom prst="rect">
            <a:avLst/>
          </a:prstGeom>
          <a:noFill/>
        </p:spPr>
        <p:txBody>
          <a:bodyPr wrap="square" lIns="0" rIns="0" tIns="0" bIns="0">
            <a:spAutoFit/>
          </a:bodyPr>
          <a:lstStyle/>
          <a:p>
            <a:pPr>
              <a:lnSpc>
                <a:spcPts val="1100"/>
              </a:lnSpc>
              <a:spcAft>
                <a:spcPts val="0"/>
              </a:spcAft>
            </a:pPr>
            <a:r>
              <a:rPr sz="1100" b="1" lang="ja-JP">
                <a:solidFill>
                  <a:srgbClr val="087F83"/>
                </a:solidFill>
                <a:latin typeface="Yu Gothic"/>
                <a:ea typeface="Yu Gothic"/>
              </a:rPr>
              <a:t>Data Agentへの入力</a:t>
            </a:r>
          </a:p>
        </p:txBody>
      </p:sp>
      <p:sp>
        <p:nvSpPr>
          <p:cNvPr id="17" name="TextBox 16"/>
          <p:cNvSpPr txBox="1"/>
          <p:nvPr/>
        </p:nvSpPr>
        <p:spPr>
          <a:xfrm>
            <a:off x="749808" y="2551176"/>
            <a:ext cx="3392424" cy="713232"/>
          </a:xfrm>
          <a:prstGeom prst="rect">
            <a:avLst/>
          </a:prstGeom>
          <a:noFill/>
        </p:spPr>
        <p:txBody>
          <a:bodyPr wrap="square" lIns="0" rIns="0" tIns="0" bIns="0">
            <a:spAutoFit/>
          </a:bodyPr>
          <a:lstStyle/>
          <a:p>
            <a:pPr>
              <a:lnSpc>
                <a:spcPts val="2340"/>
              </a:lnSpc>
              <a:spcAft>
                <a:spcPts val="0"/>
              </a:spcAft>
            </a:pPr>
            <a:r>
              <a:rPr sz="1800" b="1" lang="ja-JP">
                <a:solidFill>
                  <a:srgbClr val="17334A"/>
                </a:solidFill>
                <a:latin typeface="Yu Gothic"/>
                <a:ea typeface="Yu Gothic"/>
              </a:rPr>
              <a:t>今期のEBITDAって、</a:t>
            </a:r>
          </a:p>
          <a:p>
            <a:pPr>
              <a:lnSpc>
                <a:spcPts val="2340"/>
              </a:lnSpc>
              <a:spcAft>
                <a:spcPts val="0"/>
              </a:spcAft>
            </a:pPr>
            <a:r>
              <a:rPr sz="1800" b="1" lang="ja-JP">
                <a:solidFill>
                  <a:srgbClr val="17334A"/>
                </a:solidFill>
                <a:latin typeface="Yu Gothic"/>
                <a:ea typeface="Yu Gothic"/>
              </a:rPr>
              <a:t>予算に対してどうだった？</a:t>
            </a:r>
          </a:p>
        </p:txBody>
      </p:sp>
      <p:sp>
        <p:nvSpPr>
          <p:cNvPr id="18" name="Rounded Rectangle 17">
            <a:extLst>
              <a:ext uri="{C183D7F6-B498-43B3-948B-1728B52AA6E4}">
                <adec:decorative xmlns:adec="http://schemas.microsoft.com/office/drawing/2017/decorative" val="1"/>
              </a:ext>
            </a:extLst>
          </p:cNvPr>
          <p:cNvSpPr/>
          <p:nvPr/>
        </p:nvSpPr>
        <p:spPr>
          <a:xfrm>
            <a:off x="548640" y="3474720"/>
            <a:ext cx="3794760" cy="2240280"/>
          </a:xfrm>
          <a:prstGeom prst="roundRect">
            <a:avLst>
              <a:gd name="adj" fmla="val 3265"/>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49808" y="3593592"/>
            <a:ext cx="3383280" cy="201168"/>
          </a:xfrm>
          <a:prstGeom prst="rect">
            <a:avLst/>
          </a:prstGeom>
          <a:noFill/>
        </p:spPr>
        <p:txBody>
          <a:bodyPr wrap="square" lIns="0" rIns="0" tIns="0" bIns="0">
            <a:spAutoFit/>
          </a:bodyPr>
          <a:lstStyle/>
          <a:p>
            <a:pPr>
              <a:lnSpc>
                <a:spcPts val="1100"/>
              </a:lnSpc>
              <a:spcAft>
                <a:spcPts val="0"/>
              </a:spcAft>
            </a:pPr>
            <a:r>
              <a:rPr sz="1100" b="1" lang="ja-JP">
                <a:solidFill>
                  <a:srgbClr val="087F83"/>
                </a:solidFill>
                <a:latin typeface="Yu Gothic"/>
                <a:ea typeface="Yu Gothic"/>
              </a:rPr>
              <a:t>回答の要点</a:t>
            </a:r>
          </a:p>
        </p:txBody>
      </p:sp>
      <p:sp>
        <p:nvSpPr>
          <p:cNvPr id="20" name="TextBox 19"/>
          <p:cNvSpPr txBox="1"/>
          <p:nvPr/>
        </p:nvSpPr>
        <p:spPr>
          <a:xfrm>
            <a:off x="749808" y="3840480"/>
            <a:ext cx="1556308" cy="493776"/>
          </a:xfrm>
          <a:prstGeom prst="rect">
            <a:avLst/>
          </a:prstGeom>
          <a:noFill/>
        </p:spPr>
        <p:txBody>
          <a:bodyPr wrap="square" lIns="0" rIns="0" tIns="0" bIns="0" anchor="ctr">
            <a:spAutoFit/>
          </a:bodyPr>
          <a:lstStyle/>
          <a:p>
            <a:pPr>
              <a:lnSpc>
                <a:spcPts val="1200"/>
              </a:lnSpc>
              <a:spcAft>
                <a:spcPts val="0"/>
              </a:spcAft>
            </a:pPr>
            <a:r>
              <a:rPr sz="1200" b="1" lang="ja-JP">
                <a:solidFill>
                  <a:srgbClr val="566A78"/>
                </a:solidFill>
                <a:latin typeface="Yu Gothic"/>
                <a:ea typeface="Yu Gothic"/>
              </a:rPr>
              <a:t>実績（全額連結）</a:t>
            </a:r>
          </a:p>
        </p:txBody>
      </p:sp>
      <p:sp>
        <p:nvSpPr>
          <p:cNvPr id="21" name="TextBox 20"/>
          <p:cNvSpPr txBox="1"/>
          <p:nvPr/>
        </p:nvSpPr>
        <p:spPr>
          <a:xfrm>
            <a:off x="1764792" y="3840480"/>
            <a:ext cx="2368296" cy="493776"/>
          </a:xfrm>
          <a:prstGeom prst="rect">
            <a:avLst/>
          </a:prstGeom>
          <a:noFill/>
        </p:spPr>
        <p:txBody>
          <a:bodyPr wrap="square" lIns="0" rIns="0" tIns="0" bIns="0" anchor="ctr">
            <a:spAutoFit/>
          </a:bodyPr>
          <a:lstStyle/>
          <a:p>
            <a:pPr algn="r">
              <a:lnSpc>
                <a:spcPts val="2000"/>
              </a:lnSpc>
              <a:spcAft>
                <a:spcPts val="0"/>
              </a:spcAft>
            </a:pPr>
            <a:r>
              <a:rPr sz="2000" b="1" lang="ja-JP">
                <a:solidFill>
                  <a:srgbClr val="17334A"/>
                </a:solidFill>
                <a:latin typeface="Yu Gothic"/>
                <a:ea typeface="Yu Gothic"/>
              </a:rPr>
              <a:t>447.57億円</a:t>
            </a:r>
          </a:p>
        </p:txBody>
      </p:sp>
      <p:sp>
        <p:nvSpPr>
          <p:cNvPr id="22" name="TextBox 21"/>
          <p:cNvSpPr txBox="1"/>
          <p:nvPr/>
        </p:nvSpPr>
        <p:spPr>
          <a:xfrm>
            <a:off x="749808" y="4334256"/>
            <a:ext cx="1556308" cy="493776"/>
          </a:xfrm>
          <a:prstGeom prst="rect">
            <a:avLst/>
          </a:prstGeom>
          <a:noFill/>
        </p:spPr>
        <p:txBody>
          <a:bodyPr wrap="square" lIns="0" rIns="0" tIns="0" bIns="0" anchor="ctr">
            <a:spAutoFit/>
          </a:bodyPr>
          <a:lstStyle/>
          <a:p>
            <a:pPr>
              <a:lnSpc>
                <a:spcPts val="1200"/>
              </a:lnSpc>
              <a:spcAft>
                <a:spcPts val="0"/>
              </a:spcAft>
            </a:pPr>
            <a:r>
              <a:rPr sz="1200" b="1" lang="ja-JP">
                <a:solidFill>
                  <a:srgbClr val="566A78"/>
                </a:solidFill>
                <a:latin typeface="Yu Gothic"/>
                <a:ea typeface="Yu Gothic"/>
              </a:rPr>
              <a:t>基準値</a:t>
            </a:r>
          </a:p>
        </p:txBody>
      </p:sp>
      <p:sp>
        <p:nvSpPr>
          <p:cNvPr id="23" name="TextBox 22"/>
          <p:cNvSpPr txBox="1"/>
          <p:nvPr/>
        </p:nvSpPr>
        <p:spPr>
          <a:xfrm>
            <a:off x="1764792" y="4334256"/>
            <a:ext cx="2368296" cy="493776"/>
          </a:xfrm>
          <a:prstGeom prst="rect">
            <a:avLst/>
          </a:prstGeom>
          <a:noFill/>
        </p:spPr>
        <p:txBody>
          <a:bodyPr wrap="square" lIns="0" rIns="0" tIns="0" bIns="0" anchor="ctr">
            <a:spAutoFit/>
          </a:bodyPr>
          <a:lstStyle/>
          <a:p>
            <a:pPr algn="r">
              <a:lnSpc>
                <a:spcPts val="2000"/>
              </a:lnSpc>
              <a:spcAft>
                <a:spcPts val="0"/>
              </a:spcAft>
            </a:pPr>
            <a:r>
              <a:rPr sz="2000" b="1" lang="ja-JP">
                <a:solidFill>
                  <a:srgbClr val="17334A"/>
                </a:solidFill>
                <a:latin typeface="Yu Gothic"/>
                <a:ea typeface="Yu Gothic"/>
              </a:rPr>
              <a:t>448.60億円</a:t>
            </a:r>
          </a:p>
        </p:txBody>
      </p:sp>
      <p:sp>
        <p:nvSpPr>
          <p:cNvPr id="24" name="Rectangle 23">
            <a:extLst>
              <a:ext uri="{C183D7F6-B498-43B3-948B-1728B52AA6E4}">
                <adec:decorative xmlns:adec="http://schemas.microsoft.com/office/drawing/2017/decorative" val="1"/>
              </a:ext>
            </a:extLst>
          </p:cNvPr>
          <p:cNvSpPr/>
          <p:nvPr/>
        </p:nvSpPr>
        <p:spPr>
          <a:xfrm>
            <a:off x="749808" y="4334256"/>
            <a:ext cx="3383280"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4828032"/>
            <a:ext cx="1556308" cy="493776"/>
          </a:xfrm>
          <a:prstGeom prst="rect">
            <a:avLst/>
          </a:prstGeom>
          <a:noFill/>
        </p:spPr>
        <p:txBody>
          <a:bodyPr wrap="square" lIns="0" rIns="0" tIns="0" bIns="0" anchor="ctr">
            <a:spAutoFit/>
          </a:bodyPr>
          <a:lstStyle/>
          <a:p>
            <a:pPr>
              <a:lnSpc>
                <a:spcPts val="1200"/>
              </a:lnSpc>
              <a:spcAft>
                <a:spcPts val="0"/>
              </a:spcAft>
            </a:pPr>
            <a:r>
              <a:rPr sz="1200" b="1" lang="ja-JP">
                <a:solidFill>
                  <a:srgbClr val="566A78"/>
                </a:solidFill>
                <a:latin typeface="Yu Gothic"/>
                <a:ea typeface="Yu Gothic"/>
              </a:rPr>
              <a:t>差（−0.23%）</a:t>
            </a:r>
          </a:p>
        </p:txBody>
      </p:sp>
      <p:sp>
        <p:nvSpPr>
          <p:cNvPr id="26" name="TextBox 25"/>
          <p:cNvSpPr txBox="1"/>
          <p:nvPr/>
        </p:nvSpPr>
        <p:spPr>
          <a:xfrm>
            <a:off x="1764792" y="4828032"/>
            <a:ext cx="2368296" cy="493776"/>
          </a:xfrm>
          <a:prstGeom prst="rect">
            <a:avLst/>
          </a:prstGeom>
          <a:noFill/>
        </p:spPr>
        <p:txBody>
          <a:bodyPr wrap="square" lIns="0" rIns="0" tIns="0" bIns="0" anchor="ctr">
            <a:spAutoFit/>
          </a:bodyPr>
          <a:lstStyle/>
          <a:p>
            <a:pPr algn="r">
              <a:lnSpc>
                <a:spcPts val="2000"/>
              </a:lnSpc>
              <a:spcAft>
                <a:spcPts val="0"/>
              </a:spcAft>
            </a:pPr>
            <a:r>
              <a:rPr sz="2000" b="1" lang="ja-JP">
                <a:solidFill>
                  <a:srgbClr val="BD4354"/>
                </a:solidFill>
                <a:latin typeface="Yu Gothic"/>
                <a:ea typeface="Yu Gothic"/>
              </a:rPr>
              <a:t>−1.03億円</a:t>
            </a:r>
          </a:p>
        </p:txBody>
      </p:sp>
      <p:sp>
        <p:nvSpPr>
          <p:cNvPr id="27" name="Rectangle 26">
            <a:extLst>
              <a:ext uri="{C183D7F6-B498-43B3-948B-1728B52AA6E4}">
                <adec:decorative xmlns:adec="http://schemas.microsoft.com/office/drawing/2017/decorative" val="1"/>
              </a:ext>
            </a:extLst>
          </p:cNvPr>
          <p:cNvSpPr/>
          <p:nvPr/>
        </p:nvSpPr>
        <p:spPr>
          <a:xfrm>
            <a:off x="749808" y="4828032"/>
            <a:ext cx="3383280"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49808" y="5321808"/>
            <a:ext cx="3383280" cy="365760"/>
          </a:xfrm>
          <a:prstGeom prst="rect">
            <a:avLst/>
          </a:prstGeom>
          <a:noFill/>
        </p:spPr>
        <p:txBody>
          <a:bodyPr wrap="square" lIns="0" rIns="0" tIns="0" bIns="0">
            <a:spAutoFit/>
          </a:bodyPr>
          <a:lstStyle/>
          <a:p>
            <a:pPr>
              <a:lnSpc>
                <a:spcPts val="1320"/>
              </a:lnSpc>
              <a:spcAft>
                <a:spcPts val="0"/>
              </a:spcAft>
            </a:pPr>
            <a:r>
              <a:rPr sz="1100" b="0" lang="ja-JP">
                <a:solidFill>
                  <a:srgbClr val="566A78"/>
                </a:solidFill>
                <a:latin typeface="Yu Gothic"/>
                <a:ea typeface="Yu Gothic"/>
              </a:rPr>
              <a:t>基準値は、イベントの影響を加える前の</a:t>
            </a:r>
            <a:br>
              <a:rPr lang="ja-JP" sz="1100"/>
            </a:br>
            <a:r>
              <a:rPr sz="1100" b="0" lang="ja-JP">
                <a:solidFill>
                  <a:srgbClr val="566A78"/>
                </a:solidFill>
                <a:latin typeface="Yu Gothic"/>
                <a:ea typeface="Yu Gothic"/>
              </a:rPr>
              <a:t>想定値です。デモでは予算に相当します。</a:t>
            </a:r>
          </a:p>
        </p:txBody>
      </p:sp>
      <p:sp>
        <p:nvSpPr>
          <p:cNvPr id="29" name="Rounded Rectangle 28">
            <a:extLst>
              <a:ext uri="{C183D7F6-B498-43B3-948B-1728B52AA6E4}">
                <adec:decorative xmlns:adec="http://schemas.microsoft.com/office/drawing/2017/decorative" val="1"/>
              </a:ext>
            </a:extLst>
          </p:cNvPr>
          <p:cNvSpPr/>
          <p:nvPr/>
        </p:nvSpPr>
        <p:spPr>
          <a:xfrm>
            <a:off x="4526280" y="2148840"/>
            <a:ext cx="711403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0" y="2267712"/>
            <a:ext cx="3657600" cy="256032"/>
          </a:xfrm>
          <a:prstGeom prst="rect">
            <a:avLst/>
          </a:prstGeom>
          <a:noFill/>
        </p:spPr>
        <p:txBody>
          <a:bodyPr wrap="square" lIns="0" rIns="0" tIns="0" bIns="0">
            <a:spAutoFit/>
          </a:bodyPr>
          <a:lstStyle/>
          <a:p>
            <a:pPr>
              <a:lnSpc>
                <a:spcPts val="1300"/>
              </a:lnSpc>
              <a:spcAft>
                <a:spcPts val="0"/>
              </a:spcAft>
            </a:pPr>
            <a:r>
              <a:rPr sz="1300" b="1" lang="ja-JP">
                <a:solidFill>
                  <a:srgbClr val="087F83"/>
                </a:solidFill>
                <a:latin typeface="Yu Gothic"/>
                <a:ea typeface="Yu Gothic"/>
              </a:rPr>
              <a:t>月次のEBITDA（億円、全額連結）</a:t>
            </a:r>
          </a:p>
        </p:txBody>
      </p:sp>
      <p:cxnSp>
        <p:nvCxnSpPr>
          <p:cNvPr id="31" name="Connector 30">
            <a:extLst>
              <a:ext uri="{C183D7F6-B498-43B3-948B-1728B52AA6E4}">
                <adec:decorative xmlns:adec="http://schemas.microsoft.com/office/drawing/2017/decorative" val="1"/>
              </a:ext>
            </a:extLst>
          </p:cNvPr>
          <p:cNvCxnSpPr/>
          <p:nvPr/>
        </p:nvCxnSpPr>
        <p:spPr>
          <a:xfrm>
            <a:off x="8366760" y="2395728"/>
            <a:ext cx="411480" cy="0"/>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851392" y="2286000"/>
            <a:ext cx="1371600" cy="219456"/>
          </a:xfrm>
          <a:prstGeom prst="rect">
            <a:avLst/>
          </a:prstGeom>
          <a:noFill/>
        </p:spPr>
        <p:txBody>
          <a:bodyPr wrap="square" lIns="0" rIns="0" tIns="0" bIns="0">
            <a:spAutoFit/>
          </a:bodyPr>
          <a:lstStyle/>
          <a:p>
            <a:pPr>
              <a:lnSpc>
                <a:spcPts val="1150"/>
              </a:lnSpc>
              <a:spcAft>
                <a:spcPts val="0"/>
              </a:spcAft>
            </a:pPr>
            <a:r>
              <a:rPr sz="1150" b="1" lang="ja-JP">
                <a:solidFill>
                  <a:srgbClr val="566A78"/>
                </a:solidFill>
                <a:latin typeface="Yu Gothic"/>
                <a:ea typeface="Yu Gothic"/>
              </a:rPr>
              <a:t>基準値</a:t>
            </a:r>
          </a:p>
        </p:txBody>
      </p:sp>
      <p:cxnSp>
        <p:nvCxnSpPr>
          <p:cNvPr id="33" name="Connector 32">
            <a:extLst>
              <a:ext uri="{C183D7F6-B498-43B3-948B-1728B52AA6E4}">
                <adec:decorative xmlns:adec="http://schemas.microsoft.com/office/drawing/2017/decorative" val="1"/>
              </a:ext>
            </a:extLst>
          </p:cNvPr>
          <p:cNvCxnSpPr/>
          <p:nvPr/>
        </p:nvCxnSpPr>
        <p:spPr>
          <a:xfrm>
            <a:off x="10195560" y="2395728"/>
            <a:ext cx="411480" cy="0"/>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0680192" y="2286000"/>
            <a:ext cx="731520" cy="219456"/>
          </a:xfrm>
          <a:prstGeom prst="rect">
            <a:avLst/>
          </a:prstGeom>
          <a:noFill/>
        </p:spPr>
        <p:txBody>
          <a:bodyPr wrap="square" lIns="0" rIns="0" tIns="0" bIns="0">
            <a:spAutoFit/>
          </a:bodyPr>
          <a:lstStyle/>
          <a:p>
            <a:pPr>
              <a:lnSpc>
                <a:spcPts val="1150"/>
              </a:lnSpc>
              <a:spcAft>
                <a:spcPts val="0"/>
              </a:spcAft>
            </a:pPr>
            <a:r>
              <a:rPr sz="1150" b="1" lang="ja-JP">
                <a:solidFill>
                  <a:srgbClr val="566A78"/>
                </a:solidFill>
                <a:latin typeface="Yu Gothic"/>
                <a:ea typeface="Yu Gothic"/>
              </a:rPr>
              <a:t>実績</a:t>
            </a:r>
          </a:p>
        </p:txBody>
      </p:sp>
      <p:sp>
        <p:nvSpPr>
          <p:cNvPr id="35" name="Rectangle 34">
            <a:extLst>
              <a:ext uri="{C183D7F6-B498-43B3-948B-1728B52AA6E4}">
                <adec:decorative xmlns:adec="http://schemas.microsoft.com/office/drawing/2017/decorative" val="1"/>
              </a:ext>
            </a:extLst>
          </p:cNvPr>
          <p:cNvSpPr/>
          <p:nvPr/>
        </p:nvSpPr>
        <p:spPr>
          <a:xfrm>
            <a:off x="5303520" y="4892040"/>
            <a:ext cx="6080760" cy="7315"/>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4754880" y="4800600"/>
            <a:ext cx="502920" cy="182880"/>
          </a:xfrm>
          <a:prstGeom prst="rect">
            <a:avLst/>
          </a:prstGeom>
          <a:noFill/>
        </p:spPr>
        <p:txBody>
          <a:bodyPr wrap="square" lIns="0" rIns="0" tIns="0" bIns="0">
            <a:spAutoFit/>
          </a:bodyPr>
          <a:lstStyle/>
          <a:p>
            <a:pPr algn="r">
              <a:lnSpc>
                <a:spcPts val="1050"/>
              </a:lnSpc>
              <a:spcAft>
                <a:spcPts val="0"/>
              </a:spcAft>
            </a:pPr>
            <a:r>
              <a:rPr sz="1050" b="0" lang="ja-JP">
                <a:solidFill>
                  <a:srgbClr val="566A78"/>
                </a:solidFill>
                <a:latin typeface="Yu Gothic"/>
                <a:ea typeface="Yu Gothic"/>
              </a:rPr>
              <a:t>28</a:t>
            </a:r>
          </a:p>
        </p:txBody>
      </p:sp>
      <p:sp>
        <p:nvSpPr>
          <p:cNvPr id="37" name="Rectangle 36">
            <a:extLst>
              <a:ext uri="{C183D7F6-B498-43B3-948B-1728B52AA6E4}">
                <adec:decorative xmlns:adec="http://schemas.microsoft.com/office/drawing/2017/decorative" val="1"/>
              </a:ext>
            </a:extLst>
          </p:cNvPr>
          <p:cNvSpPr/>
          <p:nvPr/>
        </p:nvSpPr>
        <p:spPr>
          <a:xfrm>
            <a:off x="5303520" y="4354829"/>
            <a:ext cx="6080760" cy="7315"/>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754880" y="4263390"/>
            <a:ext cx="502920" cy="182880"/>
          </a:xfrm>
          <a:prstGeom prst="rect">
            <a:avLst/>
          </a:prstGeom>
          <a:noFill/>
        </p:spPr>
        <p:txBody>
          <a:bodyPr wrap="square" lIns="0" rIns="0" tIns="0" bIns="0">
            <a:spAutoFit/>
          </a:bodyPr>
          <a:lstStyle/>
          <a:p>
            <a:pPr algn="r">
              <a:lnSpc>
                <a:spcPts val="1050"/>
              </a:lnSpc>
              <a:spcAft>
                <a:spcPts val="0"/>
              </a:spcAft>
            </a:pPr>
            <a:r>
              <a:rPr sz="1050" b="0" lang="ja-JP">
                <a:solidFill>
                  <a:srgbClr val="566A78"/>
                </a:solidFill>
                <a:latin typeface="Yu Gothic"/>
                <a:ea typeface="Yu Gothic"/>
              </a:rPr>
              <a:t>32</a:t>
            </a:r>
          </a:p>
        </p:txBody>
      </p:sp>
      <p:sp>
        <p:nvSpPr>
          <p:cNvPr id="39" name="Rectangle 38">
            <a:extLst>
              <a:ext uri="{C183D7F6-B498-43B3-948B-1728B52AA6E4}">
                <adec:decorative xmlns:adec="http://schemas.microsoft.com/office/drawing/2017/decorative" val="1"/>
              </a:ext>
            </a:extLst>
          </p:cNvPr>
          <p:cNvSpPr/>
          <p:nvPr/>
        </p:nvSpPr>
        <p:spPr>
          <a:xfrm>
            <a:off x="5303520" y="3817620"/>
            <a:ext cx="6080760" cy="7315"/>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4754880" y="3726180"/>
            <a:ext cx="502920" cy="182880"/>
          </a:xfrm>
          <a:prstGeom prst="rect">
            <a:avLst/>
          </a:prstGeom>
          <a:noFill/>
        </p:spPr>
        <p:txBody>
          <a:bodyPr wrap="square" lIns="0" rIns="0" tIns="0" bIns="0">
            <a:spAutoFit/>
          </a:bodyPr>
          <a:lstStyle/>
          <a:p>
            <a:pPr algn="r">
              <a:lnSpc>
                <a:spcPts val="1050"/>
              </a:lnSpc>
              <a:spcAft>
                <a:spcPts val="0"/>
              </a:spcAft>
            </a:pPr>
            <a:r>
              <a:rPr sz="1050" b="0" lang="ja-JP">
                <a:solidFill>
                  <a:srgbClr val="566A78"/>
                </a:solidFill>
                <a:latin typeface="Yu Gothic"/>
                <a:ea typeface="Yu Gothic"/>
              </a:rPr>
              <a:t>36</a:t>
            </a:r>
          </a:p>
        </p:txBody>
      </p:sp>
      <p:sp>
        <p:nvSpPr>
          <p:cNvPr id="41" name="Rectangle 40">
            <a:extLst>
              <a:ext uri="{C183D7F6-B498-43B3-948B-1728B52AA6E4}">
                <adec:decorative xmlns:adec="http://schemas.microsoft.com/office/drawing/2017/decorative" val="1"/>
              </a:ext>
            </a:extLst>
          </p:cNvPr>
          <p:cNvSpPr/>
          <p:nvPr/>
        </p:nvSpPr>
        <p:spPr>
          <a:xfrm>
            <a:off x="5303520" y="3280410"/>
            <a:ext cx="6080760" cy="7315"/>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4754880" y="3188970"/>
            <a:ext cx="502920" cy="182880"/>
          </a:xfrm>
          <a:prstGeom prst="rect">
            <a:avLst/>
          </a:prstGeom>
          <a:noFill/>
        </p:spPr>
        <p:txBody>
          <a:bodyPr wrap="square" lIns="0" rIns="0" tIns="0" bIns="0">
            <a:spAutoFit/>
          </a:bodyPr>
          <a:lstStyle/>
          <a:p>
            <a:pPr algn="r">
              <a:lnSpc>
                <a:spcPts val="1050"/>
              </a:lnSpc>
              <a:spcAft>
                <a:spcPts val="0"/>
              </a:spcAft>
            </a:pPr>
            <a:r>
              <a:rPr sz="1050" b="0" lang="ja-JP">
                <a:solidFill>
                  <a:srgbClr val="566A78"/>
                </a:solidFill>
                <a:latin typeface="Yu Gothic"/>
                <a:ea typeface="Yu Gothic"/>
              </a:rPr>
              <a:t>40</a:t>
            </a:r>
          </a:p>
        </p:txBody>
      </p:sp>
      <p:sp>
        <p:nvSpPr>
          <p:cNvPr id="43" name="Rectangle 42">
            <a:extLst>
              <a:ext uri="{C183D7F6-B498-43B3-948B-1728B52AA6E4}">
                <adec:decorative xmlns:adec="http://schemas.microsoft.com/office/drawing/2017/decorative" val="1"/>
              </a:ext>
            </a:extLst>
          </p:cNvPr>
          <p:cNvSpPr/>
          <p:nvPr/>
        </p:nvSpPr>
        <p:spPr>
          <a:xfrm>
            <a:off x="5303520" y="2743200"/>
            <a:ext cx="6080760" cy="7315"/>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4754880" y="2651760"/>
            <a:ext cx="502920" cy="182880"/>
          </a:xfrm>
          <a:prstGeom prst="rect">
            <a:avLst/>
          </a:prstGeom>
          <a:noFill/>
        </p:spPr>
        <p:txBody>
          <a:bodyPr wrap="square" lIns="0" rIns="0" tIns="0" bIns="0">
            <a:spAutoFit/>
          </a:bodyPr>
          <a:lstStyle/>
          <a:p>
            <a:pPr algn="r">
              <a:lnSpc>
                <a:spcPts val="1050"/>
              </a:lnSpc>
              <a:spcAft>
                <a:spcPts val="0"/>
              </a:spcAft>
            </a:pPr>
            <a:r>
              <a:rPr sz="1050" b="0" lang="ja-JP">
                <a:solidFill>
                  <a:srgbClr val="566A78"/>
                </a:solidFill>
                <a:latin typeface="Yu Gothic"/>
                <a:ea typeface="Yu Gothic"/>
              </a:rPr>
              <a:t>44</a:t>
            </a:r>
          </a:p>
        </p:txBody>
      </p:sp>
      <p:cxnSp>
        <p:nvCxnSpPr>
          <p:cNvPr id="45" name="Connector 44">
            <a:extLst>
              <a:ext uri="{C183D7F6-B498-43B3-948B-1728B52AA6E4}">
                <adec:decorative xmlns:adec="http://schemas.microsoft.com/office/drawing/2017/decorative" val="1"/>
              </a:ext>
            </a:extLst>
          </p:cNvPr>
          <p:cNvCxnSpPr/>
          <p:nvPr/>
        </p:nvCxnSpPr>
        <p:spPr>
          <a:xfrm flipV="1">
            <a:off x="5440680" y="3253549"/>
            <a:ext cx="527858" cy="231000"/>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a:extLst>
              <a:ext uri="{C183D7F6-B498-43B3-948B-1728B52AA6E4}">
                <adec:decorative xmlns:adec="http://schemas.microsoft.com/office/drawing/2017/decorative" val="1"/>
              </a:ext>
            </a:extLst>
          </p:cNvPr>
          <p:cNvCxnSpPr/>
          <p:nvPr/>
        </p:nvCxnSpPr>
        <p:spPr>
          <a:xfrm>
            <a:off x="5440680" y="3484549"/>
            <a:ext cx="527858" cy="49692"/>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7" name="Connector 46">
            <a:extLst>
              <a:ext uri="{C183D7F6-B498-43B3-948B-1728B52AA6E4}">
                <adec:decorative xmlns:adec="http://schemas.microsoft.com/office/drawing/2017/decorative" val="1"/>
              </a:ext>
            </a:extLst>
          </p:cNvPr>
          <p:cNvCxnSpPr/>
          <p:nvPr/>
        </p:nvCxnSpPr>
        <p:spPr>
          <a:xfrm>
            <a:off x="5968538" y="3253549"/>
            <a:ext cx="527858" cy="115500"/>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cxnSp>
        <p:nvCxnSpPr>
          <p:cNvPr id="48" name="Connector 47">
            <a:extLst>
              <a:ext uri="{C183D7F6-B498-43B3-948B-1728B52AA6E4}">
                <adec:decorative xmlns:adec="http://schemas.microsoft.com/office/drawing/2017/decorative" val="1"/>
              </a:ext>
            </a:extLst>
          </p:cNvPr>
          <p:cNvCxnSpPr/>
          <p:nvPr/>
        </p:nvCxnSpPr>
        <p:spPr>
          <a:xfrm flipV="1">
            <a:off x="5968538" y="3369049"/>
            <a:ext cx="527858" cy="165192"/>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9" name="Connector 48">
            <a:extLst>
              <a:ext uri="{C183D7F6-B498-43B3-948B-1728B52AA6E4}">
                <adec:decorative xmlns:adec="http://schemas.microsoft.com/office/drawing/2017/decorative" val="1"/>
              </a:ext>
            </a:extLst>
          </p:cNvPr>
          <p:cNvCxnSpPr/>
          <p:nvPr/>
        </p:nvCxnSpPr>
        <p:spPr>
          <a:xfrm>
            <a:off x="6496396" y="3369049"/>
            <a:ext cx="527858" cy="367989"/>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a:extLst>
              <a:ext uri="{C183D7F6-B498-43B3-948B-1728B52AA6E4}">
                <adec:decorative xmlns:adec="http://schemas.microsoft.com/office/drawing/2017/decorative" val="1"/>
              </a:ext>
            </a:extLst>
          </p:cNvPr>
          <p:cNvCxnSpPr/>
          <p:nvPr/>
        </p:nvCxnSpPr>
        <p:spPr>
          <a:xfrm>
            <a:off x="6496396" y="3369049"/>
            <a:ext cx="527858" cy="616449"/>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1" name="Connector 50">
            <a:extLst>
              <a:ext uri="{C183D7F6-B498-43B3-948B-1728B52AA6E4}">
                <adec:decorative xmlns:adec="http://schemas.microsoft.com/office/drawing/2017/decorative" val="1"/>
              </a:ext>
            </a:extLst>
          </p:cNvPr>
          <p:cNvCxnSpPr/>
          <p:nvPr/>
        </p:nvCxnSpPr>
        <p:spPr>
          <a:xfrm>
            <a:off x="7024254" y="3737038"/>
            <a:ext cx="527858" cy="682257"/>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a:extLst>
              <a:ext uri="{C183D7F6-B498-43B3-948B-1728B52AA6E4}">
                <adec:decorative xmlns:adec="http://schemas.microsoft.com/office/drawing/2017/decorative" val="1"/>
              </a:ext>
            </a:extLst>
          </p:cNvPr>
          <p:cNvCxnSpPr/>
          <p:nvPr/>
        </p:nvCxnSpPr>
        <p:spPr>
          <a:xfrm>
            <a:off x="7024254" y="3985498"/>
            <a:ext cx="527858" cy="592274"/>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3" name="Connector 52">
            <a:extLst>
              <a:ext uri="{C183D7F6-B498-43B3-948B-1728B52AA6E4}">
                <adec:decorative xmlns:adec="http://schemas.microsoft.com/office/drawing/2017/decorative" val="1"/>
              </a:ext>
            </a:extLst>
          </p:cNvPr>
          <p:cNvCxnSpPr/>
          <p:nvPr/>
        </p:nvCxnSpPr>
        <p:spPr>
          <a:xfrm flipV="1">
            <a:off x="7552112" y="3718236"/>
            <a:ext cx="527858" cy="701059"/>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a:extLst>
              <a:ext uri="{C183D7F6-B498-43B3-948B-1728B52AA6E4}">
                <adec:decorative xmlns:adec="http://schemas.microsoft.com/office/drawing/2017/decorative" val="1"/>
              </a:ext>
            </a:extLst>
          </p:cNvPr>
          <p:cNvCxnSpPr/>
          <p:nvPr/>
        </p:nvCxnSpPr>
        <p:spPr>
          <a:xfrm flipV="1">
            <a:off x="7552112" y="3472462"/>
            <a:ext cx="527858" cy="1105310"/>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5" name="Connector 54">
            <a:extLst>
              <a:ext uri="{C183D7F6-B498-43B3-948B-1728B52AA6E4}">
                <adec:decorative xmlns:adec="http://schemas.microsoft.com/office/drawing/2017/decorative" val="1"/>
              </a:ext>
            </a:extLst>
          </p:cNvPr>
          <p:cNvCxnSpPr/>
          <p:nvPr/>
        </p:nvCxnSpPr>
        <p:spPr>
          <a:xfrm flipV="1">
            <a:off x="8079970" y="3575875"/>
            <a:ext cx="527859" cy="142361"/>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a:extLst>
              <a:ext uri="{C183D7F6-B498-43B3-948B-1728B52AA6E4}">
                <adec:decorative xmlns:adec="http://schemas.microsoft.com/office/drawing/2017/decorative" val="1"/>
              </a:ext>
            </a:extLst>
          </p:cNvPr>
          <p:cNvCxnSpPr/>
          <p:nvPr/>
        </p:nvCxnSpPr>
        <p:spPr>
          <a:xfrm>
            <a:off x="8079970" y="3472462"/>
            <a:ext cx="527859" cy="268605"/>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7" name="Connector 56">
            <a:extLst>
              <a:ext uri="{C183D7F6-B498-43B3-948B-1728B52AA6E4}">
                <adec:decorative xmlns:adec="http://schemas.microsoft.com/office/drawing/2017/decorative" val="1"/>
              </a:ext>
            </a:extLst>
          </p:cNvPr>
          <p:cNvCxnSpPr/>
          <p:nvPr/>
        </p:nvCxnSpPr>
        <p:spPr>
          <a:xfrm flipV="1">
            <a:off x="8607829" y="3140735"/>
            <a:ext cx="527858" cy="435140"/>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a:extLst>
              <a:ext uri="{C183D7F6-B498-43B3-948B-1728B52AA6E4}">
                <adec:decorative xmlns:adec="http://schemas.microsoft.com/office/drawing/2017/decorative" val="1"/>
              </a:ext>
            </a:extLst>
          </p:cNvPr>
          <p:cNvCxnSpPr/>
          <p:nvPr/>
        </p:nvCxnSpPr>
        <p:spPr>
          <a:xfrm>
            <a:off x="8607829" y="3741067"/>
            <a:ext cx="527858" cy="315611"/>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9" name="Connector 58">
            <a:extLst>
              <a:ext uri="{C183D7F6-B498-43B3-948B-1728B52AA6E4}">
                <adec:decorative xmlns:adec="http://schemas.microsoft.com/office/drawing/2017/decorative" val="1"/>
              </a:ext>
            </a:extLst>
          </p:cNvPr>
          <p:cNvCxnSpPr/>
          <p:nvPr/>
        </p:nvCxnSpPr>
        <p:spPr>
          <a:xfrm>
            <a:off x="9135687" y="3140735"/>
            <a:ext cx="527858" cy="208169"/>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a:extLst>
              <a:ext uri="{C183D7F6-B498-43B3-948B-1728B52AA6E4}">
                <adec:decorative xmlns:adec="http://schemas.microsoft.com/office/drawing/2017/decorative" val="1"/>
              </a:ext>
            </a:extLst>
          </p:cNvPr>
          <p:cNvCxnSpPr/>
          <p:nvPr/>
        </p:nvCxnSpPr>
        <p:spPr>
          <a:xfrm flipV="1">
            <a:off x="9135687" y="3066869"/>
            <a:ext cx="527858" cy="989809"/>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61" name="Connector 60">
            <a:extLst>
              <a:ext uri="{C183D7F6-B498-43B3-948B-1728B52AA6E4}">
                <adec:decorative xmlns:adec="http://schemas.microsoft.com/office/drawing/2017/decorative" val="1"/>
              </a:ext>
            </a:extLst>
          </p:cNvPr>
          <p:cNvCxnSpPr/>
          <p:nvPr/>
        </p:nvCxnSpPr>
        <p:spPr>
          <a:xfrm>
            <a:off x="9663545" y="3348904"/>
            <a:ext cx="527858" cy="209512"/>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cxnSp>
        <p:nvCxnSpPr>
          <p:cNvPr id="62" name="Connector 61">
            <a:extLst>
              <a:ext uri="{C183D7F6-B498-43B3-948B-1728B52AA6E4}">
                <adec:decorative xmlns:adec="http://schemas.microsoft.com/office/drawing/2017/decorative" val="1"/>
              </a:ext>
            </a:extLst>
          </p:cNvPr>
          <p:cNvCxnSpPr/>
          <p:nvPr/>
        </p:nvCxnSpPr>
        <p:spPr>
          <a:xfrm>
            <a:off x="9663545" y="3066869"/>
            <a:ext cx="527858" cy="331727"/>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63" name="Connector 62">
            <a:extLst>
              <a:ext uri="{C183D7F6-B498-43B3-948B-1728B52AA6E4}">
                <adec:decorative xmlns:adec="http://schemas.microsoft.com/office/drawing/2017/decorative" val="1"/>
              </a:ext>
            </a:extLst>
          </p:cNvPr>
          <p:cNvCxnSpPr/>
          <p:nvPr/>
        </p:nvCxnSpPr>
        <p:spPr>
          <a:xfrm>
            <a:off x="10191403" y="3558416"/>
            <a:ext cx="527858" cy="376047"/>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cxnSp>
        <p:nvCxnSpPr>
          <p:cNvPr id="64" name="Connector 63">
            <a:extLst>
              <a:ext uri="{C183D7F6-B498-43B3-948B-1728B52AA6E4}">
                <adec:decorative xmlns:adec="http://schemas.microsoft.com/office/drawing/2017/decorative" val="1"/>
              </a:ext>
            </a:extLst>
          </p:cNvPr>
          <p:cNvCxnSpPr/>
          <p:nvPr/>
        </p:nvCxnSpPr>
        <p:spPr>
          <a:xfrm>
            <a:off x="10191403" y="3398596"/>
            <a:ext cx="527858" cy="378733"/>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65" name="Connector 64">
            <a:extLst>
              <a:ext uri="{C183D7F6-B498-43B3-948B-1728B52AA6E4}">
                <adec:decorative xmlns:adec="http://schemas.microsoft.com/office/drawing/2017/decorative" val="1"/>
              </a:ext>
            </a:extLst>
          </p:cNvPr>
          <p:cNvCxnSpPr/>
          <p:nvPr/>
        </p:nvCxnSpPr>
        <p:spPr>
          <a:xfrm>
            <a:off x="10719261" y="3934463"/>
            <a:ext cx="527859" cy="104756"/>
          </a:xfrm>
          <a:prstGeom prst="line">
            <a:avLst/>
          </a:prstGeom>
          <a:ln w="28575">
            <a:solidFill>
              <a:srgbClr val="6B7F8E"/>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a:extLst>
              <a:ext uri="{C183D7F6-B498-43B3-948B-1728B52AA6E4}">
                <adec:decorative xmlns:adec="http://schemas.microsoft.com/office/drawing/2017/decorative" val="1"/>
              </a:ext>
            </a:extLst>
          </p:cNvPr>
          <p:cNvCxnSpPr/>
          <p:nvPr/>
        </p:nvCxnSpPr>
        <p:spPr>
          <a:xfrm flipV="1">
            <a:off x="10719261" y="3254892"/>
            <a:ext cx="527859" cy="522437"/>
          </a:xfrm>
          <a:prstGeom prst="line">
            <a:avLst/>
          </a:prstGeom>
          <a:ln w="34925">
            <a:solidFill>
              <a:srgbClr val="087F83"/>
            </a:solidFill>
          </a:ln>
        </p:spPr>
        <p:style>
          <a:lnRef idx="2">
            <a:schemeClr val="accent1"/>
          </a:lnRef>
          <a:fillRef idx="0">
            <a:schemeClr val="accent1"/>
          </a:fillRef>
          <a:effectRef idx="1">
            <a:schemeClr val="accent1"/>
          </a:effectRef>
          <a:fontRef idx="minor">
            <a:schemeClr val="tx1"/>
          </a:fontRef>
        </p:style>
      </p:cxnSp>
      <p:sp>
        <p:nvSpPr>
          <p:cNvPr id="67" name="Oval 66">
            <a:extLst>
              <a:ext uri="{C183D7F6-B498-43B3-948B-1728B52AA6E4}">
                <adec:decorative xmlns:adec="http://schemas.microsoft.com/office/drawing/2017/decorative" val="1"/>
              </a:ext>
            </a:extLst>
          </p:cNvPr>
          <p:cNvSpPr/>
          <p:nvPr/>
        </p:nvSpPr>
        <p:spPr>
          <a:xfrm>
            <a:off x="5399532" y="3443401"/>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a:extLst>
              <a:ext uri="{C183D7F6-B498-43B3-948B-1728B52AA6E4}">
                <adec:decorative xmlns:adec="http://schemas.microsoft.com/office/drawing/2017/decorative" val="1"/>
              </a:ext>
            </a:extLst>
          </p:cNvPr>
          <p:cNvSpPr/>
          <p:nvPr/>
        </p:nvSpPr>
        <p:spPr>
          <a:xfrm>
            <a:off x="5385816" y="3429685"/>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166360"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10月</a:t>
            </a:r>
          </a:p>
        </p:txBody>
      </p:sp>
      <p:sp>
        <p:nvSpPr>
          <p:cNvPr id="70" name="Oval 69">
            <a:extLst>
              <a:ext uri="{C183D7F6-B498-43B3-948B-1728B52AA6E4}">
                <adec:decorative xmlns:adec="http://schemas.microsoft.com/office/drawing/2017/decorative" val="1"/>
              </a:ext>
            </a:extLst>
          </p:cNvPr>
          <p:cNvSpPr/>
          <p:nvPr/>
        </p:nvSpPr>
        <p:spPr>
          <a:xfrm>
            <a:off x="5927390" y="3212401"/>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Oval 70">
            <a:extLst>
              <a:ext uri="{C183D7F6-B498-43B3-948B-1728B52AA6E4}">
                <adec:decorative xmlns:adec="http://schemas.microsoft.com/office/drawing/2017/decorative" val="1"/>
              </a:ext>
            </a:extLst>
          </p:cNvPr>
          <p:cNvSpPr/>
          <p:nvPr/>
        </p:nvSpPr>
        <p:spPr>
          <a:xfrm>
            <a:off x="5913674" y="3479377"/>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5694218"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11月</a:t>
            </a:r>
          </a:p>
        </p:txBody>
      </p:sp>
      <p:sp>
        <p:nvSpPr>
          <p:cNvPr id="73" name="Oval 72">
            <a:extLst>
              <a:ext uri="{C183D7F6-B498-43B3-948B-1728B52AA6E4}">
                <adec:decorative xmlns:adec="http://schemas.microsoft.com/office/drawing/2017/decorative" val="1"/>
              </a:ext>
            </a:extLst>
          </p:cNvPr>
          <p:cNvSpPr/>
          <p:nvPr/>
        </p:nvSpPr>
        <p:spPr>
          <a:xfrm>
            <a:off x="6455248" y="3327901"/>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Oval 73">
            <a:extLst>
              <a:ext uri="{C183D7F6-B498-43B3-948B-1728B52AA6E4}">
                <adec:decorative xmlns:adec="http://schemas.microsoft.com/office/drawing/2017/decorative" val="1"/>
              </a:ext>
            </a:extLst>
          </p:cNvPr>
          <p:cNvSpPr/>
          <p:nvPr/>
        </p:nvSpPr>
        <p:spPr>
          <a:xfrm>
            <a:off x="6441532" y="3314185"/>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6222076"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12月</a:t>
            </a:r>
          </a:p>
        </p:txBody>
      </p:sp>
      <p:sp>
        <p:nvSpPr>
          <p:cNvPr id="76" name="Oval 75">
            <a:extLst>
              <a:ext uri="{C183D7F6-B498-43B3-948B-1728B52AA6E4}">
                <adec:decorative xmlns:adec="http://schemas.microsoft.com/office/drawing/2017/decorative" val="1"/>
              </a:ext>
            </a:extLst>
          </p:cNvPr>
          <p:cNvSpPr/>
          <p:nvPr/>
        </p:nvSpPr>
        <p:spPr>
          <a:xfrm>
            <a:off x="6983106" y="3695890"/>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Oval 76">
            <a:extLst>
              <a:ext uri="{C183D7F6-B498-43B3-948B-1728B52AA6E4}">
                <adec:decorative xmlns:adec="http://schemas.microsoft.com/office/drawing/2017/decorative" val="1"/>
              </a:ext>
            </a:extLst>
          </p:cNvPr>
          <p:cNvSpPr/>
          <p:nvPr/>
        </p:nvSpPr>
        <p:spPr>
          <a:xfrm>
            <a:off x="6969390" y="3930634"/>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6749934"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1月</a:t>
            </a:r>
          </a:p>
        </p:txBody>
      </p:sp>
      <p:sp>
        <p:nvSpPr>
          <p:cNvPr id="79" name="Oval 78">
            <a:extLst>
              <a:ext uri="{C183D7F6-B498-43B3-948B-1728B52AA6E4}">
                <adec:decorative xmlns:adec="http://schemas.microsoft.com/office/drawing/2017/decorative" val="1"/>
              </a:ext>
            </a:extLst>
          </p:cNvPr>
          <p:cNvSpPr/>
          <p:nvPr/>
        </p:nvSpPr>
        <p:spPr>
          <a:xfrm>
            <a:off x="7510964" y="4378147"/>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Oval 79">
            <a:extLst>
              <a:ext uri="{C183D7F6-B498-43B3-948B-1728B52AA6E4}">
                <adec:decorative xmlns:adec="http://schemas.microsoft.com/office/drawing/2017/decorative" val="1"/>
              </a:ext>
            </a:extLst>
          </p:cNvPr>
          <p:cNvSpPr/>
          <p:nvPr/>
        </p:nvSpPr>
        <p:spPr>
          <a:xfrm>
            <a:off x="7497248" y="4522908"/>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7277792"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2月</a:t>
            </a:r>
          </a:p>
        </p:txBody>
      </p:sp>
      <p:sp>
        <p:nvSpPr>
          <p:cNvPr id="82" name="Oval 81">
            <a:extLst>
              <a:ext uri="{C183D7F6-B498-43B3-948B-1728B52AA6E4}">
                <adec:decorative xmlns:adec="http://schemas.microsoft.com/office/drawing/2017/decorative" val="1"/>
              </a:ext>
            </a:extLst>
          </p:cNvPr>
          <p:cNvSpPr/>
          <p:nvPr/>
        </p:nvSpPr>
        <p:spPr>
          <a:xfrm>
            <a:off x="8038822" y="3677088"/>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Oval 82">
            <a:extLst>
              <a:ext uri="{C183D7F6-B498-43B3-948B-1728B52AA6E4}">
                <adec:decorative xmlns:adec="http://schemas.microsoft.com/office/drawing/2017/decorative" val="1"/>
              </a:ext>
            </a:extLst>
          </p:cNvPr>
          <p:cNvSpPr/>
          <p:nvPr/>
        </p:nvSpPr>
        <p:spPr>
          <a:xfrm>
            <a:off x="8025106" y="3417598"/>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7805650"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3月</a:t>
            </a:r>
          </a:p>
        </p:txBody>
      </p:sp>
      <p:sp>
        <p:nvSpPr>
          <p:cNvPr id="85" name="Oval 84">
            <a:extLst>
              <a:ext uri="{C183D7F6-B498-43B3-948B-1728B52AA6E4}">
                <adec:decorative xmlns:adec="http://schemas.microsoft.com/office/drawing/2017/decorative" val="1"/>
              </a:ext>
            </a:extLst>
          </p:cNvPr>
          <p:cNvSpPr/>
          <p:nvPr/>
        </p:nvSpPr>
        <p:spPr>
          <a:xfrm>
            <a:off x="8566681" y="3534727"/>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Oval 85">
            <a:extLst>
              <a:ext uri="{C183D7F6-B498-43B3-948B-1728B52AA6E4}">
                <adec:decorative xmlns:adec="http://schemas.microsoft.com/office/drawing/2017/decorative" val="1"/>
              </a:ext>
            </a:extLst>
          </p:cNvPr>
          <p:cNvSpPr/>
          <p:nvPr/>
        </p:nvSpPr>
        <p:spPr>
          <a:xfrm>
            <a:off x="8552965" y="3686203"/>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333509"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4月</a:t>
            </a:r>
          </a:p>
        </p:txBody>
      </p:sp>
      <p:sp>
        <p:nvSpPr>
          <p:cNvPr id="88" name="Oval 87">
            <a:extLst>
              <a:ext uri="{C183D7F6-B498-43B3-948B-1728B52AA6E4}">
                <adec:decorative xmlns:adec="http://schemas.microsoft.com/office/drawing/2017/decorative" val="1"/>
              </a:ext>
            </a:extLst>
          </p:cNvPr>
          <p:cNvSpPr/>
          <p:nvPr/>
        </p:nvSpPr>
        <p:spPr>
          <a:xfrm>
            <a:off x="9094539" y="3099587"/>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Oval 88">
            <a:extLst>
              <a:ext uri="{C183D7F6-B498-43B3-948B-1728B52AA6E4}">
                <adec:decorative xmlns:adec="http://schemas.microsoft.com/office/drawing/2017/decorative" val="1"/>
              </a:ext>
            </a:extLst>
          </p:cNvPr>
          <p:cNvSpPr/>
          <p:nvPr/>
        </p:nvSpPr>
        <p:spPr>
          <a:xfrm>
            <a:off x="9080823" y="4001814"/>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8861367"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5月</a:t>
            </a:r>
          </a:p>
        </p:txBody>
      </p:sp>
      <p:sp>
        <p:nvSpPr>
          <p:cNvPr id="91" name="Oval 90">
            <a:extLst>
              <a:ext uri="{C183D7F6-B498-43B3-948B-1728B52AA6E4}">
                <adec:decorative xmlns:adec="http://schemas.microsoft.com/office/drawing/2017/decorative" val="1"/>
              </a:ext>
            </a:extLst>
          </p:cNvPr>
          <p:cNvSpPr/>
          <p:nvPr/>
        </p:nvSpPr>
        <p:spPr>
          <a:xfrm>
            <a:off x="9622397" y="3307756"/>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Oval 91">
            <a:extLst>
              <a:ext uri="{C183D7F6-B498-43B3-948B-1728B52AA6E4}">
                <adec:decorative xmlns:adec="http://schemas.microsoft.com/office/drawing/2017/decorative" val="1"/>
              </a:ext>
            </a:extLst>
          </p:cNvPr>
          <p:cNvSpPr/>
          <p:nvPr/>
        </p:nvSpPr>
        <p:spPr>
          <a:xfrm>
            <a:off x="9608681" y="3012005"/>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389225"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6月</a:t>
            </a:r>
          </a:p>
        </p:txBody>
      </p:sp>
      <p:sp>
        <p:nvSpPr>
          <p:cNvPr id="94" name="Oval 93">
            <a:extLst>
              <a:ext uri="{C183D7F6-B498-43B3-948B-1728B52AA6E4}">
                <adec:decorative xmlns:adec="http://schemas.microsoft.com/office/drawing/2017/decorative" val="1"/>
              </a:ext>
            </a:extLst>
          </p:cNvPr>
          <p:cNvSpPr/>
          <p:nvPr/>
        </p:nvSpPr>
        <p:spPr>
          <a:xfrm>
            <a:off x="10150255" y="3517268"/>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Oval 94">
            <a:extLst>
              <a:ext uri="{C183D7F6-B498-43B3-948B-1728B52AA6E4}">
                <adec:decorative xmlns:adec="http://schemas.microsoft.com/office/drawing/2017/decorative" val="1"/>
              </a:ext>
            </a:extLst>
          </p:cNvPr>
          <p:cNvSpPr/>
          <p:nvPr/>
        </p:nvSpPr>
        <p:spPr>
          <a:xfrm>
            <a:off x="10136539" y="3343732"/>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9917083"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7月</a:t>
            </a:r>
          </a:p>
        </p:txBody>
      </p:sp>
      <p:sp>
        <p:nvSpPr>
          <p:cNvPr id="97" name="Oval 96">
            <a:extLst>
              <a:ext uri="{C183D7F6-B498-43B3-948B-1728B52AA6E4}">
                <adec:decorative xmlns:adec="http://schemas.microsoft.com/office/drawing/2017/decorative" val="1"/>
              </a:ext>
            </a:extLst>
          </p:cNvPr>
          <p:cNvSpPr/>
          <p:nvPr/>
        </p:nvSpPr>
        <p:spPr>
          <a:xfrm>
            <a:off x="10678113" y="3893315"/>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Oval 97">
            <a:extLst>
              <a:ext uri="{C183D7F6-B498-43B3-948B-1728B52AA6E4}">
                <adec:decorative xmlns:adec="http://schemas.microsoft.com/office/drawing/2017/decorative" val="1"/>
              </a:ext>
            </a:extLst>
          </p:cNvPr>
          <p:cNvSpPr/>
          <p:nvPr/>
        </p:nvSpPr>
        <p:spPr>
          <a:xfrm>
            <a:off x="10664397" y="3722465"/>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10444941"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8月</a:t>
            </a:r>
          </a:p>
        </p:txBody>
      </p:sp>
      <p:sp>
        <p:nvSpPr>
          <p:cNvPr id="100" name="Oval 99">
            <a:extLst>
              <a:ext uri="{C183D7F6-B498-43B3-948B-1728B52AA6E4}">
                <adec:decorative xmlns:adec="http://schemas.microsoft.com/office/drawing/2017/decorative" val="1"/>
              </a:ext>
            </a:extLst>
          </p:cNvPr>
          <p:cNvSpPr/>
          <p:nvPr/>
        </p:nvSpPr>
        <p:spPr>
          <a:xfrm>
            <a:off x="11205972" y="3998071"/>
            <a:ext cx="82296" cy="82296"/>
          </a:xfrm>
          <a:prstGeom prst="ellipse">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Oval 100">
            <a:extLst>
              <a:ext uri="{C183D7F6-B498-43B3-948B-1728B52AA6E4}">
                <adec:decorative xmlns:adec="http://schemas.microsoft.com/office/drawing/2017/decorative" val="1"/>
              </a:ext>
            </a:extLst>
          </p:cNvPr>
          <p:cNvSpPr/>
          <p:nvPr/>
        </p:nvSpPr>
        <p:spPr>
          <a:xfrm>
            <a:off x="11192256" y="3200028"/>
            <a:ext cx="109728" cy="109728"/>
          </a:xfrm>
          <a:prstGeom prst="ellipse">
            <a:avLst/>
          </a:prstGeom>
          <a:solidFill>
            <a:srgbClr val="087F83"/>
          </a:solidFill>
          <a:ln w="1270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TextBox 101"/>
          <p:cNvSpPr txBox="1"/>
          <p:nvPr/>
        </p:nvSpPr>
        <p:spPr>
          <a:xfrm>
            <a:off x="10972800" y="4983479"/>
            <a:ext cx="548640"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9月</a:t>
            </a:r>
          </a:p>
        </p:txBody>
      </p:sp>
      <p:sp>
        <p:nvSpPr>
          <p:cNvPr id="103" name="TextBox 102"/>
          <p:cNvSpPr txBox="1"/>
          <p:nvPr/>
        </p:nvSpPr>
        <p:spPr>
          <a:xfrm>
            <a:off x="5602778" y="5221224"/>
            <a:ext cx="731520" cy="201168"/>
          </a:xfrm>
          <a:prstGeom prst="rect">
            <a:avLst/>
          </a:prstGeom>
          <a:noFill/>
        </p:spPr>
        <p:txBody>
          <a:bodyPr wrap="square" lIns="0" rIns="0" tIns="0" bIns="0">
            <a:spAutoFit/>
          </a:bodyPr>
          <a:lstStyle/>
          <a:p>
            <a:pPr algn="ctr">
              <a:lnSpc>
                <a:spcPts val="1050"/>
              </a:lnSpc>
              <a:spcAft>
                <a:spcPts val="0"/>
              </a:spcAft>
            </a:pPr>
            <a:r>
              <a:rPr sz="1050" b="1" lang="ja-JP">
                <a:solidFill>
                  <a:srgbClr val="566A78"/>
                </a:solidFill>
                <a:latin typeface="Yu Gothic"/>
                <a:ea typeface="Yu Gothic"/>
              </a:rPr>
              <a:t>2025年</a:t>
            </a:r>
          </a:p>
        </p:txBody>
      </p:sp>
      <p:sp>
        <p:nvSpPr>
          <p:cNvPr id="104" name="TextBox 103"/>
          <p:cNvSpPr txBox="1"/>
          <p:nvPr/>
        </p:nvSpPr>
        <p:spPr>
          <a:xfrm>
            <a:off x="8242069" y="5221224"/>
            <a:ext cx="731520" cy="201168"/>
          </a:xfrm>
          <a:prstGeom prst="rect">
            <a:avLst/>
          </a:prstGeom>
          <a:noFill/>
        </p:spPr>
        <p:txBody>
          <a:bodyPr wrap="square" lIns="0" rIns="0" tIns="0" bIns="0">
            <a:spAutoFit/>
          </a:bodyPr>
          <a:lstStyle/>
          <a:p>
            <a:pPr algn="ctr">
              <a:lnSpc>
                <a:spcPts val="1050"/>
              </a:lnSpc>
              <a:spcAft>
                <a:spcPts val="0"/>
              </a:spcAft>
            </a:pPr>
            <a:r>
              <a:rPr sz="1050" b="1" lang="ja-JP">
                <a:solidFill>
                  <a:srgbClr val="566A78"/>
                </a:solidFill>
                <a:latin typeface="Yu Gothic"/>
                <a:ea typeface="Yu Gothic"/>
              </a:rPr>
              <a:t>2026年</a:t>
            </a:r>
          </a:p>
        </p:txBody>
      </p:sp>
      <p:cxnSp>
        <p:nvCxnSpPr>
          <p:cNvPr id="105" name="Connector 104">
            <a:extLst>
              <a:ext uri="{C183D7F6-B498-43B3-948B-1728B52AA6E4}">
                <adec:decorative xmlns:adec="http://schemas.microsoft.com/office/drawing/2017/decorative" val="1"/>
              </a:ext>
            </a:extLst>
          </p:cNvPr>
          <p:cNvCxnSpPr/>
          <p:nvPr/>
        </p:nvCxnSpPr>
        <p:spPr>
          <a:xfrm>
            <a:off x="9135687" y="3204743"/>
            <a:ext cx="0" cy="778783"/>
          </a:xfrm>
          <a:prstGeom prst="line">
            <a:avLst/>
          </a:prstGeom>
          <a:ln w="22225">
            <a:solidFill>
              <a:srgbClr val="BD4354"/>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8221287" y="4148118"/>
            <a:ext cx="1828800" cy="219456"/>
          </a:xfrm>
          <a:prstGeom prst="rect">
            <a:avLst/>
          </a:prstGeom>
          <a:noFill/>
        </p:spPr>
        <p:txBody>
          <a:bodyPr wrap="square" lIns="0" rIns="0" tIns="0" bIns="0">
            <a:spAutoFit/>
          </a:bodyPr>
          <a:lstStyle/>
          <a:p>
            <a:pPr algn="ctr">
              <a:lnSpc>
                <a:spcPts val="1150"/>
              </a:lnSpc>
              <a:spcAft>
                <a:spcPts val="0"/>
              </a:spcAft>
            </a:pPr>
            <a:r>
              <a:rPr sz="1150" b="1" lang="ja-JP">
                <a:solidFill>
                  <a:srgbClr val="BD4354"/>
                </a:solidFill>
                <a:latin typeface="Yu Gothic"/>
                <a:ea typeface="Yu Gothic"/>
              </a:rPr>
              <a:t>2026年5月　差 −6.83</a:t>
            </a:r>
          </a:p>
        </p:txBody>
      </p:sp>
      <p:cxnSp>
        <p:nvCxnSpPr>
          <p:cNvPr id="107" name="Connector 106">
            <a:extLst>
              <a:ext uri="{C183D7F6-B498-43B3-948B-1728B52AA6E4}">
                <adec:decorative xmlns:adec="http://schemas.microsoft.com/office/drawing/2017/decorative" val="1"/>
              </a:ext>
            </a:extLst>
          </p:cNvPr>
          <p:cNvCxnSpPr/>
          <p:nvPr/>
        </p:nvCxnSpPr>
        <p:spPr>
          <a:xfrm flipV="1">
            <a:off x="11247120" y="3328044"/>
            <a:ext cx="0" cy="647167"/>
          </a:xfrm>
          <a:prstGeom prst="line">
            <a:avLst/>
          </a:prstGeom>
          <a:ln w="22225">
            <a:solidFill>
              <a:srgbClr val="087F83"/>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9372600" y="2925708"/>
            <a:ext cx="1828800" cy="219456"/>
          </a:xfrm>
          <a:prstGeom prst="rect">
            <a:avLst/>
          </a:prstGeom>
          <a:noFill/>
        </p:spPr>
        <p:txBody>
          <a:bodyPr wrap="square" lIns="0" rIns="0" tIns="0" bIns="0">
            <a:spAutoFit/>
          </a:bodyPr>
          <a:lstStyle/>
          <a:p>
            <a:pPr algn="r">
              <a:lnSpc>
                <a:spcPts val="1150"/>
              </a:lnSpc>
              <a:spcAft>
                <a:spcPts val="0"/>
              </a:spcAft>
            </a:pPr>
            <a:r>
              <a:rPr sz="1150" b="1" lang="ja-JP">
                <a:solidFill>
                  <a:srgbClr val="087F83"/>
                </a:solidFill>
                <a:latin typeface="Yu Gothic"/>
                <a:ea typeface="Yu Gothic"/>
              </a:rPr>
              <a:t>2026年9月　差 +5.84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10件のイベントに分解すると増減の中身が見える</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第2章 デモで確認  |  質問② 原因</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年間の差−1.03億円は、−13.17億円の押し下げと+12.14億円の押し上げが重なった結果です。</a:t>
            </a:r>
          </a:p>
          <a:p>
            <a:pPr>
              <a:lnSpc>
                <a:spcPts val="2160"/>
              </a:lnSpc>
              <a:spcAft>
                <a:spcPts val="0"/>
              </a:spcAft>
            </a:pPr>
            <a:r>
              <a:rPr sz="1600" b="0" lang="ja-JP">
                <a:solidFill>
                  <a:srgbClr val="566A78"/>
                </a:solidFill>
                <a:latin typeface="Yu Gothic"/>
                <a:ea typeface="Yu Gothic"/>
              </a:rPr>
              <a:t>合計だけでは、どのイベントが効いたのかが分かりません。</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最大の押し下げは横断混乱です。次の質問では、食品損失を例に、根拠の記録まで影響額をさかのぼります。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12</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3611880" cy="1600200"/>
          </a:xfrm>
          <a:prstGeom prst="roundRect">
            <a:avLst>
              <a:gd name="adj" fmla="val 4571"/>
            </a:avLst>
          </a:prstGeom>
          <a:solidFill>
            <a:srgbClr val="FFFFFF"/>
          </a:solidFill>
          <a:ln w="22225">
            <a:solidFill>
              <a:srgbClr val="087F8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49808" y="2267712"/>
            <a:ext cx="3200400" cy="201168"/>
          </a:xfrm>
          <a:prstGeom prst="rect">
            <a:avLst/>
          </a:prstGeom>
          <a:noFill/>
        </p:spPr>
        <p:txBody>
          <a:bodyPr wrap="square" lIns="0" rIns="0" tIns="0" bIns="0">
            <a:spAutoFit/>
          </a:bodyPr>
          <a:lstStyle/>
          <a:p>
            <a:pPr>
              <a:lnSpc>
                <a:spcPts val="1100"/>
              </a:lnSpc>
              <a:spcAft>
                <a:spcPts val="0"/>
              </a:spcAft>
            </a:pPr>
            <a:r>
              <a:rPr sz="1100" b="1" lang="ja-JP">
                <a:solidFill>
                  <a:srgbClr val="087F83"/>
                </a:solidFill>
                <a:latin typeface="Yu Gothic"/>
                <a:ea typeface="Yu Gothic"/>
              </a:rPr>
              <a:t>Data Agentへの入力（続けて2問）</a:t>
            </a:r>
          </a:p>
        </p:txBody>
      </p:sp>
      <p:sp>
        <p:nvSpPr>
          <p:cNvPr id="17" name="TextBox 16"/>
          <p:cNvSpPr txBox="1"/>
          <p:nvPr/>
        </p:nvSpPr>
        <p:spPr>
          <a:xfrm>
            <a:off x="749808" y="2560320"/>
            <a:ext cx="3200400" cy="548640"/>
          </a:xfrm>
          <a:prstGeom prst="rect">
            <a:avLst/>
          </a:prstGeom>
          <a:noFill/>
        </p:spPr>
        <p:txBody>
          <a:bodyPr wrap="square" lIns="0" rIns="0" tIns="0" bIns="0">
            <a:spAutoFit/>
          </a:bodyPr>
          <a:lstStyle/>
          <a:p>
            <a:pPr>
              <a:lnSpc>
                <a:spcPts val="1950"/>
              </a:lnSpc>
              <a:spcAft>
                <a:spcPts val="0"/>
              </a:spcAft>
            </a:pPr>
            <a:r>
              <a:rPr sz="1500" b="1" lang="ja-JP">
                <a:solidFill>
                  <a:srgbClr val="17334A"/>
                </a:solidFill>
                <a:latin typeface="Yu Gothic"/>
                <a:ea typeface="Yu Gothic"/>
              </a:rPr>
              <a:t>一番足を引っ張った</a:t>
            </a:r>
          </a:p>
          <a:p>
            <a:pPr>
              <a:lnSpc>
                <a:spcPts val="1950"/>
              </a:lnSpc>
              <a:spcAft>
                <a:spcPts val="0"/>
              </a:spcAft>
            </a:pPr>
            <a:r>
              <a:rPr sz="1500" b="1" lang="ja-JP">
                <a:solidFill>
                  <a:srgbClr val="17334A"/>
                </a:solidFill>
                <a:latin typeface="Yu Gothic"/>
                <a:ea typeface="Yu Gothic"/>
              </a:rPr>
              <a:t>イベントは？</a:t>
            </a:r>
          </a:p>
        </p:txBody>
      </p:sp>
      <p:sp>
        <p:nvSpPr>
          <p:cNvPr id="18" name="Rectangle 17">
            <a:extLst>
              <a:ext uri="{C183D7F6-B498-43B3-948B-1728B52AA6E4}">
                <adec:decorative xmlns:adec="http://schemas.microsoft.com/office/drawing/2017/decorative" val="1"/>
              </a:ext>
            </a:extLst>
          </p:cNvPr>
          <p:cNvSpPr/>
          <p:nvPr/>
        </p:nvSpPr>
        <p:spPr>
          <a:xfrm>
            <a:off x="749808" y="3172968"/>
            <a:ext cx="3200400"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49808" y="3246120"/>
            <a:ext cx="3200400" cy="548640"/>
          </a:xfrm>
          <a:prstGeom prst="rect">
            <a:avLst/>
          </a:prstGeom>
          <a:noFill/>
        </p:spPr>
        <p:txBody>
          <a:bodyPr wrap="square" lIns="0" rIns="0" tIns="0" bIns="0">
            <a:spAutoFit/>
          </a:bodyPr>
          <a:lstStyle/>
          <a:p>
            <a:pPr>
              <a:lnSpc>
                <a:spcPts val="1950"/>
              </a:lnSpc>
              <a:spcAft>
                <a:spcPts val="0"/>
              </a:spcAft>
            </a:pPr>
            <a:r>
              <a:rPr sz="1500" b="1" lang="ja-JP">
                <a:solidFill>
                  <a:srgbClr val="17334A"/>
                </a:solidFill>
                <a:latin typeface="Yu Gothic"/>
                <a:ea typeface="Yu Gothic"/>
              </a:rPr>
              <a:t>逆に、一番プラスに</a:t>
            </a:r>
          </a:p>
          <a:p>
            <a:pPr>
              <a:lnSpc>
                <a:spcPts val="1950"/>
              </a:lnSpc>
              <a:spcAft>
                <a:spcPts val="0"/>
              </a:spcAft>
            </a:pPr>
            <a:r>
              <a:rPr sz="1500" b="1" lang="ja-JP">
                <a:solidFill>
                  <a:srgbClr val="17334A"/>
                </a:solidFill>
                <a:latin typeface="Yu Gothic"/>
                <a:ea typeface="Yu Gothic"/>
              </a:rPr>
              <a:t>なったのは？</a:t>
            </a:r>
          </a:p>
        </p:txBody>
      </p:sp>
      <p:sp>
        <p:nvSpPr>
          <p:cNvPr id="20" name="Rounded Rectangle 19">
            <a:extLst>
              <a:ext uri="{C183D7F6-B498-43B3-948B-1728B52AA6E4}">
                <adec:decorative xmlns:adec="http://schemas.microsoft.com/office/drawing/2017/decorative" val="1"/>
              </a:ext>
            </a:extLst>
          </p:cNvPr>
          <p:cNvSpPr/>
          <p:nvPr/>
        </p:nvSpPr>
        <p:spPr>
          <a:xfrm>
            <a:off x="548640" y="3886200"/>
            <a:ext cx="3611880" cy="1828800"/>
          </a:xfrm>
          <a:prstGeom prst="roundRect">
            <a:avLst>
              <a:gd name="adj" fmla="val 400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995928"/>
            <a:ext cx="3200400" cy="201168"/>
          </a:xfrm>
          <a:prstGeom prst="rect">
            <a:avLst/>
          </a:prstGeom>
          <a:noFill/>
        </p:spPr>
        <p:txBody>
          <a:bodyPr wrap="square" lIns="0" rIns="0" tIns="0" bIns="0">
            <a:spAutoFit/>
          </a:bodyPr>
          <a:lstStyle/>
          <a:p>
            <a:pPr>
              <a:lnSpc>
                <a:spcPts val="1100"/>
              </a:lnSpc>
              <a:spcAft>
                <a:spcPts val="0"/>
              </a:spcAft>
            </a:pPr>
            <a:r>
              <a:rPr sz="1100" b="1" lang="ja-JP">
                <a:solidFill>
                  <a:srgbClr val="087F83"/>
                </a:solidFill>
                <a:latin typeface="Yu Gothic"/>
                <a:ea typeface="Yu Gothic"/>
              </a:rPr>
              <a:t>回答の要点</a:t>
            </a:r>
          </a:p>
        </p:txBody>
      </p:sp>
      <p:sp>
        <p:nvSpPr>
          <p:cNvPr id="22" name="TextBox 21"/>
          <p:cNvSpPr txBox="1"/>
          <p:nvPr/>
        </p:nvSpPr>
        <p:spPr>
          <a:xfrm>
            <a:off x="749808" y="4279392"/>
            <a:ext cx="3246120" cy="310896"/>
          </a:xfrm>
          <a:prstGeom prst="rect">
            <a:avLst/>
          </a:prstGeom>
          <a:noFill/>
        </p:spPr>
        <p:txBody>
          <a:bodyPr wrap="square" lIns="0" rIns="0" tIns="0" bIns="0">
            <a:spAutoFit/>
          </a:bodyPr>
          <a:lstStyle/>
          <a:p>
            <a:pPr>
              <a:lnSpc>
                <a:spcPts val="1920"/>
              </a:lnSpc>
              <a:spcAft>
                <a:spcPts val="0"/>
              </a:spcAft>
            </a:pPr>
            <a:r>
              <a:rPr sz="1600" b="1" lang="ja-JP">
                <a:solidFill>
                  <a:srgbClr val="BD4354"/>
                </a:solidFill>
                <a:latin typeface="Yu Gothic"/>
                <a:ea typeface="Yu Gothic"/>
              </a:rPr>
              <a:t>横断混乱　−6.80億円</a:t>
            </a:r>
          </a:p>
        </p:txBody>
      </p:sp>
      <p:sp>
        <p:nvSpPr>
          <p:cNvPr id="23" name="TextBox 22"/>
          <p:cNvSpPr txBox="1"/>
          <p:nvPr/>
        </p:nvSpPr>
        <p:spPr>
          <a:xfrm>
            <a:off x="749808" y="4626864"/>
            <a:ext cx="3246120" cy="219456"/>
          </a:xfrm>
          <a:prstGeom prst="rect">
            <a:avLst/>
          </a:prstGeom>
          <a:noFill/>
        </p:spPr>
        <p:txBody>
          <a:bodyPr wrap="square" lIns="0" rIns="0" tIns="0" bIns="0">
            <a:spAutoFit/>
          </a:bodyPr>
          <a:lstStyle/>
          <a:p>
            <a:pPr>
              <a:lnSpc>
                <a:spcPts val="1380"/>
              </a:lnSpc>
              <a:spcAft>
                <a:spcPts val="0"/>
              </a:spcAft>
            </a:pPr>
            <a:r>
              <a:rPr sz="1150" b="0" lang="ja-JP">
                <a:solidFill>
                  <a:srgbClr val="21374A"/>
                </a:solidFill>
                <a:latin typeface="Yu Gothic"/>
                <a:ea typeface="Yu Gothic"/>
              </a:rPr>
              <a:t>港湾・流動性の混乱。4事業8社に影響</a:t>
            </a:r>
          </a:p>
        </p:txBody>
      </p:sp>
      <p:sp>
        <p:nvSpPr>
          <p:cNvPr id="24" name="TextBox 23"/>
          <p:cNvSpPr txBox="1"/>
          <p:nvPr/>
        </p:nvSpPr>
        <p:spPr>
          <a:xfrm>
            <a:off x="749808" y="5029200"/>
            <a:ext cx="3246120" cy="310896"/>
          </a:xfrm>
          <a:prstGeom prst="rect">
            <a:avLst/>
          </a:prstGeom>
          <a:noFill/>
        </p:spPr>
        <p:txBody>
          <a:bodyPr wrap="square" lIns="0" rIns="0" tIns="0" bIns="0">
            <a:spAutoFit/>
          </a:bodyPr>
          <a:lstStyle/>
          <a:p>
            <a:pPr>
              <a:lnSpc>
                <a:spcPts val="1920"/>
              </a:lnSpc>
              <a:spcAft>
                <a:spcPts val="0"/>
              </a:spcAft>
            </a:pPr>
            <a:r>
              <a:rPr sz="1600" b="1" lang="ja-JP">
                <a:solidFill>
                  <a:srgbClr val="087F83"/>
                </a:solidFill>
                <a:latin typeface="Yu Gothic"/>
                <a:ea typeface="Yu Gothic"/>
              </a:rPr>
              <a:t>横断回復　+5.84億円</a:t>
            </a:r>
          </a:p>
        </p:txBody>
      </p:sp>
      <p:sp>
        <p:nvSpPr>
          <p:cNvPr id="25" name="TextBox 24"/>
          <p:cNvSpPr txBox="1"/>
          <p:nvPr/>
        </p:nvSpPr>
        <p:spPr>
          <a:xfrm>
            <a:off x="749808" y="5376672"/>
            <a:ext cx="3246120" cy="219456"/>
          </a:xfrm>
          <a:prstGeom prst="rect">
            <a:avLst/>
          </a:prstGeom>
          <a:noFill/>
        </p:spPr>
        <p:txBody>
          <a:bodyPr wrap="square" lIns="0" rIns="0" tIns="0" bIns="0">
            <a:spAutoFit/>
          </a:bodyPr>
          <a:lstStyle/>
          <a:p>
            <a:pPr>
              <a:lnSpc>
                <a:spcPts val="1380"/>
              </a:lnSpc>
              <a:spcAft>
                <a:spcPts val="0"/>
              </a:spcAft>
            </a:pPr>
            <a:r>
              <a:rPr sz="1150" b="0" lang="ja-JP">
                <a:solidFill>
                  <a:srgbClr val="21374A"/>
                </a:solidFill>
                <a:latin typeface="Yu Gothic"/>
                <a:ea typeface="Yu Gothic"/>
              </a:rPr>
              <a:t>物流・資金の回復。4事業8社に影響</a:t>
            </a:r>
          </a:p>
        </p:txBody>
      </p:sp>
      <p:sp>
        <p:nvSpPr>
          <p:cNvPr id="26" name="Rounded Rectangle 25">
            <a:extLst>
              <a:ext uri="{C183D7F6-B498-43B3-948B-1728B52AA6E4}">
                <adec:decorative xmlns:adec="http://schemas.microsoft.com/office/drawing/2017/decorative" val="1"/>
              </a:ext>
            </a:extLst>
          </p:cNvPr>
          <p:cNvSpPr/>
          <p:nvPr/>
        </p:nvSpPr>
        <p:spPr>
          <a:xfrm>
            <a:off x="4389120" y="2148840"/>
            <a:ext cx="725119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617720" y="2240280"/>
            <a:ext cx="5029200" cy="256032"/>
          </a:xfrm>
          <a:prstGeom prst="rect">
            <a:avLst/>
          </a:prstGeom>
          <a:noFill/>
        </p:spPr>
        <p:txBody>
          <a:bodyPr wrap="square" lIns="0" rIns="0" tIns="0" bIns="0">
            <a:spAutoFit/>
          </a:bodyPr>
          <a:lstStyle/>
          <a:p>
            <a:pPr>
              <a:lnSpc>
                <a:spcPts val="1300"/>
              </a:lnSpc>
              <a:spcAft>
                <a:spcPts val="0"/>
              </a:spcAft>
            </a:pPr>
            <a:r>
              <a:rPr sz="1300" b="1" lang="ja-JP">
                <a:solidFill>
                  <a:srgbClr val="087F83"/>
                </a:solidFill>
                <a:latin typeface="Yu Gothic"/>
                <a:ea typeface="Yu Gothic"/>
              </a:rPr>
              <a:t>全10イベントの影響額（億円、全額連結）</a:t>
            </a:r>
          </a:p>
        </p:txBody>
      </p:sp>
      <p:sp>
        <p:nvSpPr>
          <p:cNvPr id="28" name="TextBox 27"/>
          <p:cNvSpPr txBox="1"/>
          <p:nvPr/>
        </p:nvSpPr>
        <p:spPr>
          <a:xfrm>
            <a:off x="4617720" y="2496312"/>
            <a:ext cx="685800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括弧は影響が及ぶ事業。横断の2件は4事業8社、他の8件は1事業の2社</a:t>
            </a:r>
          </a:p>
        </p:txBody>
      </p:sp>
      <p:sp>
        <p:nvSpPr>
          <p:cNvPr id="29" name="TextBox 28"/>
          <p:cNvSpPr txBox="1"/>
          <p:nvPr/>
        </p:nvSpPr>
        <p:spPr>
          <a:xfrm>
            <a:off x="4617720" y="2743200"/>
            <a:ext cx="5486400" cy="214884"/>
          </a:xfrm>
          <a:prstGeom prst="rect">
            <a:avLst/>
          </a:prstGeom>
          <a:noFill/>
        </p:spPr>
        <p:txBody>
          <a:bodyPr wrap="square" lIns="0" rIns="0" tIns="0" bIns="0" anchor="ctr">
            <a:spAutoFit/>
          </a:bodyPr>
          <a:lstStyle/>
          <a:p>
            <a:pPr>
              <a:lnSpc>
                <a:spcPts val="1150"/>
              </a:lnSpc>
              <a:spcAft>
                <a:spcPts val="0"/>
              </a:spcAft>
            </a:pPr>
            <a:r>
              <a:rPr sz="1150" b="1" lang="ja-JP">
                <a:solidFill>
                  <a:srgbClr val="BD4354"/>
                </a:solidFill>
                <a:latin typeface="Yu Gothic"/>
                <a:ea typeface="Yu Gothic"/>
              </a:rPr>
              <a:t>マイナス5件　合計 −13.17</a:t>
            </a:r>
          </a:p>
        </p:txBody>
      </p:sp>
      <p:sp>
        <p:nvSpPr>
          <p:cNvPr id="30" name="TextBox 29"/>
          <p:cNvSpPr txBox="1"/>
          <p:nvPr/>
        </p:nvSpPr>
        <p:spPr>
          <a:xfrm>
            <a:off x="4617720" y="2958084"/>
            <a:ext cx="2377440" cy="214884"/>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横断混乱（全事業）</a:t>
            </a:r>
          </a:p>
        </p:txBody>
      </p:sp>
      <p:sp>
        <p:nvSpPr>
          <p:cNvPr id="31" name="Rounded Rectangle 30">
            <a:extLst>
              <a:ext uri="{C183D7F6-B498-43B3-948B-1728B52AA6E4}">
                <adec:decorative xmlns:adec="http://schemas.microsoft.com/office/drawing/2017/decorative" val="1"/>
              </a:ext>
            </a:extLst>
          </p:cNvPr>
          <p:cNvSpPr/>
          <p:nvPr/>
        </p:nvSpPr>
        <p:spPr>
          <a:xfrm>
            <a:off x="7680960" y="2994660"/>
            <a:ext cx="1737360" cy="141731"/>
          </a:xfrm>
          <a:prstGeom prst="roundRect">
            <a:avLst>
              <a:gd name="adj" fmla="val 19354"/>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022592" y="2958084"/>
            <a:ext cx="603504" cy="214884"/>
          </a:xfrm>
          <a:prstGeom prst="rect">
            <a:avLst/>
          </a:prstGeom>
          <a:noFill/>
        </p:spPr>
        <p:txBody>
          <a:bodyPr wrap="square" lIns="0" rIns="0" tIns="0" bIns="0" anchor="ctr">
            <a:spAutoFit/>
          </a:bodyPr>
          <a:lstStyle/>
          <a:p>
            <a:pPr algn="r">
              <a:lnSpc>
                <a:spcPts val="1100"/>
              </a:lnSpc>
              <a:spcAft>
                <a:spcPts val="0"/>
              </a:spcAft>
            </a:pPr>
            <a:r>
              <a:rPr sz="1100" b="1" lang="ja-JP">
                <a:solidFill>
                  <a:srgbClr val="BD4354"/>
                </a:solidFill>
                <a:latin typeface="Yu Gothic"/>
                <a:ea typeface="Yu Gothic"/>
              </a:rPr>
              <a:t>−6.80</a:t>
            </a:r>
          </a:p>
        </p:txBody>
      </p:sp>
      <p:sp>
        <p:nvSpPr>
          <p:cNvPr id="33" name="TextBox 32"/>
          <p:cNvSpPr txBox="1"/>
          <p:nvPr/>
        </p:nvSpPr>
        <p:spPr>
          <a:xfrm>
            <a:off x="4617720" y="3172968"/>
            <a:ext cx="2377440" cy="214884"/>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製錬停止（金属）</a:t>
            </a:r>
          </a:p>
        </p:txBody>
      </p:sp>
      <p:sp>
        <p:nvSpPr>
          <p:cNvPr id="34" name="Rounded Rectangle 33">
            <a:extLst>
              <a:ext uri="{C183D7F6-B498-43B3-948B-1728B52AA6E4}">
                <adec:decorative xmlns:adec="http://schemas.microsoft.com/office/drawing/2017/decorative" val="1"/>
              </a:ext>
            </a:extLst>
          </p:cNvPr>
          <p:cNvSpPr/>
          <p:nvPr/>
        </p:nvSpPr>
        <p:spPr>
          <a:xfrm>
            <a:off x="8884337" y="3209544"/>
            <a:ext cx="533982" cy="141731"/>
          </a:xfrm>
          <a:prstGeom prst="roundRect">
            <a:avLst>
              <a:gd name="adj" fmla="val 19354"/>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8225969" y="3172968"/>
            <a:ext cx="603504" cy="214884"/>
          </a:xfrm>
          <a:prstGeom prst="rect">
            <a:avLst/>
          </a:prstGeom>
          <a:noFill/>
        </p:spPr>
        <p:txBody>
          <a:bodyPr wrap="square" lIns="0" rIns="0" tIns="0" bIns="0" anchor="ctr">
            <a:spAutoFit/>
          </a:bodyPr>
          <a:lstStyle/>
          <a:p>
            <a:pPr algn="r">
              <a:lnSpc>
                <a:spcPts val="1100"/>
              </a:lnSpc>
              <a:spcAft>
                <a:spcPts val="0"/>
              </a:spcAft>
            </a:pPr>
            <a:r>
              <a:rPr sz="1100" b="1" lang="ja-JP">
                <a:solidFill>
                  <a:srgbClr val="BD4354"/>
                </a:solidFill>
                <a:latin typeface="Yu Gothic"/>
                <a:ea typeface="Yu Gothic"/>
              </a:rPr>
              <a:t>−2.09</a:t>
            </a:r>
          </a:p>
        </p:txBody>
      </p:sp>
      <p:sp>
        <p:nvSpPr>
          <p:cNvPr id="36" name="TextBox 35"/>
          <p:cNvSpPr txBox="1"/>
          <p:nvPr/>
        </p:nvSpPr>
        <p:spPr>
          <a:xfrm>
            <a:off x="4617720" y="3387851"/>
            <a:ext cx="2377440" cy="214884"/>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LNG基地の整備遅れ（エネルギー）</a:t>
            </a:r>
          </a:p>
        </p:txBody>
      </p:sp>
      <p:sp>
        <p:nvSpPr>
          <p:cNvPr id="37" name="Rounded Rectangle 36">
            <a:extLst>
              <a:ext uri="{C183D7F6-B498-43B3-948B-1728B52AA6E4}">
                <adec:decorative xmlns:adec="http://schemas.microsoft.com/office/drawing/2017/decorative" val="1"/>
              </a:ext>
            </a:extLst>
          </p:cNvPr>
          <p:cNvSpPr/>
          <p:nvPr/>
        </p:nvSpPr>
        <p:spPr>
          <a:xfrm>
            <a:off x="8937991" y="3424427"/>
            <a:ext cx="480328" cy="141731"/>
          </a:xfrm>
          <a:prstGeom prst="roundRect">
            <a:avLst>
              <a:gd name="adj" fmla="val 19354"/>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279623" y="3387851"/>
            <a:ext cx="603504" cy="214884"/>
          </a:xfrm>
          <a:prstGeom prst="rect">
            <a:avLst/>
          </a:prstGeom>
          <a:noFill/>
        </p:spPr>
        <p:txBody>
          <a:bodyPr wrap="square" lIns="0" rIns="0" tIns="0" bIns="0" anchor="ctr">
            <a:spAutoFit/>
          </a:bodyPr>
          <a:lstStyle/>
          <a:p>
            <a:pPr algn="r">
              <a:lnSpc>
                <a:spcPts val="1100"/>
              </a:lnSpc>
              <a:spcAft>
                <a:spcPts val="0"/>
              </a:spcAft>
            </a:pPr>
            <a:r>
              <a:rPr sz="1100" b="1" lang="ja-JP">
                <a:solidFill>
                  <a:srgbClr val="BD4354"/>
                </a:solidFill>
                <a:latin typeface="Yu Gothic"/>
                <a:ea typeface="Yu Gothic"/>
              </a:rPr>
              <a:t>−1.88</a:t>
            </a:r>
          </a:p>
        </p:txBody>
      </p:sp>
      <p:sp>
        <p:nvSpPr>
          <p:cNvPr id="39" name="TextBox 38"/>
          <p:cNvSpPr txBox="1"/>
          <p:nvPr/>
        </p:nvSpPr>
        <p:spPr>
          <a:xfrm>
            <a:off x="4617720" y="3602735"/>
            <a:ext cx="2377440" cy="214884"/>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取引先対応コスト増（金融）</a:t>
            </a:r>
          </a:p>
        </p:txBody>
      </p:sp>
      <p:sp>
        <p:nvSpPr>
          <p:cNvPr id="40" name="Rounded Rectangle 39">
            <a:extLst>
              <a:ext uri="{C183D7F6-B498-43B3-948B-1728B52AA6E4}">
                <adec:decorative xmlns:adec="http://schemas.microsoft.com/office/drawing/2017/decorative" val="1"/>
              </a:ext>
            </a:extLst>
          </p:cNvPr>
          <p:cNvSpPr/>
          <p:nvPr/>
        </p:nvSpPr>
        <p:spPr>
          <a:xfrm>
            <a:off x="9098952" y="3639311"/>
            <a:ext cx="319367" cy="141731"/>
          </a:xfrm>
          <a:prstGeom prst="roundRect">
            <a:avLst>
              <a:gd name="adj" fmla="val 19354"/>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8440584" y="3602735"/>
            <a:ext cx="603504" cy="214884"/>
          </a:xfrm>
          <a:prstGeom prst="rect">
            <a:avLst/>
          </a:prstGeom>
          <a:noFill/>
        </p:spPr>
        <p:txBody>
          <a:bodyPr wrap="square" lIns="0" rIns="0" tIns="0" bIns="0" anchor="ctr">
            <a:spAutoFit/>
          </a:bodyPr>
          <a:lstStyle/>
          <a:p>
            <a:pPr algn="r">
              <a:lnSpc>
                <a:spcPts val="1100"/>
              </a:lnSpc>
              <a:spcAft>
                <a:spcPts val="0"/>
              </a:spcAft>
            </a:pPr>
            <a:r>
              <a:rPr sz="1100" b="1" lang="ja-JP">
                <a:solidFill>
                  <a:srgbClr val="BD4354"/>
                </a:solidFill>
                <a:latin typeface="Yu Gothic"/>
                <a:ea typeface="Yu Gothic"/>
              </a:rPr>
              <a:t>−1.25</a:t>
            </a:r>
          </a:p>
        </p:txBody>
      </p:sp>
      <p:sp>
        <p:nvSpPr>
          <p:cNvPr id="42" name="TextBox 41"/>
          <p:cNvSpPr txBox="1"/>
          <p:nvPr/>
        </p:nvSpPr>
        <p:spPr>
          <a:xfrm>
            <a:off x="4617720" y="3817620"/>
            <a:ext cx="2377440" cy="214884"/>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食品損失（食品）</a:t>
            </a:r>
          </a:p>
        </p:txBody>
      </p:sp>
      <p:sp>
        <p:nvSpPr>
          <p:cNvPr id="43" name="Rounded Rectangle 42">
            <a:extLst>
              <a:ext uri="{C183D7F6-B498-43B3-948B-1728B52AA6E4}">
                <adec:decorative xmlns:adec="http://schemas.microsoft.com/office/drawing/2017/decorative" val="1"/>
              </a:ext>
            </a:extLst>
          </p:cNvPr>
          <p:cNvSpPr/>
          <p:nvPr/>
        </p:nvSpPr>
        <p:spPr>
          <a:xfrm>
            <a:off x="9127056" y="3854196"/>
            <a:ext cx="291263" cy="141731"/>
          </a:xfrm>
          <a:prstGeom prst="roundRect">
            <a:avLst>
              <a:gd name="adj" fmla="val 19354"/>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468688" y="3817620"/>
            <a:ext cx="603504" cy="214884"/>
          </a:xfrm>
          <a:prstGeom prst="rect">
            <a:avLst/>
          </a:prstGeom>
          <a:noFill/>
        </p:spPr>
        <p:txBody>
          <a:bodyPr wrap="square" lIns="0" rIns="0" tIns="0" bIns="0" anchor="ctr">
            <a:spAutoFit/>
          </a:bodyPr>
          <a:lstStyle/>
          <a:p>
            <a:pPr algn="r">
              <a:lnSpc>
                <a:spcPts val="1100"/>
              </a:lnSpc>
              <a:spcAft>
                <a:spcPts val="0"/>
              </a:spcAft>
            </a:pPr>
            <a:r>
              <a:rPr sz="1100" b="1" lang="ja-JP">
                <a:solidFill>
                  <a:srgbClr val="BD4354"/>
                </a:solidFill>
                <a:latin typeface="Yu Gothic"/>
                <a:ea typeface="Yu Gothic"/>
              </a:rPr>
              <a:t>−1.14</a:t>
            </a:r>
          </a:p>
        </p:txBody>
      </p:sp>
      <p:sp>
        <p:nvSpPr>
          <p:cNvPr id="45" name="TextBox 44"/>
          <p:cNvSpPr txBox="1"/>
          <p:nvPr/>
        </p:nvSpPr>
        <p:spPr>
          <a:xfrm>
            <a:off x="4617720" y="4105656"/>
            <a:ext cx="5486400" cy="214884"/>
          </a:xfrm>
          <a:prstGeom prst="rect">
            <a:avLst/>
          </a:prstGeom>
          <a:noFill/>
        </p:spPr>
        <p:txBody>
          <a:bodyPr wrap="square" lIns="0" rIns="0" tIns="0" bIns="0" anchor="ctr">
            <a:spAutoFit/>
          </a:bodyPr>
          <a:lstStyle/>
          <a:p>
            <a:pPr>
              <a:lnSpc>
                <a:spcPts val="1150"/>
              </a:lnSpc>
              <a:spcAft>
                <a:spcPts val="0"/>
              </a:spcAft>
            </a:pPr>
            <a:r>
              <a:rPr sz="1150" b="1" lang="ja-JP">
                <a:solidFill>
                  <a:srgbClr val="087F83"/>
                </a:solidFill>
                <a:latin typeface="Yu Gothic"/>
                <a:ea typeface="Yu Gothic"/>
              </a:rPr>
              <a:t>プラス5件　合計 +12.14</a:t>
            </a:r>
          </a:p>
        </p:txBody>
      </p:sp>
      <p:sp>
        <p:nvSpPr>
          <p:cNvPr id="46" name="TextBox 45"/>
          <p:cNvSpPr txBox="1"/>
          <p:nvPr/>
        </p:nvSpPr>
        <p:spPr>
          <a:xfrm>
            <a:off x="4617720" y="4320540"/>
            <a:ext cx="2377440" cy="214884"/>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横断回復（全事業）</a:t>
            </a:r>
          </a:p>
        </p:txBody>
      </p:sp>
      <p:sp>
        <p:nvSpPr>
          <p:cNvPr id="47" name="Rounded Rectangle 46">
            <a:extLst>
              <a:ext uri="{C183D7F6-B498-43B3-948B-1728B52AA6E4}">
                <adec:decorative xmlns:adec="http://schemas.microsoft.com/office/drawing/2017/decorative" val="1"/>
              </a:ext>
            </a:extLst>
          </p:cNvPr>
          <p:cNvSpPr/>
          <p:nvPr/>
        </p:nvSpPr>
        <p:spPr>
          <a:xfrm>
            <a:off x="9418320" y="4357116"/>
            <a:ext cx="1492085" cy="141731"/>
          </a:xfrm>
          <a:prstGeom prst="roundRect">
            <a:avLst>
              <a:gd name="adj" fmla="val 19354"/>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10965269" y="4320540"/>
            <a:ext cx="640080" cy="214884"/>
          </a:xfrm>
          <a:prstGeom prst="rect">
            <a:avLst/>
          </a:prstGeom>
          <a:noFill/>
        </p:spPr>
        <p:txBody>
          <a:bodyPr wrap="square" lIns="0" rIns="0" tIns="0" bIns="0" anchor="ctr">
            <a:spAutoFit/>
          </a:bodyPr>
          <a:lstStyle/>
          <a:p>
            <a:pPr>
              <a:lnSpc>
                <a:spcPts val="1100"/>
              </a:lnSpc>
              <a:spcAft>
                <a:spcPts val="0"/>
              </a:spcAft>
            </a:pPr>
            <a:r>
              <a:rPr sz="1100" b="1" lang="ja-JP">
                <a:solidFill>
                  <a:srgbClr val="087F83"/>
                </a:solidFill>
                <a:latin typeface="Yu Gothic"/>
                <a:ea typeface="Yu Gothic"/>
              </a:rPr>
              <a:t>+5.84</a:t>
            </a:r>
          </a:p>
        </p:txBody>
      </p:sp>
      <p:sp>
        <p:nvSpPr>
          <p:cNvPr id="49" name="TextBox 48"/>
          <p:cNvSpPr txBox="1"/>
          <p:nvPr/>
        </p:nvSpPr>
        <p:spPr>
          <a:xfrm>
            <a:off x="4617720" y="4535424"/>
            <a:ext cx="2377440" cy="214884"/>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貯蔵配分の最適化（エネルギー）</a:t>
            </a:r>
          </a:p>
        </p:txBody>
      </p:sp>
      <p:sp>
        <p:nvSpPr>
          <p:cNvPr id="50" name="Rounded Rectangle 49">
            <a:extLst>
              <a:ext uri="{C183D7F6-B498-43B3-948B-1728B52AA6E4}">
                <adec:decorative xmlns:adec="http://schemas.microsoft.com/office/drawing/2017/decorative" val="1"/>
              </a:ext>
            </a:extLst>
          </p:cNvPr>
          <p:cNvSpPr/>
          <p:nvPr/>
        </p:nvSpPr>
        <p:spPr>
          <a:xfrm>
            <a:off x="9418320" y="4572000"/>
            <a:ext cx="536537" cy="141731"/>
          </a:xfrm>
          <a:prstGeom prst="roundRect">
            <a:avLst>
              <a:gd name="adj" fmla="val 19354"/>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10009721" y="4535424"/>
            <a:ext cx="640080" cy="214884"/>
          </a:xfrm>
          <a:prstGeom prst="rect">
            <a:avLst/>
          </a:prstGeom>
          <a:noFill/>
        </p:spPr>
        <p:txBody>
          <a:bodyPr wrap="square" lIns="0" rIns="0" tIns="0" bIns="0" anchor="ctr">
            <a:spAutoFit/>
          </a:bodyPr>
          <a:lstStyle/>
          <a:p>
            <a:pPr>
              <a:lnSpc>
                <a:spcPts val="1100"/>
              </a:lnSpc>
              <a:spcAft>
                <a:spcPts val="0"/>
              </a:spcAft>
            </a:pPr>
            <a:r>
              <a:rPr sz="1100" b="1" lang="ja-JP">
                <a:solidFill>
                  <a:srgbClr val="087F83"/>
                </a:solidFill>
                <a:latin typeface="Yu Gothic"/>
                <a:ea typeface="Yu Gothic"/>
              </a:rPr>
              <a:t>+2.10</a:t>
            </a:r>
          </a:p>
        </p:txBody>
      </p:sp>
      <p:sp>
        <p:nvSpPr>
          <p:cNvPr id="52" name="TextBox 51"/>
          <p:cNvSpPr txBox="1"/>
          <p:nvPr/>
        </p:nvSpPr>
        <p:spPr>
          <a:xfrm>
            <a:off x="4617720" y="4750308"/>
            <a:ext cx="2377440" cy="214884"/>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再生合金契約（金属）</a:t>
            </a:r>
          </a:p>
        </p:txBody>
      </p:sp>
      <p:sp>
        <p:nvSpPr>
          <p:cNvPr id="53" name="Rounded Rectangle 52">
            <a:extLst>
              <a:ext uri="{C183D7F6-B498-43B3-948B-1728B52AA6E4}">
                <adec:decorative xmlns:adec="http://schemas.microsoft.com/office/drawing/2017/decorative" val="1"/>
              </a:ext>
            </a:extLst>
          </p:cNvPr>
          <p:cNvSpPr/>
          <p:nvPr/>
        </p:nvSpPr>
        <p:spPr>
          <a:xfrm>
            <a:off x="9418320" y="4786884"/>
            <a:ext cx="467554" cy="141731"/>
          </a:xfrm>
          <a:prstGeom prst="roundRect">
            <a:avLst>
              <a:gd name="adj" fmla="val 19354"/>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940738" y="4750308"/>
            <a:ext cx="640080" cy="214884"/>
          </a:xfrm>
          <a:prstGeom prst="rect">
            <a:avLst/>
          </a:prstGeom>
          <a:noFill/>
        </p:spPr>
        <p:txBody>
          <a:bodyPr wrap="square" lIns="0" rIns="0" tIns="0" bIns="0" anchor="ctr">
            <a:spAutoFit/>
          </a:bodyPr>
          <a:lstStyle/>
          <a:p>
            <a:pPr>
              <a:lnSpc>
                <a:spcPts val="1100"/>
              </a:lnSpc>
              <a:spcAft>
                <a:spcPts val="0"/>
              </a:spcAft>
            </a:pPr>
            <a:r>
              <a:rPr sz="1100" b="1" lang="ja-JP">
                <a:solidFill>
                  <a:srgbClr val="087F83"/>
                </a:solidFill>
                <a:latin typeface="Yu Gothic"/>
                <a:ea typeface="Yu Gothic"/>
              </a:rPr>
              <a:t>+1.83</a:t>
            </a:r>
          </a:p>
        </p:txBody>
      </p:sp>
      <p:sp>
        <p:nvSpPr>
          <p:cNvPr id="55" name="TextBox 54"/>
          <p:cNvSpPr txBox="1"/>
          <p:nvPr/>
        </p:nvSpPr>
        <p:spPr>
          <a:xfrm>
            <a:off x="4617720" y="4965192"/>
            <a:ext cx="2377440" cy="214884"/>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調達改善（食品）</a:t>
            </a:r>
          </a:p>
        </p:txBody>
      </p:sp>
      <p:sp>
        <p:nvSpPr>
          <p:cNvPr id="56" name="Rounded Rectangle 55">
            <a:extLst>
              <a:ext uri="{C183D7F6-B498-43B3-948B-1728B52AA6E4}">
                <adec:decorative xmlns:adec="http://schemas.microsoft.com/office/drawing/2017/decorative" val="1"/>
              </a:ext>
            </a:extLst>
          </p:cNvPr>
          <p:cNvSpPr/>
          <p:nvPr/>
        </p:nvSpPr>
        <p:spPr>
          <a:xfrm>
            <a:off x="9418320" y="5001768"/>
            <a:ext cx="306592" cy="141731"/>
          </a:xfrm>
          <a:prstGeom prst="roundRect">
            <a:avLst>
              <a:gd name="adj" fmla="val 19354"/>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9779776" y="4965192"/>
            <a:ext cx="640080" cy="214884"/>
          </a:xfrm>
          <a:prstGeom prst="rect">
            <a:avLst/>
          </a:prstGeom>
          <a:noFill/>
        </p:spPr>
        <p:txBody>
          <a:bodyPr wrap="square" lIns="0" rIns="0" tIns="0" bIns="0" anchor="ctr">
            <a:spAutoFit/>
          </a:bodyPr>
          <a:lstStyle/>
          <a:p>
            <a:pPr>
              <a:lnSpc>
                <a:spcPts val="1100"/>
              </a:lnSpc>
              <a:spcAft>
                <a:spcPts val="0"/>
              </a:spcAft>
            </a:pPr>
            <a:r>
              <a:rPr sz="1100" b="1" lang="ja-JP">
                <a:solidFill>
                  <a:srgbClr val="087F83"/>
                </a:solidFill>
                <a:latin typeface="Yu Gothic"/>
                <a:ea typeface="Yu Gothic"/>
              </a:rPr>
              <a:t>+1.20</a:t>
            </a:r>
          </a:p>
        </p:txBody>
      </p:sp>
      <p:sp>
        <p:nvSpPr>
          <p:cNvPr id="58" name="TextBox 57"/>
          <p:cNvSpPr txBox="1"/>
          <p:nvPr/>
        </p:nvSpPr>
        <p:spPr>
          <a:xfrm>
            <a:off x="4617720" y="5180076"/>
            <a:ext cx="2377440" cy="214884"/>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ヘッジ手数料の増収（金融）</a:t>
            </a:r>
          </a:p>
        </p:txBody>
      </p:sp>
      <p:sp>
        <p:nvSpPr>
          <p:cNvPr id="59" name="Rounded Rectangle 58">
            <a:extLst>
              <a:ext uri="{C183D7F6-B498-43B3-948B-1728B52AA6E4}">
                <adec:decorative xmlns:adec="http://schemas.microsoft.com/office/drawing/2017/decorative" val="1"/>
              </a:ext>
            </a:extLst>
          </p:cNvPr>
          <p:cNvSpPr/>
          <p:nvPr/>
        </p:nvSpPr>
        <p:spPr>
          <a:xfrm>
            <a:off x="9418320" y="5216652"/>
            <a:ext cx="298928" cy="141731"/>
          </a:xfrm>
          <a:prstGeom prst="roundRect">
            <a:avLst>
              <a:gd name="adj" fmla="val 19354"/>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772112" y="5180076"/>
            <a:ext cx="640080" cy="214884"/>
          </a:xfrm>
          <a:prstGeom prst="rect">
            <a:avLst/>
          </a:prstGeom>
          <a:noFill/>
        </p:spPr>
        <p:txBody>
          <a:bodyPr wrap="square" lIns="0" rIns="0" tIns="0" bIns="0" anchor="ctr">
            <a:spAutoFit/>
          </a:bodyPr>
          <a:lstStyle/>
          <a:p>
            <a:pPr>
              <a:lnSpc>
                <a:spcPts val="1100"/>
              </a:lnSpc>
              <a:spcAft>
                <a:spcPts val="0"/>
              </a:spcAft>
            </a:pPr>
            <a:r>
              <a:rPr sz="1100" b="1" lang="ja-JP">
                <a:solidFill>
                  <a:srgbClr val="087F83"/>
                </a:solidFill>
                <a:latin typeface="Yu Gothic"/>
                <a:ea typeface="Yu Gothic"/>
              </a:rPr>
              <a:t>+1.17</a:t>
            </a:r>
          </a:p>
        </p:txBody>
      </p:sp>
      <p:sp>
        <p:nvSpPr>
          <p:cNvPr id="61" name="Rectangle 60">
            <a:extLst>
              <a:ext uri="{C183D7F6-B498-43B3-948B-1728B52AA6E4}">
                <adec:decorative xmlns:adec="http://schemas.microsoft.com/office/drawing/2017/decorative" val="1"/>
              </a:ext>
            </a:extLst>
          </p:cNvPr>
          <p:cNvSpPr/>
          <p:nvPr/>
        </p:nvSpPr>
        <p:spPr>
          <a:xfrm>
            <a:off x="4617720" y="5431536"/>
            <a:ext cx="6766560"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4617720" y="5449824"/>
            <a:ext cx="6766560" cy="214884"/>
          </a:xfrm>
          <a:prstGeom prst="rect">
            <a:avLst/>
          </a:prstGeom>
          <a:noFill/>
        </p:spPr>
        <p:txBody>
          <a:bodyPr wrap="square" lIns="0" rIns="0" tIns="0" bIns="0" anchor="ctr">
            <a:spAutoFit/>
          </a:bodyPr>
          <a:lstStyle/>
          <a:p>
            <a:pPr>
              <a:lnSpc>
                <a:spcPts val="1200"/>
              </a:lnSpc>
              <a:spcAft>
                <a:spcPts val="0"/>
              </a:spcAft>
            </a:pPr>
            <a:r>
              <a:rPr sz="1200" b="1" lang="ja-JP">
                <a:solidFill>
                  <a:srgbClr val="17334A"/>
                </a:solidFill>
                <a:latin typeface="Yu Gothic"/>
                <a:ea typeface="Yu Gothic"/>
              </a:rPr>
              <a:t>差し引き　−1.03億円（実績 − 基準値）</a:t>
            </a:r>
            <a:r>
              <a:rPr sz="1000" b="0" lang="ja-JP">
                <a:solidFill>
                  <a:srgbClr val="566A78"/>
                </a:solidFill>
                <a:latin typeface="Yu Gothic"/>
                <a:ea typeface="Yu Gothic"/>
              </a:rPr>
              <a:t>　丸めのため、行の和と一致しない場合があります</a:t>
            </a:r>
          </a:p>
        </p:txBody>
      </p:sp>
      <p:sp>
        <p:nvSpPr>
          <p:cNvPr id="63" name="Rectangle 62">
            <a:extLst>
              <a:ext uri="{C183D7F6-B498-43B3-948B-1728B52AA6E4}">
                <adec:decorative xmlns:adec="http://schemas.microsoft.com/office/drawing/2017/decorative" val="1"/>
              </a:ext>
            </a:extLst>
          </p:cNvPr>
          <p:cNvSpPr/>
          <p:nvPr/>
        </p:nvSpPr>
        <p:spPr>
          <a:xfrm>
            <a:off x="9413748" y="2958084"/>
            <a:ext cx="9144" cy="2436876"/>
          </a:xfrm>
          <a:prstGeom prst="rect">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食品損失は6契約に効き、合計−1.14億円</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第2章 デモで確認  |  質問③ 根拠</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金額の原因が分かったら、次は根拠の確認です。多くの場合、詳しい担当者が表をつなぎ直して調べます。</a:t>
            </a:r>
          </a:p>
          <a:p>
            <a:pPr>
              <a:lnSpc>
                <a:spcPts val="2160"/>
              </a:lnSpc>
              <a:spcAft>
                <a:spcPts val="0"/>
              </a:spcAft>
            </a:pPr>
            <a:r>
              <a:rPr sz="1600" b="0" lang="ja-JP">
                <a:solidFill>
                  <a:srgbClr val="566A78"/>
                </a:solidFill>
                <a:latin typeface="Yu Gothic"/>
                <a:ea typeface="Yu Gothic"/>
              </a:rPr>
              <a:t>ここでは日本語の質問だけで、影響した契約を特定します。次のページで根拠記録まで進みます。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Data Agentの金額は、元データの集計と一致しました。次のページで、根拠記録までの経路を示します。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13</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3794760" cy="1188720"/>
          </a:xfrm>
          <a:prstGeom prst="roundRect">
            <a:avLst>
              <a:gd name="adj" fmla="val 6153"/>
            </a:avLst>
          </a:prstGeom>
          <a:solidFill>
            <a:srgbClr val="FFFFFF"/>
          </a:solidFill>
          <a:ln w="22225">
            <a:solidFill>
              <a:srgbClr val="087F8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49808" y="2267712"/>
            <a:ext cx="3392424" cy="201168"/>
          </a:xfrm>
          <a:prstGeom prst="rect">
            <a:avLst/>
          </a:prstGeom>
          <a:noFill/>
        </p:spPr>
        <p:txBody>
          <a:bodyPr wrap="square" lIns="0" rIns="0" tIns="0" bIns="0">
            <a:spAutoFit/>
          </a:bodyPr>
          <a:lstStyle/>
          <a:p>
            <a:pPr>
              <a:lnSpc>
                <a:spcPts val="1100"/>
              </a:lnSpc>
              <a:spcAft>
                <a:spcPts val="0"/>
              </a:spcAft>
            </a:pPr>
            <a:r>
              <a:rPr sz="1100" b="1" lang="ja-JP">
                <a:solidFill>
                  <a:srgbClr val="087F83"/>
                </a:solidFill>
                <a:latin typeface="Yu Gothic"/>
                <a:ea typeface="Yu Gothic"/>
              </a:rPr>
              <a:t>Data Agentへの入力</a:t>
            </a:r>
          </a:p>
        </p:txBody>
      </p:sp>
      <p:sp>
        <p:nvSpPr>
          <p:cNvPr id="17" name="TextBox 16"/>
          <p:cNvSpPr txBox="1"/>
          <p:nvPr/>
        </p:nvSpPr>
        <p:spPr>
          <a:xfrm>
            <a:off x="749808" y="2551176"/>
            <a:ext cx="3392424" cy="713232"/>
          </a:xfrm>
          <a:prstGeom prst="rect">
            <a:avLst/>
          </a:prstGeom>
          <a:noFill/>
        </p:spPr>
        <p:txBody>
          <a:bodyPr wrap="square" lIns="0" rIns="0" tIns="0" bIns="0">
            <a:spAutoFit/>
          </a:bodyPr>
          <a:lstStyle/>
          <a:p>
            <a:pPr>
              <a:lnSpc>
                <a:spcPts val="2340"/>
              </a:lnSpc>
              <a:spcAft>
                <a:spcPts val="0"/>
              </a:spcAft>
            </a:pPr>
            <a:r>
              <a:rPr sz="1800" b="1" lang="ja-JP">
                <a:solidFill>
                  <a:srgbClr val="17334A"/>
                </a:solidFill>
                <a:latin typeface="Yu Gothic"/>
                <a:ea typeface="Yu Gothic"/>
              </a:rPr>
              <a:t>食品の損失は、</a:t>
            </a:r>
          </a:p>
          <a:p>
            <a:pPr>
              <a:lnSpc>
                <a:spcPts val="2340"/>
              </a:lnSpc>
              <a:spcAft>
                <a:spcPts val="0"/>
              </a:spcAft>
            </a:pPr>
            <a:r>
              <a:rPr sz="1800" b="1" lang="ja-JP">
                <a:solidFill>
                  <a:srgbClr val="17334A"/>
                </a:solidFill>
                <a:latin typeface="Yu Gothic"/>
                <a:ea typeface="Yu Gothic"/>
              </a:rPr>
              <a:t>どの契約に響いたの？</a:t>
            </a:r>
          </a:p>
        </p:txBody>
      </p:sp>
      <p:sp>
        <p:nvSpPr>
          <p:cNvPr id="18" name="Rounded Rectangle 17">
            <a:extLst>
              <a:ext uri="{C183D7F6-B498-43B3-948B-1728B52AA6E4}">
                <adec:decorative xmlns:adec="http://schemas.microsoft.com/office/drawing/2017/decorative" val="1"/>
              </a:ext>
            </a:extLst>
          </p:cNvPr>
          <p:cNvSpPr/>
          <p:nvPr/>
        </p:nvSpPr>
        <p:spPr>
          <a:xfrm>
            <a:off x="548640" y="3474720"/>
            <a:ext cx="3794760" cy="2240280"/>
          </a:xfrm>
          <a:prstGeom prst="roundRect">
            <a:avLst>
              <a:gd name="adj" fmla="val 3265"/>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49808" y="3593592"/>
            <a:ext cx="3383280" cy="201168"/>
          </a:xfrm>
          <a:prstGeom prst="rect">
            <a:avLst/>
          </a:prstGeom>
          <a:noFill/>
        </p:spPr>
        <p:txBody>
          <a:bodyPr wrap="square" lIns="0" rIns="0" tIns="0" bIns="0">
            <a:spAutoFit/>
          </a:bodyPr>
          <a:lstStyle/>
          <a:p>
            <a:pPr>
              <a:lnSpc>
                <a:spcPts val="1100"/>
              </a:lnSpc>
              <a:spcAft>
                <a:spcPts val="0"/>
              </a:spcAft>
            </a:pPr>
            <a:r>
              <a:rPr sz="1100" b="1" lang="ja-JP">
                <a:solidFill>
                  <a:srgbClr val="087F83"/>
                </a:solidFill>
                <a:latin typeface="Yu Gothic"/>
                <a:ea typeface="Yu Gothic"/>
              </a:rPr>
              <a:t>回答の要点</a:t>
            </a:r>
          </a:p>
        </p:txBody>
      </p:sp>
      <p:sp>
        <p:nvSpPr>
          <p:cNvPr id="20" name="TextBox 19"/>
          <p:cNvSpPr txBox="1"/>
          <p:nvPr/>
        </p:nvSpPr>
        <p:spPr>
          <a:xfrm>
            <a:off x="749808" y="3840480"/>
            <a:ext cx="1556308" cy="512064"/>
          </a:xfrm>
          <a:prstGeom prst="rect">
            <a:avLst/>
          </a:prstGeom>
          <a:noFill/>
        </p:spPr>
        <p:txBody>
          <a:bodyPr wrap="square" lIns="0" rIns="0" tIns="0" bIns="0" anchor="ctr">
            <a:spAutoFit/>
          </a:bodyPr>
          <a:lstStyle/>
          <a:p>
            <a:pPr>
              <a:lnSpc>
                <a:spcPts val="1200"/>
              </a:lnSpc>
              <a:spcAft>
                <a:spcPts val="0"/>
              </a:spcAft>
            </a:pPr>
            <a:r>
              <a:rPr sz="1200" b="1" lang="ja-JP">
                <a:solidFill>
                  <a:srgbClr val="566A78"/>
                </a:solidFill>
                <a:latin typeface="Yu Gothic"/>
                <a:ea typeface="Yu Gothic"/>
              </a:rPr>
              <a:t>効いた契約</a:t>
            </a:r>
          </a:p>
        </p:txBody>
      </p:sp>
      <p:sp>
        <p:nvSpPr>
          <p:cNvPr id="21" name="TextBox 20"/>
          <p:cNvSpPr txBox="1"/>
          <p:nvPr/>
        </p:nvSpPr>
        <p:spPr>
          <a:xfrm>
            <a:off x="1764792" y="3840480"/>
            <a:ext cx="2368296" cy="512064"/>
          </a:xfrm>
          <a:prstGeom prst="rect">
            <a:avLst/>
          </a:prstGeom>
          <a:noFill/>
        </p:spPr>
        <p:txBody>
          <a:bodyPr wrap="square" lIns="0" rIns="0" tIns="0" bIns="0" anchor="ctr">
            <a:spAutoFit/>
          </a:bodyPr>
          <a:lstStyle/>
          <a:p>
            <a:pPr algn="r">
              <a:lnSpc>
                <a:spcPts val="2000"/>
              </a:lnSpc>
              <a:spcAft>
                <a:spcPts val="0"/>
              </a:spcAft>
            </a:pPr>
            <a:r>
              <a:rPr sz="2000" b="1" lang="ja-JP">
                <a:solidFill>
                  <a:srgbClr val="17334A"/>
                </a:solidFill>
                <a:latin typeface="Yu Gothic"/>
                <a:ea typeface="Yu Gothic"/>
              </a:rPr>
              <a:t>6件</a:t>
            </a:r>
          </a:p>
        </p:txBody>
      </p:sp>
      <p:sp>
        <p:nvSpPr>
          <p:cNvPr id="22" name="TextBox 21"/>
          <p:cNvSpPr txBox="1"/>
          <p:nvPr/>
        </p:nvSpPr>
        <p:spPr>
          <a:xfrm>
            <a:off x="749808" y="4352544"/>
            <a:ext cx="1556308" cy="512064"/>
          </a:xfrm>
          <a:prstGeom prst="rect">
            <a:avLst/>
          </a:prstGeom>
          <a:noFill/>
        </p:spPr>
        <p:txBody>
          <a:bodyPr wrap="square" lIns="0" rIns="0" tIns="0" bIns="0" anchor="ctr">
            <a:spAutoFit/>
          </a:bodyPr>
          <a:lstStyle/>
          <a:p>
            <a:pPr>
              <a:lnSpc>
                <a:spcPts val="1200"/>
              </a:lnSpc>
              <a:spcAft>
                <a:spcPts val="0"/>
              </a:spcAft>
            </a:pPr>
            <a:r>
              <a:rPr sz="1200" b="1" lang="ja-JP">
                <a:solidFill>
                  <a:srgbClr val="566A78"/>
                </a:solidFill>
                <a:latin typeface="Yu Gothic"/>
                <a:ea typeface="Yu Gothic"/>
              </a:rPr>
              <a:t>全額連結</a:t>
            </a:r>
          </a:p>
        </p:txBody>
      </p:sp>
      <p:sp>
        <p:nvSpPr>
          <p:cNvPr id="23" name="TextBox 22"/>
          <p:cNvSpPr txBox="1"/>
          <p:nvPr/>
        </p:nvSpPr>
        <p:spPr>
          <a:xfrm>
            <a:off x="1764792" y="4352544"/>
            <a:ext cx="2368296" cy="512064"/>
          </a:xfrm>
          <a:prstGeom prst="rect">
            <a:avLst/>
          </a:prstGeom>
          <a:noFill/>
        </p:spPr>
        <p:txBody>
          <a:bodyPr wrap="square" lIns="0" rIns="0" tIns="0" bIns="0" anchor="ctr">
            <a:spAutoFit/>
          </a:bodyPr>
          <a:lstStyle/>
          <a:p>
            <a:pPr algn="r">
              <a:lnSpc>
                <a:spcPts val="2000"/>
              </a:lnSpc>
              <a:spcAft>
                <a:spcPts val="0"/>
              </a:spcAft>
            </a:pPr>
            <a:r>
              <a:rPr sz="2000" b="1" lang="ja-JP">
                <a:solidFill>
                  <a:srgbClr val="BD4354"/>
                </a:solidFill>
                <a:latin typeface="Yu Gothic"/>
                <a:ea typeface="Yu Gothic"/>
              </a:rPr>
              <a:t>−1.14億円</a:t>
            </a:r>
          </a:p>
        </p:txBody>
      </p:sp>
      <p:sp>
        <p:nvSpPr>
          <p:cNvPr id="24" name="Rectangle 23">
            <a:extLst>
              <a:ext uri="{C183D7F6-B498-43B3-948B-1728B52AA6E4}">
                <adec:decorative xmlns:adec="http://schemas.microsoft.com/office/drawing/2017/decorative" val="1"/>
              </a:ext>
            </a:extLst>
          </p:cNvPr>
          <p:cNvSpPr/>
          <p:nvPr/>
        </p:nvSpPr>
        <p:spPr>
          <a:xfrm>
            <a:off x="749808" y="4352544"/>
            <a:ext cx="3383280"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4864608"/>
            <a:ext cx="1556308" cy="512064"/>
          </a:xfrm>
          <a:prstGeom prst="rect">
            <a:avLst/>
          </a:prstGeom>
          <a:noFill/>
        </p:spPr>
        <p:txBody>
          <a:bodyPr wrap="square" lIns="0" rIns="0" tIns="0" bIns="0" anchor="ctr">
            <a:spAutoFit/>
          </a:bodyPr>
          <a:lstStyle/>
          <a:p>
            <a:pPr>
              <a:lnSpc>
                <a:spcPts val="1200"/>
              </a:lnSpc>
              <a:spcAft>
                <a:spcPts val="0"/>
              </a:spcAft>
            </a:pPr>
            <a:r>
              <a:rPr sz="1200" b="1" lang="ja-JP">
                <a:solidFill>
                  <a:srgbClr val="566A78"/>
                </a:solidFill>
                <a:latin typeface="Yu Gothic"/>
                <a:ea typeface="Yu Gothic"/>
              </a:rPr>
              <a:t>持分管理</a:t>
            </a:r>
          </a:p>
        </p:txBody>
      </p:sp>
      <p:sp>
        <p:nvSpPr>
          <p:cNvPr id="26" name="TextBox 25"/>
          <p:cNvSpPr txBox="1"/>
          <p:nvPr/>
        </p:nvSpPr>
        <p:spPr>
          <a:xfrm>
            <a:off x="1764792" y="4864608"/>
            <a:ext cx="2368296" cy="512064"/>
          </a:xfrm>
          <a:prstGeom prst="rect">
            <a:avLst/>
          </a:prstGeom>
          <a:noFill/>
        </p:spPr>
        <p:txBody>
          <a:bodyPr wrap="square" lIns="0" rIns="0" tIns="0" bIns="0" anchor="ctr">
            <a:spAutoFit/>
          </a:bodyPr>
          <a:lstStyle/>
          <a:p>
            <a:pPr algn="r">
              <a:lnSpc>
                <a:spcPts val="2000"/>
              </a:lnSpc>
              <a:spcAft>
                <a:spcPts val="0"/>
              </a:spcAft>
            </a:pPr>
            <a:r>
              <a:rPr sz="2000" b="1" lang="ja-JP">
                <a:solidFill>
                  <a:srgbClr val="BD4354"/>
                </a:solidFill>
                <a:latin typeface="Yu Gothic"/>
                <a:ea typeface="Yu Gothic"/>
              </a:rPr>
              <a:t>−0.88億円</a:t>
            </a:r>
          </a:p>
        </p:txBody>
      </p:sp>
      <p:sp>
        <p:nvSpPr>
          <p:cNvPr id="27" name="Rectangle 26">
            <a:extLst>
              <a:ext uri="{C183D7F6-B498-43B3-948B-1728B52AA6E4}">
                <adec:decorative xmlns:adec="http://schemas.microsoft.com/office/drawing/2017/decorative" val="1"/>
              </a:ext>
            </a:extLst>
          </p:cNvPr>
          <p:cNvSpPr/>
          <p:nvPr/>
        </p:nvSpPr>
        <p:spPr>
          <a:xfrm>
            <a:off x="749808" y="4864608"/>
            <a:ext cx="3383280"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49808" y="5431536"/>
            <a:ext cx="3383280" cy="237744"/>
          </a:xfrm>
          <a:prstGeom prst="rect">
            <a:avLst/>
          </a:prstGeom>
          <a:noFill/>
        </p:spPr>
        <p:txBody>
          <a:bodyPr wrap="square" lIns="0" rIns="0" tIns="0" bIns="0">
            <a:spAutoFit/>
          </a:bodyPr>
          <a:lstStyle/>
          <a:p>
            <a:pPr>
              <a:lnSpc>
                <a:spcPts val="1100"/>
              </a:lnSpc>
              <a:spcAft>
                <a:spcPts val="0"/>
              </a:spcAft>
            </a:pPr>
            <a:r>
              <a:rPr sz="1100" b="0" lang="ja-JP">
                <a:solidFill>
                  <a:srgbClr val="566A78"/>
                </a:solidFill>
                <a:latin typeface="Yu Gothic"/>
                <a:ea typeface="Yu Gothic"/>
              </a:rPr>
              <a:t>差は、持分51%の日本の会社を含むため</a:t>
            </a:r>
          </a:p>
        </p:txBody>
      </p:sp>
      <p:sp>
        <p:nvSpPr>
          <p:cNvPr id="29" name="Rounded Rectangle 28">
            <a:extLst>
              <a:ext uri="{C183D7F6-B498-43B3-948B-1728B52AA6E4}">
                <adec:decorative xmlns:adec="http://schemas.microsoft.com/office/drawing/2017/decorative" val="1"/>
              </a:ext>
            </a:extLst>
          </p:cNvPr>
          <p:cNvSpPr/>
          <p:nvPr/>
        </p:nvSpPr>
        <p:spPr>
          <a:xfrm>
            <a:off x="4526280" y="2148840"/>
            <a:ext cx="711403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0" y="2258568"/>
            <a:ext cx="4572000" cy="256032"/>
          </a:xfrm>
          <a:prstGeom prst="rect">
            <a:avLst/>
          </a:prstGeom>
          <a:noFill/>
        </p:spPr>
        <p:txBody>
          <a:bodyPr wrap="square" lIns="0" rIns="0" tIns="0" bIns="0">
            <a:spAutoFit/>
          </a:bodyPr>
          <a:lstStyle/>
          <a:p>
            <a:pPr>
              <a:lnSpc>
                <a:spcPts val="1300"/>
              </a:lnSpc>
              <a:spcAft>
                <a:spcPts val="0"/>
              </a:spcAft>
            </a:pPr>
            <a:r>
              <a:rPr sz="1300" b="1" lang="ja-JP">
                <a:solidFill>
                  <a:srgbClr val="087F83"/>
                </a:solidFill>
                <a:latin typeface="Yu Gothic"/>
                <a:ea typeface="Yu Gothic"/>
              </a:rPr>
              <a:t>影響を受けた6契約（億円）</a:t>
            </a:r>
          </a:p>
        </p:txBody>
      </p:sp>
      <p:sp>
        <p:nvSpPr>
          <p:cNvPr id="31" name="TextBox 30"/>
          <p:cNvSpPr txBox="1"/>
          <p:nvPr/>
        </p:nvSpPr>
        <p:spPr>
          <a:xfrm>
            <a:off x="4754880" y="2505456"/>
            <a:ext cx="6766560" cy="219456"/>
          </a:xfrm>
          <a:prstGeom prst="rect">
            <a:avLst/>
          </a:prstGeom>
          <a:noFill/>
        </p:spPr>
        <p:txBody>
          <a:bodyPr wrap="square" lIns="0" rIns="0" tIns="0" bIns="0">
            <a:spAutoFit/>
          </a:bodyPr>
          <a:lstStyle/>
          <a:p>
            <a:pPr>
              <a:lnSpc>
                <a:spcPts val="1100"/>
              </a:lnSpc>
              <a:spcAft>
                <a:spcPts val="0"/>
              </a:spcAft>
            </a:pPr>
            <a:r>
              <a:rPr sz="1100" b="0" lang="ja-JP">
                <a:solidFill>
                  <a:srgbClr val="566A78"/>
                </a:solidFill>
                <a:latin typeface="Yu Gothic"/>
                <a:ea typeface="Yu Gothic"/>
              </a:rPr>
              <a:t>すべて製粉用小麦の契約。小数第3位まで表示するため、丸めで合計が合わない場合があります</a:t>
            </a:r>
          </a:p>
        </p:txBody>
      </p:sp>
      <p:sp>
        <p:nvSpPr>
          <p:cNvPr id="32" name="TextBox 31"/>
          <p:cNvSpPr txBox="1"/>
          <p:nvPr/>
        </p:nvSpPr>
        <p:spPr>
          <a:xfrm>
            <a:off x="4754880" y="2834640"/>
            <a:ext cx="214884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契約ID</a:t>
            </a:r>
          </a:p>
        </p:txBody>
      </p:sp>
      <p:sp>
        <p:nvSpPr>
          <p:cNvPr id="33" name="TextBox 32"/>
          <p:cNvSpPr txBox="1"/>
          <p:nvPr/>
        </p:nvSpPr>
        <p:spPr>
          <a:xfrm>
            <a:off x="6949440" y="2834640"/>
            <a:ext cx="224028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会社</a:t>
            </a:r>
          </a:p>
        </p:txBody>
      </p:sp>
      <p:sp>
        <p:nvSpPr>
          <p:cNvPr id="34" name="TextBox 33"/>
          <p:cNvSpPr txBox="1"/>
          <p:nvPr/>
        </p:nvSpPr>
        <p:spPr>
          <a:xfrm>
            <a:off x="9189720" y="2834640"/>
            <a:ext cx="594360" cy="219456"/>
          </a:xfrm>
          <a:prstGeom prst="rect">
            <a:avLst/>
          </a:prstGeom>
          <a:noFill/>
        </p:spPr>
        <p:txBody>
          <a:bodyPr wrap="square" lIns="0" rIns="0" tIns="0" bIns="0">
            <a:spAutoFit/>
          </a:bodyPr>
          <a:lstStyle/>
          <a:p>
            <a:pPr algn="r">
              <a:lnSpc>
                <a:spcPts val="1150"/>
              </a:lnSpc>
              <a:spcAft>
                <a:spcPts val="0"/>
              </a:spcAft>
            </a:pPr>
            <a:r>
              <a:rPr sz="1150" b="1" lang="ja-JP">
                <a:solidFill>
                  <a:srgbClr val="087F83"/>
                </a:solidFill>
                <a:latin typeface="Yu Gothic"/>
                <a:ea typeface="Yu Gothic"/>
              </a:rPr>
              <a:t>持分</a:t>
            </a:r>
          </a:p>
        </p:txBody>
      </p:sp>
      <p:sp>
        <p:nvSpPr>
          <p:cNvPr id="35" name="TextBox 34"/>
          <p:cNvSpPr txBox="1"/>
          <p:nvPr/>
        </p:nvSpPr>
        <p:spPr>
          <a:xfrm>
            <a:off x="9875520" y="2834640"/>
            <a:ext cx="868680" cy="219456"/>
          </a:xfrm>
          <a:prstGeom prst="rect">
            <a:avLst/>
          </a:prstGeom>
          <a:noFill/>
        </p:spPr>
        <p:txBody>
          <a:bodyPr wrap="square" lIns="0" rIns="0" tIns="0" bIns="0">
            <a:spAutoFit/>
          </a:bodyPr>
          <a:lstStyle/>
          <a:p>
            <a:pPr algn="r">
              <a:lnSpc>
                <a:spcPts val="1150"/>
              </a:lnSpc>
              <a:spcAft>
                <a:spcPts val="0"/>
              </a:spcAft>
            </a:pPr>
            <a:r>
              <a:rPr sz="1150" b="1" lang="ja-JP">
                <a:solidFill>
                  <a:srgbClr val="087F83"/>
                </a:solidFill>
                <a:latin typeface="Yu Gothic"/>
                <a:ea typeface="Yu Gothic"/>
              </a:rPr>
              <a:t>全額連結</a:t>
            </a:r>
          </a:p>
        </p:txBody>
      </p:sp>
      <p:sp>
        <p:nvSpPr>
          <p:cNvPr id="36" name="TextBox 35"/>
          <p:cNvSpPr txBox="1"/>
          <p:nvPr/>
        </p:nvSpPr>
        <p:spPr>
          <a:xfrm>
            <a:off x="10744200" y="2834640"/>
            <a:ext cx="777240" cy="219456"/>
          </a:xfrm>
          <a:prstGeom prst="rect">
            <a:avLst/>
          </a:prstGeom>
          <a:noFill/>
        </p:spPr>
        <p:txBody>
          <a:bodyPr wrap="square" lIns="0" rIns="0" tIns="0" bIns="0">
            <a:spAutoFit/>
          </a:bodyPr>
          <a:lstStyle/>
          <a:p>
            <a:pPr algn="r">
              <a:lnSpc>
                <a:spcPts val="1150"/>
              </a:lnSpc>
              <a:spcAft>
                <a:spcPts val="0"/>
              </a:spcAft>
            </a:pPr>
            <a:r>
              <a:rPr sz="1150" b="1" lang="ja-JP">
                <a:solidFill>
                  <a:srgbClr val="087F83"/>
                </a:solidFill>
                <a:latin typeface="Yu Gothic"/>
                <a:ea typeface="Yu Gothic"/>
              </a:rPr>
              <a:t>持分管理</a:t>
            </a:r>
          </a:p>
        </p:txBody>
      </p:sp>
      <p:sp>
        <p:nvSpPr>
          <p:cNvPr id="37" name="TextBox 36"/>
          <p:cNvSpPr txBox="1"/>
          <p:nvPr/>
        </p:nvSpPr>
        <p:spPr>
          <a:xfrm>
            <a:off x="4754880" y="3127248"/>
            <a:ext cx="214884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SUB_FOD_JP_01_C04</a:t>
            </a:r>
          </a:p>
        </p:txBody>
      </p:sp>
      <p:sp>
        <p:nvSpPr>
          <p:cNvPr id="38" name="TextBox 37"/>
          <p:cNvSpPr txBox="1"/>
          <p:nvPr/>
        </p:nvSpPr>
        <p:spPr>
          <a:xfrm>
            <a:off x="6949440" y="3127248"/>
            <a:ext cx="224028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Caldriva Foods Japan KK</a:t>
            </a:r>
          </a:p>
        </p:txBody>
      </p:sp>
      <p:sp>
        <p:nvSpPr>
          <p:cNvPr id="39" name="TextBox 38"/>
          <p:cNvSpPr txBox="1"/>
          <p:nvPr/>
        </p:nvSpPr>
        <p:spPr>
          <a:xfrm>
            <a:off x="9189720" y="3127248"/>
            <a:ext cx="594360" cy="274320"/>
          </a:xfrm>
          <a:prstGeom prst="rect">
            <a:avLst/>
          </a:prstGeom>
          <a:noFill/>
        </p:spPr>
        <p:txBody>
          <a:bodyPr wrap="square" lIns="0" rIns="0" tIns="0" bIns="0" anchor="ctr">
            <a:spAutoFit/>
          </a:bodyPr>
          <a:lstStyle/>
          <a:p>
            <a:pPr algn="r">
              <a:lnSpc>
                <a:spcPts val="1200"/>
              </a:lnSpc>
              <a:spcAft>
                <a:spcPts val="0"/>
              </a:spcAft>
            </a:pPr>
            <a:r>
              <a:rPr sz="1200" b="0" lang="ja-JP">
                <a:solidFill>
                  <a:srgbClr val="566A78"/>
                </a:solidFill>
                <a:latin typeface="Yu Gothic"/>
                <a:ea typeface="Yu Gothic"/>
              </a:rPr>
              <a:t>51%</a:t>
            </a:r>
          </a:p>
        </p:txBody>
      </p:sp>
      <p:sp>
        <p:nvSpPr>
          <p:cNvPr id="40" name="TextBox 39"/>
          <p:cNvSpPr txBox="1"/>
          <p:nvPr/>
        </p:nvSpPr>
        <p:spPr>
          <a:xfrm>
            <a:off x="9875520" y="3127248"/>
            <a:ext cx="86868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−0.206</a:t>
            </a:r>
          </a:p>
        </p:txBody>
      </p:sp>
      <p:sp>
        <p:nvSpPr>
          <p:cNvPr id="41" name="TextBox 40"/>
          <p:cNvSpPr txBox="1"/>
          <p:nvPr/>
        </p:nvSpPr>
        <p:spPr>
          <a:xfrm>
            <a:off x="10744200" y="3127248"/>
            <a:ext cx="77724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−0.105</a:t>
            </a:r>
          </a:p>
        </p:txBody>
      </p:sp>
      <p:sp>
        <p:nvSpPr>
          <p:cNvPr id="42" name="Rounded Rectangle 41">
            <a:extLst>
              <a:ext uri="{C183D7F6-B498-43B3-948B-1728B52AA6E4}">
                <adec:decorative xmlns:adec="http://schemas.microsoft.com/office/drawing/2017/decorative" val="1"/>
              </a:ext>
            </a:extLst>
          </p:cNvPr>
          <p:cNvSpPr/>
          <p:nvPr/>
        </p:nvSpPr>
        <p:spPr>
          <a:xfrm>
            <a:off x="4617720" y="3447288"/>
            <a:ext cx="6931152" cy="347472"/>
          </a:xfrm>
          <a:prstGeom prst="roundRect">
            <a:avLst>
              <a:gd name="adj" fmla="val 13157"/>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4754880" y="3493008"/>
            <a:ext cx="214884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SUB_FOD_US_01_C06</a:t>
            </a:r>
          </a:p>
        </p:txBody>
      </p:sp>
      <p:sp>
        <p:nvSpPr>
          <p:cNvPr id="44" name="TextBox 43"/>
          <p:cNvSpPr txBox="1"/>
          <p:nvPr/>
        </p:nvSpPr>
        <p:spPr>
          <a:xfrm>
            <a:off x="6949440" y="3493008"/>
            <a:ext cx="224028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Caldriva Foods USA Inc.</a:t>
            </a:r>
          </a:p>
        </p:txBody>
      </p:sp>
      <p:sp>
        <p:nvSpPr>
          <p:cNvPr id="45" name="TextBox 44"/>
          <p:cNvSpPr txBox="1"/>
          <p:nvPr/>
        </p:nvSpPr>
        <p:spPr>
          <a:xfrm>
            <a:off x="9189720" y="3493008"/>
            <a:ext cx="594360" cy="274320"/>
          </a:xfrm>
          <a:prstGeom prst="rect">
            <a:avLst/>
          </a:prstGeom>
          <a:noFill/>
        </p:spPr>
        <p:txBody>
          <a:bodyPr wrap="square" lIns="0" rIns="0" tIns="0" bIns="0" anchor="ctr">
            <a:spAutoFit/>
          </a:bodyPr>
          <a:lstStyle/>
          <a:p>
            <a:pPr algn="r">
              <a:lnSpc>
                <a:spcPts val="1200"/>
              </a:lnSpc>
              <a:spcAft>
                <a:spcPts val="0"/>
              </a:spcAft>
            </a:pPr>
            <a:r>
              <a:rPr sz="1200" b="0" lang="ja-JP">
                <a:solidFill>
                  <a:srgbClr val="566A78"/>
                </a:solidFill>
                <a:latin typeface="Yu Gothic"/>
                <a:ea typeface="Yu Gothic"/>
              </a:rPr>
              <a:t>100%</a:t>
            </a:r>
          </a:p>
        </p:txBody>
      </p:sp>
      <p:sp>
        <p:nvSpPr>
          <p:cNvPr id="46" name="TextBox 45"/>
          <p:cNvSpPr txBox="1"/>
          <p:nvPr/>
        </p:nvSpPr>
        <p:spPr>
          <a:xfrm>
            <a:off x="9875520" y="3493008"/>
            <a:ext cx="86868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−0.206</a:t>
            </a:r>
          </a:p>
        </p:txBody>
      </p:sp>
      <p:sp>
        <p:nvSpPr>
          <p:cNvPr id="47" name="TextBox 46"/>
          <p:cNvSpPr txBox="1"/>
          <p:nvPr/>
        </p:nvSpPr>
        <p:spPr>
          <a:xfrm>
            <a:off x="10744200" y="3493008"/>
            <a:ext cx="77724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−0.206</a:t>
            </a:r>
          </a:p>
        </p:txBody>
      </p:sp>
      <p:sp>
        <p:nvSpPr>
          <p:cNvPr id="48" name="TextBox 47"/>
          <p:cNvSpPr txBox="1"/>
          <p:nvPr/>
        </p:nvSpPr>
        <p:spPr>
          <a:xfrm>
            <a:off x="4754880" y="3858768"/>
            <a:ext cx="214884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SUB_FOD_US_01_C04</a:t>
            </a:r>
          </a:p>
        </p:txBody>
      </p:sp>
      <p:sp>
        <p:nvSpPr>
          <p:cNvPr id="49" name="TextBox 48"/>
          <p:cNvSpPr txBox="1"/>
          <p:nvPr/>
        </p:nvSpPr>
        <p:spPr>
          <a:xfrm>
            <a:off x="6949440" y="3858768"/>
            <a:ext cx="224028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Caldriva Foods USA Inc.</a:t>
            </a:r>
          </a:p>
        </p:txBody>
      </p:sp>
      <p:sp>
        <p:nvSpPr>
          <p:cNvPr id="50" name="TextBox 49"/>
          <p:cNvSpPr txBox="1"/>
          <p:nvPr/>
        </p:nvSpPr>
        <p:spPr>
          <a:xfrm>
            <a:off x="9189720" y="3858768"/>
            <a:ext cx="594360" cy="274320"/>
          </a:xfrm>
          <a:prstGeom prst="rect">
            <a:avLst/>
          </a:prstGeom>
          <a:noFill/>
        </p:spPr>
        <p:txBody>
          <a:bodyPr wrap="square" lIns="0" rIns="0" tIns="0" bIns="0" anchor="ctr">
            <a:spAutoFit/>
          </a:bodyPr>
          <a:lstStyle/>
          <a:p>
            <a:pPr algn="r">
              <a:lnSpc>
                <a:spcPts val="1200"/>
              </a:lnSpc>
              <a:spcAft>
                <a:spcPts val="0"/>
              </a:spcAft>
            </a:pPr>
            <a:r>
              <a:rPr sz="1200" b="0" lang="ja-JP">
                <a:solidFill>
                  <a:srgbClr val="566A78"/>
                </a:solidFill>
                <a:latin typeface="Yu Gothic"/>
                <a:ea typeface="Yu Gothic"/>
              </a:rPr>
              <a:t>100%</a:t>
            </a:r>
          </a:p>
        </p:txBody>
      </p:sp>
      <p:sp>
        <p:nvSpPr>
          <p:cNvPr id="51" name="TextBox 50"/>
          <p:cNvSpPr txBox="1"/>
          <p:nvPr/>
        </p:nvSpPr>
        <p:spPr>
          <a:xfrm>
            <a:off x="9875520" y="3858768"/>
            <a:ext cx="86868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−0.202</a:t>
            </a:r>
          </a:p>
        </p:txBody>
      </p:sp>
      <p:sp>
        <p:nvSpPr>
          <p:cNvPr id="52" name="TextBox 51"/>
          <p:cNvSpPr txBox="1"/>
          <p:nvPr/>
        </p:nvSpPr>
        <p:spPr>
          <a:xfrm>
            <a:off x="10744200" y="3858768"/>
            <a:ext cx="77724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−0.202</a:t>
            </a:r>
          </a:p>
        </p:txBody>
      </p:sp>
      <p:sp>
        <p:nvSpPr>
          <p:cNvPr id="53" name="Rounded Rectangle 52">
            <a:extLst>
              <a:ext uri="{C183D7F6-B498-43B3-948B-1728B52AA6E4}">
                <adec:decorative xmlns:adec="http://schemas.microsoft.com/office/drawing/2017/decorative" val="1"/>
              </a:ext>
            </a:extLst>
          </p:cNvPr>
          <p:cNvSpPr/>
          <p:nvPr/>
        </p:nvSpPr>
        <p:spPr>
          <a:xfrm>
            <a:off x="4617720" y="4178807"/>
            <a:ext cx="6931152" cy="347472"/>
          </a:xfrm>
          <a:prstGeom prst="roundRect">
            <a:avLst>
              <a:gd name="adj" fmla="val 13157"/>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4754880" y="4224527"/>
            <a:ext cx="214884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SUB_FOD_US_01_C05</a:t>
            </a:r>
          </a:p>
        </p:txBody>
      </p:sp>
      <p:sp>
        <p:nvSpPr>
          <p:cNvPr id="55" name="TextBox 54"/>
          <p:cNvSpPr txBox="1"/>
          <p:nvPr/>
        </p:nvSpPr>
        <p:spPr>
          <a:xfrm>
            <a:off x="6949440" y="4224527"/>
            <a:ext cx="224028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Caldriva Foods USA Inc.</a:t>
            </a:r>
          </a:p>
        </p:txBody>
      </p:sp>
      <p:sp>
        <p:nvSpPr>
          <p:cNvPr id="56" name="TextBox 55"/>
          <p:cNvSpPr txBox="1"/>
          <p:nvPr/>
        </p:nvSpPr>
        <p:spPr>
          <a:xfrm>
            <a:off x="9189720" y="4224527"/>
            <a:ext cx="594360" cy="274320"/>
          </a:xfrm>
          <a:prstGeom prst="rect">
            <a:avLst/>
          </a:prstGeom>
          <a:noFill/>
        </p:spPr>
        <p:txBody>
          <a:bodyPr wrap="square" lIns="0" rIns="0" tIns="0" bIns="0" anchor="ctr">
            <a:spAutoFit/>
          </a:bodyPr>
          <a:lstStyle/>
          <a:p>
            <a:pPr algn="r">
              <a:lnSpc>
                <a:spcPts val="1200"/>
              </a:lnSpc>
              <a:spcAft>
                <a:spcPts val="0"/>
              </a:spcAft>
            </a:pPr>
            <a:r>
              <a:rPr sz="1200" b="0" lang="ja-JP">
                <a:solidFill>
                  <a:srgbClr val="566A78"/>
                </a:solidFill>
                <a:latin typeface="Yu Gothic"/>
                <a:ea typeface="Yu Gothic"/>
              </a:rPr>
              <a:t>100%</a:t>
            </a:r>
          </a:p>
        </p:txBody>
      </p:sp>
      <p:sp>
        <p:nvSpPr>
          <p:cNvPr id="57" name="TextBox 56"/>
          <p:cNvSpPr txBox="1"/>
          <p:nvPr/>
        </p:nvSpPr>
        <p:spPr>
          <a:xfrm>
            <a:off x="9875520" y="4224527"/>
            <a:ext cx="86868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−0.190</a:t>
            </a:r>
          </a:p>
        </p:txBody>
      </p:sp>
      <p:sp>
        <p:nvSpPr>
          <p:cNvPr id="58" name="TextBox 57"/>
          <p:cNvSpPr txBox="1"/>
          <p:nvPr/>
        </p:nvSpPr>
        <p:spPr>
          <a:xfrm>
            <a:off x="10744200" y="4224527"/>
            <a:ext cx="77724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−0.190</a:t>
            </a:r>
          </a:p>
        </p:txBody>
      </p:sp>
      <p:sp>
        <p:nvSpPr>
          <p:cNvPr id="59" name="TextBox 58"/>
          <p:cNvSpPr txBox="1"/>
          <p:nvPr/>
        </p:nvSpPr>
        <p:spPr>
          <a:xfrm>
            <a:off x="4754880" y="4590288"/>
            <a:ext cx="214884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SUB_FOD_JP_01_C05</a:t>
            </a:r>
          </a:p>
        </p:txBody>
      </p:sp>
      <p:sp>
        <p:nvSpPr>
          <p:cNvPr id="60" name="TextBox 59"/>
          <p:cNvSpPr txBox="1"/>
          <p:nvPr/>
        </p:nvSpPr>
        <p:spPr>
          <a:xfrm>
            <a:off x="6949440" y="4590288"/>
            <a:ext cx="224028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Caldriva Foods Japan KK</a:t>
            </a:r>
          </a:p>
        </p:txBody>
      </p:sp>
      <p:sp>
        <p:nvSpPr>
          <p:cNvPr id="61" name="TextBox 60"/>
          <p:cNvSpPr txBox="1"/>
          <p:nvPr/>
        </p:nvSpPr>
        <p:spPr>
          <a:xfrm>
            <a:off x="9189720" y="4590288"/>
            <a:ext cx="594360" cy="274320"/>
          </a:xfrm>
          <a:prstGeom prst="rect">
            <a:avLst/>
          </a:prstGeom>
          <a:noFill/>
        </p:spPr>
        <p:txBody>
          <a:bodyPr wrap="square" lIns="0" rIns="0" tIns="0" bIns="0" anchor="ctr">
            <a:spAutoFit/>
          </a:bodyPr>
          <a:lstStyle/>
          <a:p>
            <a:pPr algn="r">
              <a:lnSpc>
                <a:spcPts val="1200"/>
              </a:lnSpc>
              <a:spcAft>
                <a:spcPts val="0"/>
              </a:spcAft>
            </a:pPr>
            <a:r>
              <a:rPr sz="1200" b="0" lang="ja-JP">
                <a:solidFill>
                  <a:srgbClr val="566A78"/>
                </a:solidFill>
                <a:latin typeface="Yu Gothic"/>
                <a:ea typeface="Yu Gothic"/>
              </a:rPr>
              <a:t>51%</a:t>
            </a:r>
          </a:p>
        </p:txBody>
      </p:sp>
      <p:sp>
        <p:nvSpPr>
          <p:cNvPr id="62" name="TextBox 61"/>
          <p:cNvSpPr txBox="1"/>
          <p:nvPr/>
        </p:nvSpPr>
        <p:spPr>
          <a:xfrm>
            <a:off x="9875520" y="4590288"/>
            <a:ext cx="86868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−0.177</a:t>
            </a:r>
          </a:p>
        </p:txBody>
      </p:sp>
      <p:sp>
        <p:nvSpPr>
          <p:cNvPr id="63" name="TextBox 62"/>
          <p:cNvSpPr txBox="1"/>
          <p:nvPr/>
        </p:nvSpPr>
        <p:spPr>
          <a:xfrm>
            <a:off x="10744200" y="4590288"/>
            <a:ext cx="77724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−0.090</a:t>
            </a:r>
          </a:p>
        </p:txBody>
      </p:sp>
      <p:sp>
        <p:nvSpPr>
          <p:cNvPr id="64" name="Rounded Rectangle 63">
            <a:extLst>
              <a:ext uri="{C183D7F6-B498-43B3-948B-1728B52AA6E4}">
                <adec:decorative xmlns:adec="http://schemas.microsoft.com/office/drawing/2017/decorative" val="1"/>
              </a:ext>
            </a:extLst>
          </p:cNvPr>
          <p:cNvSpPr/>
          <p:nvPr/>
        </p:nvSpPr>
        <p:spPr>
          <a:xfrm>
            <a:off x="4617720" y="4910328"/>
            <a:ext cx="6931152" cy="347472"/>
          </a:xfrm>
          <a:prstGeom prst="roundRect">
            <a:avLst>
              <a:gd name="adj" fmla="val 13157"/>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4754880" y="4956048"/>
            <a:ext cx="214884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SUB_FOD_JP_01_C06</a:t>
            </a:r>
          </a:p>
        </p:txBody>
      </p:sp>
      <p:sp>
        <p:nvSpPr>
          <p:cNvPr id="66" name="TextBox 65"/>
          <p:cNvSpPr txBox="1"/>
          <p:nvPr/>
        </p:nvSpPr>
        <p:spPr>
          <a:xfrm>
            <a:off x="6949440" y="4956048"/>
            <a:ext cx="2240280" cy="274320"/>
          </a:xfrm>
          <a:prstGeom prst="rect">
            <a:avLst/>
          </a:prstGeom>
          <a:noFill/>
        </p:spPr>
        <p:txBody>
          <a:bodyPr wrap="square" lIns="0" rIns="0" tIns="0" bIns="0" anchor="ctr">
            <a:spAutoFit/>
          </a:bodyPr>
          <a:lstStyle/>
          <a:p>
            <a:pPr>
              <a:lnSpc>
                <a:spcPts val="1200"/>
              </a:lnSpc>
              <a:spcAft>
                <a:spcPts val="0"/>
              </a:spcAft>
            </a:pPr>
            <a:r>
              <a:rPr sz="1200" b="0" lang="ja-JP">
                <a:solidFill>
                  <a:srgbClr val="21374A"/>
                </a:solidFill>
                <a:latin typeface="Yu Gothic"/>
                <a:ea typeface="Yu Gothic"/>
              </a:rPr>
              <a:t>Caldriva Foods Japan KK</a:t>
            </a:r>
          </a:p>
        </p:txBody>
      </p:sp>
      <p:sp>
        <p:nvSpPr>
          <p:cNvPr id="67" name="TextBox 66"/>
          <p:cNvSpPr txBox="1"/>
          <p:nvPr/>
        </p:nvSpPr>
        <p:spPr>
          <a:xfrm>
            <a:off x="9189720" y="4956048"/>
            <a:ext cx="594360" cy="274320"/>
          </a:xfrm>
          <a:prstGeom prst="rect">
            <a:avLst/>
          </a:prstGeom>
          <a:noFill/>
        </p:spPr>
        <p:txBody>
          <a:bodyPr wrap="square" lIns="0" rIns="0" tIns="0" bIns="0" anchor="ctr">
            <a:spAutoFit/>
          </a:bodyPr>
          <a:lstStyle/>
          <a:p>
            <a:pPr algn="r">
              <a:lnSpc>
                <a:spcPts val="1200"/>
              </a:lnSpc>
              <a:spcAft>
                <a:spcPts val="0"/>
              </a:spcAft>
            </a:pPr>
            <a:r>
              <a:rPr sz="1200" b="0" lang="ja-JP">
                <a:solidFill>
                  <a:srgbClr val="566A78"/>
                </a:solidFill>
                <a:latin typeface="Yu Gothic"/>
                <a:ea typeface="Yu Gothic"/>
              </a:rPr>
              <a:t>51%</a:t>
            </a:r>
          </a:p>
        </p:txBody>
      </p:sp>
      <p:sp>
        <p:nvSpPr>
          <p:cNvPr id="68" name="TextBox 67"/>
          <p:cNvSpPr txBox="1"/>
          <p:nvPr/>
        </p:nvSpPr>
        <p:spPr>
          <a:xfrm>
            <a:off x="9875520" y="4956048"/>
            <a:ext cx="86868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−0.165</a:t>
            </a:r>
          </a:p>
        </p:txBody>
      </p:sp>
      <p:sp>
        <p:nvSpPr>
          <p:cNvPr id="69" name="TextBox 68"/>
          <p:cNvSpPr txBox="1"/>
          <p:nvPr/>
        </p:nvSpPr>
        <p:spPr>
          <a:xfrm>
            <a:off x="10744200" y="4956048"/>
            <a:ext cx="777240" cy="274320"/>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−0.084</a:t>
            </a:r>
          </a:p>
        </p:txBody>
      </p:sp>
      <p:sp>
        <p:nvSpPr>
          <p:cNvPr id="70" name="Rectangle 69">
            <a:extLst>
              <a:ext uri="{C183D7F6-B498-43B3-948B-1728B52AA6E4}">
                <adec:decorative xmlns:adec="http://schemas.microsoft.com/office/drawing/2017/decorative" val="1"/>
              </a:ext>
            </a:extLst>
          </p:cNvPr>
          <p:cNvSpPr/>
          <p:nvPr/>
        </p:nvSpPr>
        <p:spPr>
          <a:xfrm>
            <a:off x="4617720" y="5321808"/>
            <a:ext cx="6931152" cy="10972"/>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4754880" y="5358384"/>
            <a:ext cx="914400" cy="274320"/>
          </a:xfrm>
          <a:prstGeom prst="rect">
            <a:avLst/>
          </a:prstGeom>
          <a:noFill/>
        </p:spPr>
        <p:txBody>
          <a:bodyPr wrap="square" lIns="0" rIns="0" tIns="0" bIns="0" anchor="ctr">
            <a:spAutoFit/>
          </a:bodyPr>
          <a:lstStyle/>
          <a:p>
            <a:pPr>
              <a:lnSpc>
                <a:spcPts val="1250"/>
              </a:lnSpc>
              <a:spcAft>
                <a:spcPts val="0"/>
              </a:spcAft>
            </a:pPr>
            <a:r>
              <a:rPr sz="1250" b="1" lang="ja-JP">
                <a:solidFill>
                  <a:srgbClr val="17334A"/>
                </a:solidFill>
                <a:latin typeface="Yu Gothic"/>
                <a:ea typeface="Yu Gothic"/>
              </a:rPr>
              <a:t>合計</a:t>
            </a:r>
          </a:p>
        </p:txBody>
      </p:sp>
      <p:sp>
        <p:nvSpPr>
          <p:cNvPr id="72" name="TextBox 71"/>
          <p:cNvSpPr txBox="1"/>
          <p:nvPr/>
        </p:nvSpPr>
        <p:spPr>
          <a:xfrm>
            <a:off x="9875520" y="5358384"/>
            <a:ext cx="868680" cy="274320"/>
          </a:xfrm>
          <a:prstGeom prst="rect">
            <a:avLst/>
          </a:prstGeom>
          <a:noFill/>
        </p:spPr>
        <p:txBody>
          <a:bodyPr wrap="square" lIns="0" rIns="0" tIns="0" bIns="0" anchor="ctr">
            <a:spAutoFit/>
          </a:bodyPr>
          <a:lstStyle/>
          <a:p>
            <a:pPr algn="r">
              <a:lnSpc>
                <a:spcPts val="1250"/>
              </a:lnSpc>
              <a:spcAft>
                <a:spcPts val="0"/>
              </a:spcAft>
            </a:pPr>
            <a:r>
              <a:rPr sz="1250" b="1" lang="ja-JP">
                <a:solidFill>
                  <a:srgbClr val="BD4354"/>
                </a:solidFill>
                <a:latin typeface="Yu Gothic"/>
                <a:ea typeface="Yu Gothic"/>
              </a:rPr>
              <a:t>−1.145</a:t>
            </a:r>
          </a:p>
        </p:txBody>
      </p:sp>
      <p:sp>
        <p:nvSpPr>
          <p:cNvPr id="73" name="TextBox 72"/>
          <p:cNvSpPr txBox="1"/>
          <p:nvPr/>
        </p:nvSpPr>
        <p:spPr>
          <a:xfrm>
            <a:off x="10744200" y="5358384"/>
            <a:ext cx="777240" cy="274320"/>
          </a:xfrm>
          <a:prstGeom prst="rect">
            <a:avLst/>
          </a:prstGeom>
          <a:noFill/>
        </p:spPr>
        <p:txBody>
          <a:bodyPr wrap="square" lIns="0" rIns="0" tIns="0" bIns="0" anchor="ctr">
            <a:spAutoFit/>
          </a:bodyPr>
          <a:lstStyle/>
          <a:p>
            <a:pPr algn="r">
              <a:lnSpc>
                <a:spcPts val="1250"/>
              </a:lnSpc>
              <a:spcAft>
                <a:spcPts val="0"/>
              </a:spcAft>
            </a:pPr>
            <a:r>
              <a:rPr sz="1250" b="1" lang="ja-JP">
                <a:solidFill>
                  <a:srgbClr val="BD4354"/>
                </a:solidFill>
                <a:latin typeface="Yu Gothic"/>
                <a:ea typeface="Yu Gothic"/>
              </a:rPr>
              <a:t>−0.876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根拠記録から全社KPIまでの経路が見える</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第2章 デモで確認  |  質問③ 根拠</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金額だけでは、数字が正しい記録に基づくかを確認できません。</a:t>
            </a:r>
          </a:p>
          <a:p>
            <a:pPr>
              <a:lnSpc>
                <a:spcPts val="2160"/>
              </a:lnSpc>
              <a:spcAft>
                <a:spcPts val="0"/>
              </a:spcAft>
            </a:pPr>
            <a:r>
              <a:rPr sz="1600" b="0" lang="ja-JP">
                <a:solidFill>
                  <a:srgbClr val="566A78"/>
                </a:solidFill>
                <a:latin typeface="Yu Gothic"/>
                <a:ea typeface="Yu Gothic"/>
              </a:rPr>
              <a:t>関係をたどると、1件の影響額から根拠、取引、契約、全社の数字までを順に確認できます。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表示したのは、食品損失の影響額84件のうち、代表の1件の経路です。金額は架空の設計配賦で、因果の証明ではありません。</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14</a:t>
            </a:r>
          </a:p>
        </p:txBody>
      </p:sp>
      <p:sp>
        <p:nvSpPr>
          <p:cNvPr id="15" name="Rounded Rectangle 14">
            <a:extLst>
              <a:ext uri="{C183D7F6-B498-43B3-948B-1728B52AA6E4}">
                <adec:decorative xmlns:adec="http://schemas.microsoft.com/office/drawing/2017/decorative" val="1"/>
              </a:ext>
            </a:extLst>
          </p:cNvPr>
          <p:cNvSpPr/>
          <p:nvPr/>
        </p:nvSpPr>
        <p:spPr>
          <a:xfrm>
            <a:off x="566928" y="2194560"/>
            <a:ext cx="2103120" cy="841248"/>
          </a:xfrm>
          <a:prstGeom prst="roundRect">
            <a:avLst>
              <a:gd name="adj" fmla="val 760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a:extLst>
              <a:ext uri="{C183D7F6-B498-43B3-948B-1728B52AA6E4}">
                <adec:decorative xmlns:adec="http://schemas.microsoft.com/office/drawing/2017/decorative" val="1"/>
              </a:ext>
            </a:extLst>
          </p:cNvPr>
          <p:cNvSpPr/>
          <p:nvPr/>
        </p:nvSpPr>
        <p:spPr>
          <a:xfrm>
            <a:off x="585216" y="2276856"/>
            <a:ext cx="64008" cy="676656"/>
          </a:xfrm>
          <a:prstGeom prst="roundRect">
            <a:avLst>
              <a:gd name="adj" fmla="val 50000"/>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68096" y="2286000"/>
            <a:ext cx="1810511" cy="274320"/>
          </a:xfrm>
          <a:prstGeom prst="rect">
            <a:avLst/>
          </a:prstGeom>
          <a:noFill/>
        </p:spPr>
        <p:txBody>
          <a:bodyPr wrap="square" lIns="0" rIns="0" tIns="0" bIns="0">
            <a:spAutoFit/>
          </a:bodyPr>
          <a:lstStyle/>
          <a:p>
            <a:pPr>
              <a:lnSpc>
                <a:spcPts val="1440"/>
              </a:lnSpc>
              <a:spcAft>
                <a:spcPts val="0"/>
              </a:spcAft>
            </a:pPr>
            <a:r>
              <a:rPr sz="1250" b="1" lang="ja-JP">
                <a:solidFill>
                  <a:srgbClr val="21374A"/>
                </a:solidFill>
                <a:latin typeface="Yu Gothic"/>
                <a:ea typeface="Yu Gothic"/>
              </a:rPr>
              <a:t>根拠記録</a:t>
            </a:r>
          </a:p>
        </p:txBody>
      </p:sp>
      <p:sp>
        <p:nvSpPr>
          <p:cNvPr id="18" name="TextBox 17"/>
          <p:cNvSpPr txBox="1"/>
          <p:nvPr/>
        </p:nvSpPr>
        <p:spPr>
          <a:xfrm>
            <a:off x="768096" y="2523426"/>
            <a:ext cx="1810511" cy="475805"/>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業務ログ（架空）</a:t>
            </a:r>
          </a:p>
          <a:p>
            <a:pPr>
              <a:lnSpc>
                <a:spcPts val="1380"/>
              </a:lnSpc>
              <a:spcAft>
                <a:spcPts val="0"/>
              </a:spcAft>
            </a:pPr>
            <a:r>
              <a:rPr sz="1100" b="0" lang="ja-JP">
                <a:solidFill>
                  <a:srgbClr val="21374A"/>
                </a:solidFill>
                <a:latin typeface="Yu Gothic"/>
                <a:ea typeface="Yu Gothic"/>
              </a:rPr>
              <a:t>記録日 2026年2月9日</a:t>
            </a:r>
          </a:p>
        </p:txBody>
      </p:sp>
      <p:sp>
        <p:nvSpPr>
          <p:cNvPr id="19" name="Rounded Rectangle 18">
            <a:extLst>
              <a:ext uri="{C183D7F6-B498-43B3-948B-1728B52AA6E4}">
                <adec:decorative xmlns:adec="http://schemas.microsoft.com/office/drawing/2017/decorative" val="1"/>
              </a:ext>
            </a:extLst>
          </p:cNvPr>
          <p:cNvSpPr/>
          <p:nvPr/>
        </p:nvSpPr>
        <p:spPr>
          <a:xfrm>
            <a:off x="566928" y="3401568"/>
            <a:ext cx="2103120" cy="841248"/>
          </a:xfrm>
          <a:prstGeom prst="roundRect">
            <a:avLst>
              <a:gd name="adj" fmla="val 760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a:extLst>
              <a:ext uri="{C183D7F6-B498-43B3-948B-1728B52AA6E4}">
                <adec:decorative xmlns:adec="http://schemas.microsoft.com/office/drawing/2017/decorative" val="1"/>
              </a:ext>
            </a:extLst>
          </p:cNvPr>
          <p:cNvSpPr/>
          <p:nvPr/>
        </p:nvSpPr>
        <p:spPr>
          <a:xfrm>
            <a:off x="585216" y="3483863"/>
            <a:ext cx="64008" cy="676656"/>
          </a:xfrm>
          <a:prstGeom prst="roundRect">
            <a:avLst>
              <a:gd name="adj" fmla="val 50000"/>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68096" y="3493008"/>
            <a:ext cx="1810511" cy="274320"/>
          </a:xfrm>
          <a:prstGeom prst="rect">
            <a:avLst/>
          </a:prstGeom>
          <a:noFill/>
        </p:spPr>
        <p:txBody>
          <a:bodyPr wrap="square" lIns="0" rIns="0" tIns="0" bIns="0">
            <a:spAutoFit/>
          </a:bodyPr>
          <a:lstStyle/>
          <a:p>
            <a:pPr>
              <a:lnSpc>
                <a:spcPts val="1440"/>
              </a:lnSpc>
              <a:spcAft>
                <a:spcPts val="0"/>
              </a:spcAft>
            </a:pPr>
            <a:r>
              <a:rPr sz="1250" b="1" lang="ja-JP">
                <a:solidFill>
                  <a:srgbClr val="7352AD"/>
                </a:solidFill>
                <a:latin typeface="Yu Gothic"/>
                <a:ea typeface="Yu Gothic"/>
              </a:rPr>
              <a:t>イベント</a:t>
            </a:r>
          </a:p>
        </p:txBody>
      </p:sp>
      <p:sp>
        <p:nvSpPr>
          <p:cNvPr id="22" name="TextBox 21"/>
          <p:cNvSpPr txBox="1"/>
          <p:nvPr/>
        </p:nvSpPr>
        <p:spPr>
          <a:xfrm>
            <a:off x="768096" y="3730434"/>
            <a:ext cx="1810511" cy="475805"/>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食品損失</a:t>
            </a:r>
          </a:p>
          <a:p>
            <a:pPr>
              <a:lnSpc>
                <a:spcPts val="1380"/>
              </a:lnSpc>
              <a:spcAft>
                <a:spcPts val="0"/>
              </a:spcAft>
            </a:pPr>
            <a:r>
              <a:rPr sz="1100" b="0" lang="ja-JP">
                <a:solidFill>
                  <a:srgbClr val="21374A"/>
                </a:solidFill>
                <a:latin typeface="Yu Gothic"/>
                <a:ea typeface="Yu Gothic"/>
              </a:rPr>
              <a:t>廃棄事故</a:t>
            </a:r>
          </a:p>
        </p:txBody>
      </p:sp>
      <p:sp>
        <p:nvSpPr>
          <p:cNvPr id="23" name="Rounded Rectangle 22">
            <a:extLst>
              <a:ext uri="{C183D7F6-B498-43B3-948B-1728B52AA6E4}">
                <adec:decorative xmlns:adec="http://schemas.microsoft.com/office/drawing/2017/decorative" val="1"/>
              </a:ext>
            </a:extLst>
          </p:cNvPr>
          <p:cNvSpPr/>
          <p:nvPr/>
        </p:nvSpPr>
        <p:spPr>
          <a:xfrm>
            <a:off x="3493008" y="3401568"/>
            <a:ext cx="2103120" cy="841248"/>
          </a:xfrm>
          <a:prstGeom prst="roundRect">
            <a:avLst>
              <a:gd name="adj" fmla="val 760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a:extLst>
              <a:ext uri="{C183D7F6-B498-43B3-948B-1728B52AA6E4}">
                <adec:decorative xmlns:adec="http://schemas.microsoft.com/office/drawing/2017/decorative" val="1"/>
              </a:ext>
            </a:extLst>
          </p:cNvPr>
          <p:cNvSpPr/>
          <p:nvPr/>
        </p:nvSpPr>
        <p:spPr>
          <a:xfrm>
            <a:off x="3511296" y="3483863"/>
            <a:ext cx="64008" cy="676656"/>
          </a:xfrm>
          <a:prstGeom prst="roundRect">
            <a:avLst>
              <a:gd name="adj" fmla="val 50000"/>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3694176" y="3493008"/>
            <a:ext cx="1810511" cy="274320"/>
          </a:xfrm>
          <a:prstGeom prst="rect">
            <a:avLst/>
          </a:prstGeom>
          <a:noFill/>
        </p:spPr>
        <p:txBody>
          <a:bodyPr wrap="square" lIns="0" rIns="0" tIns="0" bIns="0">
            <a:spAutoFit/>
          </a:bodyPr>
          <a:lstStyle/>
          <a:p>
            <a:pPr>
              <a:lnSpc>
                <a:spcPts val="1440"/>
              </a:lnSpc>
              <a:spcAft>
                <a:spcPts val="0"/>
              </a:spcAft>
            </a:pPr>
            <a:r>
              <a:rPr sz="1250" b="1" lang="ja-JP">
                <a:solidFill>
                  <a:srgbClr val="BD4354"/>
                </a:solidFill>
                <a:latin typeface="Yu Gothic"/>
                <a:ea typeface="Yu Gothic"/>
              </a:rPr>
              <a:t>影響額</a:t>
            </a:r>
          </a:p>
        </p:txBody>
      </p:sp>
      <p:sp>
        <p:nvSpPr>
          <p:cNvPr id="26" name="TextBox 25"/>
          <p:cNvSpPr txBox="1"/>
          <p:nvPr/>
        </p:nvSpPr>
        <p:spPr>
          <a:xfrm>
            <a:off x="3694176" y="3730434"/>
            <a:ext cx="1810511" cy="475805"/>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−3,003,488.94円</a:t>
            </a:r>
          </a:p>
          <a:p>
            <a:pPr>
              <a:lnSpc>
                <a:spcPts val="1380"/>
              </a:lnSpc>
              <a:spcAft>
                <a:spcPts val="0"/>
              </a:spcAft>
            </a:pPr>
            <a:r>
              <a:rPr sz="1100" b="0" lang="ja-JP">
                <a:solidFill>
                  <a:srgbClr val="21374A"/>
                </a:solidFill>
                <a:latin typeface="Yu Gothic"/>
                <a:ea typeface="Yu Gothic"/>
              </a:rPr>
              <a:t>（84件のうち代表の1件）</a:t>
            </a:r>
          </a:p>
        </p:txBody>
      </p:sp>
      <p:sp>
        <p:nvSpPr>
          <p:cNvPr id="27" name="Rounded Rectangle 26">
            <a:extLst>
              <a:ext uri="{C183D7F6-B498-43B3-948B-1728B52AA6E4}">
                <adec:decorative xmlns:adec="http://schemas.microsoft.com/office/drawing/2017/decorative" val="1"/>
              </a:ext>
            </a:extLst>
          </p:cNvPr>
          <p:cNvSpPr/>
          <p:nvPr/>
        </p:nvSpPr>
        <p:spPr>
          <a:xfrm>
            <a:off x="6419088" y="3401568"/>
            <a:ext cx="2103120" cy="841248"/>
          </a:xfrm>
          <a:prstGeom prst="roundRect">
            <a:avLst>
              <a:gd name="adj" fmla="val 760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a:extLst>
              <a:ext uri="{C183D7F6-B498-43B3-948B-1728B52AA6E4}">
                <adec:decorative xmlns:adec="http://schemas.microsoft.com/office/drawing/2017/decorative" val="1"/>
              </a:ext>
            </a:extLst>
          </p:cNvPr>
          <p:cNvSpPr/>
          <p:nvPr/>
        </p:nvSpPr>
        <p:spPr>
          <a:xfrm>
            <a:off x="6437376" y="3483863"/>
            <a:ext cx="64008" cy="676656"/>
          </a:xfrm>
          <a:prstGeom prst="roundRect">
            <a:avLst>
              <a:gd name="adj" fmla="val 50000"/>
            </a:avLst>
          </a:prstGeom>
          <a:solidFill>
            <a:srgbClr val="1733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620256" y="3493008"/>
            <a:ext cx="1810511" cy="274320"/>
          </a:xfrm>
          <a:prstGeom prst="rect">
            <a:avLst/>
          </a:prstGeom>
          <a:noFill/>
        </p:spPr>
        <p:txBody>
          <a:bodyPr wrap="square" lIns="0" rIns="0" tIns="0" bIns="0">
            <a:spAutoFit/>
          </a:bodyPr>
          <a:lstStyle/>
          <a:p>
            <a:pPr>
              <a:lnSpc>
                <a:spcPts val="1440"/>
              </a:lnSpc>
              <a:spcAft>
                <a:spcPts val="0"/>
              </a:spcAft>
            </a:pPr>
            <a:r>
              <a:rPr sz="1250" b="1" lang="ja-JP">
                <a:solidFill>
                  <a:srgbClr val="17334A"/>
                </a:solidFill>
                <a:latin typeface="Yu Gothic"/>
                <a:ea typeface="Yu Gothic"/>
              </a:rPr>
              <a:t>取引活動</a:t>
            </a:r>
          </a:p>
        </p:txBody>
      </p:sp>
      <p:sp>
        <p:nvSpPr>
          <p:cNvPr id="30" name="TextBox 29"/>
          <p:cNvSpPr txBox="1"/>
          <p:nvPr/>
        </p:nvSpPr>
        <p:spPr>
          <a:xfrm>
            <a:off x="6620256" y="3730434"/>
            <a:ext cx="1810511" cy="475805"/>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外部販売 2026年2月11日</a:t>
            </a:r>
          </a:p>
          <a:p>
            <a:pPr>
              <a:lnSpc>
                <a:spcPts val="1380"/>
              </a:lnSpc>
              <a:spcAft>
                <a:spcPts val="0"/>
              </a:spcAft>
            </a:pPr>
            <a:r>
              <a:rPr sz="1100" b="0" lang="ja-JP">
                <a:solidFill>
                  <a:srgbClr val="21374A"/>
                </a:solidFill>
                <a:latin typeface="Yu Gothic"/>
                <a:ea typeface="Yu Gothic"/>
              </a:rPr>
              <a:t>Caldriva Foods Japan KK</a:t>
            </a:r>
          </a:p>
        </p:txBody>
      </p:sp>
      <p:sp>
        <p:nvSpPr>
          <p:cNvPr id="31" name="Rounded Rectangle 30">
            <a:extLst>
              <a:ext uri="{C183D7F6-B498-43B3-948B-1728B52AA6E4}">
                <adec:decorative xmlns:adec="http://schemas.microsoft.com/office/drawing/2017/decorative" val="1"/>
              </a:ext>
            </a:extLst>
          </p:cNvPr>
          <p:cNvSpPr/>
          <p:nvPr/>
        </p:nvSpPr>
        <p:spPr>
          <a:xfrm>
            <a:off x="9345168" y="3401568"/>
            <a:ext cx="2103120" cy="841248"/>
          </a:xfrm>
          <a:prstGeom prst="roundRect">
            <a:avLst>
              <a:gd name="adj" fmla="val 760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a:extLst>
              <a:ext uri="{C183D7F6-B498-43B3-948B-1728B52AA6E4}">
                <adec:decorative xmlns:adec="http://schemas.microsoft.com/office/drawing/2017/decorative" val="1"/>
              </a:ext>
            </a:extLst>
          </p:cNvPr>
          <p:cNvSpPr/>
          <p:nvPr/>
        </p:nvSpPr>
        <p:spPr>
          <a:xfrm>
            <a:off x="9363456" y="3483863"/>
            <a:ext cx="64008" cy="676656"/>
          </a:xfrm>
          <a:prstGeom prst="roundRect">
            <a:avLst>
              <a:gd name="adj" fmla="val 50000"/>
            </a:avLst>
          </a:prstGeom>
          <a:solidFill>
            <a:srgbClr val="1733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546336" y="3493008"/>
            <a:ext cx="1810511" cy="274320"/>
          </a:xfrm>
          <a:prstGeom prst="rect">
            <a:avLst/>
          </a:prstGeom>
          <a:noFill/>
        </p:spPr>
        <p:txBody>
          <a:bodyPr wrap="square" lIns="0" rIns="0" tIns="0" bIns="0">
            <a:spAutoFit/>
          </a:bodyPr>
          <a:lstStyle/>
          <a:p>
            <a:pPr>
              <a:lnSpc>
                <a:spcPts val="1440"/>
              </a:lnSpc>
              <a:spcAft>
                <a:spcPts val="0"/>
              </a:spcAft>
            </a:pPr>
            <a:r>
              <a:rPr sz="1250" b="1" lang="ja-JP">
                <a:solidFill>
                  <a:srgbClr val="17334A"/>
                </a:solidFill>
                <a:latin typeface="Yu Gothic"/>
                <a:ea typeface="Yu Gothic"/>
              </a:rPr>
              <a:t>契約</a:t>
            </a:r>
          </a:p>
        </p:txBody>
      </p:sp>
      <p:sp>
        <p:nvSpPr>
          <p:cNvPr id="34" name="TextBox 33"/>
          <p:cNvSpPr txBox="1"/>
          <p:nvPr/>
        </p:nvSpPr>
        <p:spPr>
          <a:xfrm>
            <a:off x="9546336" y="3730434"/>
            <a:ext cx="1810511" cy="475805"/>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SUB_FOD_JP_01_C04</a:t>
            </a:r>
          </a:p>
          <a:p>
            <a:pPr>
              <a:lnSpc>
                <a:spcPts val="1380"/>
              </a:lnSpc>
              <a:spcAft>
                <a:spcPts val="0"/>
              </a:spcAft>
            </a:pPr>
            <a:r>
              <a:rPr sz="1100" b="0" lang="ja-JP">
                <a:solidFill>
                  <a:srgbClr val="21374A"/>
                </a:solidFill>
                <a:latin typeface="Yu Gothic"/>
                <a:ea typeface="Yu Gothic"/>
              </a:rPr>
              <a:t>製粉用小麦</a:t>
            </a:r>
          </a:p>
        </p:txBody>
      </p:sp>
      <p:sp>
        <p:nvSpPr>
          <p:cNvPr id="35" name="Rounded Rectangle 34">
            <a:extLst>
              <a:ext uri="{C183D7F6-B498-43B3-948B-1728B52AA6E4}">
                <adec:decorative xmlns:adec="http://schemas.microsoft.com/office/drawing/2017/decorative" val="1"/>
              </a:ext>
            </a:extLst>
          </p:cNvPr>
          <p:cNvSpPr/>
          <p:nvPr/>
        </p:nvSpPr>
        <p:spPr>
          <a:xfrm>
            <a:off x="6419088" y="2194560"/>
            <a:ext cx="2103120" cy="841248"/>
          </a:xfrm>
          <a:prstGeom prst="roundRect">
            <a:avLst>
              <a:gd name="adj" fmla="val 760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a:extLst>
              <a:ext uri="{C183D7F6-B498-43B3-948B-1728B52AA6E4}">
                <adec:decorative xmlns:adec="http://schemas.microsoft.com/office/drawing/2017/decorative" val="1"/>
              </a:ext>
            </a:extLst>
          </p:cNvPr>
          <p:cNvSpPr/>
          <p:nvPr/>
        </p:nvSpPr>
        <p:spPr>
          <a:xfrm>
            <a:off x="6437376" y="2276856"/>
            <a:ext cx="64008" cy="676656"/>
          </a:xfrm>
          <a:prstGeom prst="roundRect">
            <a:avLst>
              <a:gd name="adj" fmla="val 50000"/>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620256" y="2286000"/>
            <a:ext cx="1810511" cy="274320"/>
          </a:xfrm>
          <a:prstGeom prst="rect">
            <a:avLst/>
          </a:prstGeom>
          <a:noFill/>
        </p:spPr>
        <p:txBody>
          <a:bodyPr wrap="square" lIns="0" rIns="0" tIns="0" bIns="0">
            <a:spAutoFit/>
          </a:bodyPr>
          <a:lstStyle/>
          <a:p>
            <a:pPr>
              <a:lnSpc>
                <a:spcPts val="1440"/>
              </a:lnSpc>
              <a:spcAft>
                <a:spcPts val="0"/>
              </a:spcAft>
            </a:pPr>
            <a:r>
              <a:rPr sz="1250" b="1" lang="ja-JP">
                <a:solidFill>
                  <a:srgbClr val="21374A"/>
                </a:solidFill>
                <a:latin typeface="Yu Gothic"/>
                <a:ea typeface="Yu Gothic"/>
              </a:rPr>
              <a:t>観測記録</a:t>
            </a:r>
          </a:p>
        </p:txBody>
      </p:sp>
      <p:sp>
        <p:nvSpPr>
          <p:cNvPr id="38" name="TextBox 37"/>
          <p:cNvSpPr txBox="1"/>
          <p:nvPr/>
        </p:nvSpPr>
        <p:spPr>
          <a:xfrm>
            <a:off x="6620256" y="2523426"/>
            <a:ext cx="1810511" cy="475805"/>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温度 −18℃、廃棄率 3.5%</a:t>
            </a:r>
          </a:p>
          <a:p>
            <a:pPr>
              <a:lnSpc>
                <a:spcPts val="1380"/>
              </a:lnSpc>
              <a:spcAft>
                <a:spcPts val="0"/>
              </a:spcAft>
            </a:pPr>
            <a:r>
              <a:rPr sz="1100" b="0" lang="ja-JP">
                <a:solidFill>
                  <a:srgbClr val="21374A"/>
                </a:solidFill>
                <a:latin typeface="Yu Gothic"/>
                <a:ea typeface="Yu Gothic"/>
              </a:rPr>
              <a:t>（食品会社の観測値）</a:t>
            </a:r>
          </a:p>
        </p:txBody>
      </p:sp>
      <p:sp>
        <p:nvSpPr>
          <p:cNvPr id="39" name="Rounded Rectangle 38">
            <a:extLst>
              <a:ext uri="{C183D7F6-B498-43B3-948B-1728B52AA6E4}">
                <adec:decorative xmlns:adec="http://schemas.microsoft.com/office/drawing/2017/decorative" val="1"/>
              </a:ext>
            </a:extLst>
          </p:cNvPr>
          <p:cNvSpPr/>
          <p:nvPr/>
        </p:nvSpPr>
        <p:spPr>
          <a:xfrm>
            <a:off x="3493008" y="4608576"/>
            <a:ext cx="2103120" cy="841248"/>
          </a:xfrm>
          <a:prstGeom prst="roundRect">
            <a:avLst>
              <a:gd name="adj" fmla="val 760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a:extLst>
              <a:ext uri="{C183D7F6-B498-43B3-948B-1728B52AA6E4}">
                <adec:decorative xmlns:adec="http://schemas.microsoft.com/office/drawing/2017/decorative" val="1"/>
              </a:ext>
            </a:extLst>
          </p:cNvPr>
          <p:cNvSpPr/>
          <p:nvPr/>
        </p:nvSpPr>
        <p:spPr>
          <a:xfrm>
            <a:off x="3511296" y="4690872"/>
            <a:ext cx="64008" cy="676656"/>
          </a:xfrm>
          <a:prstGeom prst="roundRect">
            <a:avLst>
              <a:gd name="adj" fmla="val 5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3694176" y="4700016"/>
            <a:ext cx="1810511" cy="274320"/>
          </a:xfrm>
          <a:prstGeom prst="rect">
            <a:avLst/>
          </a:prstGeom>
          <a:noFill/>
        </p:spPr>
        <p:txBody>
          <a:bodyPr wrap="square" lIns="0" rIns="0" tIns="0" bIns="0">
            <a:spAutoFit/>
          </a:bodyPr>
          <a:lstStyle/>
          <a:p>
            <a:pPr>
              <a:lnSpc>
                <a:spcPts val="1440"/>
              </a:lnSpc>
              <a:spcAft>
                <a:spcPts val="0"/>
              </a:spcAft>
            </a:pPr>
            <a:r>
              <a:rPr sz="1250" b="1" lang="ja-JP">
                <a:solidFill>
                  <a:srgbClr val="087F83"/>
                </a:solidFill>
                <a:latin typeface="Yu Gothic"/>
                <a:ea typeface="Yu Gothic"/>
              </a:rPr>
              <a:t>子会社の日次EBITDA</a:t>
            </a:r>
          </a:p>
        </p:txBody>
      </p:sp>
      <p:sp>
        <p:nvSpPr>
          <p:cNvPr id="42" name="TextBox 41"/>
          <p:cNvSpPr txBox="1"/>
          <p:nvPr/>
        </p:nvSpPr>
        <p:spPr>
          <a:xfrm>
            <a:off x="3694176" y="4937442"/>
            <a:ext cx="1810511" cy="475805"/>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3,711,231.19円</a:t>
            </a:r>
          </a:p>
          <a:p>
            <a:pPr>
              <a:lnSpc>
                <a:spcPts val="1380"/>
              </a:lnSpc>
              <a:spcAft>
                <a:spcPts val="0"/>
              </a:spcAft>
            </a:pPr>
            <a:r>
              <a:rPr sz="1100" b="0" lang="ja-JP">
                <a:solidFill>
                  <a:srgbClr val="21374A"/>
                </a:solidFill>
                <a:latin typeface="Yu Gothic"/>
                <a:ea typeface="Yu Gothic"/>
              </a:rPr>
              <a:t>2026年2月11日（実績）</a:t>
            </a:r>
          </a:p>
        </p:txBody>
      </p:sp>
      <p:sp>
        <p:nvSpPr>
          <p:cNvPr id="43" name="Rounded Rectangle 42">
            <a:extLst>
              <a:ext uri="{C183D7F6-B498-43B3-948B-1728B52AA6E4}">
                <adec:decorative xmlns:adec="http://schemas.microsoft.com/office/drawing/2017/decorative" val="1"/>
              </a:ext>
            </a:extLst>
          </p:cNvPr>
          <p:cNvSpPr/>
          <p:nvPr/>
        </p:nvSpPr>
        <p:spPr>
          <a:xfrm>
            <a:off x="6419088" y="4608576"/>
            <a:ext cx="2103120" cy="841248"/>
          </a:xfrm>
          <a:prstGeom prst="roundRect">
            <a:avLst>
              <a:gd name="adj" fmla="val 760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a:extLst>
              <a:ext uri="{C183D7F6-B498-43B3-948B-1728B52AA6E4}">
                <adec:decorative xmlns:adec="http://schemas.microsoft.com/office/drawing/2017/decorative" val="1"/>
              </a:ext>
            </a:extLst>
          </p:cNvPr>
          <p:cNvSpPr/>
          <p:nvPr/>
        </p:nvSpPr>
        <p:spPr>
          <a:xfrm>
            <a:off x="6437376" y="4690872"/>
            <a:ext cx="64008" cy="676656"/>
          </a:xfrm>
          <a:prstGeom prst="roundRect">
            <a:avLst>
              <a:gd name="adj" fmla="val 5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620256" y="4700016"/>
            <a:ext cx="1810511" cy="274320"/>
          </a:xfrm>
          <a:prstGeom prst="rect">
            <a:avLst/>
          </a:prstGeom>
          <a:noFill/>
        </p:spPr>
        <p:txBody>
          <a:bodyPr wrap="square" lIns="0" rIns="0" tIns="0" bIns="0">
            <a:spAutoFit/>
          </a:bodyPr>
          <a:lstStyle/>
          <a:p>
            <a:pPr>
              <a:lnSpc>
                <a:spcPts val="1440"/>
              </a:lnSpc>
              <a:spcAft>
                <a:spcPts val="0"/>
              </a:spcAft>
            </a:pPr>
            <a:r>
              <a:rPr sz="1250" b="1" lang="ja-JP">
                <a:solidFill>
                  <a:srgbClr val="087F83"/>
                </a:solidFill>
                <a:latin typeface="Yu Gothic"/>
                <a:ea typeface="Yu Gothic"/>
              </a:rPr>
              <a:t>全社の日次EBITDA</a:t>
            </a:r>
          </a:p>
        </p:txBody>
      </p:sp>
      <p:sp>
        <p:nvSpPr>
          <p:cNvPr id="46" name="TextBox 45"/>
          <p:cNvSpPr txBox="1"/>
          <p:nvPr/>
        </p:nvSpPr>
        <p:spPr>
          <a:xfrm>
            <a:off x="6620256" y="4937442"/>
            <a:ext cx="1810511" cy="475805"/>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113,069,201.90円</a:t>
            </a:r>
          </a:p>
          <a:p>
            <a:pPr>
              <a:lnSpc>
                <a:spcPts val="1380"/>
              </a:lnSpc>
              <a:spcAft>
                <a:spcPts val="0"/>
              </a:spcAft>
            </a:pPr>
            <a:r>
              <a:rPr sz="1100" b="0" lang="ja-JP">
                <a:solidFill>
                  <a:srgbClr val="21374A"/>
                </a:solidFill>
                <a:latin typeface="Yu Gothic"/>
                <a:ea typeface="Yu Gothic"/>
              </a:rPr>
              <a:t>2026年2月11日（実績）</a:t>
            </a:r>
          </a:p>
        </p:txBody>
      </p:sp>
      <p:cxnSp>
        <p:nvCxnSpPr>
          <p:cNvPr id="47" name="Connector 46">
            <a:extLst>
              <a:ext uri="{C183D7F6-B498-43B3-948B-1728B52AA6E4}">
                <adec:decorative xmlns:adec="http://schemas.microsoft.com/office/drawing/2017/decorative" val="1"/>
              </a:ext>
            </a:extLst>
          </p:cNvPr>
          <p:cNvCxnSpPr/>
          <p:nvPr/>
        </p:nvCxnSpPr>
        <p:spPr>
          <a:xfrm>
            <a:off x="1618488" y="3072384"/>
            <a:ext cx="0" cy="292607"/>
          </a:xfrm>
          <a:prstGeom prst="line">
            <a:avLst/>
          </a:prstGeom>
          <a:ln w="25400">
            <a:solidFill>
              <a:srgbClr val="6B7F8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746504" y="3127247"/>
            <a:ext cx="1645920"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裏付け</a:t>
            </a:r>
          </a:p>
        </p:txBody>
      </p:sp>
      <p:cxnSp>
        <p:nvCxnSpPr>
          <p:cNvPr id="49" name="Connector 48">
            <a:extLst>
              <a:ext uri="{C183D7F6-B498-43B3-948B-1728B52AA6E4}">
                <adec:decorative xmlns:adec="http://schemas.microsoft.com/office/drawing/2017/decorative" val="1"/>
              </a:ext>
            </a:extLst>
          </p:cNvPr>
          <p:cNvCxnSpPr/>
          <p:nvPr/>
        </p:nvCxnSpPr>
        <p:spPr>
          <a:xfrm>
            <a:off x="2706624" y="3822191"/>
            <a:ext cx="749808" cy="0"/>
          </a:xfrm>
          <a:prstGeom prst="line">
            <a:avLst/>
          </a:prstGeom>
          <a:ln w="25400">
            <a:solidFill>
              <a:srgbClr val="735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706624" y="3557015"/>
            <a:ext cx="749808" cy="201168"/>
          </a:xfrm>
          <a:prstGeom prst="rect">
            <a:avLst/>
          </a:prstGeom>
          <a:noFill/>
        </p:spPr>
        <p:txBody>
          <a:bodyPr wrap="square" lIns="0" rIns="0" tIns="0" bIns="0">
            <a:spAutoFit/>
          </a:bodyPr>
          <a:lstStyle/>
          <a:p>
            <a:pPr algn="ctr">
              <a:lnSpc>
                <a:spcPts val="1050"/>
              </a:lnSpc>
              <a:spcAft>
                <a:spcPts val="0"/>
              </a:spcAft>
            </a:pPr>
            <a:r>
              <a:rPr sz="1050" b="1" lang="ja-JP">
                <a:solidFill>
                  <a:srgbClr val="7352AD"/>
                </a:solidFill>
                <a:latin typeface="Yu Gothic"/>
                <a:ea typeface="Yu Gothic"/>
              </a:rPr>
              <a:t>生む</a:t>
            </a:r>
          </a:p>
        </p:txBody>
      </p:sp>
      <p:cxnSp>
        <p:nvCxnSpPr>
          <p:cNvPr id="51" name="Connector 50">
            <a:extLst>
              <a:ext uri="{C183D7F6-B498-43B3-948B-1728B52AA6E4}">
                <adec:decorative xmlns:adec="http://schemas.microsoft.com/office/drawing/2017/decorative" val="1"/>
              </a:ext>
            </a:extLst>
          </p:cNvPr>
          <p:cNvCxnSpPr/>
          <p:nvPr/>
        </p:nvCxnSpPr>
        <p:spPr>
          <a:xfrm>
            <a:off x="5632704" y="3822191"/>
            <a:ext cx="749808" cy="0"/>
          </a:xfrm>
          <a:prstGeom prst="line">
            <a:avLst/>
          </a:prstGeom>
          <a:ln w="25400">
            <a:solidFill>
              <a:srgbClr val="6B7F8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632704" y="3557015"/>
            <a:ext cx="749808" cy="201168"/>
          </a:xfrm>
          <a:prstGeom prst="rect">
            <a:avLst/>
          </a:prstGeom>
          <a:noFill/>
        </p:spPr>
        <p:txBody>
          <a:bodyPr wrap="square" lIns="0" rIns="0" tIns="0" bIns="0">
            <a:spAutoFit/>
          </a:bodyPr>
          <a:lstStyle/>
          <a:p>
            <a:pPr algn="ctr">
              <a:lnSpc>
                <a:spcPts val="1050"/>
              </a:lnSpc>
              <a:spcAft>
                <a:spcPts val="0"/>
              </a:spcAft>
            </a:pPr>
            <a:r>
              <a:rPr sz="1050" b="1" lang="ja-JP">
                <a:solidFill>
                  <a:srgbClr val="566A78"/>
                </a:solidFill>
                <a:latin typeface="Yu Gothic"/>
                <a:ea typeface="Yu Gothic"/>
              </a:rPr>
              <a:t>対象の活動</a:t>
            </a:r>
          </a:p>
        </p:txBody>
      </p:sp>
      <p:cxnSp>
        <p:nvCxnSpPr>
          <p:cNvPr id="53" name="Connector 52">
            <a:extLst>
              <a:ext uri="{C183D7F6-B498-43B3-948B-1728B52AA6E4}">
                <adec:decorative xmlns:adec="http://schemas.microsoft.com/office/drawing/2017/decorative" val="1"/>
              </a:ext>
            </a:extLst>
          </p:cNvPr>
          <p:cNvCxnSpPr/>
          <p:nvPr/>
        </p:nvCxnSpPr>
        <p:spPr>
          <a:xfrm>
            <a:off x="8558784" y="3822191"/>
            <a:ext cx="749808" cy="0"/>
          </a:xfrm>
          <a:prstGeom prst="line">
            <a:avLst/>
          </a:prstGeom>
          <a:ln w="25400">
            <a:solidFill>
              <a:srgbClr val="6B7F8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8558784" y="3557015"/>
            <a:ext cx="749808" cy="201168"/>
          </a:xfrm>
          <a:prstGeom prst="rect">
            <a:avLst/>
          </a:prstGeom>
          <a:noFill/>
        </p:spPr>
        <p:txBody>
          <a:bodyPr wrap="square" lIns="0" rIns="0" tIns="0" bIns="0">
            <a:spAutoFit/>
          </a:bodyPr>
          <a:lstStyle/>
          <a:p>
            <a:pPr algn="ctr">
              <a:lnSpc>
                <a:spcPts val="1050"/>
              </a:lnSpc>
              <a:spcAft>
                <a:spcPts val="0"/>
              </a:spcAft>
            </a:pPr>
            <a:r>
              <a:rPr sz="1050" b="1" lang="ja-JP">
                <a:solidFill>
                  <a:srgbClr val="566A78"/>
                </a:solidFill>
                <a:latin typeface="Yu Gothic"/>
                <a:ea typeface="Yu Gothic"/>
              </a:rPr>
              <a:t>属する</a:t>
            </a:r>
          </a:p>
        </p:txBody>
      </p:sp>
      <p:cxnSp>
        <p:nvCxnSpPr>
          <p:cNvPr id="55" name="Connector 54">
            <a:extLst>
              <a:ext uri="{C183D7F6-B498-43B3-948B-1728B52AA6E4}">
                <adec:decorative xmlns:adec="http://schemas.microsoft.com/office/drawing/2017/decorative" val="1"/>
              </a:ext>
            </a:extLst>
          </p:cNvPr>
          <p:cNvCxnSpPr/>
          <p:nvPr/>
        </p:nvCxnSpPr>
        <p:spPr>
          <a:xfrm>
            <a:off x="7470648" y="3072384"/>
            <a:ext cx="0" cy="292607"/>
          </a:xfrm>
          <a:prstGeom prst="line">
            <a:avLst/>
          </a:prstGeom>
          <a:ln w="25400">
            <a:solidFill>
              <a:srgbClr val="6B7F8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598664" y="3127247"/>
            <a:ext cx="1645920"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活動の観測</a:t>
            </a:r>
          </a:p>
        </p:txBody>
      </p:sp>
      <p:cxnSp>
        <p:nvCxnSpPr>
          <p:cNvPr id="57" name="Connector 56">
            <a:extLst>
              <a:ext uri="{C183D7F6-B498-43B3-948B-1728B52AA6E4}">
                <adec:decorative xmlns:adec="http://schemas.microsoft.com/office/drawing/2017/decorative" val="1"/>
              </a:ext>
            </a:extLst>
          </p:cNvPr>
          <p:cNvCxnSpPr/>
          <p:nvPr/>
        </p:nvCxnSpPr>
        <p:spPr>
          <a:xfrm>
            <a:off x="4544568" y="4279392"/>
            <a:ext cx="0" cy="292608"/>
          </a:xfrm>
          <a:prstGeom prst="line">
            <a:avLst/>
          </a:prstGeom>
          <a:ln w="25400">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672584" y="4334256"/>
            <a:ext cx="1645920" cy="201168"/>
          </a:xfrm>
          <a:prstGeom prst="rect">
            <a:avLst/>
          </a:prstGeom>
          <a:noFill/>
        </p:spPr>
        <p:txBody>
          <a:bodyPr wrap="square" lIns="0" rIns="0" tIns="0" bIns="0">
            <a:spAutoFit/>
          </a:bodyPr>
          <a:lstStyle/>
          <a:p>
            <a:pPr>
              <a:lnSpc>
                <a:spcPts val="1050"/>
              </a:lnSpc>
              <a:spcAft>
                <a:spcPts val="0"/>
              </a:spcAft>
            </a:pPr>
            <a:r>
              <a:rPr sz="1050" b="1" lang="ja-JP">
                <a:solidFill>
                  <a:srgbClr val="087F83"/>
                </a:solidFill>
                <a:latin typeface="Yu Gothic"/>
                <a:ea typeface="Yu Gothic"/>
              </a:rPr>
              <a:t>日次指標に反映</a:t>
            </a:r>
          </a:p>
        </p:txBody>
      </p:sp>
      <p:cxnSp>
        <p:nvCxnSpPr>
          <p:cNvPr id="59" name="Connector 58">
            <a:extLst>
              <a:ext uri="{C183D7F6-B498-43B3-948B-1728B52AA6E4}">
                <adec:decorative xmlns:adec="http://schemas.microsoft.com/office/drawing/2017/decorative" val="1"/>
              </a:ext>
            </a:extLst>
          </p:cNvPr>
          <p:cNvCxnSpPr/>
          <p:nvPr/>
        </p:nvCxnSpPr>
        <p:spPr>
          <a:xfrm>
            <a:off x="5632704" y="5029200"/>
            <a:ext cx="749808" cy="0"/>
          </a:xfrm>
          <a:prstGeom prst="line">
            <a:avLst/>
          </a:prstGeom>
          <a:ln w="25400">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632704" y="4764024"/>
            <a:ext cx="749808" cy="201168"/>
          </a:xfrm>
          <a:prstGeom prst="rect">
            <a:avLst/>
          </a:prstGeom>
          <a:noFill/>
        </p:spPr>
        <p:txBody>
          <a:bodyPr wrap="square" lIns="0" rIns="0" tIns="0" bIns="0">
            <a:spAutoFit/>
          </a:bodyPr>
          <a:lstStyle/>
          <a:p>
            <a:pPr algn="ctr">
              <a:lnSpc>
                <a:spcPts val="1050"/>
              </a:lnSpc>
              <a:spcAft>
                <a:spcPts val="0"/>
              </a:spcAft>
            </a:pPr>
            <a:r>
              <a:rPr sz="1050" b="1" lang="ja-JP">
                <a:solidFill>
                  <a:srgbClr val="087F83"/>
                </a:solidFill>
                <a:latin typeface="Yu Gothic"/>
                <a:ea typeface="Yu Gothic"/>
              </a:rPr>
              <a:t>集約</a:t>
            </a:r>
          </a:p>
        </p:txBody>
      </p:sp>
      <p:sp>
        <p:nvSpPr>
          <p:cNvPr id="61" name="Rounded Rectangle 60">
            <a:extLst>
              <a:ext uri="{C183D7F6-B498-43B3-948B-1728B52AA6E4}">
                <adec:decorative xmlns:adec="http://schemas.microsoft.com/office/drawing/2017/decorative" val="1"/>
              </a:ext>
            </a:extLst>
          </p:cNvPr>
          <p:cNvSpPr/>
          <p:nvPr/>
        </p:nvSpPr>
        <p:spPr>
          <a:xfrm>
            <a:off x="3493008" y="2194560"/>
            <a:ext cx="2103120" cy="841248"/>
          </a:xfrm>
          <a:prstGeom prst="roundRect">
            <a:avLst>
              <a:gd name="adj" fmla="val 8695"/>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 name="Connector 61">
            <a:extLst>
              <a:ext uri="{C183D7F6-B498-43B3-948B-1728B52AA6E4}">
                <adec:decorative xmlns:adec="http://schemas.microsoft.com/office/drawing/2017/decorative" val="1"/>
              </a:ext>
            </a:extLst>
          </p:cNvPr>
          <p:cNvCxnSpPr/>
          <p:nvPr/>
        </p:nvCxnSpPr>
        <p:spPr>
          <a:xfrm>
            <a:off x="3675888" y="2377440"/>
            <a:ext cx="365760" cy="0"/>
          </a:xfrm>
          <a:prstGeom prst="line">
            <a:avLst/>
          </a:prstGeom>
          <a:ln w="25400">
            <a:solidFill>
              <a:srgbClr val="6B7F8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151376" y="2286000"/>
            <a:ext cx="1371600" cy="201168"/>
          </a:xfrm>
          <a:prstGeom prst="rect">
            <a:avLst/>
          </a:prstGeom>
          <a:noFill/>
        </p:spPr>
        <p:txBody>
          <a:bodyPr wrap="square" lIns="0" rIns="0" tIns="0" bIns="0">
            <a:spAutoFit/>
          </a:bodyPr>
          <a:lstStyle/>
          <a:p>
            <a:pPr>
              <a:lnSpc>
                <a:spcPts val="1050"/>
              </a:lnSpc>
              <a:spcAft>
                <a:spcPts val="0"/>
              </a:spcAft>
            </a:pPr>
            <a:r>
              <a:rPr sz="1050" b="0" lang="ja-JP">
                <a:solidFill>
                  <a:srgbClr val="21374A"/>
                </a:solidFill>
                <a:latin typeface="Yu Gothic"/>
                <a:ea typeface="Yu Gothic"/>
              </a:rPr>
              <a:t>つながり（関係）</a:t>
            </a:r>
          </a:p>
        </p:txBody>
      </p:sp>
      <p:cxnSp>
        <p:nvCxnSpPr>
          <p:cNvPr id="64" name="Connector 63">
            <a:extLst>
              <a:ext uri="{C183D7F6-B498-43B3-948B-1728B52AA6E4}">
                <adec:decorative xmlns:adec="http://schemas.microsoft.com/office/drawing/2017/decorative" val="1"/>
              </a:ext>
            </a:extLst>
          </p:cNvPr>
          <p:cNvCxnSpPr/>
          <p:nvPr/>
        </p:nvCxnSpPr>
        <p:spPr>
          <a:xfrm>
            <a:off x="3675888" y="2624328"/>
            <a:ext cx="365760" cy="0"/>
          </a:xfrm>
          <a:prstGeom prst="line">
            <a:avLst/>
          </a:prstGeom>
          <a:ln w="25400">
            <a:solidFill>
              <a:srgbClr val="735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4151376" y="2532888"/>
            <a:ext cx="1371600" cy="201168"/>
          </a:xfrm>
          <a:prstGeom prst="rect">
            <a:avLst/>
          </a:prstGeom>
          <a:noFill/>
        </p:spPr>
        <p:txBody>
          <a:bodyPr wrap="square" lIns="0" rIns="0" tIns="0" bIns="0">
            <a:spAutoFit/>
          </a:bodyPr>
          <a:lstStyle/>
          <a:p>
            <a:pPr>
              <a:lnSpc>
                <a:spcPts val="1050"/>
              </a:lnSpc>
              <a:spcAft>
                <a:spcPts val="0"/>
              </a:spcAft>
            </a:pPr>
            <a:r>
              <a:rPr sz="1050" b="0" lang="ja-JP">
                <a:solidFill>
                  <a:srgbClr val="21374A"/>
                </a:solidFill>
                <a:latin typeface="Yu Gothic"/>
                <a:ea typeface="Yu Gothic"/>
              </a:rPr>
              <a:t>配賦（金額の割当）</a:t>
            </a:r>
          </a:p>
        </p:txBody>
      </p:sp>
      <p:cxnSp>
        <p:nvCxnSpPr>
          <p:cNvPr id="66" name="Connector 65">
            <a:extLst>
              <a:ext uri="{C183D7F6-B498-43B3-948B-1728B52AA6E4}">
                <adec:decorative xmlns:adec="http://schemas.microsoft.com/office/drawing/2017/decorative" val="1"/>
              </a:ext>
            </a:extLst>
          </p:cNvPr>
          <p:cNvCxnSpPr/>
          <p:nvPr/>
        </p:nvCxnSpPr>
        <p:spPr>
          <a:xfrm>
            <a:off x="3675888" y="2871216"/>
            <a:ext cx="365760" cy="0"/>
          </a:xfrm>
          <a:prstGeom prst="line">
            <a:avLst/>
          </a:prstGeom>
          <a:ln w="25400">
            <a:solidFill>
              <a:srgbClr val="087F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151376" y="2779776"/>
            <a:ext cx="1371600" cy="201168"/>
          </a:xfrm>
          <a:prstGeom prst="rect">
            <a:avLst/>
          </a:prstGeom>
          <a:noFill/>
        </p:spPr>
        <p:txBody>
          <a:bodyPr wrap="square" lIns="0" rIns="0" tIns="0" bIns="0">
            <a:spAutoFit/>
          </a:bodyPr>
          <a:lstStyle/>
          <a:p>
            <a:pPr>
              <a:lnSpc>
                <a:spcPts val="1050"/>
              </a:lnSpc>
              <a:spcAft>
                <a:spcPts val="0"/>
              </a:spcAft>
            </a:pPr>
            <a:r>
              <a:rPr sz="1050" b="0" lang="ja-JP">
                <a:solidFill>
                  <a:srgbClr val="21374A"/>
                </a:solidFill>
                <a:latin typeface="Yu Gothic"/>
                <a:ea typeface="Yu Gothic"/>
              </a:rPr>
              <a:t>集約（金額の合算）</a:t>
            </a:r>
          </a:p>
        </p:txBody>
      </p:sp>
      <p:sp>
        <p:nvSpPr>
          <p:cNvPr id="68" name="Rounded Rectangle 67">
            <a:extLst>
              <a:ext uri="{C183D7F6-B498-43B3-948B-1728B52AA6E4}">
                <adec:decorative xmlns:adec="http://schemas.microsoft.com/office/drawing/2017/decorative" val="1"/>
              </a:ext>
            </a:extLst>
          </p:cNvPr>
          <p:cNvSpPr/>
          <p:nvPr/>
        </p:nvSpPr>
        <p:spPr>
          <a:xfrm>
            <a:off x="9345168" y="2194560"/>
            <a:ext cx="2103120" cy="1097280"/>
          </a:xfrm>
          <a:prstGeom prst="roundRect">
            <a:avLst>
              <a:gd name="adj" fmla="val 6666"/>
            </a:avLst>
          </a:prstGeom>
          <a:solidFill>
            <a:srgbClr val="E6F2EF"/>
          </a:solidFill>
          <a:ln w="15875">
            <a:solidFill>
              <a:srgbClr val="087F8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9482328" y="2249424"/>
            <a:ext cx="1828799" cy="987552"/>
          </a:xfrm>
          <a:prstGeom prst="rect">
            <a:avLst/>
          </a:prstGeom>
          <a:noFill/>
        </p:spPr>
        <p:txBody>
          <a:bodyPr wrap="square" lIns="0" rIns="0" tIns="0" bIns="0" anchor="ctr">
            <a:spAutoFit/>
          </a:bodyPr>
          <a:lstStyle/>
          <a:p>
            <a:pPr>
              <a:lnSpc>
                <a:spcPts val="1380"/>
              </a:lnSpc>
              <a:spcAft>
                <a:spcPts val="300"/>
              </a:spcAft>
            </a:pPr>
            <a:r>
              <a:rPr sz="1100" b="1" lang="ja-JP">
                <a:solidFill>
                  <a:srgbClr val="17334A"/>
                </a:solidFill>
                <a:latin typeface="Yu Gothic"/>
                <a:ea typeface="Yu Gothic"/>
              </a:rPr>
              <a:t>全10イベント・1,344件の</a:t>
            </a:r>
            <a:br>
              <a:rPr lang="ja-JP" sz="1100"/>
            </a:br>
            <a:r>
              <a:rPr sz="1100" b="1" lang="ja-JP">
                <a:solidFill>
                  <a:srgbClr val="17334A"/>
                </a:solidFill>
                <a:latin typeface="Yu Gothic"/>
                <a:ea typeface="Yu Gothic"/>
              </a:rPr>
              <a:t>影響額で、同じ経路を</a:t>
            </a:r>
            <a:br>
              <a:rPr lang="ja-JP" sz="1100"/>
            </a:br>
            <a:r>
              <a:rPr sz="1100" b="1" lang="ja-JP">
                <a:solidFill>
                  <a:srgbClr val="17334A"/>
                </a:solidFill>
                <a:latin typeface="Yu Gothic"/>
                <a:ea typeface="Yu Gothic"/>
              </a:rPr>
              <a:t>たどれました</a:t>
            </a:r>
          </a:p>
          <a:p>
            <a:pPr>
              <a:lnSpc>
                <a:spcPts val="1380"/>
              </a:lnSpc>
              <a:spcAft>
                <a:spcPts val="300"/>
              </a:spcAft>
            </a:pPr>
            <a:r>
              <a:rPr sz="1100" b="0" lang="ja-JP">
                <a:solidFill>
                  <a:srgbClr val="566A78"/>
                </a:solidFill>
                <a:latin typeface="Yu Gothic"/>
                <a:ea typeface="Yu Gothic"/>
              </a:rPr>
              <a:t>Graphで確認</a:t>
            </a:r>
            <a:br>
              <a:rPr lang="ja-JP" sz="1100"/>
            </a:br>
            <a:r>
              <a:rPr sz="1100" b="0" lang="ja-JP">
                <a:solidFill>
                  <a:srgbClr val="566A78"/>
                </a:solidFill>
                <a:latin typeface="Yu Gothic"/>
                <a:ea typeface="Yu Gothic"/>
              </a:rPr>
              <a:t>（2026年10月27日）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手を打つ契約の候補を、優先度つきで一覧にできる</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第2章 デモで確認  |  質問④ 打ち手</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原因と根拠が分かっても、すべての契約に同時には対応できません。</a:t>
            </a:r>
          </a:p>
          <a:p>
            <a:pPr>
              <a:lnSpc>
                <a:spcPts val="2160"/>
              </a:lnSpc>
              <a:spcAft>
                <a:spcPts val="0"/>
              </a:spcAft>
            </a:pPr>
            <a:r>
              <a:rPr sz="1600" b="0" lang="ja-JP">
                <a:solidFill>
                  <a:srgbClr val="566A78"/>
                </a:solidFill>
                <a:latin typeface="Yu Gothic"/>
                <a:ea typeface="Yu Gothic"/>
              </a:rPr>
              <a:t>Data Agentが、影響額と重なりを手がかりに、優先度の案を示しました。</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載せる契約と優先度は、Data Agentの判断で、金額順ではなく、実行ごとに</a:t>
            </a:r>
            <a:br>
              <a:rPr lang="ja-JP" sz="1300"/>
            </a:br>
            <a:r>
              <a:rPr sz="1300" b="1" lang="ja-JP">
                <a:solidFill>
                  <a:srgbClr val="17334A"/>
                </a:solidFill>
                <a:latin typeface="Yu Gothic"/>
                <a:ea typeface="Yu Gothic"/>
              </a:rPr>
              <a:t>変わります。実際に手を打つかは、契約条件を確認して決めます。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15</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4023360" cy="868680"/>
          </a:xfrm>
          <a:prstGeom prst="roundRect">
            <a:avLst>
              <a:gd name="adj" fmla="val 8421"/>
            </a:avLst>
          </a:prstGeom>
          <a:solidFill>
            <a:srgbClr val="FFFFFF"/>
          </a:solidFill>
          <a:ln w="22225">
            <a:solidFill>
              <a:srgbClr val="087F8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49808" y="2267712"/>
            <a:ext cx="3621024" cy="201168"/>
          </a:xfrm>
          <a:prstGeom prst="rect">
            <a:avLst/>
          </a:prstGeom>
          <a:noFill/>
        </p:spPr>
        <p:txBody>
          <a:bodyPr wrap="square" lIns="0" rIns="0" tIns="0" bIns="0">
            <a:spAutoFit/>
          </a:bodyPr>
          <a:lstStyle/>
          <a:p>
            <a:pPr>
              <a:lnSpc>
                <a:spcPts val="1100"/>
              </a:lnSpc>
              <a:spcAft>
                <a:spcPts val="0"/>
              </a:spcAft>
            </a:pPr>
            <a:r>
              <a:rPr sz="1100" b="1" lang="ja-JP">
                <a:solidFill>
                  <a:srgbClr val="087F83"/>
                </a:solidFill>
                <a:latin typeface="Yu Gothic"/>
                <a:ea typeface="Yu Gothic"/>
              </a:rPr>
              <a:t>Data Agentへの入力</a:t>
            </a:r>
          </a:p>
        </p:txBody>
      </p:sp>
      <p:sp>
        <p:nvSpPr>
          <p:cNvPr id="17" name="TextBox 16"/>
          <p:cNvSpPr txBox="1"/>
          <p:nvPr/>
        </p:nvSpPr>
        <p:spPr>
          <a:xfrm>
            <a:off x="749808" y="2551176"/>
            <a:ext cx="3621024" cy="393191"/>
          </a:xfrm>
          <a:prstGeom prst="rect">
            <a:avLst/>
          </a:prstGeom>
          <a:noFill/>
        </p:spPr>
        <p:txBody>
          <a:bodyPr wrap="square" lIns="0" rIns="0" tIns="0" bIns="0">
            <a:spAutoFit/>
          </a:bodyPr>
          <a:lstStyle/>
          <a:p>
            <a:pPr>
              <a:lnSpc>
                <a:spcPts val="2210"/>
              </a:lnSpc>
              <a:spcAft>
                <a:spcPts val="0"/>
              </a:spcAft>
            </a:pPr>
            <a:r>
              <a:rPr sz="1700" b="1" lang="ja-JP">
                <a:solidFill>
                  <a:srgbClr val="17334A"/>
                </a:solidFill>
                <a:latin typeface="Yu Gothic"/>
                <a:ea typeface="Yu Gothic"/>
              </a:rPr>
              <a:t>いま手を打つべき契約ってどれ？</a:t>
            </a:r>
          </a:p>
        </p:txBody>
      </p:sp>
      <p:sp>
        <p:nvSpPr>
          <p:cNvPr id="18" name="Rounded Rectangle 17">
            <a:extLst>
              <a:ext uri="{C183D7F6-B498-43B3-948B-1728B52AA6E4}">
                <adec:decorative xmlns:adec="http://schemas.microsoft.com/office/drawing/2017/decorative" val="1"/>
              </a:ext>
            </a:extLst>
          </p:cNvPr>
          <p:cNvSpPr/>
          <p:nvPr/>
        </p:nvSpPr>
        <p:spPr>
          <a:xfrm>
            <a:off x="548640" y="3154680"/>
            <a:ext cx="4023360" cy="1600200"/>
          </a:xfrm>
          <a:prstGeom prst="roundRect">
            <a:avLst>
              <a:gd name="adj" fmla="val 457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31520" y="3246120"/>
            <a:ext cx="3657600" cy="219456"/>
          </a:xfrm>
          <a:prstGeom prst="rect">
            <a:avLst/>
          </a:prstGeom>
          <a:noFill/>
        </p:spPr>
        <p:txBody>
          <a:bodyPr wrap="square" lIns="0" rIns="0" tIns="0" bIns="0">
            <a:spAutoFit/>
          </a:bodyPr>
          <a:lstStyle/>
          <a:p>
            <a:pPr>
              <a:lnSpc>
                <a:spcPts val="1200"/>
              </a:lnSpc>
              <a:spcAft>
                <a:spcPts val="0"/>
              </a:spcAft>
            </a:pPr>
            <a:r>
              <a:rPr sz="1200" b="1" lang="ja-JP">
                <a:solidFill>
                  <a:srgbClr val="087F83"/>
                </a:solidFill>
                <a:latin typeface="Yu Gothic"/>
                <a:ea typeface="Yu Gothic"/>
              </a:rPr>
              <a:t>データから言えること</a:t>
            </a:r>
          </a:p>
        </p:txBody>
      </p:sp>
      <p:sp>
        <p:nvSpPr>
          <p:cNvPr id="20" name="TextBox 19"/>
          <p:cNvSpPr txBox="1"/>
          <p:nvPr/>
        </p:nvSpPr>
        <p:spPr>
          <a:xfrm>
            <a:off x="731520" y="3520440"/>
            <a:ext cx="3657600" cy="1188720"/>
          </a:xfrm>
          <a:prstGeom prst="rect">
            <a:avLst/>
          </a:prstGeom>
          <a:noFill/>
        </p:spPr>
        <p:txBody>
          <a:bodyPr wrap="square" lIns="0" rIns="0" tIns="0" bIns="0">
            <a:spAutoFit/>
          </a:bodyPr>
          <a:lstStyle/>
          <a:p>
            <a:pPr>
              <a:lnSpc>
                <a:spcPts val="1430"/>
              </a:lnSpc>
              <a:spcAft>
                <a:spcPts val="200"/>
              </a:spcAft>
            </a:pPr>
            <a:r>
              <a:rPr sz="1100" b="0" lang="ja-JP">
                <a:solidFill>
                  <a:srgbClr val="21374A"/>
                </a:solidFill>
                <a:latin typeface="Yu Gothic"/>
                <a:ea typeface="Yu Gothic"/>
              </a:rPr>
              <a:t>・金額は、マイナスのイベントだけの</a:t>
            </a:r>
            <a:br>
              <a:rPr lang="ja-JP" sz="1100"/>
            </a:br>
            <a:r>
              <a:rPr sz="1100" b="0" lang="ja-JP">
                <a:solidFill>
                  <a:srgbClr val="21374A"/>
                </a:solidFill>
                <a:latin typeface="Yu Gothic"/>
                <a:ea typeface="Yu Gothic"/>
              </a:rPr>
              <a:t>合計（全額連結）です。</a:t>
            </a:r>
          </a:p>
          <a:p>
            <a:pPr>
              <a:lnSpc>
                <a:spcPts val="1430"/>
              </a:lnSpc>
              <a:spcAft>
                <a:spcPts val="200"/>
              </a:spcAft>
            </a:pPr>
            <a:r>
              <a:rPr sz="1100" b="0" lang="ja-JP">
                <a:solidFill>
                  <a:srgbClr val="21374A"/>
                </a:solidFill>
                <a:latin typeface="Yu Gothic"/>
                <a:ea typeface="Yu Gothic"/>
              </a:rPr>
              <a:t>・高優先の4契約は、すべて貿易金融で、2つの</a:t>
            </a:r>
            <a:br>
              <a:rPr lang="ja-JP" sz="1100"/>
            </a:br>
            <a:r>
              <a:rPr sz="1100" b="0" lang="ja-JP">
                <a:solidFill>
                  <a:srgbClr val="21374A"/>
                </a:solidFill>
                <a:latin typeface="Yu Gothic"/>
                <a:ea typeface="Yu Gothic"/>
              </a:rPr>
              <a:t>イベントが重なり、−0.45〜−0.43億円です。</a:t>
            </a:r>
          </a:p>
          <a:p>
            <a:pPr>
              <a:lnSpc>
                <a:spcPts val="1430"/>
              </a:lnSpc>
              <a:spcAft>
                <a:spcPts val="200"/>
              </a:spcAft>
            </a:pPr>
            <a:r>
              <a:rPr sz="1100" b="0" lang="ja-JP">
                <a:solidFill>
                  <a:srgbClr val="21374A"/>
                </a:solidFill>
                <a:latin typeface="Yu Gothic"/>
                <a:ea typeface="Yu Gothic"/>
              </a:rPr>
              <a:t>・SUB_MTL_JP_01_C07は、プラスの</a:t>
            </a:r>
            <a:br>
              <a:rPr lang="ja-JP" sz="1100"/>
            </a:br>
            <a:r>
              <a:rPr sz="1100" b="0" lang="ja-JP">
                <a:solidFill>
                  <a:srgbClr val="21374A"/>
                </a:solidFill>
                <a:latin typeface="Yu Gothic"/>
                <a:ea typeface="Yu Gothic"/>
              </a:rPr>
              <a:t>イベントと相殺すると−0.09億円です。</a:t>
            </a:r>
          </a:p>
        </p:txBody>
      </p:sp>
      <p:sp>
        <p:nvSpPr>
          <p:cNvPr id="21" name="Rounded Rectangle 20">
            <a:extLst>
              <a:ext uri="{C183D7F6-B498-43B3-948B-1728B52AA6E4}">
                <adec:decorative xmlns:adec="http://schemas.microsoft.com/office/drawing/2017/decorative" val="1"/>
              </a:ext>
            </a:extLst>
          </p:cNvPr>
          <p:cNvSpPr/>
          <p:nvPr/>
        </p:nvSpPr>
        <p:spPr>
          <a:xfrm>
            <a:off x="548640" y="4846320"/>
            <a:ext cx="4023360" cy="868680"/>
          </a:xfrm>
          <a:prstGeom prst="roundRect">
            <a:avLst>
              <a:gd name="adj" fmla="val 8421"/>
            </a:avLst>
          </a:prstGeom>
          <a:solidFill>
            <a:srgbClr val="FFFFFF"/>
          </a:solidFill>
          <a:ln w="15875">
            <a:solidFill>
              <a:srgbClr val="7352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31520" y="4910328"/>
            <a:ext cx="3657600" cy="219456"/>
          </a:xfrm>
          <a:prstGeom prst="rect">
            <a:avLst/>
          </a:prstGeom>
          <a:noFill/>
        </p:spPr>
        <p:txBody>
          <a:bodyPr wrap="square" lIns="0" rIns="0" tIns="0" bIns="0">
            <a:spAutoFit/>
          </a:bodyPr>
          <a:lstStyle/>
          <a:p>
            <a:pPr>
              <a:lnSpc>
                <a:spcPts val="1200"/>
              </a:lnSpc>
              <a:spcAft>
                <a:spcPts val="0"/>
              </a:spcAft>
            </a:pPr>
            <a:r>
              <a:rPr sz="1200" b="1" lang="ja-JP">
                <a:solidFill>
                  <a:srgbClr val="7352AD"/>
                </a:solidFill>
                <a:latin typeface="Yu Gothic"/>
                <a:ea typeface="Yu Gothic"/>
              </a:rPr>
              <a:t>仮説としての打ち手の例</a:t>
            </a:r>
          </a:p>
        </p:txBody>
      </p:sp>
      <p:sp>
        <p:nvSpPr>
          <p:cNvPr id="23" name="TextBox 22"/>
          <p:cNvSpPr txBox="1"/>
          <p:nvPr/>
        </p:nvSpPr>
        <p:spPr>
          <a:xfrm>
            <a:off x="731520" y="5166360"/>
            <a:ext cx="3657600" cy="530352"/>
          </a:xfrm>
          <a:prstGeom prst="rect">
            <a:avLst/>
          </a:prstGeom>
          <a:noFill/>
        </p:spPr>
        <p:txBody>
          <a:bodyPr wrap="square" lIns="0" rIns="0" tIns="0" bIns="0">
            <a:spAutoFit/>
          </a:bodyPr>
          <a:lstStyle/>
          <a:p>
            <a:pPr>
              <a:lnSpc>
                <a:spcPts val="1310"/>
              </a:lnSpc>
              <a:spcAft>
                <a:spcPts val="0"/>
              </a:spcAft>
            </a:pPr>
            <a:r>
              <a:rPr sz="1050" b="0" lang="ja-JP">
                <a:solidFill>
                  <a:srgbClr val="21374A"/>
                </a:solidFill>
                <a:latin typeface="Yu Gothic"/>
                <a:ea typeface="Yu Gothic"/>
              </a:rPr>
              <a:t>契約別の信用枠、担保・ヘッジ条件、</a:t>
            </a:r>
            <a:br>
              <a:rPr lang="ja-JP" sz="1050"/>
            </a:br>
            <a:r>
              <a:rPr sz="1050" b="0" lang="ja-JP">
                <a:solidFill>
                  <a:srgbClr val="21374A"/>
                </a:solidFill>
                <a:latin typeface="Yu Gothic"/>
                <a:ea typeface="Yu Gothic"/>
              </a:rPr>
              <a:t>例外承認ルールを優先して点検し、2つのイベントが</a:t>
            </a:r>
            <a:br>
              <a:rPr lang="ja-JP" sz="1050"/>
            </a:br>
            <a:r>
              <a:rPr sz="1050" b="0" lang="ja-JP">
                <a:solidFill>
                  <a:srgbClr val="21374A"/>
                </a:solidFill>
                <a:latin typeface="Yu Gothic"/>
                <a:ea typeface="Yu Gothic"/>
              </a:rPr>
              <a:t>重なった場合の早期エスカレーション条件を設ける。</a:t>
            </a:r>
          </a:p>
        </p:txBody>
      </p:sp>
      <p:sp>
        <p:nvSpPr>
          <p:cNvPr id="24" name="Rounded Rectangle 23">
            <a:extLst>
              <a:ext uri="{C183D7F6-B498-43B3-948B-1728B52AA6E4}">
                <adec:decorative xmlns:adec="http://schemas.microsoft.com/office/drawing/2017/decorative" val="1"/>
              </a:ext>
            </a:extLst>
          </p:cNvPr>
          <p:cNvSpPr/>
          <p:nvPr/>
        </p:nvSpPr>
        <p:spPr>
          <a:xfrm>
            <a:off x="4754880" y="2148840"/>
            <a:ext cx="688543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937760" y="2258568"/>
            <a:ext cx="59436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優先度</a:t>
            </a:r>
          </a:p>
        </p:txBody>
      </p:sp>
      <p:sp>
        <p:nvSpPr>
          <p:cNvPr id="26" name="TextBox 25"/>
          <p:cNvSpPr txBox="1"/>
          <p:nvPr/>
        </p:nvSpPr>
        <p:spPr>
          <a:xfrm>
            <a:off x="5486400" y="2258568"/>
            <a:ext cx="164592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契約ID</a:t>
            </a:r>
          </a:p>
        </p:txBody>
      </p:sp>
      <p:sp>
        <p:nvSpPr>
          <p:cNvPr id="27" name="TextBox 26"/>
          <p:cNvSpPr txBox="1"/>
          <p:nvPr/>
        </p:nvSpPr>
        <p:spPr>
          <a:xfrm>
            <a:off x="7132320" y="2258568"/>
            <a:ext cx="196596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会社</a:t>
            </a:r>
          </a:p>
        </p:txBody>
      </p:sp>
      <p:sp>
        <p:nvSpPr>
          <p:cNvPr id="28" name="TextBox 27"/>
          <p:cNvSpPr txBox="1"/>
          <p:nvPr/>
        </p:nvSpPr>
        <p:spPr>
          <a:xfrm>
            <a:off x="9144000" y="2258568"/>
            <a:ext cx="132588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影響したイベント</a:t>
            </a:r>
          </a:p>
        </p:txBody>
      </p:sp>
      <p:sp>
        <p:nvSpPr>
          <p:cNvPr id="29" name="TextBox 28"/>
          <p:cNvSpPr txBox="1"/>
          <p:nvPr/>
        </p:nvSpPr>
        <p:spPr>
          <a:xfrm>
            <a:off x="10424160" y="2258568"/>
            <a:ext cx="1097280" cy="219456"/>
          </a:xfrm>
          <a:prstGeom prst="rect">
            <a:avLst/>
          </a:prstGeom>
          <a:noFill/>
        </p:spPr>
        <p:txBody>
          <a:bodyPr wrap="square" lIns="0" rIns="0" tIns="0" bIns="0">
            <a:spAutoFit/>
          </a:bodyPr>
          <a:lstStyle/>
          <a:p>
            <a:pPr algn="r">
              <a:lnSpc>
                <a:spcPts val="1150"/>
              </a:lnSpc>
              <a:spcAft>
                <a:spcPts val="0"/>
              </a:spcAft>
            </a:pPr>
            <a:r>
              <a:rPr sz="1150" b="1" lang="ja-JP">
                <a:solidFill>
                  <a:srgbClr val="087F83"/>
                </a:solidFill>
                <a:latin typeface="Yu Gothic"/>
                <a:ea typeface="Yu Gothic"/>
              </a:rPr>
              <a:t>影響額（億円）</a:t>
            </a:r>
          </a:p>
        </p:txBody>
      </p:sp>
      <p:sp>
        <p:nvSpPr>
          <p:cNvPr id="30" name="Rounded Rectangle 29">
            <a:extLst>
              <a:ext uri="{C183D7F6-B498-43B3-948B-1728B52AA6E4}">
                <adec:decorative xmlns:adec="http://schemas.microsoft.com/office/drawing/2017/decorative" val="1"/>
              </a:ext>
            </a:extLst>
          </p:cNvPr>
          <p:cNvSpPr/>
          <p:nvPr/>
        </p:nvSpPr>
        <p:spPr>
          <a:xfrm>
            <a:off x="4937760" y="2651760"/>
            <a:ext cx="457200" cy="256032"/>
          </a:xfrm>
          <a:prstGeom prst="roundRect">
            <a:avLst>
              <a:gd name="adj" fmla="val 50000"/>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937760" y="2651760"/>
            <a:ext cx="457200" cy="25603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高</a:t>
            </a:r>
          </a:p>
        </p:txBody>
      </p:sp>
      <p:sp>
        <p:nvSpPr>
          <p:cNvPr id="32" name="TextBox 31"/>
          <p:cNvSpPr txBox="1"/>
          <p:nvPr/>
        </p:nvSpPr>
        <p:spPr>
          <a:xfrm>
            <a:off x="5486400" y="2578608"/>
            <a:ext cx="1645920" cy="384048"/>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SUB_FIN_US_01_C08</a:t>
            </a:r>
          </a:p>
        </p:txBody>
      </p:sp>
      <p:sp>
        <p:nvSpPr>
          <p:cNvPr id="33" name="TextBox 32"/>
          <p:cNvSpPr txBox="1"/>
          <p:nvPr/>
        </p:nvSpPr>
        <p:spPr>
          <a:xfrm>
            <a:off x="7132320" y="2578608"/>
            <a:ext cx="1965960" cy="384048"/>
          </a:xfrm>
          <a:prstGeom prst="rect">
            <a:avLst/>
          </a:prstGeom>
          <a:noFill/>
        </p:spPr>
        <p:txBody>
          <a:bodyPr wrap="square" lIns="0" rIns="0" tIns="0" bIns="0" anchor="ctr">
            <a:spAutoFit/>
          </a:bodyPr>
          <a:lstStyle/>
          <a:p>
            <a:pPr>
              <a:lnSpc>
                <a:spcPts val="1210"/>
              </a:lnSpc>
              <a:spcAft>
                <a:spcPts val="0"/>
              </a:spcAft>
            </a:pPr>
            <a:r>
              <a:rPr sz="1050" b="0" lang="ja-JP">
                <a:solidFill>
                  <a:srgbClr val="21374A"/>
                </a:solidFill>
                <a:latin typeface="Yu Gothic"/>
                <a:ea typeface="Yu Gothic"/>
              </a:rPr>
              <a:t>Nuvellora Finance USA Inc.</a:t>
            </a:r>
          </a:p>
        </p:txBody>
      </p:sp>
      <p:sp>
        <p:nvSpPr>
          <p:cNvPr id="34" name="TextBox 33"/>
          <p:cNvSpPr txBox="1"/>
          <p:nvPr/>
        </p:nvSpPr>
        <p:spPr>
          <a:xfrm>
            <a:off x="9144000" y="2578608"/>
            <a:ext cx="1325880" cy="384048"/>
          </a:xfrm>
          <a:prstGeom prst="rect">
            <a:avLst/>
          </a:prstGeom>
          <a:noFill/>
        </p:spPr>
        <p:txBody>
          <a:bodyPr wrap="square" lIns="0" rIns="0" tIns="0" bIns="0" anchor="ctr">
            <a:spAutoFit/>
          </a:bodyPr>
          <a:lstStyle/>
          <a:p>
            <a:pPr>
              <a:lnSpc>
                <a:spcPts val="1160"/>
              </a:lnSpc>
              <a:spcAft>
                <a:spcPts val="0"/>
              </a:spcAft>
            </a:pPr>
            <a:r>
              <a:rPr sz="1050" b="0" lang="ja-JP">
                <a:solidFill>
                  <a:srgbClr val="21374A"/>
                </a:solidFill>
                <a:latin typeface="Yu Gothic"/>
                <a:ea typeface="Yu Gothic"/>
              </a:rPr>
              <a:t>横断混乱</a:t>
            </a:r>
          </a:p>
          <a:p>
            <a:pPr>
              <a:lnSpc>
                <a:spcPts val="1160"/>
              </a:lnSpc>
              <a:spcAft>
                <a:spcPts val="0"/>
              </a:spcAft>
            </a:pPr>
            <a:r>
              <a:rPr sz="1050" b="0" lang="ja-JP">
                <a:solidFill>
                  <a:srgbClr val="21374A"/>
                </a:solidFill>
                <a:latin typeface="Yu Gothic"/>
                <a:ea typeface="Yu Gothic"/>
              </a:rPr>
              <a:t>取引先対応コスト増</a:t>
            </a:r>
          </a:p>
        </p:txBody>
      </p:sp>
      <p:sp>
        <p:nvSpPr>
          <p:cNvPr id="35" name="TextBox 34"/>
          <p:cNvSpPr txBox="1"/>
          <p:nvPr/>
        </p:nvSpPr>
        <p:spPr>
          <a:xfrm>
            <a:off x="10424160" y="2578608"/>
            <a:ext cx="1097280" cy="384048"/>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−0.45</a:t>
            </a:r>
          </a:p>
        </p:txBody>
      </p:sp>
      <p:sp>
        <p:nvSpPr>
          <p:cNvPr id="36" name="Rounded Rectangle 35">
            <a:extLst>
              <a:ext uri="{C183D7F6-B498-43B3-948B-1728B52AA6E4}">
                <adec:decorative xmlns:adec="http://schemas.microsoft.com/office/drawing/2017/decorative" val="1"/>
              </a:ext>
            </a:extLst>
          </p:cNvPr>
          <p:cNvSpPr/>
          <p:nvPr/>
        </p:nvSpPr>
        <p:spPr>
          <a:xfrm>
            <a:off x="4828032" y="2990088"/>
            <a:ext cx="6739128" cy="411480"/>
          </a:xfrm>
          <a:prstGeom prst="roundRect">
            <a:avLst>
              <a:gd name="adj" fmla="val 11111"/>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a:extLst>
              <a:ext uri="{C183D7F6-B498-43B3-948B-1728B52AA6E4}">
                <adec:decorative xmlns:adec="http://schemas.microsoft.com/office/drawing/2017/decorative" val="1"/>
              </a:ext>
            </a:extLst>
          </p:cNvPr>
          <p:cNvSpPr/>
          <p:nvPr/>
        </p:nvSpPr>
        <p:spPr>
          <a:xfrm>
            <a:off x="4937760" y="3081528"/>
            <a:ext cx="457200" cy="256032"/>
          </a:xfrm>
          <a:prstGeom prst="roundRect">
            <a:avLst>
              <a:gd name="adj" fmla="val 50000"/>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937760" y="3081528"/>
            <a:ext cx="457200" cy="25603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高</a:t>
            </a:r>
          </a:p>
        </p:txBody>
      </p:sp>
      <p:sp>
        <p:nvSpPr>
          <p:cNvPr id="39" name="TextBox 38"/>
          <p:cNvSpPr txBox="1"/>
          <p:nvPr/>
        </p:nvSpPr>
        <p:spPr>
          <a:xfrm>
            <a:off x="5486400" y="3008376"/>
            <a:ext cx="1645920" cy="384048"/>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SUB_FIN_US_01_C07</a:t>
            </a:r>
          </a:p>
        </p:txBody>
      </p:sp>
      <p:sp>
        <p:nvSpPr>
          <p:cNvPr id="40" name="TextBox 39"/>
          <p:cNvSpPr txBox="1"/>
          <p:nvPr/>
        </p:nvSpPr>
        <p:spPr>
          <a:xfrm>
            <a:off x="7132320" y="3008376"/>
            <a:ext cx="1965960" cy="384048"/>
          </a:xfrm>
          <a:prstGeom prst="rect">
            <a:avLst/>
          </a:prstGeom>
          <a:noFill/>
        </p:spPr>
        <p:txBody>
          <a:bodyPr wrap="square" lIns="0" rIns="0" tIns="0" bIns="0" anchor="ctr">
            <a:spAutoFit/>
          </a:bodyPr>
          <a:lstStyle/>
          <a:p>
            <a:pPr>
              <a:lnSpc>
                <a:spcPts val="1210"/>
              </a:lnSpc>
              <a:spcAft>
                <a:spcPts val="0"/>
              </a:spcAft>
            </a:pPr>
            <a:r>
              <a:rPr sz="1050" b="0" lang="ja-JP">
                <a:solidFill>
                  <a:srgbClr val="21374A"/>
                </a:solidFill>
                <a:latin typeface="Yu Gothic"/>
                <a:ea typeface="Yu Gothic"/>
              </a:rPr>
              <a:t>Nuvellora Finance USA Inc.</a:t>
            </a:r>
          </a:p>
        </p:txBody>
      </p:sp>
      <p:sp>
        <p:nvSpPr>
          <p:cNvPr id="41" name="TextBox 40"/>
          <p:cNvSpPr txBox="1"/>
          <p:nvPr/>
        </p:nvSpPr>
        <p:spPr>
          <a:xfrm>
            <a:off x="9144000" y="3008376"/>
            <a:ext cx="1325880" cy="384048"/>
          </a:xfrm>
          <a:prstGeom prst="rect">
            <a:avLst/>
          </a:prstGeom>
          <a:noFill/>
        </p:spPr>
        <p:txBody>
          <a:bodyPr wrap="square" lIns="0" rIns="0" tIns="0" bIns="0" anchor="ctr">
            <a:spAutoFit/>
          </a:bodyPr>
          <a:lstStyle/>
          <a:p>
            <a:pPr>
              <a:lnSpc>
                <a:spcPts val="1160"/>
              </a:lnSpc>
              <a:spcAft>
                <a:spcPts val="0"/>
              </a:spcAft>
            </a:pPr>
            <a:r>
              <a:rPr sz="1050" b="0" lang="ja-JP">
                <a:solidFill>
                  <a:srgbClr val="21374A"/>
                </a:solidFill>
                <a:latin typeface="Yu Gothic"/>
                <a:ea typeface="Yu Gothic"/>
              </a:rPr>
              <a:t>横断混乱</a:t>
            </a:r>
          </a:p>
          <a:p>
            <a:pPr>
              <a:lnSpc>
                <a:spcPts val="1160"/>
              </a:lnSpc>
              <a:spcAft>
                <a:spcPts val="0"/>
              </a:spcAft>
            </a:pPr>
            <a:r>
              <a:rPr sz="1050" b="0" lang="ja-JP">
                <a:solidFill>
                  <a:srgbClr val="21374A"/>
                </a:solidFill>
                <a:latin typeface="Yu Gothic"/>
                <a:ea typeface="Yu Gothic"/>
              </a:rPr>
              <a:t>取引先対応コスト増</a:t>
            </a:r>
          </a:p>
        </p:txBody>
      </p:sp>
      <p:sp>
        <p:nvSpPr>
          <p:cNvPr id="42" name="TextBox 41"/>
          <p:cNvSpPr txBox="1"/>
          <p:nvPr/>
        </p:nvSpPr>
        <p:spPr>
          <a:xfrm>
            <a:off x="10424160" y="3008376"/>
            <a:ext cx="1097280" cy="384048"/>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−0.44</a:t>
            </a:r>
          </a:p>
        </p:txBody>
      </p:sp>
      <p:sp>
        <p:nvSpPr>
          <p:cNvPr id="43" name="Rounded Rectangle 42">
            <a:extLst>
              <a:ext uri="{C183D7F6-B498-43B3-948B-1728B52AA6E4}">
                <adec:decorative xmlns:adec="http://schemas.microsoft.com/office/drawing/2017/decorative" val="1"/>
              </a:ext>
            </a:extLst>
          </p:cNvPr>
          <p:cNvSpPr/>
          <p:nvPr/>
        </p:nvSpPr>
        <p:spPr>
          <a:xfrm>
            <a:off x="4937760" y="3511296"/>
            <a:ext cx="457200" cy="256032"/>
          </a:xfrm>
          <a:prstGeom prst="roundRect">
            <a:avLst>
              <a:gd name="adj" fmla="val 50000"/>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4937760" y="3511296"/>
            <a:ext cx="457200" cy="25603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高</a:t>
            </a:r>
          </a:p>
        </p:txBody>
      </p:sp>
      <p:sp>
        <p:nvSpPr>
          <p:cNvPr id="45" name="TextBox 44"/>
          <p:cNvSpPr txBox="1"/>
          <p:nvPr/>
        </p:nvSpPr>
        <p:spPr>
          <a:xfrm>
            <a:off x="5486400" y="3438144"/>
            <a:ext cx="1645920" cy="384048"/>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SUB_FIN_JP_01_C08</a:t>
            </a:r>
          </a:p>
        </p:txBody>
      </p:sp>
      <p:sp>
        <p:nvSpPr>
          <p:cNvPr id="46" name="TextBox 45"/>
          <p:cNvSpPr txBox="1"/>
          <p:nvPr/>
        </p:nvSpPr>
        <p:spPr>
          <a:xfrm>
            <a:off x="7132320" y="3438144"/>
            <a:ext cx="1965960" cy="384048"/>
          </a:xfrm>
          <a:prstGeom prst="rect">
            <a:avLst/>
          </a:prstGeom>
          <a:noFill/>
        </p:spPr>
        <p:txBody>
          <a:bodyPr wrap="square" lIns="0" rIns="0" tIns="0" bIns="0" anchor="ctr">
            <a:spAutoFit/>
          </a:bodyPr>
          <a:lstStyle/>
          <a:p>
            <a:pPr>
              <a:lnSpc>
                <a:spcPts val="1210"/>
              </a:lnSpc>
              <a:spcAft>
                <a:spcPts val="0"/>
              </a:spcAft>
            </a:pPr>
            <a:r>
              <a:rPr sz="1050" b="0" lang="ja-JP">
                <a:solidFill>
                  <a:srgbClr val="21374A"/>
                </a:solidFill>
                <a:latin typeface="Yu Gothic"/>
                <a:ea typeface="Yu Gothic"/>
              </a:rPr>
              <a:t>Nuvellora Finance Japan KK</a:t>
            </a:r>
          </a:p>
        </p:txBody>
      </p:sp>
      <p:sp>
        <p:nvSpPr>
          <p:cNvPr id="47" name="TextBox 46"/>
          <p:cNvSpPr txBox="1"/>
          <p:nvPr/>
        </p:nvSpPr>
        <p:spPr>
          <a:xfrm>
            <a:off x="9144000" y="3438144"/>
            <a:ext cx="1325880" cy="384048"/>
          </a:xfrm>
          <a:prstGeom prst="rect">
            <a:avLst/>
          </a:prstGeom>
          <a:noFill/>
        </p:spPr>
        <p:txBody>
          <a:bodyPr wrap="square" lIns="0" rIns="0" tIns="0" bIns="0" anchor="ctr">
            <a:spAutoFit/>
          </a:bodyPr>
          <a:lstStyle/>
          <a:p>
            <a:pPr>
              <a:lnSpc>
                <a:spcPts val="1160"/>
              </a:lnSpc>
              <a:spcAft>
                <a:spcPts val="0"/>
              </a:spcAft>
            </a:pPr>
            <a:r>
              <a:rPr sz="1050" b="0" lang="ja-JP">
                <a:solidFill>
                  <a:srgbClr val="21374A"/>
                </a:solidFill>
                <a:latin typeface="Yu Gothic"/>
                <a:ea typeface="Yu Gothic"/>
              </a:rPr>
              <a:t>横断混乱</a:t>
            </a:r>
          </a:p>
          <a:p>
            <a:pPr>
              <a:lnSpc>
                <a:spcPts val="1160"/>
              </a:lnSpc>
              <a:spcAft>
                <a:spcPts val="0"/>
              </a:spcAft>
            </a:pPr>
            <a:r>
              <a:rPr sz="1050" b="0" lang="ja-JP">
                <a:solidFill>
                  <a:srgbClr val="21374A"/>
                </a:solidFill>
                <a:latin typeface="Yu Gothic"/>
                <a:ea typeface="Yu Gothic"/>
              </a:rPr>
              <a:t>取引先対応コスト増</a:t>
            </a:r>
          </a:p>
        </p:txBody>
      </p:sp>
      <p:sp>
        <p:nvSpPr>
          <p:cNvPr id="48" name="TextBox 47"/>
          <p:cNvSpPr txBox="1"/>
          <p:nvPr/>
        </p:nvSpPr>
        <p:spPr>
          <a:xfrm>
            <a:off x="10424160" y="3438144"/>
            <a:ext cx="1097280" cy="384048"/>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−0.43</a:t>
            </a:r>
          </a:p>
        </p:txBody>
      </p:sp>
      <p:sp>
        <p:nvSpPr>
          <p:cNvPr id="49" name="Rounded Rectangle 48">
            <a:extLst>
              <a:ext uri="{C183D7F6-B498-43B3-948B-1728B52AA6E4}">
                <adec:decorative xmlns:adec="http://schemas.microsoft.com/office/drawing/2017/decorative" val="1"/>
              </a:ext>
            </a:extLst>
          </p:cNvPr>
          <p:cNvSpPr/>
          <p:nvPr/>
        </p:nvSpPr>
        <p:spPr>
          <a:xfrm>
            <a:off x="4828032" y="3849624"/>
            <a:ext cx="6739128" cy="411480"/>
          </a:xfrm>
          <a:prstGeom prst="roundRect">
            <a:avLst>
              <a:gd name="adj" fmla="val 11111"/>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a:extLst>
              <a:ext uri="{C183D7F6-B498-43B3-948B-1728B52AA6E4}">
                <adec:decorative xmlns:adec="http://schemas.microsoft.com/office/drawing/2017/decorative" val="1"/>
              </a:ext>
            </a:extLst>
          </p:cNvPr>
          <p:cNvSpPr/>
          <p:nvPr/>
        </p:nvSpPr>
        <p:spPr>
          <a:xfrm>
            <a:off x="4937760" y="3941063"/>
            <a:ext cx="457200" cy="256032"/>
          </a:xfrm>
          <a:prstGeom prst="roundRect">
            <a:avLst>
              <a:gd name="adj" fmla="val 50000"/>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937760" y="3941063"/>
            <a:ext cx="457200" cy="25603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高</a:t>
            </a:r>
          </a:p>
        </p:txBody>
      </p:sp>
      <p:sp>
        <p:nvSpPr>
          <p:cNvPr id="52" name="TextBox 51"/>
          <p:cNvSpPr txBox="1"/>
          <p:nvPr/>
        </p:nvSpPr>
        <p:spPr>
          <a:xfrm>
            <a:off x="5486400" y="3867911"/>
            <a:ext cx="1645920" cy="384048"/>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SUB_FIN_JP_01_C07</a:t>
            </a:r>
          </a:p>
        </p:txBody>
      </p:sp>
      <p:sp>
        <p:nvSpPr>
          <p:cNvPr id="53" name="TextBox 52"/>
          <p:cNvSpPr txBox="1"/>
          <p:nvPr/>
        </p:nvSpPr>
        <p:spPr>
          <a:xfrm>
            <a:off x="7132320" y="3867911"/>
            <a:ext cx="1965960" cy="384048"/>
          </a:xfrm>
          <a:prstGeom prst="rect">
            <a:avLst/>
          </a:prstGeom>
          <a:noFill/>
        </p:spPr>
        <p:txBody>
          <a:bodyPr wrap="square" lIns="0" rIns="0" tIns="0" bIns="0" anchor="ctr">
            <a:spAutoFit/>
          </a:bodyPr>
          <a:lstStyle/>
          <a:p>
            <a:pPr>
              <a:lnSpc>
                <a:spcPts val="1210"/>
              </a:lnSpc>
              <a:spcAft>
                <a:spcPts val="0"/>
              </a:spcAft>
            </a:pPr>
            <a:r>
              <a:rPr sz="1050" b="0" lang="ja-JP">
                <a:solidFill>
                  <a:srgbClr val="21374A"/>
                </a:solidFill>
                <a:latin typeface="Yu Gothic"/>
                <a:ea typeface="Yu Gothic"/>
              </a:rPr>
              <a:t>Nuvellora Finance Japan KK</a:t>
            </a:r>
          </a:p>
        </p:txBody>
      </p:sp>
      <p:sp>
        <p:nvSpPr>
          <p:cNvPr id="54" name="TextBox 53"/>
          <p:cNvSpPr txBox="1"/>
          <p:nvPr/>
        </p:nvSpPr>
        <p:spPr>
          <a:xfrm>
            <a:off x="9144000" y="3867911"/>
            <a:ext cx="1325880" cy="384048"/>
          </a:xfrm>
          <a:prstGeom prst="rect">
            <a:avLst/>
          </a:prstGeom>
          <a:noFill/>
        </p:spPr>
        <p:txBody>
          <a:bodyPr wrap="square" lIns="0" rIns="0" tIns="0" bIns="0" anchor="ctr">
            <a:spAutoFit/>
          </a:bodyPr>
          <a:lstStyle/>
          <a:p>
            <a:pPr>
              <a:lnSpc>
                <a:spcPts val="1160"/>
              </a:lnSpc>
              <a:spcAft>
                <a:spcPts val="0"/>
              </a:spcAft>
            </a:pPr>
            <a:r>
              <a:rPr sz="1050" b="0" lang="ja-JP">
                <a:solidFill>
                  <a:srgbClr val="21374A"/>
                </a:solidFill>
                <a:latin typeface="Yu Gothic"/>
                <a:ea typeface="Yu Gothic"/>
              </a:rPr>
              <a:t>横断混乱</a:t>
            </a:r>
          </a:p>
          <a:p>
            <a:pPr>
              <a:lnSpc>
                <a:spcPts val="1160"/>
              </a:lnSpc>
              <a:spcAft>
                <a:spcPts val="0"/>
              </a:spcAft>
            </a:pPr>
            <a:r>
              <a:rPr sz="1050" b="0" lang="ja-JP">
                <a:solidFill>
                  <a:srgbClr val="21374A"/>
                </a:solidFill>
                <a:latin typeface="Yu Gothic"/>
                <a:ea typeface="Yu Gothic"/>
              </a:rPr>
              <a:t>取引先対応コスト増</a:t>
            </a:r>
          </a:p>
        </p:txBody>
      </p:sp>
      <p:sp>
        <p:nvSpPr>
          <p:cNvPr id="55" name="TextBox 54"/>
          <p:cNvSpPr txBox="1"/>
          <p:nvPr/>
        </p:nvSpPr>
        <p:spPr>
          <a:xfrm>
            <a:off x="10424160" y="3867911"/>
            <a:ext cx="1097280" cy="384048"/>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−0.43</a:t>
            </a:r>
          </a:p>
        </p:txBody>
      </p:sp>
      <p:sp>
        <p:nvSpPr>
          <p:cNvPr id="56" name="Rounded Rectangle 55">
            <a:extLst>
              <a:ext uri="{C183D7F6-B498-43B3-948B-1728B52AA6E4}">
                <adec:decorative xmlns:adec="http://schemas.microsoft.com/office/drawing/2017/decorative" val="1"/>
              </a:ext>
            </a:extLst>
          </p:cNvPr>
          <p:cNvSpPr/>
          <p:nvPr/>
        </p:nvSpPr>
        <p:spPr>
          <a:xfrm>
            <a:off x="4937760" y="4370831"/>
            <a:ext cx="457200" cy="256032"/>
          </a:xfrm>
          <a:prstGeom prst="roundRect">
            <a:avLst>
              <a:gd name="adj" fmla="val 50000"/>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4937760" y="4370831"/>
            <a:ext cx="457200" cy="25603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中</a:t>
            </a:r>
          </a:p>
        </p:txBody>
      </p:sp>
      <p:sp>
        <p:nvSpPr>
          <p:cNvPr id="58" name="TextBox 57"/>
          <p:cNvSpPr txBox="1"/>
          <p:nvPr/>
        </p:nvSpPr>
        <p:spPr>
          <a:xfrm>
            <a:off x="5486400" y="4297679"/>
            <a:ext cx="1645920" cy="384048"/>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SUB_MTL_JP_01_C07</a:t>
            </a:r>
          </a:p>
        </p:txBody>
      </p:sp>
      <p:sp>
        <p:nvSpPr>
          <p:cNvPr id="59" name="TextBox 58"/>
          <p:cNvSpPr txBox="1"/>
          <p:nvPr/>
        </p:nvSpPr>
        <p:spPr>
          <a:xfrm>
            <a:off x="7132320" y="4297679"/>
            <a:ext cx="1965960" cy="384048"/>
          </a:xfrm>
          <a:prstGeom prst="rect">
            <a:avLst/>
          </a:prstGeom>
          <a:noFill/>
        </p:spPr>
        <p:txBody>
          <a:bodyPr wrap="square" lIns="0" rIns="0" tIns="0" bIns="0" anchor="ctr">
            <a:spAutoFit/>
          </a:bodyPr>
          <a:lstStyle/>
          <a:p>
            <a:pPr>
              <a:lnSpc>
                <a:spcPts val="1210"/>
              </a:lnSpc>
              <a:spcAft>
                <a:spcPts val="0"/>
              </a:spcAft>
            </a:pPr>
            <a:r>
              <a:rPr sz="1050" b="0" lang="ja-JP">
                <a:solidFill>
                  <a:srgbClr val="21374A"/>
                </a:solidFill>
                <a:latin typeface="Yu Gothic"/>
                <a:ea typeface="Yu Gothic"/>
              </a:rPr>
              <a:t>Veltrona Metals Japan KK</a:t>
            </a:r>
          </a:p>
        </p:txBody>
      </p:sp>
      <p:sp>
        <p:nvSpPr>
          <p:cNvPr id="60" name="TextBox 59"/>
          <p:cNvSpPr txBox="1"/>
          <p:nvPr/>
        </p:nvSpPr>
        <p:spPr>
          <a:xfrm>
            <a:off x="9144000" y="4297679"/>
            <a:ext cx="1325880" cy="384048"/>
          </a:xfrm>
          <a:prstGeom prst="rect">
            <a:avLst/>
          </a:prstGeom>
          <a:noFill/>
        </p:spPr>
        <p:txBody>
          <a:bodyPr wrap="square" lIns="0" rIns="0" tIns="0" bIns="0" anchor="ctr">
            <a:spAutoFit/>
          </a:bodyPr>
          <a:lstStyle/>
          <a:p>
            <a:pPr>
              <a:lnSpc>
                <a:spcPts val="1160"/>
              </a:lnSpc>
              <a:spcAft>
                <a:spcPts val="0"/>
              </a:spcAft>
            </a:pPr>
            <a:r>
              <a:rPr sz="1050" b="0" lang="ja-JP">
                <a:solidFill>
                  <a:srgbClr val="21374A"/>
                </a:solidFill>
                <a:latin typeface="Yu Gothic"/>
                <a:ea typeface="Yu Gothic"/>
              </a:rPr>
              <a:t>横断混乱</a:t>
            </a:r>
          </a:p>
        </p:txBody>
      </p:sp>
      <p:sp>
        <p:nvSpPr>
          <p:cNvPr id="61" name="TextBox 60"/>
          <p:cNvSpPr txBox="1"/>
          <p:nvPr/>
        </p:nvSpPr>
        <p:spPr>
          <a:xfrm>
            <a:off x="10424160" y="4297679"/>
            <a:ext cx="1097280" cy="384048"/>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−0.37</a:t>
            </a:r>
          </a:p>
        </p:txBody>
      </p:sp>
      <p:sp>
        <p:nvSpPr>
          <p:cNvPr id="62" name="Rounded Rectangle 61">
            <a:extLst>
              <a:ext uri="{C183D7F6-B498-43B3-948B-1728B52AA6E4}">
                <adec:decorative xmlns:adec="http://schemas.microsoft.com/office/drawing/2017/decorative" val="1"/>
              </a:ext>
            </a:extLst>
          </p:cNvPr>
          <p:cNvSpPr/>
          <p:nvPr/>
        </p:nvSpPr>
        <p:spPr>
          <a:xfrm>
            <a:off x="4828032" y="4709160"/>
            <a:ext cx="6739128" cy="411480"/>
          </a:xfrm>
          <a:prstGeom prst="roundRect">
            <a:avLst>
              <a:gd name="adj" fmla="val 11111"/>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a:extLst>
              <a:ext uri="{C183D7F6-B498-43B3-948B-1728B52AA6E4}">
                <adec:decorative xmlns:adec="http://schemas.microsoft.com/office/drawing/2017/decorative" val="1"/>
              </a:ext>
            </a:extLst>
          </p:cNvPr>
          <p:cNvSpPr/>
          <p:nvPr/>
        </p:nvSpPr>
        <p:spPr>
          <a:xfrm>
            <a:off x="4937760" y="4800600"/>
            <a:ext cx="457200" cy="256032"/>
          </a:xfrm>
          <a:prstGeom prst="roundRect">
            <a:avLst>
              <a:gd name="adj" fmla="val 50000"/>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4937760" y="4800600"/>
            <a:ext cx="457200" cy="25603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中</a:t>
            </a:r>
          </a:p>
        </p:txBody>
      </p:sp>
      <p:sp>
        <p:nvSpPr>
          <p:cNvPr id="65" name="TextBox 64"/>
          <p:cNvSpPr txBox="1"/>
          <p:nvPr/>
        </p:nvSpPr>
        <p:spPr>
          <a:xfrm>
            <a:off x="5486400" y="4727448"/>
            <a:ext cx="1645920" cy="384048"/>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SUB_FIN_JP_01_C09</a:t>
            </a:r>
          </a:p>
        </p:txBody>
      </p:sp>
      <p:sp>
        <p:nvSpPr>
          <p:cNvPr id="66" name="TextBox 65"/>
          <p:cNvSpPr txBox="1"/>
          <p:nvPr/>
        </p:nvSpPr>
        <p:spPr>
          <a:xfrm>
            <a:off x="7132320" y="4727448"/>
            <a:ext cx="1965960" cy="384048"/>
          </a:xfrm>
          <a:prstGeom prst="rect">
            <a:avLst/>
          </a:prstGeom>
          <a:noFill/>
        </p:spPr>
        <p:txBody>
          <a:bodyPr wrap="square" lIns="0" rIns="0" tIns="0" bIns="0" anchor="ctr">
            <a:spAutoFit/>
          </a:bodyPr>
          <a:lstStyle/>
          <a:p>
            <a:pPr>
              <a:lnSpc>
                <a:spcPts val="1210"/>
              </a:lnSpc>
              <a:spcAft>
                <a:spcPts val="0"/>
              </a:spcAft>
            </a:pPr>
            <a:r>
              <a:rPr sz="1050" b="0" lang="ja-JP">
                <a:solidFill>
                  <a:srgbClr val="21374A"/>
                </a:solidFill>
                <a:latin typeface="Yu Gothic"/>
                <a:ea typeface="Yu Gothic"/>
              </a:rPr>
              <a:t>Nuvellora Finance Japan KK</a:t>
            </a:r>
          </a:p>
        </p:txBody>
      </p:sp>
      <p:sp>
        <p:nvSpPr>
          <p:cNvPr id="67" name="TextBox 66"/>
          <p:cNvSpPr txBox="1"/>
          <p:nvPr/>
        </p:nvSpPr>
        <p:spPr>
          <a:xfrm>
            <a:off x="9144000" y="4727448"/>
            <a:ext cx="1325880" cy="384048"/>
          </a:xfrm>
          <a:prstGeom prst="rect">
            <a:avLst/>
          </a:prstGeom>
          <a:noFill/>
        </p:spPr>
        <p:txBody>
          <a:bodyPr wrap="square" lIns="0" rIns="0" tIns="0" bIns="0" anchor="ctr">
            <a:spAutoFit/>
          </a:bodyPr>
          <a:lstStyle/>
          <a:p>
            <a:pPr>
              <a:lnSpc>
                <a:spcPts val="1160"/>
              </a:lnSpc>
              <a:spcAft>
                <a:spcPts val="0"/>
              </a:spcAft>
            </a:pPr>
            <a:r>
              <a:rPr sz="1050" b="0" lang="ja-JP">
                <a:solidFill>
                  <a:srgbClr val="21374A"/>
                </a:solidFill>
                <a:latin typeface="Yu Gothic"/>
                <a:ea typeface="Yu Gothic"/>
              </a:rPr>
              <a:t>横断混乱</a:t>
            </a:r>
          </a:p>
          <a:p>
            <a:pPr>
              <a:lnSpc>
                <a:spcPts val="1160"/>
              </a:lnSpc>
              <a:spcAft>
                <a:spcPts val="0"/>
              </a:spcAft>
            </a:pPr>
            <a:r>
              <a:rPr sz="1050" b="0" lang="ja-JP">
                <a:solidFill>
                  <a:srgbClr val="21374A"/>
                </a:solidFill>
                <a:latin typeface="Yu Gothic"/>
                <a:ea typeface="Yu Gothic"/>
              </a:rPr>
              <a:t>取引先対応コスト増</a:t>
            </a:r>
          </a:p>
        </p:txBody>
      </p:sp>
      <p:sp>
        <p:nvSpPr>
          <p:cNvPr id="68" name="TextBox 67"/>
          <p:cNvSpPr txBox="1"/>
          <p:nvPr/>
        </p:nvSpPr>
        <p:spPr>
          <a:xfrm>
            <a:off x="10424160" y="4727448"/>
            <a:ext cx="1097280" cy="384048"/>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−0.24</a:t>
            </a:r>
          </a:p>
        </p:txBody>
      </p:sp>
      <p:sp>
        <p:nvSpPr>
          <p:cNvPr id="69" name="Rounded Rectangle 68">
            <a:extLst>
              <a:ext uri="{C183D7F6-B498-43B3-948B-1728B52AA6E4}">
                <adec:decorative xmlns:adec="http://schemas.microsoft.com/office/drawing/2017/decorative" val="1"/>
              </a:ext>
            </a:extLst>
          </p:cNvPr>
          <p:cNvSpPr/>
          <p:nvPr/>
        </p:nvSpPr>
        <p:spPr>
          <a:xfrm>
            <a:off x="4937760" y="5230368"/>
            <a:ext cx="457200" cy="256032"/>
          </a:xfrm>
          <a:prstGeom prst="roundRect">
            <a:avLst>
              <a:gd name="adj" fmla="val 50000"/>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4937760" y="5230368"/>
            <a:ext cx="457200" cy="25603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中</a:t>
            </a:r>
          </a:p>
        </p:txBody>
      </p:sp>
      <p:sp>
        <p:nvSpPr>
          <p:cNvPr id="71" name="TextBox 70"/>
          <p:cNvSpPr txBox="1"/>
          <p:nvPr/>
        </p:nvSpPr>
        <p:spPr>
          <a:xfrm>
            <a:off x="5486400" y="5157216"/>
            <a:ext cx="1645920" cy="384048"/>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SUB_FIN_US_01_C09</a:t>
            </a:r>
          </a:p>
        </p:txBody>
      </p:sp>
      <p:sp>
        <p:nvSpPr>
          <p:cNvPr id="72" name="TextBox 71"/>
          <p:cNvSpPr txBox="1"/>
          <p:nvPr/>
        </p:nvSpPr>
        <p:spPr>
          <a:xfrm>
            <a:off x="7132320" y="5157216"/>
            <a:ext cx="1965960" cy="384048"/>
          </a:xfrm>
          <a:prstGeom prst="rect">
            <a:avLst/>
          </a:prstGeom>
          <a:noFill/>
        </p:spPr>
        <p:txBody>
          <a:bodyPr wrap="square" lIns="0" rIns="0" tIns="0" bIns="0" anchor="ctr">
            <a:spAutoFit/>
          </a:bodyPr>
          <a:lstStyle/>
          <a:p>
            <a:pPr>
              <a:lnSpc>
                <a:spcPts val="1210"/>
              </a:lnSpc>
              <a:spcAft>
                <a:spcPts val="0"/>
              </a:spcAft>
            </a:pPr>
            <a:r>
              <a:rPr sz="1050" b="0" lang="ja-JP">
                <a:solidFill>
                  <a:srgbClr val="21374A"/>
                </a:solidFill>
                <a:latin typeface="Yu Gothic"/>
                <a:ea typeface="Yu Gothic"/>
              </a:rPr>
              <a:t>Nuvellora Finance USA Inc.</a:t>
            </a:r>
          </a:p>
        </p:txBody>
      </p:sp>
      <p:sp>
        <p:nvSpPr>
          <p:cNvPr id="73" name="TextBox 72"/>
          <p:cNvSpPr txBox="1"/>
          <p:nvPr/>
        </p:nvSpPr>
        <p:spPr>
          <a:xfrm>
            <a:off x="9144000" y="5157216"/>
            <a:ext cx="1325880" cy="384048"/>
          </a:xfrm>
          <a:prstGeom prst="rect">
            <a:avLst/>
          </a:prstGeom>
          <a:noFill/>
        </p:spPr>
        <p:txBody>
          <a:bodyPr wrap="square" lIns="0" rIns="0" tIns="0" bIns="0" anchor="ctr">
            <a:spAutoFit/>
          </a:bodyPr>
          <a:lstStyle/>
          <a:p>
            <a:pPr>
              <a:lnSpc>
                <a:spcPts val="1160"/>
              </a:lnSpc>
              <a:spcAft>
                <a:spcPts val="0"/>
              </a:spcAft>
            </a:pPr>
            <a:r>
              <a:rPr sz="1050" b="0" lang="ja-JP">
                <a:solidFill>
                  <a:srgbClr val="21374A"/>
                </a:solidFill>
                <a:latin typeface="Yu Gothic"/>
                <a:ea typeface="Yu Gothic"/>
              </a:rPr>
              <a:t>横断混乱</a:t>
            </a:r>
          </a:p>
          <a:p>
            <a:pPr>
              <a:lnSpc>
                <a:spcPts val="1160"/>
              </a:lnSpc>
              <a:spcAft>
                <a:spcPts val="0"/>
              </a:spcAft>
            </a:pPr>
            <a:r>
              <a:rPr sz="1050" b="0" lang="ja-JP">
                <a:solidFill>
                  <a:srgbClr val="21374A"/>
                </a:solidFill>
                <a:latin typeface="Yu Gothic"/>
                <a:ea typeface="Yu Gothic"/>
              </a:rPr>
              <a:t>取引先対応コスト増</a:t>
            </a:r>
          </a:p>
        </p:txBody>
      </p:sp>
      <p:sp>
        <p:nvSpPr>
          <p:cNvPr id="74" name="TextBox 73"/>
          <p:cNvSpPr txBox="1"/>
          <p:nvPr/>
        </p:nvSpPr>
        <p:spPr>
          <a:xfrm>
            <a:off x="10424160" y="5157216"/>
            <a:ext cx="1097280" cy="384048"/>
          </a:xfrm>
          <a:prstGeom prst="rect">
            <a:avLst/>
          </a:prstGeom>
          <a:noFill/>
        </p:spPr>
        <p:txBody>
          <a:bodyPr wrap="square" lIns="0" rIns="0" tIns="0" bIns="0" anchor="ctr">
            <a:spAutoFit/>
          </a:bodyPr>
          <a:lstStyle/>
          <a:p>
            <a:pPr algn="r">
              <a:lnSpc>
                <a:spcPts val="1200"/>
              </a:lnSpc>
              <a:spcAft>
                <a:spcPts val="0"/>
              </a:spcAft>
            </a:pPr>
            <a:r>
              <a:rPr sz="1200" b="1" lang="ja-JP">
                <a:solidFill>
                  <a:srgbClr val="BD4354"/>
                </a:solidFill>
                <a:latin typeface="Yu Gothic"/>
                <a:ea typeface="Yu Gothic"/>
              </a:rPr>
              <a:t>−0.24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全社に及ぶイベントも同じ経路で追える</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第2章 デモで確認  |  全社に及ぶイベント</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食品損失の影響は2社でしたが、港湾や流動性の混乱のようなイベントは、8社すべてに同時に当たります。</a:t>
            </a:r>
          </a:p>
          <a:p>
            <a:pPr>
              <a:lnSpc>
                <a:spcPts val="2160"/>
              </a:lnSpc>
              <a:spcAft>
                <a:spcPts val="0"/>
              </a:spcAft>
            </a:pPr>
            <a:r>
              <a:rPr sz="1600" b="0" lang="ja-JP">
                <a:solidFill>
                  <a:srgbClr val="566A78"/>
                </a:solidFill>
                <a:latin typeface="Yu Gothic"/>
                <a:ea typeface="Yu Gothic"/>
              </a:rPr>
              <a:t>影響額の明細は84件から336件に増えましたが、会社別、事業別の集計は、既存の関係で行えました。</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会社から会社へ連鎖する波及（取引を通じた影響）は、関係の追加が必要で、このデモでは未対応です。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16</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5074920"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31520" y="2267712"/>
            <a:ext cx="1691640" cy="237744"/>
          </a:xfrm>
          <a:prstGeom prst="rect">
            <a:avLst/>
          </a:prstGeom>
          <a:noFill/>
        </p:spPr>
        <p:txBody>
          <a:bodyPr wrap="square" lIns="0" rIns="0" tIns="0" bIns="0">
            <a:spAutoFit/>
          </a:bodyPr>
          <a:lstStyle/>
          <a:p>
            <a:pPr>
              <a:lnSpc>
                <a:spcPts val="1200"/>
              </a:lnSpc>
              <a:spcAft>
                <a:spcPts val="0"/>
              </a:spcAft>
            </a:pPr>
          </a:p>
        </p:txBody>
      </p:sp>
      <p:sp>
        <p:nvSpPr>
          <p:cNvPr id="17" name="TextBox 16"/>
          <p:cNvSpPr txBox="1"/>
          <p:nvPr/>
        </p:nvSpPr>
        <p:spPr>
          <a:xfrm>
            <a:off x="2423160" y="2267712"/>
            <a:ext cx="1508760" cy="237744"/>
          </a:xfrm>
          <a:prstGeom prst="rect">
            <a:avLst/>
          </a:prstGeom>
          <a:noFill/>
        </p:spPr>
        <p:txBody>
          <a:bodyPr wrap="square" lIns="0" rIns="0" tIns="0" bIns="0">
            <a:spAutoFit/>
          </a:bodyPr>
          <a:lstStyle/>
          <a:p>
            <a:pPr algn="r">
              <a:lnSpc>
                <a:spcPts val="1200"/>
              </a:lnSpc>
              <a:spcAft>
                <a:spcPts val="0"/>
              </a:spcAft>
            </a:pPr>
            <a:r>
              <a:rPr sz="1200" b="1" lang="ja-JP">
                <a:solidFill>
                  <a:srgbClr val="087F83"/>
                </a:solidFill>
                <a:latin typeface="Yu Gothic"/>
                <a:ea typeface="Yu Gothic"/>
              </a:rPr>
              <a:t>食品損失</a:t>
            </a:r>
          </a:p>
        </p:txBody>
      </p:sp>
      <p:sp>
        <p:nvSpPr>
          <p:cNvPr id="18" name="TextBox 17"/>
          <p:cNvSpPr txBox="1"/>
          <p:nvPr/>
        </p:nvSpPr>
        <p:spPr>
          <a:xfrm>
            <a:off x="3931920" y="2267712"/>
            <a:ext cx="1554480" cy="237744"/>
          </a:xfrm>
          <a:prstGeom prst="rect">
            <a:avLst/>
          </a:prstGeom>
          <a:noFill/>
        </p:spPr>
        <p:txBody>
          <a:bodyPr wrap="square" lIns="0" rIns="0" tIns="0" bIns="0">
            <a:spAutoFit/>
          </a:bodyPr>
          <a:lstStyle/>
          <a:p>
            <a:pPr algn="r">
              <a:lnSpc>
                <a:spcPts val="1200"/>
              </a:lnSpc>
              <a:spcAft>
                <a:spcPts val="0"/>
              </a:spcAft>
            </a:pPr>
            <a:r>
              <a:rPr sz="1200" b="1" lang="ja-JP">
                <a:solidFill>
                  <a:srgbClr val="087F83"/>
                </a:solidFill>
                <a:latin typeface="Yu Gothic"/>
                <a:ea typeface="Yu Gothic"/>
              </a:rPr>
              <a:t>横断混乱</a:t>
            </a:r>
          </a:p>
        </p:txBody>
      </p:sp>
      <p:sp>
        <p:nvSpPr>
          <p:cNvPr id="19" name="TextBox 18"/>
          <p:cNvSpPr txBox="1"/>
          <p:nvPr/>
        </p:nvSpPr>
        <p:spPr>
          <a:xfrm>
            <a:off x="731520" y="2606040"/>
            <a:ext cx="1691640" cy="347472"/>
          </a:xfrm>
          <a:prstGeom prst="rect">
            <a:avLst/>
          </a:prstGeom>
          <a:noFill/>
        </p:spPr>
        <p:txBody>
          <a:bodyPr wrap="square" lIns="0" rIns="0" tIns="0" bIns="0" anchor="ctr">
            <a:spAutoFit/>
          </a:bodyPr>
          <a:lstStyle/>
          <a:p>
            <a:pPr>
              <a:lnSpc>
                <a:spcPts val="1200"/>
              </a:lnSpc>
              <a:spcAft>
                <a:spcPts val="0"/>
              </a:spcAft>
            </a:pPr>
            <a:r>
              <a:rPr sz="1200" b="1" lang="ja-JP">
                <a:solidFill>
                  <a:srgbClr val="21374A"/>
                </a:solidFill>
                <a:latin typeface="Yu Gothic"/>
                <a:ea typeface="Yu Gothic"/>
              </a:rPr>
              <a:t>影響を受けた会社</a:t>
            </a:r>
          </a:p>
        </p:txBody>
      </p:sp>
      <p:sp>
        <p:nvSpPr>
          <p:cNvPr id="20" name="TextBox 19"/>
          <p:cNvSpPr txBox="1"/>
          <p:nvPr/>
        </p:nvSpPr>
        <p:spPr>
          <a:xfrm>
            <a:off x="2423160" y="2606040"/>
            <a:ext cx="1508760" cy="347472"/>
          </a:xfrm>
          <a:prstGeom prst="rect">
            <a:avLst/>
          </a:prstGeom>
          <a:noFill/>
        </p:spPr>
        <p:txBody>
          <a:bodyPr wrap="square" lIns="0" rIns="0" tIns="0" bIns="0" anchor="ctr">
            <a:spAutoFit/>
          </a:bodyPr>
          <a:lstStyle/>
          <a:p>
            <a:pPr algn="r">
              <a:lnSpc>
                <a:spcPts val="1250"/>
              </a:lnSpc>
              <a:spcAft>
                <a:spcPts val="0"/>
              </a:spcAft>
            </a:pPr>
            <a:r>
              <a:rPr sz="1250" b="0" lang="ja-JP">
                <a:solidFill>
                  <a:srgbClr val="21374A"/>
                </a:solidFill>
                <a:latin typeface="Yu Gothic"/>
                <a:ea typeface="Yu Gothic"/>
              </a:rPr>
              <a:t>2社</a:t>
            </a:r>
          </a:p>
        </p:txBody>
      </p:sp>
      <p:sp>
        <p:nvSpPr>
          <p:cNvPr id="21" name="TextBox 20"/>
          <p:cNvSpPr txBox="1"/>
          <p:nvPr/>
        </p:nvSpPr>
        <p:spPr>
          <a:xfrm>
            <a:off x="3931920" y="2606040"/>
            <a:ext cx="1554480" cy="347472"/>
          </a:xfrm>
          <a:prstGeom prst="rect">
            <a:avLst/>
          </a:prstGeom>
          <a:noFill/>
        </p:spPr>
        <p:txBody>
          <a:bodyPr wrap="square" lIns="0" rIns="0" tIns="0" bIns="0" anchor="ctr">
            <a:spAutoFit/>
          </a:bodyPr>
          <a:lstStyle/>
          <a:p>
            <a:pPr algn="r">
              <a:lnSpc>
                <a:spcPts val="1250"/>
              </a:lnSpc>
              <a:spcAft>
                <a:spcPts val="0"/>
              </a:spcAft>
            </a:pPr>
            <a:r>
              <a:rPr sz="1250" b="1" lang="ja-JP">
                <a:solidFill>
                  <a:srgbClr val="21374A"/>
                </a:solidFill>
                <a:latin typeface="Yu Gothic"/>
                <a:ea typeface="Yu Gothic"/>
              </a:rPr>
              <a:t>8社（4事業すべて）</a:t>
            </a:r>
          </a:p>
        </p:txBody>
      </p:sp>
      <p:sp>
        <p:nvSpPr>
          <p:cNvPr id="22" name="Rounded Rectangle 21">
            <a:extLst>
              <a:ext uri="{C183D7F6-B498-43B3-948B-1728B52AA6E4}">
                <adec:decorative xmlns:adec="http://schemas.microsoft.com/office/drawing/2017/decorative" val="1"/>
              </a:ext>
            </a:extLst>
          </p:cNvPr>
          <p:cNvSpPr/>
          <p:nvPr/>
        </p:nvSpPr>
        <p:spPr>
          <a:xfrm>
            <a:off x="621792" y="2994660"/>
            <a:ext cx="4928616" cy="393192"/>
          </a:xfrm>
          <a:prstGeom prst="roundRect">
            <a:avLst>
              <a:gd name="adj" fmla="val 11627"/>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31520" y="3022092"/>
            <a:ext cx="1691640" cy="347472"/>
          </a:xfrm>
          <a:prstGeom prst="rect">
            <a:avLst/>
          </a:prstGeom>
          <a:noFill/>
        </p:spPr>
        <p:txBody>
          <a:bodyPr wrap="square" lIns="0" rIns="0" tIns="0" bIns="0" anchor="ctr">
            <a:spAutoFit/>
          </a:bodyPr>
          <a:lstStyle/>
          <a:p>
            <a:pPr>
              <a:lnSpc>
                <a:spcPts val="1200"/>
              </a:lnSpc>
              <a:spcAft>
                <a:spcPts val="0"/>
              </a:spcAft>
            </a:pPr>
            <a:r>
              <a:rPr sz="1200" b="1" lang="ja-JP">
                <a:solidFill>
                  <a:srgbClr val="21374A"/>
                </a:solidFill>
                <a:latin typeface="Yu Gothic"/>
                <a:ea typeface="Yu Gothic"/>
              </a:rPr>
              <a:t>契約</a:t>
            </a:r>
          </a:p>
        </p:txBody>
      </p:sp>
      <p:sp>
        <p:nvSpPr>
          <p:cNvPr id="24" name="TextBox 23"/>
          <p:cNvSpPr txBox="1"/>
          <p:nvPr/>
        </p:nvSpPr>
        <p:spPr>
          <a:xfrm>
            <a:off x="2423160" y="3022092"/>
            <a:ext cx="1508760" cy="347472"/>
          </a:xfrm>
          <a:prstGeom prst="rect">
            <a:avLst/>
          </a:prstGeom>
          <a:noFill/>
        </p:spPr>
        <p:txBody>
          <a:bodyPr wrap="square" lIns="0" rIns="0" tIns="0" bIns="0" anchor="ctr">
            <a:spAutoFit/>
          </a:bodyPr>
          <a:lstStyle/>
          <a:p>
            <a:pPr algn="r">
              <a:lnSpc>
                <a:spcPts val="1250"/>
              </a:lnSpc>
              <a:spcAft>
                <a:spcPts val="0"/>
              </a:spcAft>
            </a:pPr>
            <a:r>
              <a:rPr sz="1250" b="0" lang="ja-JP">
                <a:solidFill>
                  <a:srgbClr val="21374A"/>
                </a:solidFill>
                <a:latin typeface="Yu Gothic"/>
                <a:ea typeface="Yu Gothic"/>
              </a:rPr>
              <a:t>6件</a:t>
            </a:r>
          </a:p>
        </p:txBody>
      </p:sp>
      <p:sp>
        <p:nvSpPr>
          <p:cNvPr id="25" name="TextBox 24"/>
          <p:cNvSpPr txBox="1"/>
          <p:nvPr/>
        </p:nvSpPr>
        <p:spPr>
          <a:xfrm>
            <a:off x="3931920" y="3022092"/>
            <a:ext cx="1554480" cy="347472"/>
          </a:xfrm>
          <a:prstGeom prst="rect">
            <a:avLst/>
          </a:prstGeom>
          <a:noFill/>
        </p:spPr>
        <p:txBody>
          <a:bodyPr wrap="square" lIns="0" rIns="0" tIns="0" bIns="0" anchor="ctr">
            <a:spAutoFit/>
          </a:bodyPr>
          <a:lstStyle/>
          <a:p>
            <a:pPr algn="r">
              <a:lnSpc>
                <a:spcPts val="1250"/>
              </a:lnSpc>
              <a:spcAft>
                <a:spcPts val="0"/>
              </a:spcAft>
            </a:pPr>
            <a:r>
              <a:rPr sz="1250" b="1" lang="ja-JP">
                <a:solidFill>
                  <a:srgbClr val="21374A"/>
                </a:solidFill>
                <a:latin typeface="Yu Gothic"/>
                <a:ea typeface="Yu Gothic"/>
              </a:rPr>
              <a:t>26件</a:t>
            </a:r>
          </a:p>
        </p:txBody>
      </p:sp>
      <p:sp>
        <p:nvSpPr>
          <p:cNvPr id="26" name="TextBox 25"/>
          <p:cNvSpPr txBox="1"/>
          <p:nvPr/>
        </p:nvSpPr>
        <p:spPr>
          <a:xfrm>
            <a:off x="731520" y="3438144"/>
            <a:ext cx="1691640" cy="347472"/>
          </a:xfrm>
          <a:prstGeom prst="rect">
            <a:avLst/>
          </a:prstGeom>
          <a:noFill/>
        </p:spPr>
        <p:txBody>
          <a:bodyPr wrap="square" lIns="0" rIns="0" tIns="0" bIns="0" anchor="ctr">
            <a:spAutoFit/>
          </a:bodyPr>
          <a:lstStyle/>
          <a:p>
            <a:pPr>
              <a:lnSpc>
                <a:spcPts val="1200"/>
              </a:lnSpc>
              <a:spcAft>
                <a:spcPts val="0"/>
              </a:spcAft>
            </a:pPr>
            <a:r>
              <a:rPr sz="1200" b="1" lang="ja-JP">
                <a:solidFill>
                  <a:srgbClr val="21374A"/>
                </a:solidFill>
                <a:latin typeface="Yu Gothic"/>
                <a:ea typeface="Yu Gothic"/>
              </a:rPr>
              <a:t>影響額の明細</a:t>
            </a:r>
          </a:p>
        </p:txBody>
      </p:sp>
      <p:sp>
        <p:nvSpPr>
          <p:cNvPr id="27" name="TextBox 26"/>
          <p:cNvSpPr txBox="1"/>
          <p:nvPr/>
        </p:nvSpPr>
        <p:spPr>
          <a:xfrm>
            <a:off x="2423160" y="3438144"/>
            <a:ext cx="1508760" cy="347472"/>
          </a:xfrm>
          <a:prstGeom prst="rect">
            <a:avLst/>
          </a:prstGeom>
          <a:noFill/>
        </p:spPr>
        <p:txBody>
          <a:bodyPr wrap="square" lIns="0" rIns="0" tIns="0" bIns="0" anchor="ctr">
            <a:spAutoFit/>
          </a:bodyPr>
          <a:lstStyle/>
          <a:p>
            <a:pPr algn="r">
              <a:lnSpc>
                <a:spcPts val="1250"/>
              </a:lnSpc>
              <a:spcAft>
                <a:spcPts val="0"/>
              </a:spcAft>
            </a:pPr>
            <a:r>
              <a:rPr sz="1250" b="0" lang="ja-JP">
                <a:solidFill>
                  <a:srgbClr val="21374A"/>
                </a:solidFill>
                <a:latin typeface="Yu Gothic"/>
                <a:ea typeface="Yu Gothic"/>
              </a:rPr>
              <a:t>84件</a:t>
            </a:r>
          </a:p>
        </p:txBody>
      </p:sp>
      <p:sp>
        <p:nvSpPr>
          <p:cNvPr id="28" name="TextBox 27"/>
          <p:cNvSpPr txBox="1"/>
          <p:nvPr/>
        </p:nvSpPr>
        <p:spPr>
          <a:xfrm>
            <a:off x="3931920" y="3438144"/>
            <a:ext cx="1554480" cy="347472"/>
          </a:xfrm>
          <a:prstGeom prst="rect">
            <a:avLst/>
          </a:prstGeom>
          <a:noFill/>
        </p:spPr>
        <p:txBody>
          <a:bodyPr wrap="square" lIns="0" rIns="0" tIns="0" bIns="0" anchor="ctr">
            <a:spAutoFit/>
          </a:bodyPr>
          <a:lstStyle/>
          <a:p>
            <a:pPr algn="r">
              <a:lnSpc>
                <a:spcPts val="1250"/>
              </a:lnSpc>
              <a:spcAft>
                <a:spcPts val="0"/>
              </a:spcAft>
            </a:pPr>
            <a:r>
              <a:rPr sz="1250" b="1" lang="ja-JP">
                <a:solidFill>
                  <a:srgbClr val="21374A"/>
                </a:solidFill>
                <a:latin typeface="Yu Gothic"/>
                <a:ea typeface="Yu Gothic"/>
              </a:rPr>
              <a:t>336件</a:t>
            </a:r>
          </a:p>
        </p:txBody>
      </p:sp>
      <p:sp>
        <p:nvSpPr>
          <p:cNvPr id="29" name="Rounded Rectangle 28">
            <a:extLst>
              <a:ext uri="{C183D7F6-B498-43B3-948B-1728B52AA6E4}">
                <adec:decorative xmlns:adec="http://schemas.microsoft.com/office/drawing/2017/decorative" val="1"/>
              </a:ext>
            </a:extLst>
          </p:cNvPr>
          <p:cNvSpPr/>
          <p:nvPr/>
        </p:nvSpPr>
        <p:spPr>
          <a:xfrm>
            <a:off x="621792" y="3826763"/>
            <a:ext cx="4928616" cy="393192"/>
          </a:xfrm>
          <a:prstGeom prst="roundRect">
            <a:avLst>
              <a:gd name="adj" fmla="val 11627"/>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31520" y="3854196"/>
            <a:ext cx="1691640" cy="347472"/>
          </a:xfrm>
          <a:prstGeom prst="rect">
            <a:avLst/>
          </a:prstGeom>
          <a:noFill/>
        </p:spPr>
        <p:txBody>
          <a:bodyPr wrap="square" lIns="0" rIns="0" tIns="0" bIns="0" anchor="ctr">
            <a:spAutoFit/>
          </a:bodyPr>
          <a:lstStyle/>
          <a:p>
            <a:pPr>
              <a:lnSpc>
                <a:spcPts val="1200"/>
              </a:lnSpc>
              <a:spcAft>
                <a:spcPts val="0"/>
              </a:spcAft>
            </a:pPr>
            <a:r>
              <a:rPr sz="1200" b="1" lang="ja-JP">
                <a:solidFill>
                  <a:srgbClr val="21374A"/>
                </a:solidFill>
                <a:latin typeface="Yu Gothic"/>
                <a:ea typeface="Yu Gothic"/>
              </a:rPr>
              <a:t>全額連結EBITDA</a:t>
            </a:r>
          </a:p>
        </p:txBody>
      </p:sp>
      <p:sp>
        <p:nvSpPr>
          <p:cNvPr id="31" name="TextBox 30"/>
          <p:cNvSpPr txBox="1"/>
          <p:nvPr/>
        </p:nvSpPr>
        <p:spPr>
          <a:xfrm>
            <a:off x="2423160" y="3854196"/>
            <a:ext cx="1508760" cy="347472"/>
          </a:xfrm>
          <a:prstGeom prst="rect">
            <a:avLst/>
          </a:prstGeom>
          <a:noFill/>
        </p:spPr>
        <p:txBody>
          <a:bodyPr wrap="square" lIns="0" rIns="0" tIns="0" bIns="0" anchor="ctr">
            <a:spAutoFit/>
          </a:bodyPr>
          <a:lstStyle/>
          <a:p>
            <a:pPr algn="r">
              <a:lnSpc>
                <a:spcPts val="1250"/>
              </a:lnSpc>
              <a:spcAft>
                <a:spcPts val="0"/>
              </a:spcAft>
            </a:pPr>
            <a:r>
              <a:rPr sz="1250" b="1" lang="ja-JP">
                <a:solidFill>
                  <a:srgbClr val="BD4354"/>
                </a:solidFill>
                <a:latin typeface="Yu Gothic"/>
                <a:ea typeface="Yu Gothic"/>
              </a:rPr>
              <a:t>−1.14億円</a:t>
            </a:r>
          </a:p>
        </p:txBody>
      </p:sp>
      <p:sp>
        <p:nvSpPr>
          <p:cNvPr id="32" name="TextBox 31"/>
          <p:cNvSpPr txBox="1"/>
          <p:nvPr/>
        </p:nvSpPr>
        <p:spPr>
          <a:xfrm>
            <a:off x="3931920" y="3854196"/>
            <a:ext cx="1554480" cy="347472"/>
          </a:xfrm>
          <a:prstGeom prst="rect">
            <a:avLst/>
          </a:prstGeom>
          <a:noFill/>
        </p:spPr>
        <p:txBody>
          <a:bodyPr wrap="square" lIns="0" rIns="0" tIns="0" bIns="0" anchor="ctr">
            <a:spAutoFit/>
          </a:bodyPr>
          <a:lstStyle/>
          <a:p>
            <a:pPr algn="r">
              <a:lnSpc>
                <a:spcPts val="1250"/>
              </a:lnSpc>
              <a:spcAft>
                <a:spcPts val="0"/>
              </a:spcAft>
            </a:pPr>
            <a:r>
              <a:rPr sz="1250" b="1" lang="ja-JP">
                <a:solidFill>
                  <a:srgbClr val="BD4354"/>
                </a:solidFill>
                <a:latin typeface="Yu Gothic"/>
                <a:ea typeface="Yu Gothic"/>
              </a:rPr>
              <a:t>−6.80億円</a:t>
            </a:r>
          </a:p>
        </p:txBody>
      </p:sp>
      <p:sp>
        <p:nvSpPr>
          <p:cNvPr id="33" name="TextBox 32"/>
          <p:cNvSpPr txBox="1"/>
          <p:nvPr/>
        </p:nvSpPr>
        <p:spPr>
          <a:xfrm>
            <a:off x="731520" y="4270248"/>
            <a:ext cx="1691640" cy="347472"/>
          </a:xfrm>
          <a:prstGeom prst="rect">
            <a:avLst/>
          </a:prstGeom>
          <a:noFill/>
        </p:spPr>
        <p:txBody>
          <a:bodyPr wrap="square" lIns="0" rIns="0" tIns="0" bIns="0" anchor="ctr">
            <a:spAutoFit/>
          </a:bodyPr>
          <a:lstStyle/>
          <a:p>
            <a:pPr>
              <a:lnSpc>
                <a:spcPts val="1200"/>
              </a:lnSpc>
              <a:spcAft>
                <a:spcPts val="0"/>
              </a:spcAft>
            </a:pPr>
            <a:r>
              <a:rPr sz="1200" b="1" lang="ja-JP">
                <a:solidFill>
                  <a:srgbClr val="21374A"/>
                </a:solidFill>
                <a:latin typeface="Yu Gothic"/>
                <a:ea typeface="Yu Gothic"/>
              </a:rPr>
              <a:t>持分管理</a:t>
            </a:r>
          </a:p>
        </p:txBody>
      </p:sp>
      <p:sp>
        <p:nvSpPr>
          <p:cNvPr id="34" name="TextBox 33"/>
          <p:cNvSpPr txBox="1"/>
          <p:nvPr/>
        </p:nvSpPr>
        <p:spPr>
          <a:xfrm>
            <a:off x="2423160" y="4270248"/>
            <a:ext cx="1508760" cy="347472"/>
          </a:xfrm>
          <a:prstGeom prst="rect">
            <a:avLst/>
          </a:prstGeom>
          <a:noFill/>
        </p:spPr>
        <p:txBody>
          <a:bodyPr wrap="square" lIns="0" rIns="0" tIns="0" bIns="0" anchor="ctr">
            <a:spAutoFit/>
          </a:bodyPr>
          <a:lstStyle/>
          <a:p>
            <a:pPr algn="r">
              <a:lnSpc>
                <a:spcPts val="1250"/>
              </a:lnSpc>
              <a:spcAft>
                <a:spcPts val="0"/>
              </a:spcAft>
            </a:pPr>
            <a:r>
              <a:rPr sz="1250" b="1" lang="ja-JP">
                <a:solidFill>
                  <a:srgbClr val="BD4354"/>
                </a:solidFill>
                <a:latin typeface="Yu Gothic"/>
                <a:ea typeface="Yu Gothic"/>
              </a:rPr>
              <a:t>−0.88億円</a:t>
            </a:r>
          </a:p>
        </p:txBody>
      </p:sp>
      <p:sp>
        <p:nvSpPr>
          <p:cNvPr id="35" name="TextBox 34"/>
          <p:cNvSpPr txBox="1"/>
          <p:nvPr/>
        </p:nvSpPr>
        <p:spPr>
          <a:xfrm>
            <a:off x="3931920" y="4270248"/>
            <a:ext cx="1554480" cy="347472"/>
          </a:xfrm>
          <a:prstGeom prst="rect">
            <a:avLst/>
          </a:prstGeom>
          <a:noFill/>
        </p:spPr>
        <p:txBody>
          <a:bodyPr wrap="square" lIns="0" rIns="0" tIns="0" bIns="0" anchor="ctr">
            <a:spAutoFit/>
          </a:bodyPr>
          <a:lstStyle/>
          <a:p>
            <a:pPr algn="r">
              <a:lnSpc>
                <a:spcPts val="1250"/>
              </a:lnSpc>
              <a:spcAft>
                <a:spcPts val="0"/>
              </a:spcAft>
            </a:pPr>
            <a:r>
              <a:rPr sz="1250" b="1" lang="ja-JP">
                <a:solidFill>
                  <a:srgbClr val="BD4354"/>
                </a:solidFill>
                <a:latin typeface="Yu Gothic"/>
                <a:ea typeface="Yu Gothic"/>
              </a:rPr>
              <a:t>−5.16億円</a:t>
            </a:r>
          </a:p>
        </p:txBody>
      </p:sp>
      <p:sp>
        <p:nvSpPr>
          <p:cNvPr id="36" name="Rounded Rectangle 35">
            <a:extLst>
              <a:ext uri="{C183D7F6-B498-43B3-948B-1728B52AA6E4}">
                <adec:decorative xmlns:adec="http://schemas.microsoft.com/office/drawing/2017/decorative" val="1"/>
              </a:ext>
            </a:extLst>
          </p:cNvPr>
          <p:cNvSpPr/>
          <p:nvPr/>
        </p:nvSpPr>
        <p:spPr>
          <a:xfrm>
            <a:off x="621792" y="4658868"/>
            <a:ext cx="4928616" cy="393192"/>
          </a:xfrm>
          <a:prstGeom prst="roundRect">
            <a:avLst>
              <a:gd name="adj" fmla="val 11627"/>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31520" y="4686300"/>
            <a:ext cx="1691640" cy="347472"/>
          </a:xfrm>
          <a:prstGeom prst="rect">
            <a:avLst/>
          </a:prstGeom>
          <a:noFill/>
        </p:spPr>
        <p:txBody>
          <a:bodyPr wrap="square" lIns="0" rIns="0" tIns="0" bIns="0" anchor="ctr">
            <a:spAutoFit/>
          </a:bodyPr>
          <a:lstStyle/>
          <a:p>
            <a:pPr>
              <a:lnSpc>
                <a:spcPts val="1200"/>
              </a:lnSpc>
              <a:spcAft>
                <a:spcPts val="0"/>
              </a:spcAft>
            </a:pPr>
            <a:r>
              <a:rPr sz="1200" b="1" lang="ja-JP">
                <a:solidFill>
                  <a:srgbClr val="21374A"/>
                </a:solidFill>
                <a:latin typeface="Yu Gothic"/>
                <a:ea typeface="Yu Gothic"/>
              </a:rPr>
              <a:t>年間EBITDA比</a:t>
            </a:r>
          </a:p>
        </p:txBody>
      </p:sp>
      <p:sp>
        <p:nvSpPr>
          <p:cNvPr id="38" name="TextBox 37"/>
          <p:cNvSpPr txBox="1"/>
          <p:nvPr/>
        </p:nvSpPr>
        <p:spPr>
          <a:xfrm>
            <a:off x="2423160" y="4686300"/>
            <a:ext cx="1508760" cy="347472"/>
          </a:xfrm>
          <a:prstGeom prst="rect">
            <a:avLst/>
          </a:prstGeom>
          <a:noFill/>
        </p:spPr>
        <p:txBody>
          <a:bodyPr wrap="square" lIns="0" rIns="0" tIns="0" bIns="0" anchor="ctr">
            <a:spAutoFit/>
          </a:bodyPr>
          <a:lstStyle/>
          <a:p>
            <a:pPr algn="r">
              <a:lnSpc>
                <a:spcPts val="1250"/>
              </a:lnSpc>
              <a:spcAft>
                <a:spcPts val="0"/>
              </a:spcAft>
            </a:pPr>
            <a:r>
              <a:rPr sz="1250" b="1" lang="ja-JP">
                <a:solidFill>
                  <a:srgbClr val="BD4354"/>
                </a:solidFill>
                <a:latin typeface="Yu Gothic"/>
                <a:ea typeface="Yu Gothic"/>
              </a:rPr>
              <a:t>−0.26%</a:t>
            </a:r>
          </a:p>
        </p:txBody>
      </p:sp>
      <p:sp>
        <p:nvSpPr>
          <p:cNvPr id="39" name="TextBox 38"/>
          <p:cNvSpPr txBox="1"/>
          <p:nvPr/>
        </p:nvSpPr>
        <p:spPr>
          <a:xfrm>
            <a:off x="3931920" y="4686300"/>
            <a:ext cx="1554480" cy="347472"/>
          </a:xfrm>
          <a:prstGeom prst="rect">
            <a:avLst/>
          </a:prstGeom>
          <a:noFill/>
        </p:spPr>
        <p:txBody>
          <a:bodyPr wrap="square" lIns="0" rIns="0" tIns="0" bIns="0" anchor="ctr">
            <a:spAutoFit/>
          </a:bodyPr>
          <a:lstStyle/>
          <a:p>
            <a:pPr algn="r">
              <a:lnSpc>
                <a:spcPts val="1250"/>
              </a:lnSpc>
              <a:spcAft>
                <a:spcPts val="0"/>
              </a:spcAft>
            </a:pPr>
            <a:r>
              <a:rPr sz="1250" b="1" lang="ja-JP">
                <a:solidFill>
                  <a:srgbClr val="BD4354"/>
                </a:solidFill>
                <a:latin typeface="Yu Gothic"/>
                <a:ea typeface="Yu Gothic"/>
              </a:rPr>
              <a:t>−1.52%</a:t>
            </a:r>
          </a:p>
        </p:txBody>
      </p:sp>
      <p:sp>
        <p:nvSpPr>
          <p:cNvPr id="40" name="TextBox 39"/>
          <p:cNvSpPr txBox="1"/>
          <p:nvPr/>
        </p:nvSpPr>
        <p:spPr>
          <a:xfrm>
            <a:off x="731520" y="5102352"/>
            <a:ext cx="1691640" cy="347472"/>
          </a:xfrm>
          <a:prstGeom prst="rect">
            <a:avLst/>
          </a:prstGeom>
          <a:noFill/>
        </p:spPr>
        <p:txBody>
          <a:bodyPr wrap="square" lIns="0" rIns="0" tIns="0" bIns="0" anchor="ctr">
            <a:spAutoFit/>
          </a:bodyPr>
          <a:lstStyle/>
          <a:p>
            <a:pPr>
              <a:lnSpc>
                <a:spcPts val="1200"/>
              </a:lnSpc>
              <a:spcAft>
                <a:spcPts val="0"/>
              </a:spcAft>
            </a:pPr>
            <a:r>
              <a:rPr sz="1200" b="1" lang="ja-JP">
                <a:solidFill>
                  <a:srgbClr val="21374A"/>
                </a:solidFill>
                <a:latin typeface="Yu Gothic"/>
                <a:ea typeface="Yu Gothic"/>
              </a:rPr>
              <a:t>全社KPIまでの経路</a:t>
            </a:r>
          </a:p>
        </p:txBody>
      </p:sp>
      <p:sp>
        <p:nvSpPr>
          <p:cNvPr id="41" name="TextBox 40"/>
          <p:cNvSpPr txBox="1"/>
          <p:nvPr/>
        </p:nvSpPr>
        <p:spPr>
          <a:xfrm>
            <a:off x="2423160" y="5102352"/>
            <a:ext cx="1508760" cy="347472"/>
          </a:xfrm>
          <a:prstGeom prst="rect">
            <a:avLst/>
          </a:prstGeom>
          <a:noFill/>
        </p:spPr>
        <p:txBody>
          <a:bodyPr wrap="square" lIns="0" rIns="0" tIns="0" bIns="0" anchor="ctr">
            <a:spAutoFit/>
          </a:bodyPr>
          <a:lstStyle/>
          <a:p>
            <a:pPr algn="r">
              <a:lnSpc>
                <a:spcPts val="1250"/>
              </a:lnSpc>
              <a:spcAft>
                <a:spcPts val="0"/>
              </a:spcAft>
            </a:pPr>
            <a:r>
              <a:rPr sz="1250" b="0" lang="ja-JP">
                <a:solidFill>
                  <a:srgbClr val="21374A"/>
                </a:solidFill>
                <a:latin typeface="Yu Gothic"/>
                <a:ea typeface="Yu Gothic"/>
              </a:rPr>
              <a:t>84件すべて</a:t>
            </a:r>
          </a:p>
        </p:txBody>
      </p:sp>
      <p:sp>
        <p:nvSpPr>
          <p:cNvPr id="42" name="TextBox 41"/>
          <p:cNvSpPr txBox="1"/>
          <p:nvPr/>
        </p:nvSpPr>
        <p:spPr>
          <a:xfrm>
            <a:off x="3931920" y="5102352"/>
            <a:ext cx="1554480" cy="347472"/>
          </a:xfrm>
          <a:prstGeom prst="rect">
            <a:avLst/>
          </a:prstGeom>
          <a:noFill/>
        </p:spPr>
        <p:txBody>
          <a:bodyPr wrap="square" lIns="0" rIns="0" tIns="0" bIns="0" anchor="ctr">
            <a:spAutoFit/>
          </a:bodyPr>
          <a:lstStyle/>
          <a:p>
            <a:pPr algn="r">
              <a:lnSpc>
                <a:spcPts val="1250"/>
              </a:lnSpc>
              <a:spcAft>
                <a:spcPts val="0"/>
              </a:spcAft>
            </a:pPr>
            <a:r>
              <a:rPr sz="1250" b="1" lang="ja-JP">
                <a:solidFill>
                  <a:srgbClr val="21374A"/>
                </a:solidFill>
                <a:latin typeface="Yu Gothic"/>
                <a:ea typeface="Yu Gothic"/>
              </a:rPr>
              <a:t>336件すべて</a:t>
            </a:r>
          </a:p>
        </p:txBody>
      </p:sp>
      <p:sp>
        <p:nvSpPr>
          <p:cNvPr id="43" name="TextBox 42"/>
          <p:cNvSpPr txBox="1"/>
          <p:nvPr/>
        </p:nvSpPr>
        <p:spPr>
          <a:xfrm>
            <a:off x="731520" y="5468112"/>
            <a:ext cx="4754880" cy="201168"/>
          </a:xfrm>
          <a:prstGeom prst="rect">
            <a:avLst/>
          </a:prstGeom>
          <a:noFill/>
        </p:spPr>
        <p:txBody>
          <a:bodyPr wrap="square" lIns="0" rIns="0" tIns="0" bIns="0">
            <a:spAutoFit/>
          </a:bodyPr>
          <a:lstStyle/>
          <a:p>
            <a:pPr>
              <a:lnSpc>
                <a:spcPts val="1100"/>
              </a:lnSpc>
              <a:spcAft>
                <a:spcPts val="0"/>
              </a:spcAft>
            </a:pPr>
            <a:r>
              <a:rPr sz="1100" b="0" lang="ja-JP">
                <a:solidFill>
                  <a:srgbClr val="566A78"/>
                </a:solidFill>
                <a:latin typeface="Yu Gothic"/>
                <a:ea typeface="Yu Gothic"/>
              </a:rPr>
              <a:t>※経路の確認は、2026年10月27日のGraphでの確認</a:t>
            </a:r>
          </a:p>
        </p:txBody>
      </p:sp>
      <p:sp>
        <p:nvSpPr>
          <p:cNvPr id="44" name="Rounded Rectangle 43">
            <a:extLst>
              <a:ext uri="{C183D7F6-B498-43B3-948B-1728B52AA6E4}">
                <adec:decorative xmlns:adec="http://schemas.microsoft.com/office/drawing/2017/decorative" val="1"/>
              </a:ext>
            </a:extLst>
          </p:cNvPr>
          <p:cNvSpPr/>
          <p:nvPr/>
        </p:nvSpPr>
        <p:spPr>
          <a:xfrm>
            <a:off x="5852160" y="2148840"/>
            <a:ext cx="578815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080760" y="2258568"/>
            <a:ext cx="5303520" cy="256032"/>
          </a:xfrm>
          <a:prstGeom prst="rect">
            <a:avLst/>
          </a:prstGeom>
          <a:noFill/>
        </p:spPr>
        <p:txBody>
          <a:bodyPr wrap="square" lIns="0" rIns="0" tIns="0" bIns="0">
            <a:spAutoFit/>
          </a:bodyPr>
          <a:lstStyle/>
          <a:p>
            <a:pPr>
              <a:lnSpc>
                <a:spcPts val="1300"/>
              </a:lnSpc>
              <a:spcAft>
                <a:spcPts val="0"/>
              </a:spcAft>
            </a:pPr>
            <a:r>
              <a:rPr sz="1300" b="1" lang="ja-JP">
                <a:solidFill>
                  <a:srgbClr val="087F83"/>
                </a:solidFill>
                <a:latin typeface="Yu Gothic"/>
                <a:ea typeface="Yu Gothic"/>
              </a:rPr>
              <a:t>横断混乱：会社別の全額連結EBITDA影響（億円）</a:t>
            </a:r>
          </a:p>
        </p:txBody>
      </p:sp>
      <p:sp>
        <p:nvSpPr>
          <p:cNvPr id="46" name="TextBox 45"/>
          <p:cNvSpPr txBox="1"/>
          <p:nvPr/>
        </p:nvSpPr>
        <p:spPr>
          <a:xfrm>
            <a:off x="6080760" y="2532888"/>
            <a:ext cx="5303520" cy="201168"/>
          </a:xfrm>
          <a:prstGeom prst="rect">
            <a:avLst/>
          </a:prstGeom>
          <a:noFill/>
        </p:spPr>
        <p:txBody>
          <a:bodyPr wrap="square" lIns="0" rIns="0" tIns="0" bIns="0">
            <a:spAutoFit/>
          </a:bodyPr>
          <a:lstStyle/>
          <a:p>
            <a:pPr>
              <a:lnSpc>
                <a:spcPts val="1100"/>
              </a:lnSpc>
              <a:spcAft>
                <a:spcPts val="0"/>
              </a:spcAft>
            </a:pPr>
            <a:r>
              <a:rPr sz="1100" b="0" lang="ja-JP">
                <a:solidFill>
                  <a:srgbClr val="566A78"/>
                </a:solidFill>
                <a:latin typeface="Yu Gothic"/>
                <a:ea typeface="Yu Gothic"/>
              </a:rPr>
              <a:t>各社の年間EBITDA比は約−1.4〜−1.6%</a:t>
            </a:r>
          </a:p>
        </p:txBody>
      </p:sp>
      <p:sp>
        <p:nvSpPr>
          <p:cNvPr id="47" name="Rectangle 46">
            <a:extLst>
              <a:ext uri="{C183D7F6-B498-43B3-948B-1728B52AA6E4}">
                <adec:decorative xmlns:adec="http://schemas.microsoft.com/office/drawing/2017/decorative" val="1"/>
              </a:ext>
            </a:extLst>
          </p:cNvPr>
          <p:cNvSpPr/>
          <p:nvPr/>
        </p:nvSpPr>
        <p:spPr>
          <a:xfrm>
            <a:off x="6035040" y="3063240"/>
            <a:ext cx="5440680" cy="10972"/>
          </a:xfrm>
          <a:prstGeom prst="rect">
            <a:avLst/>
          </a:prstGeom>
          <a:solidFill>
            <a:srgbClr val="6B7F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a:extLst>
              <a:ext uri="{C183D7F6-B498-43B3-948B-1728B52AA6E4}">
                <adec:decorative xmlns:adec="http://schemas.microsoft.com/office/drawing/2017/decorative" val="1"/>
              </a:ext>
            </a:extLst>
          </p:cNvPr>
          <p:cNvSpPr/>
          <p:nvPr/>
        </p:nvSpPr>
        <p:spPr>
          <a:xfrm>
            <a:off x="6217348" y="3074212"/>
            <a:ext cx="384048" cy="1200150"/>
          </a:xfrm>
          <a:prstGeom prst="roundRect">
            <a:avLst>
              <a:gd name="adj" fmla="val 7142"/>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080188" y="4301794"/>
            <a:ext cx="658368" cy="201168"/>
          </a:xfrm>
          <a:prstGeom prst="rect">
            <a:avLst/>
          </a:prstGeom>
          <a:noFill/>
        </p:spPr>
        <p:txBody>
          <a:bodyPr wrap="square" lIns="0" rIns="0" tIns="0" bIns="0">
            <a:spAutoFit/>
          </a:bodyPr>
          <a:lstStyle/>
          <a:p>
            <a:pPr algn="ctr">
              <a:lnSpc>
                <a:spcPts val="1100"/>
              </a:lnSpc>
              <a:spcAft>
                <a:spcPts val="0"/>
              </a:spcAft>
            </a:pPr>
            <a:r>
              <a:rPr sz="1100" b="1" lang="ja-JP">
                <a:solidFill>
                  <a:srgbClr val="BD4354"/>
                </a:solidFill>
                <a:latin typeface="Yu Gothic"/>
                <a:ea typeface="Yu Gothic"/>
              </a:rPr>
              <a:t>−1.05</a:t>
            </a:r>
          </a:p>
        </p:txBody>
      </p:sp>
      <p:sp>
        <p:nvSpPr>
          <p:cNvPr id="50" name="TextBox 49"/>
          <p:cNvSpPr txBox="1"/>
          <p:nvPr/>
        </p:nvSpPr>
        <p:spPr>
          <a:xfrm>
            <a:off x="6080188" y="4590288"/>
            <a:ext cx="658368"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日本</a:t>
            </a:r>
          </a:p>
        </p:txBody>
      </p:sp>
      <p:sp>
        <p:nvSpPr>
          <p:cNvPr id="51" name="Rounded Rectangle 50">
            <a:extLst>
              <a:ext uri="{C183D7F6-B498-43B3-948B-1728B52AA6E4}">
                <adec:decorative xmlns:adec="http://schemas.microsoft.com/office/drawing/2017/decorative" val="1"/>
              </a:ext>
            </a:extLst>
          </p:cNvPr>
          <p:cNvSpPr/>
          <p:nvPr/>
        </p:nvSpPr>
        <p:spPr>
          <a:xfrm>
            <a:off x="6874573" y="3074212"/>
            <a:ext cx="384048" cy="1211580"/>
          </a:xfrm>
          <a:prstGeom prst="roundRect">
            <a:avLst>
              <a:gd name="adj" fmla="val 7142"/>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737413" y="4313224"/>
            <a:ext cx="658368" cy="201168"/>
          </a:xfrm>
          <a:prstGeom prst="rect">
            <a:avLst/>
          </a:prstGeom>
          <a:noFill/>
        </p:spPr>
        <p:txBody>
          <a:bodyPr wrap="square" lIns="0" rIns="0" tIns="0" bIns="0">
            <a:spAutoFit/>
          </a:bodyPr>
          <a:lstStyle/>
          <a:p>
            <a:pPr algn="ctr">
              <a:lnSpc>
                <a:spcPts val="1100"/>
              </a:lnSpc>
              <a:spcAft>
                <a:spcPts val="0"/>
              </a:spcAft>
            </a:pPr>
            <a:r>
              <a:rPr sz="1100" b="1" lang="ja-JP">
                <a:solidFill>
                  <a:srgbClr val="BD4354"/>
                </a:solidFill>
                <a:latin typeface="Yu Gothic"/>
                <a:ea typeface="Yu Gothic"/>
              </a:rPr>
              <a:t>−1.06</a:t>
            </a:r>
          </a:p>
        </p:txBody>
      </p:sp>
      <p:sp>
        <p:nvSpPr>
          <p:cNvPr id="53" name="TextBox 52"/>
          <p:cNvSpPr txBox="1"/>
          <p:nvPr/>
        </p:nvSpPr>
        <p:spPr>
          <a:xfrm>
            <a:off x="6737413" y="4590288"/>
            <a:ext cx="658368"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米国</a:t>
            </a:r>
          </a:p>
        </p:txBody>
      </p:sp>
      <p:sp>
        <p:nvSpPr>
          <p:cNvPr id="54" name="Rounded Rectangle 53">
            <a:extLst>
              <a:ext uri="{C183D7F6-B498-43B3-948B-1728B52AA6E4}">
                <adec:decorative xmlns:adec="http://schemas.microsoft.com/office/drawing/2017/decorative" val="1"/>
              </a:ext>
            </a:extLst>
          </p:cNvPr>
          <p:cNvSpPr/>
          <p:nvPr/>
        </p:nvSpPr>
        <p:spPr>
          <a:xfrm>
            <a:off x="7531798" y="3074212"/>
            <a:ext cx="384048" cy="1188720"/>
          </a:xfrm>
          <a:prstGeom prst="roundRect">
            <a:avLst>
              <a:gd name="adj" fmla="val 7142"/>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7394638" y="4290364"/>
            <a:ext cx="658368" cy="201168"/>
          </a:xfrm>
          <a:prstGeom prst="rect">
            <a:avLst/>
          </a:prstGeom>
          <a:noFill/>
        </p:spPr>
        <p:txBody>
          <a:bodyPr wrap="square" lIns="0" rIns="0" tIns="0" bIns="0">
            <a:spAutoFit/>
          </a:bodyPr>
          <a:lstStyle/>
          <a:p>
            <a:pPr algn="ctr">
              <a:lnSpc>
                <a:spcPts val="1100"/>
              </a:lnSpc>
              <a:spcAft>
                <a:spcPts val="0"/>
              </a:spcAft>
            </a:pPr>
            <a:r>
              <a:rPr sz="1100" b="1" lang="ja-JP">
                <a:solidFill>
                  <a:srgbClr val="BD4354"/>
                </a:solidFill>
                <a:latin typeface="Yu Gothic"/>
                <a:ea typeface="Yu Gothic"/>
              </a:rPr>
              <a:t>−1.04</a:t>
            </a:r>
          </a:p>
        </p:txBody>
      </p:sp>
      <p:sp>
        <p:nvSpPr>
          <p:cNvPr id="56" name="TextBox 55"/>
          <p:cNvSpPr txBox="1"/>
          <p:nvPr/>
        </p:nvSpPr>
        <p:spPr>
          <a:xfrm>
            <a:off x="7394638" y="4590288"/>
            <a:ext cx="658368"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日本</a:t>
            </a:r>
          </a:p>
        </p:txBody>
      </p:sp>
      <p:sp>
        <p:nvSpPr>
          <p:cNvPr id="57" name="Rounded Rectangle 56">
            <a:extLst>
              <a:ext uri="{C183D7F6-B498-43B3-948B-1728B52AA6E4}">
                <adec:decorative xmlns:adec="http://schemas.microsoft.com/office/drawing/2017/decorative" val="1"/>
              </a:ext>
            </a:extLst>
          </p:cNvPr>
          <p:cNvSpPr/>
          <p:nvPr/>
        </p:nvSpPr>
        <p:spPr>
          <a:xfrm>
            <a:off x="8189023" y="3074212"/>
            <a:ext cx="384048" cy="1154430"/>
          </a:xfrm>
          <a:prstGeom prst="roundRect">
            <a:avLst>
              <a:gd name="adj" fmla="val 7142"/>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8051863" y="4256074"/>
            <a:ext cx="658368" cy="201168"/>
          </a:xfrm>
          <a:prstGeom prst="rect">
            <a:avLst/>
          </a:prstGeom>
          <a:noFill/>
        </p:spPr>
        <p:txBody>
          <a:bodyPr wrap="square" lIns="0" rIns="0" tIns="0" bIns="0">
            <a:spAutoFit/>
          </a:bodyPr>
          <a:lstStyle/>
          <a:p>
            <a:pPr algn="ctr">
              <a:lnSpc>
                <a:spcPts val="1100"/>
              </a:lnSpc>
              <a:spcAft>
                <a:spcPts val="0"/>
              </a:spcAft>
            </a:pPr>
            <a:r>
              <a:rPr sz="1100" b="1" lang="ja-JP">
                <a:solidFill>
                  <a:srgbClr val="BD4354"/>
                </a:solidFill>
                <a:latin typeface="Yu Gothic"/>
                <a:ea typeface="Yu Gothic"/>
              </a:rPr>
              <a:t>−1.01</a:t>
            </a:r>
          </a:p>
        </p:txBody>
      </p:sp>
      <p:sp>
        <p:nvSpPr>
          <p:cNvPr id="59" name="TextBox 58"/>
          <p:cNvSpPr txBox="1"/>
          <p:nvPr/>
        </p:nvSpPr>
        <p:spPr>
          <a:xfrm>
            <a:off x="8051863" y="4590288"/>
            <a:ext cx="658368"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米国</a:t>
            </a:r>
          </a:p>
        </p:txBody>
      </p:sp>
      <p:sp>
        <p:nvSpPr>
          <p:cNvPr id="60" name="Rounded Rectangle 59">
            <a:extLst>
              <a:ext uri="{C183D7F6-B498-43B3-948B-1728B52AA6E4}">
                <adec:decorative xmlns:adec="http://schemas.microsoft.com/office/drawing/2017/decorative" val="1"/>
              </a:ext>
            </a:extLst>
          </p:cNvPr>
          <p:cNvSpPr/>
          <p:nvPr/>
        </p:nvSpPr>
        <p:spPr>
          <a:xfrm>
            <a:off x="8846248" y="3074212"/>
            <a:ext cx="384048" cy="674369"/>
          </a:xfrm>
          <a:prstGeom prst="roundRect">
            <a:avLst>
              <a:gd name="adj" fmla="val 7142"/>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8709088" y="3776014"/>
            <a:ext cx="658368" cy="201168"/>
          </a:xfrm>
          <a:prstGeom prst="rect">
            <a:avLst/>
          </a:prstGeom>
          <a:noFill/>
        </p:spPr>
        <p:txBody>
          <a:bodyPr wrap="square" lIns="0" rIns="0" tIns="0" bIns="0">
            <a:spAutoFit/>
          </a:bodyPr>
          <a:lstStyle/>
          <a:p>
            <a:pPr algn="ctr">
              <a:lnSpc>
                <a:spcPts val="1100"/>
              </a:lnSpc>
              <a:spcAft>
                <a:spcPts val="0"/>
              </a:spcAft>
            </a:pPr>
            <a:r>
              <a:rPr sz="1100" b="1" lang="ja-JP">
                <a:solidFill>
                  <a:srgbClr val="BD4354"/>
                </a:solidFill>
                <a:latin typeface="Yu Gothic"/>
                <a:ea typeface="Yu Gothic"/>
              </a:rPr>
              <a:t>−0.59</a:t>
            </a:r>
          </a:p>
        </p:txBody>
      </p:sp>
      <p:sp>
        <p:nvSpPr>
          <p:cNvPr id="62" name="TextBox 61"/>
          <p:cNvSpPr txBox="1"/>
          <p:nvPr/>
        </p:nvSpPr>
        <p:spPr>
          <a:xfrm>
            <a:off x="8709088" y="4590288"/>
            <a:ext cx="658368"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日本</a:t>
            </a:r>
          </a:p>
        </p:txBody>
      </p:sp>
      <p:sp>
        <p:nvSpPr>
          <p:cNvPr id="63" name="Rounded Rectangle 62">
            <a:extLst>
              <a:ext uri="{C183D7F6-B498-43B3-948B-1728B52AA6E4}">
                <adec:decorative xmlns:adec="http://schemas.microsoft.com/office/drawing/2017/decorative" val="1"/>
              </a:ext>
            </a:extLst>
          </p:cNvPr>
          <p:cNvSpPr/>
          <p:nvPr/>
        </p:nvSpPr>
        <p:spPr>
          <a:xfrm>
            <a:off x="9503473" y="3074212"/>
            <a:ext cx="384048" cy="811530"/>
          </a:xfrm>
          <a:prstGeom prst="roundRect">
            <a:avLst>
              <a:gd name="adj" fmla="val 7142"/>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9366313" y="3913174"/>
            <a:ext cx="658368" cy="201168"/>
          </a:xfrm>
          <a:prstGeom prst="rect">
            <a:avLst/>
          </a:prstGeom>
          <a:noFill/>
        </p:spPr>
        <p:txBody>
          <a:bodyPr wrap="square" lIns="0" rIns="0" tIns="0" bIns="0">
            <a:spAutoFit/>
          </a:bodyPr>
          <a:lstStyle/>
          <a:p>
            <a:pPr algn="ctr">
              <a:lnSpc>
                <a:spcPts val="1100"/>
              </a:lnSpc>
              <a:spcAft>
                <a:spcPts val="0"/>
              </a:spcAft>
            </a:pPr>
            <a:r>
              <a:rPr sz="1100" b="1" lang="ja-JP">
                <a:solidFill>
                  <a:srgbClr val="BD4354"/>
                </a:solidFill>
                <a:latin typeface="Yu Gothic"/>
                <a:ea typeface="Yu Gothic"/>
              </a:rPr>
              <a:t>−0.71</a:t>
            </a:r>
          </a:p>
        </p:txBody>
      </p:sp>
      <p:sp>
        <p:nvSpPr>
          <p:cNvPr id="65" name="TextBox 64"/>
          <p:cNvSpPr txBox="1"/>
          <p:nvPr/>
        </p:nvSpPr>
        <p:spPr>
          <a:xfrm>
            <a:off x="9366313" y="4590288"/>
            <a:ext cx="658368"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米国</a:t>
            </a:r>
          </a:p>
        </p:txBody>
      </p:sp>
      <p:sp>
        <p:nvSpPr>
          <p:cNvPr id="66" name="Rounded Rectangle 65">
            <a:extLst>
              <a:ext uri="{C183D7F6-B498-43B3-948B-1728B52AA6E4}">
                <adec:decorative xmlns:adec="http://schemas.microsoft.com/office/drawing/2017/decorative" val="1"/>
              </a:ext>
            </a:extLst>
          </p:cNvPr>
          <p:cNvSpPr/>
          <p:nvPr/>
        </p:nvSpPr>
        <p:spPr>
          <a:xfrm>
            <a:off x="10160698" y="3074212"/>
            <a:ext cx="384048" cy="742950"/>
          </a:xfrm>
          <a:prstGeom prst="roundRect">
            <a:avLst>
              <a:gd name="adj" fmla="val 7142"/>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10023538" y="3844594"/>
            <a:ext cx="658368" cy="201168"/>
          </a:xfrm>
          <a:prstGeom prst="rect">
            <a:avLst/>
          </a:prstGeom>
          <a:noFill/>
        </p:spPr>
        <p:txBody>
          <a:bodyPr wrap="square" lIns="0" rIns="0" tIns="0" bIns="0">
            <a:spAutoFit/>
          </a:bodyPr>
          <a:lstStyle/>
          <a:p>
            <a:pPr algn="ctr">
              <a:lnSpc>
                <a:spcPts val="1100"/>
              </a:lnSpc>
              <a:spcAft>
                <a:spcPts val="0"/>
              </a:spcAft>
            </a:pPr>
            <a:r>
              <a:rPr sz="1100" b="1" lang="ja-JP">
                <a:solidFill>
                  <a:srgbClr val="BD4354"/>
                </a:solidFill>
                <a:latin typeface="Yu Gothic"/>
                <a:ea typeface="Yu Gothic"/>
              </a:rPr>
              <a:t>−0.65</a:t>
            </a:r>
          </a:p>
        </p:txBody>
      </p:sp>
      <p:sp>
        <p:nvSpPr>
          <p:cNvPr id="68" name="TextBox 67"/>
          <p:cNvSpPr txBox="1"/>
          <p:nvPr/>
        </p:nvSpPr>
        <p:spPr>
          <a:xfrm>
            <a:off x="10023538" y="4590288"/>
            <a:ext cx="658368"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日本</a:t>
            </a:r>
          </a:p>
        </p:txBody>
      </p:sp>
      <p:sp>
        <p:nvSpPr>
          <p:cNvPr id="69" name="Rounded Rectangle 68">
            <a:extLst>
              <a:ext uri="{C183D7F6-B498-43B3-948B-1728B52AA6E4}">
                <adec:decorative xmlns:adec="http://schemas.microsoft.com/office/drawing/2017/decorative" val="1"/>
              </a:ext>
            </a:extLst>
          </p:cNvPr>
          <p:cNvSpPr/>
          <p:nvPr/>
        </p:nvSpPr>
        <p:spPr>
          <a:xfrm>
            <a:off x="10817923" y="3074212"/>
            <a:ext cx="384048" cy="788669"/>
          </a:xfrm>
          <a:prstGeom prst="roundRect">
            <a:avLst>
              <a:gd name="adj" fmla="val 7142"/>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10680763" y="3890314"/>
            <a:ext cx="658368" cy="201168"/>
          </a:xfrm>
          <a:prstGeom prst="rect">
            <a:avLst/>
          </a:prstGeom>
          <a:noFill/>
        </p:spPr>
        <p:txBody>
          <a:bodyPr wrap="square" lIns="0" rIns="0" tIns="0" bIns="0">
            <a:spAutoFit/>
          </a:bodyPr>
          <a:lstStyle/>
          <a:p>
            <a:pPr algn="ctr">
              <a:lnSpc>
                <a:spcPts val="1100"/>
              </a:lnSpc>
              <a:spcAft>
                <a:spcPts val="0"/>
              </a:spcAft>
            </a:pPr>
            <a:r>
              <a:rPr sz="1100" b="1" lang="ja-JP">
                <a:solidFill>
                  <a:srgbClr val="BD4354"/>
                </a:solidFill>
                <a:latin typeface="Yu Gothic"/>
                <a:ea typeface="Yu Gothic"/>
              </a:rPr>
              <a:t>−0.69</a:t>
            </a:r>
          </a:p>
        </p:txBody>
      </p:sp>
      <p:sp>
        <p:nvSpPr>
          <p:cNvPr id="71" name="TextBox 70"/>
          <p:cNvSpPr txBox="1"/>
          <p:nvPr/>
        </p:nvSpPr>
        <p:spPr>
          <a:xfrm>
            <a:off x="10680763" y="4590288"/>
            <a:ext cx="658368" cy="201168"/>
          </a:xfrm>
          <a:prstGeom prst="rect">
            <a:avLst/>
          </a:prstGeom>
          <a:noFill/>
        </p:spPr>
        <p:txBody>
          <a:bodyPr wrap="square" lIns="0" rIns="0" tIns="0" bIns="0">
            <a:spAutoFit/>
          </a:bodyPr>
          <a:lstStyle/>
          <a:p>
            <a:pPr algn="ctr">
              <a:lnSpc>
                <a:spcPts val="1050"/>
              </a:lnSpc>
              <a:spcAft>
                <a:spcPts val="0"/>
              </a:spcAft>
            </a:pPr>
            <a:r>
              <a:rPr sz="1050" b="0" lang="ja-JP">
                <a:solidFill>
                  <a:srgbClr val="21374A"/>
                </a:solidFill>
                <a:latin typeface="Yu Gothic"/>
                <a:ea typeface="Yu Gothic"/>
              </a:rPr>
              <a:t>米国</a:t>
            </a:r>
          </a:p>
        </p:txBody>
      </p:sp>
      <p:sp>
        <p:nvSpPr>
          <p:cNvPr id="72" name="Rectangle 71">
            <a:extLst>
              <a:ext uri="{C183D7F6-B498-43B3-948B-1728B52AA6E4}">
                <adec:decorative xmlns:adec="http://schemas.microsoft.com/office/drawing/2017/decorative" val="1"/>
              </a:ext>
            </a:extLst>
          </p:cNvPr>
          <p:cNvSpPr/>
          <p:nvPr/>
        </p:nvSpPr>
        <p:spPr>
          <a:xfrm>
            <a:off x="6153912" y="4846320"/>
            <a:ext cx="1168146" cy="10972"/>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6080760" y="4901184"/>
            <a:ext cx="1314450" cy="219456"/>
          </a:xfrm>
          <a:prstGeom prst="rect">
            <a:avLst/>
          </a:prstGeom>
          <a:noFill/>
        </p:spPr>
        <p:txBody>
          <a:bodyPr wrap="square" lIns="0" rIns="0" tIns="0" bIns="0">
            <a:spAutoFit/>
          </a:bodyPr>
          <a:lstStyle/>
          <a:p>
            <a:pPr algn="ctr">
              <a:lnSpc>
                <a:spcPts val="1200"/>
              </a:lnSpc>
              <a:spcAft>
                <a:spcPts val="0"/>
              </a:spcAft>
            </a:pPr>
            <a:r>
              <a:rPr sz="1200" b="1" lang="ja-JP">
                <a:solidFill>
                  <a:srgbClr val="17334A"/>
                </a:solidFill>
                <a:latin typeface="Yu Gothic"/>
                <a:ea typeface="Yu Gothic"/>
              </a:rPr>
              <a:t>金属</a:t>
            </a:r>
          </a:p>
        </p:txBody>
      </p:sp>
      <p:sp>
        <p:nvSpPr>
          <p:cNvPr id="74" name="TextBox 73"/>
          <p:cNvSpPr txBox="1"/>
          <p:nvPr/>
        </p:nvSpPr>
        <p:spPr>
          <a:xfrm>
            <a:off x="6080760" y="5138928"/>
            <a:ext cx="1314450" cy="219456"/>
          </a:xfrm>
          <a:prstGeom prst="rect">
            <a:avLst/>
          </a:prstGeom>
          <a:noFill/>
        </p:spPr>
        <p:txBody>
          <a:bodyPr wrap="square" lIns="0" rIns="0" tIns="0" bIns="0">
            <a:spAutoFit/>
          </a:bodyPr>
          <a:lstStyle/>
          <a:p>
            <a:pPr algn="ctr">
              <a:lnSpc>
                <a:spcPts val="1200"/>
              </a:lnSpc>
              <a:spcAft>
                <a:spcPts val="0"/>
              </a:spcAft>
            </a:pPr>
            <a:r>
              <a:rPr sz="1200" b="1" lang="ja-JP">
                <a:solidFill>
                  <a:srgbClr val="BD4354"/>
                </a:solidFill>
                <a:latin typeface="Yu Gothic"/>
                <a:ea typeface="Yu Gothic"/>
              </a:rPr>
              <a:t>−2.12</a:t>
            </a:r>
          </a:p>
        </p:txBody>
      </p:sp>
      <p:sp>
        <p:nvSpPr>
          <p:cNvPr id="75" name="Rectangle 74">
            <a:extLst>
              <a:ext uri="{C183D7F6-B498-43B3-948B-1728B52AA6E4}">
                <adec:decorative xmlns:adec="http://schemas.microsoft.com/office/drawing/2017/decorative" val="1"/>
              </a:ext>
            </a:extLst>
          </p:cNvPr>
          <p:cNvSpPr/>
          <p:nvPr/>
        </p:nvSpPr>
        <p:spPr>
          <a:xfrm>
            <a:off x="7468362" y="4846320"/>
            <a:ext cx="1168146" cy="10972"/>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7395210" y="4901184"/>
            <a:ext cx="1314450" cy="219456"/>
          </a:xfrm>
          <a:prstGeom prst="rect">
            <a:avLst/>
          </a:prstGeom>
          <a:noFill/>
        </p:spPr>
        <p:txBody>
          <a:bodyPr wrap="square" lIns="0" rIns="0" tIns="0" bIns="0">
            <a:spAutoFit/>
          </a:bodyPr>
          <a:lstStyle/>
          <a:p>
            <a:pPr algn="ctr">
              <a:lnSpc>
                <a:spcPts val="1200"/>
              </a:lnSpc>
              <a:spcAft>
                <a:spcPts val="0"/>
              </a:spcAft>
            </a:pPr>
            <a:r>
              <a:rPr sz="1200" b="1" lang="ja-JP">
                <a:solidFill>
                  <a:srgbClr val="17334A"/>
                </a:solidFill>
                <a:latin typeface="Yu Gothic"/>
                <a:ea typeface="Yu Gothic"/>
              </a:rPr>
              <a:t>エネルギー</a:t>
            </a:r>
          </a:p>
        </p:txBody>
      </p:sp>
      <p:sp>
        <p:nvSpPr>
          <p:cNvPr id="77" name="TextBox 76"/>
          <p:cNvSpPr txBox="1"/>
          <p:nvPr/>
        </p:nvSpPr>
        <p:spPr>
          <a:xfrm>
            <a:off x="7395210" y="5138928"/>
            <a:ext cx="1314450" cy="219456"/>
          </a:xfrm>
          <a:prstGeom prst="rect">
            <a:avLst/>
          </a:prstGeom>
          <a:noFill/>
        </p:spPr>
        <p:txBody>
          <a:bodyPr wrap="square" lIns="0" rIns="0" tIns="0" bIns="0">
            <a:spAutoFit/>
          </a:bodyPr>
          <a:lstStyle/>
          <a:p>
            <a:pPr algn="ctr">
              <a:lnSpc>
                <a:spcPts val="1200"/>
              </a:lnSpc>
              <a:spcAft>
                <a:spcPts val="0"/>
              </a:spcAft>
            </a:pPr>
            <a:r>
              <a:rPr sz="1200" b="1" lang="ja-JP">
                <a:solidFill>
                  <a:srgbClr val="BD4354"/>
                </a:solidFill>
                <a:latin typeface="Yu Gothic"/>
                <a:ea typeface="Yu Gothic"/>
              </a:rPr>
              <a:t>−2.05</a:t>
            </a:r>
          </a:p>
        </p:txBody>
      </p:sp>
      <p:sp>
        <p:nvSpPr>
          <p:cNvPr id="78" name="Rectangle 77">
            <a:extLst>
              <a:ext uri="{C183D7F6-B498-43B3-948B-1728B52AA6E4}">
                <adec:decorative xmlns:adec="http://schemas.microsoft.com/office/drawing/2017/decorative" val="1"/>
              </a:ext>
            </a:extLst>
          </p:cNvPr>
          <p:cNvSpPr/>
          <p:nvPr/>
        </p:nvSpPr>
        <p:spPr>
          <a:xfrm>
            <a:off x="8782812" y="4846320"/>
            <a:ext cx="1168146" cy="10972"/>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8709660" y="4901184"/>
            <a:ext cx="1314450" cy="219456"/>
          </a:xfrm>
          <a:prstGeom prst="rect">
            <a:avLst/>
          </a:prstGeom>
          <a:noFill/>
        </p:spPr>
        <p:txBody>
          <a:bodyPr wrap="square" lIns="0" rIns="0" tIns="0" bIns="0">
            <a:spAutoFit/>
          </a:bodyPr>
          <a:lstStyle/>
          <a:p>
            <a:pPr algn="ctr">
              <a:lnSpc>
                <a:spcPts val="1200"/>
              </a:lnSpc>
              <a:spcAft>
                <a:spcPts val="0"/>
              </a:spcAft>
            </a:pPr>
            <a:r>
              <a:rPr sz="1200" b="1" lang="ja-JP">
                <a:solidFill>
                  <a:srgbClr val="17334A"/>
                </a:solidFill>
                <a:latin typeface="Yu Gothic"/>
                <a:ea typeface="Yu Gothic"/>
              </a:rPr>
              <a:t>食品</a:t>
            </a:r>
          </a:p>
        </p:txBody>
      </p:sp>
      <p:sp>
        <p:nvSpPr>
          <p:cNvPr id="80" name="TextBox 79"/>
          <p:cNvSpPr txBox="1"/>
          <p:nvPr/>
        </p:nvSpPr>
        <p:spPr>
          <a:xfrm>
            <a:off x="8709660" y="5138928"/>
            <a:ext cx="1314450" cy="219456"/>
          </a:xfrm>
          <a:prstGeom prst="rect">
            <a:avLst/>
          </a:prstGeom>
          <a:noFill/>
        </p:spPr>
        <p:txBody>
          <a:bodyPr wrap="square" lIns="0" rIns="0" tIns="0" bIns="0">
            <a:spAutoFit/>
          </a:bodyPr>
          <a:lstStyle/>
          <a:p>
            <a:pPr algn="ctr">
              <a:lnSpc>
                <a:spcPts val="1200"/>
              </a:lnSpc>
              <a:spcAft>
                <a:spcPts val="0"/>
              </a:spcAft>
            </a:pPr>
            <a:r>
              <a:rPr sz="1200" b="1" lang="ja-JP">
                <a:solidFill>
                  <a:srgbClr val="BD4354"/>
                </a:solidFill>
                <a:latin typeface="Yu Gothic"/>
                <a:ea typeface="Yu Gothic"/>
              </a:rPr>
              <a:t>−1.30</a:t>
            </a:r>
          </a:p>
        </p:txBody>
      </p:sp>
      <p:sp>
        <p:nvSpPr>
          <p:cNvPr id="81" name="Rectangle 80">
            <a:extLst>
              <a:ext uri="{C183D7F6-B498-43B3-948B-1728B52AA6E4}">
                <adec:decorative xmlns:adec="http://schemas.microsoft.com/office/drawing/2017/decorative" val="1"/>
              </a:ext>
            </a:extLst>
          </p:cNvPr>
          <p:cNvSpPr/>
          <p:nvPr/>
        </p:nvSpPr>
        <p:spPr>
          <a:xfrm>
            <a:off x="10097262" y="4846320"/>
            <a:ext cx="1168146" cy="10972"/>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10024110" y="4901184"/>
            <a:ext cx="1314450" cy="219456"/>
          </a:xfrm>
          <a:prstGeom prst="rect">
            <a:avLst/>
          </a:prstGeom>
          <a:noFill/>
        </p:spPr>
        <p:txBody>
          <a:bodyPr wrap="square" lIns="0" rIns="0" tIns="0" bIns="0">
            <a:spAutoFit/>
          </a:bodyPr>
          <a:lstStyle/>
          <a:p>
            <a:pPr algn="ctr">
              <a:lnSpc>
                <a:spcPts val="1200"/>
              </a:lnSpc>
              <a:spcAft>
                <a:spcPts val="0"/>
              </a:spcAft>
            </a:pPr>
            <a:r>
              <a:rPr sz="1200" b="1" lang="ja-JP">
                <a:solidFill>
                  <a:srgbClr val="17334A"/>
                </a:solidFill>
                <a:latin typeface="Yu Gothic"/>
                <a:ea typeface="Yu Gothic"/>
              </a:rPr>
              <a:t>金融</a:t>
            </a:r>
          </a:p>
        </p:txBody>
      </p:sp>
      <p:sp>
        <p:nvSpPr>
          <p:cNvPr id="83" name="TextBox 82"/>
          <p:cNvSpPr txBox="1"/>
          <p:nvPr/>
        </p:nvSpPr>
        <p:spPr>
          <a:xfrm>
            <a:off x="10024110" y="5138928"/>
            <a:ext cx="1314450" cy="219456"/>
          </a:xfrm>
          <a:prstGeom prst="rect">
            <a:avLst/>
          </a:prstGeom>
          <a:noFill/>
        </p:spPr>
        <p:txBody>
          <a:bodyPr wrap="square" lIns="0" rIns="0" tIns="0" bIns="0">
            <a:spAutoFit/>
          </a:bodyPr>
          <a:lstStyle/>
          <a:p>
            <a:pPr algn="ctr">
              <a:lnSpc>
                <a:spcPts val="1200"/>
              </a:lnSpc>
              <a:spcAft>
                <a:spcPts val="0"/>
              </a:spcAft>
            </a:pPr>
            <a:r>
              <a:rPr sz="1200" b="1" lang="ja-JP">
                <a:solidFill>
                  <a:srgbClr val="BD4354"/>
                </a:solidFill>
                <a:latin typeface="Yu Gothic"/>
                <a:ea typeface="Yu Gothic"/>
              </a:rPr>
              <a:t>−1.34</a:t>
            </a:r>
          </a:p>
        </p:txBody>
      </p:sp>
      <p:sp>
        <p:nvSpPr>
          <p:cNvPr id="84" name="TextBox 83"/>
          <p:cNvSpPr txBox="1"/>
          <p:nvPr/>
        </p:nvSpPr>
        <p:spPr>
          <a:xfrm>
            <a:off x="6080760" y="5431536"/>
            <a:ext cx="5440680" cy="219456"/>
          </a:xfrm>
          <a:prstGeom prst="rect">
            <a:avLst/>
          </a:prstGeom>
          <a:noFill/>
        </p:spPr>
        <p:txBody>
          <a:bodyPr wrap="square" lIns="0" rIns="0" tIns="0" bIns="0">
            <a:spAutoFit/>
          </a:bodyPr>
          <a:lstStyle/>
          <a:p>
            <a:pPr>
              <a:lnSpc>
                <a:spcPts val="1100"/>
              </a:lnSpc>
              <a:spcAft>
                <a:spcPts val="0"/>
              </a:spcAft>
            </a:pPr>
            <a:r>
              <a:rPr sz="1100" b="0" lang="ja-JP">
                <a:solidFill>
                  <a:srgbClr val="566A78"/>
                </a:solidFill>
                <a:latin typeface="Yu Gothic"/>
                <a:ea typeface="Yu Gothic"/>
              </a:rPr>
              <a:t>事業ごとの合計（億円）。丸めのため、会社別の和と一致しない場合があります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itle 1"/>
          <p:cNvSpPr>
            <a:spLocks noGrp="1"/>
          </p:cNvSpPr>
          <p:nvPr>
            <p:ph type="title"/>
          </p:nvPr>
        </p:nvSpPr>
        <p:spPr>
          <a:xfrm>
            <a:off x="731520" y="1828800"/>
            <a:ext cx="5486400" cy="1828800"/>
          </a:xfrm>
        </p:spPr>
        <p:txBody>
          <a:bodyPr wrap="square" lIns="0" rIns="0" tIns="0" bIns="0" anchor="t">
            <a:noAutofit/>
          </a:bodyPr>
          <a:lstStyle/>
          <a:p>
            <a:pPr algn="l">
              <a:lnSpc>
                <a:spcPts val="4400"/>
              </a:lnSpc>
              <a:spcAft>
                <a:spcPts val="2800"/>
              </a:spcAft>
            </a:pPr>
            <a:r>
              <a:rPr sz="4400" b="1" lang="ja-JP">
                <a:solidFill>
                  <a:srgbClr val="A9DCD9"/>
                </a:solidFill>
                <a:latin typeface="Yu Gothic"/>
                <a:ea typeface="Yu Gothic"/>
              </a:rPr>
              <a:t>第3章</a:t>
            </a:r>
          </a:p>
          <a:p>
            <a:pPr algn="l">
              <a:lnSpc>
                <a:spcPts val="4000"/>
              </a:lnSpc>
              <a:spcAft>
                <a:spcPts val="0"/>
              </a:spcAft>
            </a:pPr>
            <a:r>
              <a:rPr sz="4000" b="1" lang="ja-JP">
                <a:solidFill>
                  <a:srgbClr val="FFFFFF"/>
                </a:solidFill>
                <a:latin typeface="Yu Gothic"/>
                <a:ea typeface="Yu Gothic"/>
              </a:rPr>
              <a:t>価値と仕組み</a:t>
            </a:r>
          </a:p>
        </p:txBody>
      </p:sp>
      <p:cxnSp>
        <p:nvCxnSpPr>
          <p:cNvPr id="3" name="Connector 2">
            <a:extLst>
              <a:ext uri="{C183D7F6-B498-43B3-948B-1728B52AA6E4}">
                <adec:decorative xmlns:adec="http://schemas.microsoft.com/office/drawing/2017/decorative" val="1"/>
              </a:ext>
            </a:extLst>
          </p:cNvPr>
          <p:cNvCxnSpPr/>
          <p:nvPr/>
        </p:nvCxnSpPr>
        <p:spPr>
          <a:xfrm flipV="1">
            <a:off x="731519" y="5806440"/>
            <a:ext cx="1188721" cy="38404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a:off x="1920240" y="5806440"/>
            <a:ext cx="1371600" cy="438912"/>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flipV="1">
            <a:off x="3291840" y="5641848"/>
            <a:ext cx="1188719" cy="603504"/>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C183D7F6-B498-43B3-948B-1728B52AA6E4}">
                <adec:decorative xmlns:adec="http://schemas.microsoft.com/office/drawing/2017/decorative" val="1"/>
              </a:ext>
            </a:extLst>
          </p:cNvPr>
          <p:cNvCxnSpPr/>
          <p:nvPr/>
        </p:nvCxnSpPr>
        <p:spPr>
          <a:xfrm>
            <a:off x="4480559" y="5641848"/>
            <a:ext cx="914400" cy="65836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C183D7F6-B498-43B3-948B-1728B52AA6E4}">
                <adec:decorative xmlns:adec="http://schemas.microsoft.com/office/drawing/2017/decorative" val="1"/>
              </a:ext>
            </a:extLst>
          </p:cNvPr>
          <p:cNvCxnSpPr/>
          <p:nvPr/>
        </p:nvCxnSpPr>
        <p:spPr>
          <a:xfrm flipV="1">
            <a:off x="1920240" y="5394960"/>
            <a:ext cx="914400" cy="411480"/>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8" name="Connector 7">
            <a:extLst>
              <a:ext uri="{C183D7F6-B498-43B3-948B-1728B52AA6E4}">
                <adec:decorative xmlns:adec="http://schemas.microsoft.com/office/drawing/2017/decorative" val="1"/>
              </a:ext>
            </a:extLst>
          </p:cNvPr>
          <p:cNvCxnSpPr/>
          <p:nvPr/>
        </p:nvCxnSpPr>
        <p:spPr>
          <a:xfrm>
            <a:off x="2834640" y="5394960"/>
            <a:ext cx="1645919" cy="24688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C183D7F6-B498-43B3-948B-1728B52AA6E4}">
                <adec:decorative xmlns:adec="http://schemas.microsoft.com/office/drawing/2017/decorative" val="1"/>
              </a:ext>
            </a:extLst>
          </p:cNvPr>
          <p:cNvCxnSpPr/>
          <p:nvPr/>
        </p:nvCxnSpPr>
        <p:spPr>
          <a:xfrm>
            <a:off x="3291840" y="6245352"/>
            <a:ext cx="548640" cy="10972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10" name="Connector 9">
            <a:extLst>
              <a:ext uri="{C183D7F6-B498-43B3-948B-1728B52AA6E4}">
                <adec:decorative xmlns:adec="http://schemas.microsoft.com/office/drawing/2017/decorative" val="1"/>
              </a:ext>
            </a:extLst>
          </p:cNvPr>
          <p:cNvCxnSpPr/>
          <p:nvPr/>
        </p:nvCxnSpPr>
        <p:spPr>
          <a:xfrm flipV="1">
            <a:off x="3840480" y="6300216"/>
            <a:ext cx="1554479" cy="54864"/>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sp>
        <p:nvSpPr>
          <p:cNvPr id="11" name="Oval 10">
            <a:extLst>
              <a:ext uri="{C183D7F6-B498-43B3-948B-1728B52AA6E4}">
                <adec:decorative xmlns:adec="http://schemas.microsoft.com/office/drawing/2017/decorative" val="1"/>
              </a:ext>
            </a:extLst>
          </p:cNvPr>
          <p:cNvSpPr/>
          <p:nvPr/>
        </p:nvSpPr>
        <p:spPr>
          <a:xfrm>
            <a:off x="576071" y="6035040"/>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a:extLst>
              <a:ext uri="{C183D7F6-B498-43B3-948B-1728B52AA6E4}">
                <adec:decorative xmlns:adec="http://schemas.microsoft.com/office/drawing/2017/decorative" val="1"/>
              </a:ext>
            </a:extLst>
          </p:cNvPr>
          <p:cNvSpPr/>
          <p:nvPr/>
        </p:nvSpPr>
        <p:spPr>
          <a:xfrm>
            <a:off x="1737360" y="5623560"/>
            <a:ext cx="365760" cy="365760"/>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a:extLst>
              <a:ext uri="{C183D7F6-B498-43B3-948B-1728B52AA6E4}">
                <adec:decorative xmlns:adec="http://schemas.microsoft.com/office/drawing/2017/decorative" val="1"/>
              </a:ext>
            </a:extLst>
          </p:cNvPr>
          <p:cNvSpPr/>
          <p:nvPr/>
        </p:nvSpPr>
        <p:spPr>
          <a:xfrm>
            <a:off x="3081528" y="6035040"/>
            <a:ext cx="420624" cy="420624"/>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a:extLst>
              <a:ext uri="{C183D7F6-B498-43B3-948B-1728B52AA6E4}">
                <adec:decorative xmlns:adec="http://schemas.microsoft.com/office/drawing/2017/decorative" val="1"/>
              </a:ext>
            </a:extLst>
          </p:cNvPr>
          <p:cNvSpPr/>
          <p:nvPr/>
        </p:nvSpPr>
        <p:spPr>
          <a:xfrm>
            <a:off x="4325112" y="5486400"/>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a:extLst>
              <a:ext uri="{C183D7F6-B498-43B3-948B-1728B52AA6E4}">
                <adec:decorative xmlns:adec="http://schemas.microsoft.com/office/drawing/2017/decorative" val="1"/>
              </a:ext>
            </a:extLst>
          </p:cNvPr>
          <p:cNvSpPr/>
          <p:nvPr/>
        </p:nvSpPr>
        <p:spPr>
          <a:xfrm>
            <a:off x="5212079" y="6117336"/>
            <a:ext cx="365760" cy="365760"/>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a:extLst>
              <a:ext uri="{C183D7F6-B498-43B3-948B-1728B52AA6E4}">
                <adec:decorative xmlns:adec="http://schemas.microsoft.com/office/drawing/2017/decorative" val="1"/>
              </a:ext>
            </a:extLst>
          </p:cNvPr>
          <p:cNvSpPr/>
          <p:nvPr/>
        </p:nvSpPr>
        <p:spPr>
          <a:xfrm>
            <a:off x="2624328" y="5184648"/>
            <a:ext cx="420624" cy="420624"/>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a:extLst>
              <a:ext uri="{C183D7F6-B498-43B3-948B-1728B52AA6E4}">
                <adec:decorative xmlns:adec="http://schemas.microsoft.com/office/drawing/2017/decorative" val="1"/>
              </a:ext>
            </a:extLst>
          </p:cNvPr>
          <p:cNvSpPr/>
          <p:nvPr/>
        </p:nvSpPr>
        <p:spPr>
          <a:xfrm>
            <a:off x="3685032" y="6199632"/>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a:extLst>
              <a:ext uri="{C183D7F6-B498-43B3-948B-1728B52AA6E4}">
                <adec:decorative xmlns:adec="http://schemas.microsoft.com/office/drawing/2017/decorative" val="1"/>
              </a:ext>
            </a:extLst>
          </p:cNvPr>
          <p:cNvCxnSpPr/>
          <p:nvPr/>
        </p:nvCxnSpPr>
        <p:spPr>
          <a:xfrm>
            <a:off x="805129" y="776325"/>
            <a:ext cx="304952" cy="94641"/>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19" name="Connector 18">
            <a:extLst>
              <a:ext uri="{C183D7F6-B498-43B3-948B-1728B52AA6E4}">
                <adec:decorative xmlns:adec="http://schemas.microsoft.com/office/drawing/2017/decorative" val="1"/>
              </a:ext>
            </a:extLst>
          </p:cNvPr>
          <p:cNvCxnSpPr/>
          <p:nvPr/>
        </p:nvCxnSpPr>
        <p:spPr>
          <a:xfrm flipH="1">
            <a:off x="910285" y="870966"/>
            <a:ext cx="199796" cy="241858"/>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20" name="Connector 19">
            <a:extLst>
              <a:ext uri="{C183D7F6-B498-43B3-948B-1728B52AA6E4}">
                <adec:decorative xmlns:adec="http://schemas.microsoft.com/office/drawing/2017/decorative" val="1"/>
              </a:ext>
            </a:extLst>
          </p:cNvPr>
          <p:cNvCxnSpPr/>
          <p:nvPr/>
        </p:nvCxnSpPr>
        <p:spPr>
          <a:xfrm>
            <a:off x="805129" y="776325"/>
            <a:ext cx="105156" cy="336499"/>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sp>
        <p:nvSpPr>
          <p:cNvPr id="21" name="Oval 20">
            <a:extLst>
              <a:ext uri="{C183D7F6-B498-43B3-948B-1728B52AA6E4}">
                <adec:decorative xmlns:adec="http://schemas.microsoft.com/office/drawing/2017/decorative" val="1"/>
              </a:ext>
            </a:extLst>
          </p:cNvPr>
          <p:cNvSpPr/>
          <p:nvPr/>
        </p:nvSpPr>
        <p:spPr>
          <a:xfrm>
            <a:off x="736777" y="70797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a:extLst>
              <a:ext uri="{C183D7F6-B498-43B3-948B-1728B52AA6E4}">
                <adec:decorative xmlns:adec="http://schemas.microsoft.com/office/drawing/2017/decorative" val="1"/>
              </a:ext>
            </a:extLst>
          </p:cNvPr>
          <p:cNvSpPr/>
          <p:nvPr/>
        </p:nvSpPr>
        <p:spPr>
          <a:xfrm>
            <a:off x="1041730" y="80261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a:extLst>
              <a:ext uri="{C183D7F6-B498-43B3-948B-1728B52AA6E4}">
                <adec:decorative xmlns:adec="http://schemas.microsoft.com/office/drawing/2017/decorative" val="1"/>
              </a:ext>
            </a:extLst>
          </p:cNvPr>
          <p:cNvSpPr/>
          <p:nvPr/>
        </p:nvSpPr>
        <p:spPr>
          <a:xfrm>
            <a:off x="841933" y="1044473"/>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371600" y="749808"/>
            <a:ext cx="3657600" cy="274320"/>
          </a:xfrm>
          <a:prstGeom prst="rect">
            <a:avLst/>
          </a:prstGeom>
          <a:noFill/>
        </p:spPr>
        <p:txBody>
          <a:bodyPr wrap="square" lIns="0" rIns="0" tIns="0" bIns="0">
            <a:spAutoFit/>
          </a:bodyPr>
          <a:lstStyle/>
          <a:p>
            <a:pPr>
              <a:lnSpc>
                <a:spcPts val="1400"/>
              </a:lnSpc>
              <a:spcAft>
                <a:spcPts val="0"/>
              </a:spcAft>
            </a:pPr>
            <a:r>
              <a:rPr sz="1400" b="1" lang="ja-JP">
                <a:solidFill>
                  <a:srgbClr val="A9DCD9"/>
                </a:solidFill>
                <a:latin typeface="Yu Gothic"/>
                <a:ea typeface="Yu Gothic"/>
              </a:rPr>
              <a:t>章立て</a:t>
            </a:r>
          </a:p>
        </p:txBody>
      </p:sp>
      <p:sp>
        <p:nvSpPr>
          <p:cNvPr id="25" name="TextBox 24"/>
          <p:cNvSpPr txBox="1"/>
          <p:nvPr/>
        </p:nvSpPr>
        <p:spPr>
          <a:xfrm>
            <a:off x="749808" y="4114800"/>
            <a:ext cx="5394960" cy="914400"/>
          </a:xfrm>
          <a:prstGeom prst="rect">
            <a:avLst/>
          </a:prstGeom>
          <a:noFill/>
        </p:spPr>
        <p:txBody>
          <a:bodyPr wrap="square" lIns="0" rIns="0" tIns="0" bIns="0">
            <a:spAutoFit/>
          </a:bodyPr>
          <a:lstStyle/>
          <a:p>
            <a:pPr>
              <a:lnSpc>
                <a:spcPts val="2700"/>
              </a:lnSpc>
              <a:spcAft>
                <a:spcPts val="0"/>
              </a:spcAft>
            </a:pPr>
            <a:r>
              <a:rPr sz="1800" b="0" lang="ja-JP">
                <a:solidFill>
                  <a:srgbClr val="E6EEF2"/>
                </a:solidFill>
                <a:latin typeface="Yu Gothic"/>
                <a:ea typeface="Yu Gothic"/>
              </a:rPr>
              <a:t>従来の手段との違い、既存データの活用、</a:t>
            </a:r>
          </a:p>
          <a:p>
            <a:pPr>
              <a:lnSpc>
                <a:spcPts val="2700"/>
              </a:lnSpc>
              <a:spcAft>
                <a:spcPts val="0"/>
              </a:spcAft>
            </a:pPr>
            <a:r>
              <a:rPr sz="1800" b="0" lang="ja-JP">
                <a:solidFill>
                  <a:srgbClr val="E6EEF2"/>
                </a:solidFill>
                <a:latin typeface="Yu Gothic"/>
                <a:ea typeface="Yu Gothic"/>
              </a:rPr>
              <a:t>権限、拡張の仕組みを示します。</a:t>
            </a:r>
          </a:p>
        </p:txBody>
      </p:sp>
      <p:sp>
        <p:nvSpPr>
          <p:cNvPr id="26" name="Rounded Rectangle 25">
            <a:extLst>
              <a:ext uri="{C183D7F6-B498-43B3-948B-1728B52AA6E4}">
                <adec:decorative xmlns:adec="http://schemas.microsoft.com/office/drawing/2017/decorative" val="1"/>
              </a:ext>
            </a:extLst>
          </p:cNvPr>
          <p:cNvSpPr/>
          <p:nvPr/>
        </p:nvSpPr>
        <p:spPr>
          <a:xfrm>
            <a:off x="6537960" y="685800"/>
            <a:ext cx="5102352" cy="3263900"/>
          </a:xfrm>
          <a:prstGeom prst="roundRect">
            <a:avLst>
              <a:gd name="adj" fmla="val 4482"/>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858000" y="960120"/>
            <a:ext cx="4389120" cy="292608"/>
          </a:xfrm>
          <a:prstGeom prst="rect">
            <a:avLst/>
          </a:prstGeom>
          <a:noFill/>
        </p:spPr>
        <p:txBody>
          <a:bodyPr wrap="square" lIns="0" rIns="0" tIns="0" bIns="0">
            <a:spAutoFit/>
          </a:bodyPr>
          <a:lstStyle/>
          <a:p>
            <a:pPr>
              <a:lnSpc>
                <a:spcPts val="1600"/>
              </a:lnSpc>
              <a:spcAft>
                <a:spcPts val="0"/>
              </a:spcAft>
            </a:pPr>
            <a:r>
              <a:rPr sz="1600" b="1" lang="ja-JP">
                <a:solidFill>
                  <a:srgbClr val="087F83"/>
                </a:solidFill>
                <a:latin typeface="Yu Gothic"/>
                <a:ea typeface="Yu Gothic"/>
              </a:rPr>
              <a:t>この章のページ（4枚）</a:t>
            </a:r>
          </a:p>
        </p:txBody>
      </p:sp>
      <p:sp>
        <p:nvSpPr>
          <p:cNvPr id="28" name="TextBox 27"/>
          <p:cNvSpPr txBox="1"/>
          <p:nvPr/>
        </p:nvSpPr>
        <p:spPr>
          <a:xfrm>
            <a:off x="6858000" y="155448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p.18</a:t>
            </a:r>
          </a:p>
        </p:txBody>
      </p:sp>
      <p:sp>
        <p:nvSpPr>
          <p:cNvPr id="29" name="TextBox 28"/>
          <p:cNvSpPr txBox="1"/>
          <p:nvPr/>
        </p:nvSpPr>
        <p:spPr>
          <a:xfrm>
            <a:off x="7543800" y="155448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定義とつながりを1か所で管理し、共有できる</a:t>
            </a:r>
          </a:p>
        </p:txBody>
      </p:sp>
      <p:sp>
        <p:nvSpPr>
          <p:cNvPr id="30" name="TextBox 29"/>
          <p:cNvSpPr txBox="1"/>
          <p:nvPr/>
        </p:nvSpPr>
        <p:spPr>
          <a:xfrm>
            <a:off x="6858000" y="196850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p.19</a:t>
            </a:r>
          </a:p>
        </p:txBody>
      </p:sp>
      <p:sp>
        <p:nvSpPr>
          <p:cNvPr id="31" name="TextBox 30"/>
          <p:cNvSpPr txBox="1"/>
          <p:nvPr/>
        </p:nvSpPr>
        <p:spPr>
          <a:xfrm>
            <a:off x="7543800" y="1968500"/>
            <a:ext cx="3977639" cy="48056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各社の原本は残し、分析用の</a:t>
            </a:r>
            <a:br>
              <a:rPr lang="ja-JP" sz="1400"/>
            </a:br>
            <a:r>
              <a:rPr sz="1400" b="0" lang="ja-JP">
                <a:solidFill>
                  <a:srgbClr val="21374A"/>
                </a:solidFill>
                <a:latin typeface="Yu Gothic"/>
                <a:ea typeface="Yu Gothic"/>
              </a:rPr>
              <a:t>表とGraphを作成する</a:t>
            </a:r>
          </a:p>
        </p:txBody>
      </p:sp>
      <p:sp>
        <p:nvSpPr>
          <p:cNvPr id="32" name="TextBox 31"/>
          <p:cNvSpPr txBox="1"/>
          <p:nvPr/>
        </p:nvSpPr>
        <p:spPr>
          <a:xfrm>
            <a:off x="6858000" y="261366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p.20</a:t>
            </a:r>
          </a:p>
        </p:txBody>
      </p:sp>
      <p:sp>
        <p:nvSpPr>
          <p:cNvPr id="33" name="TextBox 32"/>
          <p:cNvSpPr txBox="1"/>
          <p:nvPr/>
        </p:nvSpPr>
        <p:spPr>
          <a:xfrm>
            <a:off x="7543800" y="2613660"/>
            <a:ext cx="3977639" cy="48056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Fabricの権限の仕組みの</a:t>
            </a:r>
            <a:br>
              <a:rPr lang="ja-JP" sz="1400"/>
            </a:br>
            <a:r>
              <a:rPr sz="1400" b="0" lang="ja-JP">
                <a:solidFill>
                  <a:srgbClr val="21374A"/>
                </a:solidFill>
                <a:latin typeface="Yu Gothic"/>
                <a:ea typeface="Yu Gothic"/>
              </a:rPr>
              <a:t>上で動き、版も管理できる</a:t>
            </a:r>
          </a:p>
        </p:txBody>
      </p:sp>
      <p:sp>
        <p:nvSpPr>
          <p:cNvPr id="34" name="TextBox 33"/>
          <p:cNvSpPr txBox="1"/>
          <p:nvPr/>
        </p:nvSpPr>
        <p:spPr>
          <a:xfrm>
            <a:off x="6858000" y="325882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p.21</a:t>
            </a:r>
          </a:p>
        </p:txBody>
      </p:sp>
      <p:sp>
        <p:nvSpPr>
          <p:cNvPr id="35" name="TextBox 34"/>
          <p:cNvSpPr txBox="1"/>
          <p:nvPr/>
        </p:nvSpPr>
        <p:spPr>
          <a:xfrm>
            <a:off x="7543800" y="3258820"/>
            <a:ext cx="3977639" cy="48056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拡張の機能：名前空間、継承、</a:t>
            </a:r>
            <a:br>
              <a:rPr lang="ja-JP" sz="1400"/>
            </a:br>
            <a:r>
              <a:rPr sz="1400" b="0" lang="ja-JP">
                <a:solidFill>
                  <a:srgbClr val="21374A"/>
                </a:solidFill>
                <a:latin typeface="Yu Gothic"/>
                <a:ea typeface="Yu Gothic"/>
              </a:rPr>
              <a:t>共有プロパティ、ルール</a:t>
            </a:r>
          </a:p>
        </p:txBody>
      </p:sp>
      <p:sp>
        <p:nvSpPr>
          <p:cNvPr id="36" name="TextBox 35"/>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A9DCD9"/>
                </a:solidFill>
                <a:latin typeface="Yu Gothic"/>
                <a:ea typeface="Yu Gothic"/>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定義とつながりを1か所で管理し、共有できる</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第3章 価値と仕組み  |  従来の手段との違い</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集計の数字そのものは、SQLやBIなどの従来の手段でも出せます。</a:t>
            </a:r>
          </a:p>
          <a:p>
            <a:pPr>
              <a:lnSpc>
                <a:spcPts val="2160"/>
              </a:lnSpc>
              <a:spcAft>
                <a:spcPts val="0"/>
              </a:spcAft>
            </a:pPr>
            <a:r>
              <a:rPr sz="1600" b="0" lang="ja-JP">
                <a:solidFill>
                  <a:srgbClr val="566A78"/>
                </a:solidFill>
                <a:latin typeface="Yu Gothic"/>
                <a:ea typeface="Yu Gothic"/>
              </a:rPr>
              <a:t>Ontologyの違いは、定義とつながりを1か所にまとめ、他の利用者やツールが参照できる点です。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このデモは4問のため、効果の大きさは測っていません。PoCで、質問と利用者を増やして評価します。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18</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1109167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31520" y="2258568"/>
            <a:ext cx="1508760" cy="237744"/>
          </a:xfrm>
          <a:prstGeom prst="rect">
            <a:avLst/>
          </a:prstGeom>
          <a:noFill/>
        </p:spPr>
        <p:txBody>
          <a:bodyPr wrap="square" lIns="0" rIns="0" tIns="0" bIns="0">
            <a:spAutoFit/>
          </a:bodyPr>
          <a:lstStyle/>
          <a:p>
            <a:pPr>
              <a:lnSpc>
                <a:spcPts val="1200"/>
              </a:lnSpc>
              <a:spcAft>
                <a:spcPts val="0"/>
              </a:spcAft>
            </a:pPr>
            <a:r>
              <a:rPr sz="1200" b="1" lang="ja-JP">
                <a:solidFill>
                  <a:srgbClr val="087F83"/>
                </a:solidFill>
                <a:latin typeface="Yu Gothic"/>
                <a:ea typeface="Yu Gothic"/>
              </a:rPr>
              <a:t>観点</a:t>
            </a:r>
          </a:p>
        </p:txBody>
      </p:sp>
      <p:sp>
        <p:nvSpPr>
          <p:cNvPr id="17" name="TextBox 16"/>
          <p:cNvSpPr txBox="1"/>
          <p:nvPr/>
        </p:nvSpPr>
        <p:spPr>
          <a:xfrm>
            <a:off x="2331720" y="2258568"/>
            <a:ext cx="4114800" cy="237744"/>
          </a:xfrm>
          <a:prstGeom prst="rect">
            <a:avLst/>
          </a:prstGeom>
          <a:noFill/>
        </p:spPr>
        <p:txBody>
          <a:bodyPr wrap="square" lIns="0" rIns="0" tIns="0" bIns="0">
            <a:spAutoFit/>
          </a:bodyPr>
          <a:lstStyle/>
          <a:p>
            <a:pPr>
              <a:lnSpc>
                <a:spcPts val="1200"/>
              </a:lnSpc>
              <a:spcAft>
                <a:spcPts val="0"/>
              </a:spcAft>
            </a:pPr>
            <a:r>
              <a:rPr sz="1200" b="1" lang="ja-JP">
                <a:solidFill>
                  <a:srgbClr val="087F83"/>
                </a:solidFill>
                <a:latin typeface="Yu Gothic"/>
                <a:ea typeface="Yu Gothic"/>
              </a:rPr>
              <a:t>従来の手段（クエリやモデルごとに作る場合）</a:t>
            </a:r>
          </a:p>
        </p:txBody>
      </p:sp>
      <p:sp>
        <p:nvSpPr>
          <p:cNvPr id="18" name="TextBox 17"/>
          <p:cNvSpPr txBox="1"/>
          <p:nvPr/>
        </p:nvSpPr>
        <p:spPr>
          <a:xfrm>
            <a:off x="6583679" y="2258568"/>
            <a:ext cx="4892040" cy="237744"/>
          </a:xfrm>
          <a:prstGeom prst="rect">
            <a:avLst/>
          </a:prstGeom>
          <a:noFill/>
        </p:spPr>
        <p:txBody>
          <a:bodyPr wrap="square" lIns="0" rIns="0" tIns="0" bIns="0">
            <a:spAutoFit/>
          </a:bodyPr>
          <a:lstStyle/>
          <a:p>
            <a:pPr>
              <a:lnSpc>
                <a:spcPts val="1200"/>
              </a:lnSpc>
              <a:spcAft>
                <a:spcPts val="0"/>
              </a:spcAft>
            </a:pPr>
            <a:r>
              <a:rPr sz="1200" b="1" lang="ja-JP">
                <a:solidFill>
                  <a:srgbClr val="087F83"/>
                </a:solidFill>
                <a:latin typeface="Yu Gothic"/>
                <a:ea typeface="Yu Gothic"/>
              </a:rPr>
              <a:t>Ontologyで定義した場合</a:t>
            </a:r>
          </a:p>
        </p:txBody>
      </p:sp>
      <p:sp>
        <p:nvSpPr>
          <p:cNvPr id="19" name="Rounded Rectangle 18">
            <a:extLst>
              <a:ext uri="{C183D7F6-B498-43B3-948B-1728B52AA6E4}">
                <adec:decorative xmlns:adec="http://schemas.microsoft.com/office/drawing/2017/decorative" val="1"/>
              </a:ext>
            </a:extLst>
          </p:cNvPr>
          <p:cNvSpPr/>
          <p:nvPr/>
        </p:nvSpPr>
        <p:spPr>
          <a:xfrm>
            <a:off x="621792" y="2560320"/>
            <a:ext cx="10945368" cy="987552"/>
          </a:xfrm>
          <a:prstGeom prst="roundRect">
            <a:avLst>
              <a:gd name="adj" fmla="val 4629"/>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31520" y="2606040"/>
            <a:ext cx="1463040" cy="914400"/>
          </a:xfrm>
          <a:prstGeom prst="rect">
            <a:avLst/>
          </a:prstGeom>
          <a:noFill/>
        </p:spPr>
        <p:txBody>
          <a:bodyPr wrap="square" lIns="0" rIns="0" tIns="0" bIns="0" anchor="ctr">
            <a:spAutoFit/>
          </a:bodyPr>
          <a:lstStyle/>
          <a:p>
            <a:pPr>
              <a:lnSpc>
                <a:spcPts val="1400"/>
              </a:lnSpc>
              <a:spcAft>
                <a:spcPts val="0"/>
              </a:spcAft>
            </a:pPr>
            <a:r>
              <a:rPr sz="1400" b="1" lang="ja-JP">
                <a:solidFill>
                  <a:srgbClr val="17334A"/>
                </a:solidFill>
                <a:latin typeface="Yu Gothic"/>
                <a:ea typeface="Yu Gothic"/>
              </a:rPr>
              <a:t>言葉の意味</a:t>
            </a:r>
          </a:p>
        </p:txBody>
      </p:sp>
      <p:sp>
        <p:nvSpPr>
          <p:cNvPr id="21" name="TextBox 20"/>
          <p:cNvSpPr txBox="1"/>
          <p:nvPr/>
        </p:nvSpPr>
        <p:spPr>
          <a:xfrm>
            <a:off x="2331720" y="2606040"/>
            <a:ext cx="4023360" cy="914400"/>
          </a:xfrm>
          <a:prstGeom prst="rect">
            <a:avLst/>
          </a:prstGeom>
          <a:noFill/>
        </p:spPr>
        <p:txBody>
          <a:bodyPr wrap="square" lIns="0" rIns="0" tIns="0" bIns="0" anchor="ctr">
            <a:spAutoFit/>
          </a:bodyPr>
          <a:lstStyle/>
          <a:p>
            <a:pPr>
              <a:lnSpc>
                <a:spcPts val="1689"/>
              </a:lnSpc>
              <a:spcAft>
                <a:spcPts val="0"/>
              </a:spcAft>
            </a:pPr>
            <a:r>
              <a:rPr sz="1250" b="0" lang="ja-JP">
                <a:solidFill>
                  <a:srgbClr val="21374A"/>
                </a:solidFill>
                <a:latin typeface="Yu Gothic"/>
                <a:ea typeface="Yu Gothic"/>
              </a:rPr>
              <a:t>意味は、列名、計算式、メジャーなどに</a:t>
            </a:r>
            <a:br>
              <a:rPr lang="ja-JP" sz="1250"/>
            </a:br>
            <a:r>
              <a:rPr sz="1250" b="0" lang="ja-JP">
                <a:solidFill>
                  <a:srgbClr val="21374A"/>
                </a:solidFill>
                <a:latin typeface="Yu Gothic"/>
                <a:ea typeface="Yu Gothic"/>
              </a:rPr>
              <a:t>含まれ、利用者が読み解いて使います。</a:t>
            </a:r>
          </a:p>
        </p:txBody>
      </p:sp>
      <p:sp>
        <p:nvSpPr>
          <p:cNvPr id="22" name="TextBox 21"/>
          <p:cNvSpPr txBox="1"/>
          <p:nvPr/>
        </p:nvSpPr>
        <p:spPr>
          <a:xfrm>
            <a:off x="6583679" y="2606040"/>
            <a:ext cx="4846320" cy="914400"/>
          </a:xfrm>
          <a:prstGeom prst="rect">
            <a:avLst/>
          </a:prstGeom>
          <a:noFill/>
        </p:spPr>
        <p:txBody>
          <a:bodyPr wrap="square" lIns="0" rIns="0" tIns="0" bIns="0" anchor="ctr">
            <a:spAutoFit/>
          </a:bodyPr>
          <a:lstStyle/>
          <a:p>
            <a:pPr>
              <a:lnSpc>
                <a:spcPts val="1620"/>
              </a:lnSpc>
              <a:spcAft>
                <a:spcPts val="300"/>
              </a:spcAft>
            </a:pPr>
            <a:r>
              <a:rPr sz="1250" b="0" lang="ja-JP">
                <a:solidFill>
                  <a:srgbClr val="21374A"/>
                </a:solidFill>
                <a:latin typeface="Yu Gothic"/>
                <a:ea typeface="Yu Gothic"/>
              </a:rPr>
              <a:t>概念、関係、ルールを業務の言葉で定義し、</a:t>
            </a:r>
            <a:br>
              <a:rPr lang="ja-JP" sz="1250"/>
            </a:br>
            <a:r>
              <a:rPr sz="1250" b="0" lang="ja-JP">
                <a:solidFill>
                  <a:srgbClr val="21374A"/>
                </a:solidFill>
                <a:latin typeface="Yu Gothic"/>
                <a:ea typeface="Yu Gothic"/>
              </a:rPr>
              <a:t>人もエージェントも同じ定義を参照できます。</a:t>
            </a:r>
          </a:p>
          <a:p>
            <a:pPr>
              <a:lnSpc>
                <a:spcPts val="1430"/>
              </a:lnSpc>
              <a:spcAft>
                <a:spcPts val="300"/>
              </a:spcAft>
            </a:pPr>
            <a:r>
              <a:rPr sz="1100" b="0" lang="ja-JP">
                <a:solidFill>
                  <a:srgbClr val="566A78"/>
                </a:solidFill>
                <a:latin typeface="Yu Gothic"/>
                <a:ea typeface="Yu Gothic"/>
              </a:rPr>
              <a:t>デモ：全額連結と持分管理の区別は、Data Agentの</a:t>
            </a:r>
            <a:br>
              <a:rPr lang="ja-JP" sz="1100"/>
            </a:br>
            <a:r>
              <a:rPr sz="1100" b="0" lang="ja-JP">
                <a:solidFill>
                  <a:srgbClr val="566A78"/>
                </a:solidFill>
                <a:latin typeface="Yu Gothic"/>
                <a:ea typeface="Yu Gothic"/>
              </a:rPr>
              <a:t>指示文に書いています。ルールへの移行は未実施です。</a:t>
            </a:r>
          </a:p>
        </p:txBody>
      </p:sp>
      <p:sp>
        <p:nvSpPr>
          <p:cNvPr id="23" name="TextBox 22"/>
          <p:cNvSpPr txBox="1"/>
          <p:nvPr/>
        </p:nvSpPr>
        <p:spPr>
          <a:xfrm>
            <a:off x="731520" y="3639312"/>
            <a:ext cx="1463040" cy="914400"/>
          </a:xfrm>
          <a:prstGeom prst="rect">
            <a:avLst/>
          </a:prstGeom>
          <a:noFill/>
        </p:spPr>
        <p:txBody>
          <a:bodyPr wrap="square" lIns="0" rIns="0" tIns="0" bIns="0" anchor="ctr">
            <a:spAutoFit/>
          </a:bodyPr>
          <a:lstStyle/>
          <a:p>
            <a:pPr>
              <a:lnSpc>
                <a:spcPts val="1400"/>
              </a:lnSpc>
              <a:spcAft>
                <a:spcPts val="0"/>
              </a:spcAft>
            </a:pPr>
            <a:r>
              <a:rPr sz="1400" b="1" lang="ja-JP">
                <a:solidFill>
                  <a:srgbClr val="17334A"/>
                </a:solidFill>
                <a:latin typeface="Yu Gothic"/>
                <a:ea typeface="Yu Gothic"/>
              </a:rPr>
              <a:t>つながり</a:t>
            </a:r>
          </a:p>
        </p:txBody>
      </p:sp>
      <p:sp>
        <p:nvSpPr>
          <p:cNvPr id="24" name="TextBox 23"/>
          <p:cNvSpPr txBox="1"/>
          <p:nvPr/>
        </p:nvSpPr>
        <p:spPr>
          <a:xfrm>
            <a:off x="2331720" y="3639312"/>
            <a:ext cx="4023360" cy="914400"/>
          </a:xfrm>
          <a:prstGeom prst="rect">
            <a:avLst/>
          </a:prstGeom>
          <a:noFill/>
        </p:spPr>
        <p:txBody>
          <a:bodyPr wrap="square" lIns="0" rIns="0" tIns="0" bIns="0" anchor="ctr">
            <a:spAutoFit/>
          </a:bodyPr>
          <a:lstStyle/>
          <a:p>
            <a:pPr>
              <a:lnSpc>
                <a:spcPts val="1689"/>
              </a:lnSpc>
              <a:spcAft>
                <a:spcPts val="0"/>
              </a:spcAft>
            </a:pPr>
            <a:r>
              <a:rPr sz="1250" b="0" lang="ja-JP">
                <a:solidFill>
                  <a:srgbClr val="21374A"/>
                </a:solidFill>
                <a:latin typeface="Yu Gothic"/>
                <a:ea typeface="Yu Gothic"/>
              </a:rPr>
              <a:t>結合条件を、クエリやモデルごとに書きます。</a:t>
            </a:r>
            <a:br>
              <a:rPr lang="ja-JP" sz="1250"/>
            </a:br>
            <a:r>
              <a:rPr sz="1250" b="0" lang="ja-JP">
                <a:solidFill>
                  <a:srgbClr val="21374A"/>
                </a:solidFill>
                <a:latin typeface="Yu Gothic"/>
                <a:ea typeface="Yu Gothic"/>
              </a:rPr>
              <a:t>書き方によっては、金額が二重に数えられる</a:t>
            </a:r>
            <a:br>
              <a:rPr lang="ja-JP" sz="1250"/>
            </a:br>
            <a:r>
              <a:rPr sz="1250" b="0" lang="ja-JP">
                <a:solidFill>
                  <a:srgbClr val="21374A"/>
                </a:solidFill>
                <a:latin typeface="Yu Gothic"/>
                <a:ea typeface="Yu Gothic"/>
              </a:rPr>
              <a:t>場合があります（一般的なリスク）。</a:t>
            </a:r>
          </a:p>
        </p:txBody>
      </p:sp>
      <p:sp>
        <p:nvSpPr>
          <p:cNvPr id="25" name="TextBox 24"/>
          <p:cNvSpPr txBox="1"/>
          <p:nvPr/>
        </p:nvSpPr>
        <p:spPr>
          <a:xfrm>
            <a:off x="6583679" y="3639312"/>
            <a:ext cx="4846320" cy="914400"/>
          </a:xfrm>
          <a:prstGeom prst="rect">
            <a:avLst/>
          </a:prstGeom>
          <a:noFill/>
        </p:spPr>
        <p:txBody>
          <a:bodyPr wrap="square" lIns="0" rIns="0" tIns="0" bIns="0" anchor="ctr">
            <a:spAutoFit/>
          </a:bodyPr>
          <a:lstStyle/>
          <a:p>
            <a:pPr>
              <a:lnSpc>
                <a:spcPts val="1620"/>
              </a:lnSpc>
              <a:spcAft>
                <a:spcPts val="300"/>
              </a:spcAft>
            </a:pPr>
            <a:r>
              <a:rPr sz="1250" b="0" lang="ja-JP">
                <a:solidFill>
                  <a:srgbClr val="21374A"/>
                </a:solidFill>
                <a:latin typeface="Yu Gothic"/>
                <a:ea typeface="Yu Gothic"/>
              </a:rPr>
              <a:t>関係に名前を付けて1か所に定義し、</a:t>
            </a:r>
            <a:br>
              <a:rPr lang="ja-JP" sz="1250"/>
            </a:br>
            <a:r>
              <a:rPr sz="1250" b="0" lang="ja-JP">
                <a:solidFill>
                  <a:srgbClr val="21374A"/>
                </a:solidFill>
                <a:latin typeface="Yu Gothic"/>
                <a:ea typeface="Yu Gothic"/>
              </a:rPr>
              <a:t>経路をたどる質問で再利用できます。</a:t>
            </a:r>
          </a:p>
          <a:p>
            <a:pPr>
              <a:lnSpc>
                <a:spcPts val="1430"/>
              </a:lnSpc>
              <a:spcAft>
                <a:spcPts val="300"/>
              </a:spcAft>
            </a:pPr>
            <a:r>
              <a:rPr sz="1100" b="0" lang="ja-JP">
                <a:solidFill>
                  <a:srgbClr val="566A78"/>
                </a:solidFill>
                <a:latin typeface="Yu Gothic"/>
                <a:ea typeface="Yu Gothic"/>
              </a:rPr>
              <a:t>デモ：39種類の関係を定義。質問③④で、</a:t>
            </a:r>
            <a:br>
              <a:rPr lang="ja-JP" sz="1100"/>
            </a:br>
            <a:r>
              <a:rPr sz="1100" b="0" lang="ja-JP">
                <a:solidFill>
                  <a:srgbClr val="566A78"/>
                </a:solidFill>
                <a:latin typeface="Yu Gothic"/>
                <a:ea typeface="Yu Gothic"/>
              </a:rPr>
              <a:t>Data Agentが関係から表のつなぎ方を決めました。</a:t>
            </a:r>
          </a:p>
        </p:txBody>
      </p:sp>
      <p:sp>
        <p:nvSpPr>
          <p:cNvPr id="26" name="Rounded Rectangle 25">
            <a:extLst>
              <a:ext uri="{C183D7F6-B498-43B3-948B-1728B52AA6E4}">
                <adec:decorative xmlns:adec="http://schemas.microsoft.com/office/drawing/2017/decorative" val="1"/>
              </a:ext>
            </a:extLst>
          </p:cNvPr>
          <p:cNvSpPr/>
          <p:nvPr/>
        </p:nvSpPr>
        <p:spPr>
          <a:xfrm>
            <a:off x="621792" y="4626864"/>
            <a:ext cx="10945368" cy="987552"/>
          </a:xfrm>
          <a:prstGeom prst="roundRect">
            <a:avLst>
              <a:gd name="adj" fmla="val 4629"/>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31520" y="4672583"/>
            <a:ext cx="1463040" cy="914400"/>
          </a:xfrm>
          <a:prstGeom prst="rect">
            <a:avLst/>
          </a:prstGeom>
          <a:noFill/>
        </p:spPr>
        <p:txBody>
          <a:bodyPr wrap="square" lIns="0" rIns="0" tIns="0" bIns="0" anchor="ctr">
            <a:spAutoFit/>
          </a:bodyPr>
          <a:lstStyle/>
          <a:p>
            <a:pPr>
              <a:lnSpc>
                <a:spcPts val="1400"/>
              </a:lnSpc>
              <a:spcAft>
                <a:spcPts val="0"/>
              </a:spcAft>
            </a:pPr>
            <a:r>
              <a:rPr sz="1400" b="1" lang="ja-JP">
                <a:solidFill>
                  <a:srgbClr val="17334A"/>
                </a:solidFill>
                <a:latin typeface="Yu Gothic"/>
                <a:ea typeface="Yu Gothic"/>
              </a:rPr>
              <a:t>データ元の種類</a:t>
            </a:r>
          </a:p>
        </p:txBody>
      </p:sp>
      <p:sp>
        <p:nvSpPr>
          <p:cNvPr id="28" name="TextBox 27"/>
          <p:cNvSpPr txBox="1"/>
          <p:nvPr/>
        </p:nvSpPr>
        <p:spPr>
          <a:xfrm>
            <a:off x="2331720" y="4672583"/>
            <a:ext cx="4023360" cy="914400"/>
          </a:xfrm>
          <a:prstGeom prst="rect">
            <a:avLst/>
          </a:prstGeom>
          <a:noFill/>
        </p:spPr>
        <p:txBody>
          <a:bodyPr wrap="square" lIns="0" rIns="0" tIns="0" bIns="0" anchor="ctr">
            <a:spAutoFit/>
          </a:bodyPr>
          <a:lstStyle/>
          <a:p>
            <a:pPr>
              <a:lnSpc>
                <a:spcPts val="1689"/>
              </a:lnSpc>
              <a:spcAft>
                <a:spcPts val="0"/>
              </a:spcAft>
            </a:pPr>
            <a:r>
              <a:rPr sz="1250" b="0" lang="ja-JP">
                <a:solidFill>
                  <a:srgbClr val="21374A"/>
                </a:solidFill>
                <a:latin typeface="Yu Gothic"/>
                <a:ea typeface="Yu Gothic"/>
              </a:rPr>
              <a:t>データ元の種類が違うと、共通の言葉にそろえる</a:t>
            </a:r>
            <a:br>
              <a:rPr lang="ja-JP" sz="1250"/>
            </a:br>
            <a:r>
              <a:rPr sz="1250" b="0" lang="ja-JP">
                <a:solidFill>
                  <a:srgbClr val="21374A"/>
                </a:solidFill>
                <a:latin typeface="Yu Gothic"/>
                <a:ea typeface="Yu Gothic"/>
              </a:rPr>
              <a:t>作業は、データ元ごと、ツールごとになりがちです。</a:t>
            </a:r>
          </a:p>
        </p:txBody>
      </p:sp>
      <p:sp>
        <p:nvSpPr>
          <p:cNvPr id="29" name="TextBox 28"/>
          <p:cNvSpPr txBox="1"/>
          <p:nvPr/>
        </p:nvSpPr>
        <p:spPr>
          <a:xfrm>
            <a:off x="6583679" y="4672583"/>
            <a:ext cx="4846320" cy="914400"/>
          </a:xfrm>
          <a:prstGeom prst="rect">
            <a:avLst/>
          </a:prstGeom>
          <a:noFill/>
        </p:spPr>
        <p:txBody>
          <a:bodyPr wrap="square" lIns="0" rIns="0" tIns="0" bIns="0" anchor="ctr">
            <a:spAutoFit/>
          </a:bodyPr>
          <a:lstStyle/>
          <a:p>
            <a:pPr>
              <a:lnSpc>
                <a:spcPts val="1620"/>
              </a:lnSpc>
              <a:spcAft>
                <a:spcPts val="300"/>
              </a:spcAft>
            </a:pPr>
            <a:r>
              <a:rPr sz="1250" b="0" lang="ja-JP">
                <a:solidFill>
                  <a:srgbClr val="21374A"/>
                </a:solidFill>
                <a:latin typeface="Yu Gothic"/>
                <a:ea typeface="Yu Gothic"/>
              </a:rPr>
              <a:t>種類の違うデータ元（Lakehouse、Eventhouseなど）の</a:t>
            </a:r>
            <a:br>
              <a:rPr lang="ja-JP" sz="1250"/>
            </a:br>
            <a:r>
              <a:rPr sz="1250" b="0" lang="ja-JP">
                <a:solidFill>
                  <a:srgbClr val="21374A"/>
                </a:solidFill>
                <a:latin typeface="Yu Gothic"/>
                <a:ea typeface="Yu Gothic"/>
              </a:rPr>
              <a:t>表を、同じ概念に結び付けられます。</a:t>
            </a:r>
          </a:p>
          <a:p>
            <a:pPr>
              <a:lnSpc>
                <a:spcPts val="1430"/>
              </a:lnSpc>
              <a:spcAft>
                <a:spcPts val="300"/>
              </a:spcAft>
            </a:pPr>
            <a:r>
              <a:rPr sz="1100" b="0" lang="ja-JP">
                <a:solidFill>
                  <a:srgbClr val="566A78"/>
                </a:solidFill>
                <a:latin typeface="Yu Gothic"/>
                <a:ea typeface="Yu Gothic"/>
              </a:rPr>
              <a:t>Learnの記載。デモ：Lakehouseのみ。8社の原本は会社ごとに</a:t>
            </a:r>
            <a:br>
              <a:rPr lang="ja-JP" sz="1100"/>
            </a:br>
            <a:r>
              <a:rPr sz="1100" b="0" lang="ja-JP">
                <a:solidFill>
                  <a:srgbClr val="566A78"/>
                </a:solidFill>
                <a:latin typeface="Yu Gothic"/>
                <a:ea typeface="Yu Gothic"/>
              </a:rPr>
              <a:t>残し、同じ定義で扱いました（全社分析用の表はコピー）。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各社の原本は残し、分析用の表とGraphを作成する</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第3章 価値と仕組み  |  既存データの活用</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ゼロコピーで参照するのは、事業固有の8表だけです。</a:t>
            </a:r>
          </a:p>
          <a:p>
            <a:pPr>
              <a:lnSpc>
                <a:spcPts val="2160"/>
              </a:lnSpc>
              <a:spcAft>
                <a:spcPts val="0"/>
              </a:spcAft>
            </a:pPr>
            <a:r>
              <a:rPr sz="1600" b="0" lang="ja-JP">
                <a:solidFill>
                  <a:srgbClr val="566A78"/>
                </a:solidFill>
                <a:latin typeface="Yu Gothic"/>
                <a:ea typeface="Yu Gothic"/>
              </a:rPr>
              <a:t>全社分析用の12表とGraphは、コピーして作っています。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コピーして作る表とGraphは、原本の変更が自動で反映されるとは限りません。更新のタイミングは、設計で決めます。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19</a:t>
            </a:r>
          </a:p>
        </p:txBody>
      </p:sp>
      <p:sp>
        <p:nvSpPr>
          <p:cNvPr id="15" name="TextBox 14"/>
          <p:cNvSpPr txBox="1"/>
          <p:nvPr/>
        </p:nvSpPr>
        <p:spPr>
          <a:xfrm>
            <a:off x="548640" y="2148840"/>
            <a:ext cx="1097280" cy="731520"/>
          </a:xfrm>
          <a:prstGeom prst="rect">
            <a:avLst/>
          </a:prstGeom>
          <a:noFill/>
        </p:spPr>
        <p:txBody>
          <a:bodyPr wrap="square" lIns="0" rIns="0" tIns="0" bIns="0" anchor="ctr">
            <a:spAutoFit/>
          </a:bodyPr>
          <a:lstStyle/>
          <a:p>
            <a:pPr>
              <a:lnSpc>
                <a:spcPts val="1400"/>
              </a:lnSpc>
              <a:spcAft>
                <a:spcPts val="0"/>
              </a:spcAft>
            </a:pPr>
            <a:r>
              <a:rPr sz="1400" b="1" lang="ja-JP">
                <a:solidFill>
                  <a:srgbClr val="087F83"/>
                </a:solidFill>
                <a:latin typeface="Yu Gothic"/>
                <a:ea typeface="Yu Gothic"/>
              </a:rPr>
              <a:t>使う側</a:t>
            </a:r>
          </a:p>
        </p:txBody>
      </p:sp>
      <p:sp>
        <p:nvSpPr>
          <p:cNvPr id="16" name="TextBox 15"/>
          <p:cNvSpPr txBox="1"/>
          <p:nvPr/>
        </p:nvSpPr>
        <p:spPr>
          <a:xfrm>
            <a:off x="548640" y="3246120"/>
            <a:ext cx="1097280" cy="868680"/>
          </a:xfrm>
          <a:prstGeom prst="rect">
            <a:avLst/>
          </a:prstGeom>
          <a:noFill/>
        </p:spPr>
        <p:txBody>
          <a:bodyPr wrap="square" lIns="0" rIns="0" tIns="0" bIns="0" anchor="ctr">
            <a:spAutoFit/>
          </a:bodyPr>
          <a:lstStyle/>
          <a:p>
            <a:pPr>
              <a:lnSpc>
                <a:spcPts val="1400"/>
              </a:lnSpc>
              <a:spcAft>
                <a:spcPts val="0"/>
              </a:spcAft>
            </a:pPr>
            <a:r>
              <a:rPr sz="1400" b="1" lang="ja-JP">
                <a:solidFill>
                  <a:srgbClr val="087F83"/>
                </a:solidFill>
                <a:latin typeface="Yu Gothic"/>
                <a:ea typeface="Yu Gothic"/>
              </a:rPr>
              <a:t>意味の層</a:t>
            </a:r>
          </a:p>
        </p:txBody>
      </p:sp>
      <p:sp>
        <p:nvSpPr>
          <p:cNvPr id="17" name="TextBox 16"/>
          <p:cNvSpPr txBox="1"/>
          <p:nvPr/>
        </p:nvSpPr>
        <p:spPr>
          <a:xfrm>
            <a:off x="548640" y="4389120"/>
            <a:ext cx="1097280" cy="731520"/>
          </a:xfrm>
          <a:prstGeom prst="rect">
            <a:avLst/>
          </a:prstGeom>
          <a:noFill/>
        </p:spPr>
        <p:txBody>
          <a:bodyPr wrap="square" lIns="0" rIns="0" tIns="0" bIns="0" anchor="ctr">
            <a:spAutoFit/>
          </a:bodyPr>
          <a:lstStyle/>
          <a:p>
            <a:pPr>
              <a:lnSpc>
                <a:spcPts val="1400"/>
              </a:lnSpc>
              <a:spcAft>
                <a:spcPts val="0"/>
              </a:spcAft>
            </a:pPr>
            <a:r>
              <a:rPr sz="1400" b="1" lang="ja-JP">
                <a:solidFill>
                  <a:srgbClr val="087F83"/>
                </a:solidFill>
                <a:latin typeface="Yu Gothic"/>
                <a:ea typeface="Yu Gothic"/>
              </a:rPr>
              <a:t>データ</a:t>
            </a:r>
          </a:p>
        </p:txBody>
      </p:sp>
      <p:sp>
        <p:nvSpPr>
          <p:cNvPr id="18" name="TextBox 17"/>
          <p:cNvSpPr txBox="1"/>
          <p:nvPr/>
        </p:nvSpPr>
        <p:spPr>
          <a:xfrm>
            <a:off x="548640" y="5349240"/>
            <a:ext cx="1097280" cy="365760"/>
          </a:xfrm>
          <a:prstGeom prst="rect">
            <a:avLst/>
          </a:prstGeom>
          <a:noFill/>
        </p:spPr>
        <p:txBody>
          <a:bodyPr wrap="square" lIns="0" rIns="0" tIns="0" bIns="0" anchor="ctr">
            <a:spAutoFit/>
          </a:bodyPr>
          <a:lstStyle/>
          <a:p>
            <a:pPr>
              <a:lnSpc>
                <a:spcPts val="1400"/>
              </a:lnSpc>
              <a:spcAft>
                <a:spcPts val="0"/>
              </a:spcAft>
            </a:pPr>
            <a:r>
              <a:rPr sz="1400" b="1" lang="ja-JP">
                <a:solidFill>
                  <a:srgbClr val="087F83"/>
                </a:solidFill>
                <a:latin typeface="Yu Gothic"/>
                <a:ea typeface="Yu Gothic"/>
              </a:rPr>
              <a:t>原本</a:t>
            </a:r>
          </a:p>
        </p:txBody>
      </p:sp>
      <p:sp>
        <p:nvSpPr>
          <p:cNvPr id="19" name="Rounded Rectangle 18">
            <a:extLst>
              <a:ext uri="{C183D7F6-B498-43B3-948B-1728B52AA6E4}">
                <adec:decorative xmlns:adec="http://schemas.microsoft.com/office/drawing/2017/decorative" val="1"/>
              </a:ext>
            </a:extLst>
          </p:cNvPr>
          <p:cNvSpPr/>
          <p:nvPr/>
        </p:nvSpPr>
        <p:spPr>
          <a:xfrm>
            <a:off x="1783080" y="2148840"/>
            <a:ext cx="1874519" cy="731520"/>
          </a:xfrm>
          <a:prstGeom prst="roundRect">
            <a:avLst>
              <a:gd name="adj" fmla="val 1000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892807" y="2148840"/>
            <a:ext cx="1691640" cy="731520"/>
          </a:xfrm>
          <a:prstGeom prst="rect">
            <a:avLst/>
          </a:prstGeom>
          <a:noFill/>
        </p:spPr>
        <p:txBody>
          <a:bodyPr wrap="square" lIns="0" rIns="0" tIns="0" bIns="0" anchor="ctr">
            <a:spAutoFit/>
          </a:bodyPr>
          <a:lstStyle/>
          <a:p>
            <a:pPr>
              <a:lnSpc>
                <a:spcPts val="1560"/>
              </a:lnSpc>
              <a:spcAft>
                <a:spcPts val="0"/>
              </a:spcAft>
            </a:pPr>
            <a:r>
              <a:rPr sz="1250" b="1" lang="ja-JP">
                <a:solidFill>
                  <a:srgbClr val="17334A"/>
                </a:solidFill>
                <a:latin typeface="Yu Gothic"/>
                <a:ea typeface="Yu Gothic"/>
              </a:rPr>
              <a:t>Data Agent</a:t>
            </a:r>
          </a:p>
          <a:p>
            <a:pPr>
              <a:lnSpc>
                <a:spcPts val="1380"/>
              </a:lnSpc>
              <a:spcAft>
                <a:spcPts val="0"/>
              </a:spcAft>
            </a:pPr>
            <a:r>
              <a:rPr sz="1100" b="0" lang="ja-JP">
                <a:solidFill>
                  <a:srgbClr val="566A78"/>
                </a:solidFill>
                <a:latin typeface="Yu Gothic"/>
                <a:ea typeface="Yu Gothic"/>
              </a:rPr>
              <a:t>日本語の質問</a:t>
            </a:r>
          </a:p>
        </p:txBody>
      </p:sp>
      <p:sp>
        <p:nvSpPr>
          <p:cNvPr id="21" name="Rounded Rectangle 20">
            <a:extLst>
              <a:ext uri="{C183D7F6-B498-43B3-948B-1728B52AA6E4}">
                <adec:decorative xmlns:adec="http://schemas.microsoft.com/office/drawing/2017/decorative" val="1"/>
              </a:ext>
            </a:extLst>
          </p:cNvPr>
          <p:cNvSpPr/>
          <p:nvPr/>
        </p:nvSpPr>
        <p:spPr>
          <a:xfrm>
            <a:off x="3840480" y="2148840"/>
            <a:ext cx="1874519" cy="731520"/>
          </a:xfrm>
          <a:prstGeom prst="roundRect">
            <a:avLst>
              <a:gd name="adj" fmla="val 1000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950208" y="2148840"/>
            <a:ext cx="1691640" cy="731520"/>
          </a:xfrm>
          <a:prstGeom prst="rect">
            <a:avLst/>
          </a:prstGeom>
          <a:noFill/>
        </p:spPr>
        <p:txBody>
          <a:bodyPr wrap="square" lIns="0" rIns="0" tIns="0" bIns="0" anchor="ctr">
            <a:spAutoFit/>
          </a:bodyPr>
          <a:lstStyle/>
          <a:p>
            <a:pPr>
              <a:lnSpc>
                <a:spcPts val="1560"/>
              </a:lnSpc>
              <a:spcAft>
                <a:spcPts val="0"/>
              </a:spcAft>
            </a:pPr>
            <a:r>
              <a:rPr sz="1250" b="1" lang="ja-JP">
                <a:solidFill>
                  <a:srgbClr val="17334A"/>
                </a:solidFill>
                <a:latin typeface="Yu Gothic"/>
                <a:ea typeface="Yu Gothic"/>
              </a:rPr>
              <a:t>他のエージェント</a:t>
            </a:r>
          </a:p>
          <a:p>
            <a:pPr>
              <a:lnSpc>
                <a:spcPts val="1380"/>
              </a:lnSpc>
              <a:spcAft>
                <a:spcPts val="0"/>
              </a:spcAft>
            </a:pPr>
            <a:r>
              <a:rPr sz="1100" b="0" lang="ja-JP">
                <a:solidFill>
                  <a:srgbClr val="566A78"/>
                </a:solidFill>
                <a:latin typeface="Yu Gothic"/>
                <a:ea typeface="Yu Gothic"/>
              </a:rPr>
              <a:t>対応は製品ごと</a:t>
            </a:r>
          </a:p>
        </p:txBody>
      </p:sp>
      <p:sp>
        <p:nvSpPr>
          <p:cNvPr id="23" name="Rounded Rectangle 22">
            <a:extLst>
              <a:ext uri="{C183D7F6-B498-43B3-948B-1728B52AA6E4}">
                <adec:decorative xmlns:adec="http://schemas.microsoft.com/office/drawing/2017/decorative" val="1"/>
              </a:ext>
            </a:extLst>
          </p:cNvPr>
          <p:cNvSpPr/>
          <p:nvPr/>
        </p:nvSpPr>
        <p:spPr>
          <a:xfrm>
            <a:off x="5897880" y="2148840"/>
            <a:ext cx="1874519" cy="731520"/>
          </a:xfrm>
          <a:prstGeom prst="roundRect">
            <a:avLst>
              <a:gd name="adj" fmla="val 1000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007608" y="2148840"/>
            <a:ext cx="1691640" cy="731520"/>
          </a:xfrm>
          <a:prstGeom prst="rect">
            <a:avLst/>
          </a:prstGeom>
          <a:noFill/>
        </p:spPr>
        <p:txBody>
          <a:bodyPr wrap="square" lIns="0" rIns="0" tIns="0" bIns="0" anchor="ctr">
            <a:spAutoFit/>
          </a:bodyPr>
          <a:lstStyle/>
          <a:p>
            <a:pPr>
              <a:lnSpc>
                <a:spcPts val="1560"/>
              </a:lnSpc>
              <a:spcAft>
                <a:spcPts val="0"/>
              </a:spcAft>
            </a:pPr>
            <a:r>
              <a:rPr sz="1250" b="1" lang="ja-JP">
                <a:solidFill>
                  <a:srgbClr val="17334A"/>
                </a:solidFill>
                <a:latin typeface="Yu Gothic"/>
                <a:ea typeface="Yu Gothic"/>
              </a:rPr>
              <a:t>Notebook</a:t>
            </a:r>
          </a:p>
          <a:p>
            <a:pPr>
              <a:lnSpc>
                <a:spcPts val="1380"/>
              </a:lnSpc>
              <a:spcAft>
                <a:spcPts val="0"/>
              </a:spcAft>
            </a:pPr>
            <a:r>
              <a:rPr sz="1100" b="0" lang="ja-JP">
                <a:solidFill>
                  <a:srgbClr val="566A78"/>
                </a:solidFill>
                <a:latin typeface="Yu Gothic"/>
                <a:ea typeface="Yu Gothic"/>
              </a:rPr>
              <a:t>Graphの経路を表示</a:t>
            </a:r>
          </a:p>
        </p:txBody>
      </p:sp>
      <p:sp>
        <p:nvSpPr>
          <p:cNvPr id="25" name="Rounded Rectangle 24">
            <a:extLst>
              <a:ext uri="{C183D7F6-B498-43B3-948B-1728B52AA6E4}">
                <adec:decorative xmlns:adec="http://schemas.microsoft.com/office/drawing/2017/decorative" val="1"/>
              </a:ext>
            </a:extLst>
          </p:cNvPr>
          <p:cNvSpPr/>
          <p:nvPr/>
        </p:nvSpPr>
        <p:spPr>
          <a:xfrm>
            <a:off x="1783080" y="3246120"/>
            <a:ext cx="3429000" cy="868680"/>
          </a:xfrm>
          <a:prstGeom prst="roundRect">
            <a:avLst>
              <a:gd name="adj" fmla="val 8421"/>
            </a:avLst>
          </a:prstGeom>
          <a:solidFill>
            <a:srgbClr val="FFFFFF"/>
          </a:solidFill>
          <a:ln w="25400">
            <a:solidFill>
              <a:srgbClr val="1733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920240" y="3246120"/>
            <a:ext cx="3200400" cy="868680"/>
          </a:xfrm>
          <a:prstGeom prst="rect">
            <a:avLst/>
          </a:prstGeom>
          <a:noFill/>
        </p:spPr>
        <p:txBody>
          <a:bodyPr wrap="square" lIns="0" rIns="0" tIns="0" bIns="0" anchor="ctr">
            <a:spAutoFit/>
          </a:bodyPr>
          <a:lstStyle/>
          <a:p>
            <a:pPr>
              <a:lnSpc>
                <a:spcPts val="1880"/>
              </a:lnSpc>
              <a:spcAft>
                <a:spcPts val="0"/>
              </a:spcAft>
            </a:pPr>
            <a:r>
              <a:rPr sz="1500" b="1" lang="ja-JP">
                <a:solidFill>
                  <a:srgbClr val="17334A"/>
                </a:solidFill>
                <a:latin typeface="Yu Gothic"/>
                <a:ea typeface="Yu Gothic"/>
              </a:rPr>
              <a:t>Ontology</a:t>
            </a:r>
          </a:p>
          <a:p>
            <a:pPr>
              <a:lnSpc>
                <a:spcPts val="1380"/>
              </a:lnSpc>
              <a:spcAft>
                <a:spcPts val="0"/>
              </a:spcAft>
            </a:pPr>
            <a:r>
              <a:rPr sz="1100" b="0" lang="ja-JP">
                <a:solidFill>
                  <a:srgbClr val="21374A"/>
                </a:solidFill>
                <a:latin typeface="Yu Gothic"/>
                <a:ea typeface="Yu Gothic"/>
              </a:rPr>
              <a:t>概念と関係の定義と、データへの結び付け</a:t>
            </a:r>
          </a:p>
          <a:p>
            <a:pPr>
              <a:lnSpc>
                <a:spcPts val="1380"/>
              </a:lnSpc>
              <a:spcAft>
                <a:spcPts val="0"/>
              </a:spcAft>
            </a:pPr>
            <a:r>
              <a:rPr sz="1100" b="0" lang="ja-JP">
                <a:solidFill>
                  <a:srgbClr val="566A78"/>
                </a:solidFill>
                <a:latin typeface="Yu Gothic"/>
                <a:ea typeface="Yu Gothic"/>
              </a:rPr>
              <a:t>データそのものは持たない</a:t>
            </a:r>
          </a:p>
        </p:txBody>
      </p:sp>
      <p:sp>
        <p:nvSpPr>
          <p:cNvPr id="27" name="Rounded Rectangle 26">
            <a:extLst>
              <a:ext uri="{C183D7F6-B498-43B3-948B-1728B52AA6E4}">
                <adec:decorative xmlns:adec="http://schemas.microsoft.com/office/drawing/2017/decorative" val="1"/>
              </a:ext>
            </a:extLst>
          </p:cNvPr>
          <p:cNvSpPr/>
          <p:nvPr/>
        </p:nvSpPr>
        <p:spPr>
          <a:xfrm>
            <a:off x="5577840" y="3246120"/>
            <a:ext cx="2194560" cy="868680"/>
          </a:xfrm>
          <a:prstGeom prst="roundRect">
            <a:avLst>
              <a:gd name="adj" fmla="val 8421"/>
            </a:avLst>
          </a:prstGeom>
          <a:solidFill>
            <a:srgbClr val="ECE6F6"/>
          </a:solidFill>
          <a:ln w="22225">
            <a:solidFill>
              <a:srgbClr val="7352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5715000" y="3246120"/>
            <a:ext cx="1965960" cy="868680"/>
          </a:xfrm>
          <a:prstGeom prst="rect">
            <a:avLst/>
          </a:prstGeom>
          <a:noFill/>
        </p:spPr>
        <p:txBody>
          <a:bodyPr wrap="square" lIns="0" rIns="0" tIns="0" bIns="0" anchor="ctr">
            <a:spAutoFit/>
          </a:bodyPr>
          <a:lstStyle/>
          <a:p>
            <a:pPr>
              <a:lnSpc>
                <a:spcPts val="1689"/>
              </a:lnSpc>
              <a:spcAft>
                <a:spcPts val="0"/>
              </a:spcAft>
            </a:pPr>
            <a:r>
              <a:rPr sz="1350" b="1" lang="ja-JP">
                <a:solidFill>
                  <a:srgbClr val="7352AD"/>
                </a:solidFill>
                <a:latin typeface="Yu Gothic"/>
                <a:ea typeface="Yu Gothic"/>
              </a:rPr>
              <a:t>Graph（任意）</a:t>
            </a:r>
          </a:p>
          <a:p>
            <a:pPr>
              <a:lnSpc>
                <a:spcPts val="1380"/>
              </a:lnSpc>
              <a:spcAft>
                <a:spcPts val="0"/>
              </a:spcAft>
            </a:pPr>
            <a:r>
              <a:rPr sz="1100" b="0" lang="ja-JP">
                <a:solidFill>
                  <a:srgbClr val="21374A"/>
                </a:solidFill>
                <a:latin typeface="Yu Gothic"/>
                <a:ea typeface="Yu Gothic"/>
              </a:rPr>
              <a:t>定義から作成するコピー</a:t>
            </a:r>
          </a:p>
        </p:txBody>
      </p:sp>
      <p:cxnSp>
        <p:nvCxnSpPr>
          <p:cNvPr id="29" name="Connector 28">
            <a:extLst>
              <a:ext uri="{C183D7F6-B498-43B3-948B-1728B52AA6E4}">
                <adec:decorative xmlns:adec="http://schemas.microsoft.com/office/drawing/2017/decorative" val="1"/>
              </a:ext>
            </a:extLst>
          </p:cNvPr>
          <p:cNvCxnSpPr/>
          <p:nvPr/>
        </p:nvCxnSpPr>
        <p:spPr>
          <a:xfrm>
            <a:off x="5230368" y="3685032"/>
            <a:ext cx="329184" cy="0"/>
          </a:xfrm>
          <a:prstGeom prst="line">
            <a:avLst/>
          </a:prstGeom>
          <a:ln w="25400">
            <a:solidFill>
              <a:srgbClr val="735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a:extLst>
              <a:ext uri="{C183D7F6-B498-43B3-948B-1728B52AA6E4}">
                <adec:decorative xmlns:adec="http://schemas.microsoft.com/office/drawing/2017/decorative" val="1"/>
              </a:ext>
            </a:extLst>
          </p:cNvPr>
          <p:cNvSpPr/>
          <p:nvPr/>
        </p:nvSpPr>
        <p:spPr>
          <a:xfrm>
            <a:off x="1783080" y="4389120"/>
            <a:ext cx="2926080" cy="731520"/>
          </a:xfrm>
          <a:prstGeom prst="roundRect">
            <a:avLst>
              <a:gd name="adj" fmla="val 10000"/>
            </a:avLst>
          </a:prstGeom>
          <a:solidFill>
            <a:srgbClr val="ECE6F6"/>
          </a:solidFill>
          <a:ln w="22225">
            <a:solidFill>
              <a:srgbClr val="7352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1892807" y="4389120"/>
            <a:ext cx="2743200" cy="731520"/>
          </a:xfrm>
          <a:prstGeom prst="rect">
            <a:avLst/>
          </a:prstGeom>
          <a:noFill/>
        </p:spPr>
        <p:txBody>
          <a:bodyPr wrap="square" lIns="0" rIns="0" tIns="0" bIns="0" anchor="ctr">
            <a:spAutoFit/>
          </a:bodyPr>
          <a:lstStyle/>
          <a:p>
            <a:pPr>
              <a:lnSpc>
                <a:spcPts val="1560"/>
              </a:lnSpc>
              <a:spcAft>
                <a:spcPts val="0"/>
              </a:spcAft>
            </a:pPr>
            <a:r>
              <a:rPr sz="1250" b="1" lang="ja-JP">
                <a:solidFill>
                  <a:srgbClr val="7352AD"/>
                </a:solidFill>
                <a:latin typeface="Yu Gothic"/>
                <a:ea typeface="Yu Gothic"/>
              </a:rPr>
              <a:t>全社分析用の表（12表）</a:t>
            </a:r>
          </a:p>
          <a:p>
            <a:pPr>
              <a:lnSpc>
                <a:spcPts val="1380"/>
              </a:lnSpc>
              <a:spcAft>
                <a:spcPts val="0"/>
              </a:spcAft>
            </a:pPr>
            <a:r>
              <a:rPr sz="1100" b="0" lang="ja-JP">
                <a:solidFill>
                  <a:srgbClr val="21374A"/>
                </a:solidFill>
                <a:latin typeface="Yu Gothic"/>
                <a:ea typeface="Yu Gothic"/>
              </a:rPr>
              <a:t>8社分を1つにまとめ、コピーして作る</a:t>
            </a:r>
          </a:p>
        </p:txBody>
      </p:sp>
      <p:sp>
        <p:nvSpPr>
          <p:cNvPr id="32" name="Rounded Rectangle 31">
            <a:extLst>
              <a:ext uri="{C183D7F6-B498-43B3-948B-1728B52AA6E4}">
                <adec:decorative xmlns:adec="http://schemas.microsoft.com/office/drawing/2017/decorative" val="1"/>
              </a:ext>
            </a:extLst>
          </p:cNvPr>
          <p:cNvSpPr/>
          <p:nvPr/>
        </p:nvSpPr>
        <p:spPr>
          <a:xfrm>
            <a:off x="4846320" y="4389120"/>
            <a:ext cx="2926080" cy="731520"/>
          </a:xfrm>
          <a:prstGeom prst="roundRect">
            <a:avLst>
              <a:gd name="adj" fmla="val 10000"/>
            </a:avLst>
          </a:prstGeom>
          <a:solidFill>
            <a:srgbClr val="D8EDE9"/>
          </a:solidFill>
          <a:ln w="22225">
            <a:solidFill>
              <a:srgbClr val="087F83"/>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956048" y="4389120"/>
            <a:ext cx="2743200" cy="731520"/>
          </a:xfrm>
          <a:prstGeom prst="rect">
            <a:avLst/>
          </a:prstGeom>
          <a:noFill/>
        </p:spPr>
        <p:txBody>
          <a:bodyPr wrap="square" lIns="0" rIns="0" tIns="0" bIns="0" anchor="ctr">
            <a:spAutoFit/>
          </a:bodyPr>
          <a:lstStyle/>
          <a:p>
            <a:pPr>
              <a:lnSpc>
                <a:spcPts val="1560"/>
              </a:lnSpc>
              <a:spcAft>
                <a:spcPts val="0"/>
              </a:spcAft>
            </a:pPr>
            <a:r>
              <a:rPr sz="1250" b="1" lang="ja-JP">
                <a:solidFill>
                  <a:srgbClr val="087F83"/>
                </a:solidFill>
                <a:latin typeface="Yu Gothic"/>
                <a:ea typeface="Yu Gothic"/>
              </a:rPr>
              <a:t>事業固有の表（8表）</a:t>
            </a:r>
          </a:p>
          <a:p>
            <a:pPr>
              <a:lnSpc>
                <a:spcPts val="1380"/>
              </a:lnSpc>
              <a:spcAft>
                <a:spcPts val="0"/>
              </a:spcAft>
            </a:pPr>
            <a:r>
              <a:rPr sz="1100" b="0" lang="ja-JP">
                <a:solidFill>
                  <a:srgbClr val="21374A"/>
                </a:solidFill>
                <a:latin typeface="Yu Gothic"/>
                <a:ea typeface="Yu Gothic"/>
              </a:rPr>
              <a:t>原本を参照するだけ（ゼロコピー）</a:t>
            </a:r>
          </a:p>
        </p:txBody>
      </p:sp>
      <p:sp>
        <p:nvSpPr>
          <p:cNvPr id="34" name="Rounded Rectangle 33">
            <a:extLst>
              <a:ext uri="{C183D7F6-B498-43B3-948B-1728B52AA6E4}">
                <adec:decorative xmlns:adec="http://schemas.microsoft.com/office/drawing/2017/decorative" val="1"/>
              </a:ext>
            </a:extLst>
          </p:cNvPr>
          <p:cNvSpPr/>
          <p:nvPr/>
        </p:nvSpPr>
        <p:spPr>
          <a:xfrm>
            <a:off x="1783080" y="5349240"/>
            <a:ext cx="5989320" cy="365760"/>
          </a:xfrm>
          <a:prstGeom prst="roundRect">
            <a:avLst>
              <a:gd name="adj" fmla="val 20000"/>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1920240" y="5349240"/>
            <a:ext cx="5715000" cy="365760"/>
          </a:xfrm>
          <a:prstGeom prst="rect">
            <a:avLst/>
          </a:prstGeom>
          <a:noFill/>
        </p:spPr>
        <p:txBody>
          <a:bodyPr wrap="square" lIns="0" rIns="0" tIns="0" bIns="0" anchor="ctr">
            <a:spAutoFit/>
          </a:bodyPr>
          <a:lstStyle/>
          <a:p>
            <a:pPr>
              <a:lnSpc>
                <a:spcPts val="1150"/>
              </a:lnSpc>
              <a:spcAft>
                <a:spcPts val="0"/>
              </a:spcAft>
            </a:pPr>
            <a:r>
              <a:rPr sz="1150" b="1" lang="ja-JP">
                <a:solidFill>
                  <a:srgbClr val="21374A"/>
                </a:solidFill>
                <a:latin typeface="Yu Gothic"/>
                <a:ea typeface="Yu Gothic"/>
              </a:rPr>
              <a:t>子会社の原本：8つのLakehouse（会社ごとに分離。書き換えない）</a:t>
            </a:r>
          </a:p>
        </p:txBody>
      </p:sp>
      <p:cxnSp>
        <p:nvCxnSpPr>
          <p:cNvPr id="36" name="Connector 35">
            <a:extLst>
              <a:ext uri="{C183D7F6-B498-43B3-948B-1728B52AA6E4}">
                <adec:decorative xmlns:adec="http://schemas.microsoft.com/office/drawing/2017/decorative" val="1"/>
              </a:ext>
            </a:extLst>
          </p:cNvPr>
          <p:cNvCxnSpPr/>
          <p:nvPr/>
        </p:nvCxnSpPr>
        <p:spPr>
          <a:xfrm flipV="1">
            <a:off x="2724912" y="2907792"/>
            <a:ext cx="0" cy="320040"/>
          </a:xfrm>
          <a:prstGeom prst="line">
            <a:avLst/>
          </a:prstGeom>
          <a:ln w="25400">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a:extLst>
              <a:ext uri="{C183D7F6-B498-43B3-948B-1728B52AA6E4}">
                <adec:decorative xmlns:adec="http://schemas.microsoft.com/office/drawing/2017/decorative" val="1"/>
              </a:ext>
            </a:extLst>
          </p:cNvPr>
          <p:cNvCxnSpPr/>
          <p:nvPr/>
        </p:nvCxnSpPr>
        <p:spPr>
          <a:xfrm flipV="1">
            <a:off x="4773168" y="2907792"/>
            <a:ext cx="0" cy="320040"/>
          </a:xfrm>
          <a:prstGeom prst="line">
            <a:avLst/>
          </a:prstGeom>
          <a:ln w="25400">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a:extLst>
              <a:ext uri="{C183D7F6-B498-43B3-948B-1728B52AA6E4}">
                <adec:decorative xmlns:adec="http://schemas.microsoft.com/office/drawing/2017/decorative" val="1"/>
              </a:ext>
            </a:extLst>
          </p:cNvPr>
          <p:cNvCxnSpPr/>
          <p:nvPr/>
        </p:nvCxnSpPr>
        <p:spPr>
          <a:xfrm flipV="1">
            <a:off x="6839712" y="2907792"/>
            <a:ext cx="0" cy="320040"/>
          </a:xfrm>
          <a:prstGeom prst="line">
            <a:avLst/>
          </a:prstGeom>
          <a:ln w="25400">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a:extLst>
              <a:ext uri="{C183D7F6-B498-43B3-948B-1728B52AA6E4}">
                <adec:decorative xmlns:adec="http://schemas.microsoft.com/office/drawing/2017/decorative" val="1"/>
              </a:ext>
            </a:extLst>
          </p:cNvPr>
          <p:cNvCxnSpPr/>
          <p:nvPr/>
        </p:nvCxnSpPr>
        <p:spPr>
          <a:xfrm flipV="1">
            <a:off x="3246120" y="4142232"/>
            <a:ext cx="0" cy="228600"/>
          </a:xfrm>
          <a:prstGeom prst="line">
            <a:avLst/>
          </a:prstGeom>
          <a:ln w="25400">
            <a:solidFill>
              <a:srgbClr val="7352A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a:extLst>
              <a:ext uri="{C183D7F6-B498-43B3-948B-1728B52AA6E4}">
                <adec:decorative xmlns:adec="http://schemas.microsoft.com/office/drawing/2017/decorative" val="1"/>
              </a:ext>
            </a:extLst>
          </p:cNvPr>
          <p:cNvCxnSpPr/>
          <p:nvPr/>
        </p:nvCxnSpPr>
        <p:spPr>
          <a:xfrm flipH="1" flipV="1">
            <a:off x="4983480" y="4142232"/>
            <a:ext cx="1325880" cy="228600"/>
          </a:xfrm>
          <a:prstGeom prst="line">
            <a:avLst/>
          </a:prstGeom>
          <a:ln w="25400">
            <a:solidFill>
              <a:srgbClr val="087F83"/>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a:extLst>
              <a:ext uri="{C183D7F6-B498-43B3-948B-1728B52AA6E4}">
                <adec:decorative xmlns:adec="http://schemas.microsoft.com/office/drawing/2017/decorative" val="1"/>
              </a:ext>
            </a:extLst>
          </p:cNvPr>
          <p:cNvCxnSpPr/>
          <p:nvPr/>
        </p:nvCxnSpPr>
        <p:spPr>
          <a:xfrm flipV="1">
            <a:off x="3246120" y="5148072"/>
            <a:ext cx="0" cy="182880"/>
          </a:xfrm>
          <a:prstGeom prst="line">
            <a:avLst/>
          </a:prstGeom>
          <a:ln w="25400">
            <a:solidFill>
              <a:srgbClr val="7352A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a:extLst>
              <a:ext uri="{C183D7F6-B498-43B3-948B-1728B52AA6E4}">
                <adec:decorative xmlns:adec="http://schemas.microsoft.com/office/drawing/2017/decorative" val="1"/>
              </a:ext>
            </a:extLst>
          </p:cNvPr>
          <p:cNvCxnSpPr/>
          <p:nvPr/>
        </p:nvCxnSpPr>
        <p:spPr>
          <a:xfrm flipV="1">
            <a:off x="6309360" y="5148072"/>
            <a:ext cx="0" cy="182880"/>
          </a:xfrm>
          <a:prstGeom prst="line">
            <a:avLst/>
          </a:prstGeom>
          <a:ln w="25400">
            <a:solidFill>
              <a:srgbClr val="087F8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a:extLst>
              <a:ext uri="{C183D7F6-B498-43B3-948B-1728B52AA6E4}">
                <adec:decorative xmlns:adec="http://schemas.microsoft.com/office/drawing/2017/decorative" val="1"/>
              </a:ext>
            </a:extLst>
          </p:cNvPr>
          <p:cNvSpPr/>
          <p:nvPr/>
        </p:nvSpPr>
        <p:spPr>
          <a:xfrm>
            <a:off x="8092440" y="2148840"/>
            <a:ext cx="3547872" cy="1554480"/>
          </a:xfrm>
          <a:prstGeom prst="roundRect">
            <a:avLst>
              <a:gd name="adj" fmla="val 4705"/>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275320" y="2240280"/>
            <a:ext cx="3200400" cy="237744"/>
          </a:xfrm>
          <a:prstGeom prst="rect">
            <a:avLst/>
          </a:prstGeom>
          <a:noFill/>
        </p:spPr>
        <p:txBody>
          <a:bodyPr wrap="square" lIns="0" rIns="0" tIns="0" bIns="0">
            <a:spAutoFit/>
          </a:bodyPr>
          <a:lstStyle/>
          <a:p>
            <a:pPr>
              <a:lnSpc>
                <a:spcPts val="1250"/>
              </a:lnSpc>
              <a:spcAft>
                <a:spcPts val="0"/>
              </a:spcAft>
            </a:pPr>
            <a:r>
              <a:rPr sz="1250" b="1" lang="ja-JP">
                <a:solidFill>
                  <a:srgbClr val="087F83"/>
                </a:solidFill>
                <a:latin typeface="Yu Gothic"/>
                <a:ea typeface="Yu Gothic"/>
              </a:rPr>
              <a:t>結び付けられるデータ（Preview）</a:t>
            </a:r>
          </a:p>
        </p:txBody>
      </p:sp>
      <p:sp>
        <p:nvSpPr>
          <p:cNvPr id="45" name="TextBox 44"/>
          <p:cNvSpPr txBox="1"/>
          <p:nvPr/>
        </p:nvSpPr>
        <p:spPr>
          <a:xfrm>
            <a:off x="8275320" y="2542032"/>
            <a:ext cx="3246120" cy="1097280"/>
          </a:xfrm>
          <a:prstGeom prst="rect">
            <a:avLst/>
          </a:prstGeom>
          <a:noFill/>
        </p:spPr>
        <p:txBody>
          <a:bodyPr wrap="square" lIns="0" rIns="0" tIns="0" bIns="0">
            <a:spAutoFit/>
          </a:bodyPr>
          <a:lstStyle/>
          <a:p>
            <a:pPr>
              <a:lnSpc>
                <a:spcPts val="1610"/>
              </a:lnSpc>
              <a:spcAft>
                <a:spcPts val="0"/>
              </a:spcAft>
            </a:pPr>
            <a:r>
              <a:rPr sz="1150" b="0" lang="ja-JP">
                <a:solidFill>
                  <a:srgbClr val="21374A"/>
                </a:solidFill>
                <a:latin typeface="Yu Gothic"/>
                <a:ea typeface="Yu Gothic"/>
              </a:rPr>
              <a:t>Lakehouse、Warehouse、Eventhouse</a:t>
            </a:r>
          </a:p>
          <a:p>
            <a:pPr>
              <a:lnSpc>
                <a:spcPts val="1610"/>
              </a:lnSpc>
              <a:spcAft>
                <a:spcPts val="0"/>
              </a:spcAft>
            </a:pPr>
            <a:r>
              <a:rPr sz="1150" b="0" lang="ja-JP">
                <a:solidFill>
                  <a:srgbClr val="21374A"/>
                </a:solidFill>
                <a:latin typeface="Yu Gothic"/>
                <a:ea typeface="Yu Gothic"/>
              </a:rPr>
              <a:t>SQLデータベース、ミラーリングDB</a:t>
            </a:r>
          </a:p>
          <a:p>
            <a:pPr>
              <a:lnSpc>
                <a:spcPts val="1610"/>
              </a:lnSpc>
              <a:spcAft>
                <a:spcPts val="0"/>
              </a:spcAft>
            </a:pPr>
            <a:r>
              <a:rPr sz="1150" b="0" lang="ja-JP">
                <a:solidFill>
                  <a:srgbClr val="21374A"/>
                </a:solidFill>
                <a:latin typeface="Yu Gothic"/>
                <a:ea typeface="Yu Gothic"/>
              </a:rPr>
              <a:t>Power BIセマンティックモデル</a:t>
            </a:r>
          </a:p>
          <a:p>
            <a:pPr>
              <a:lnSpc>
                <a:spcPts val="1610"/>
              </a:lnSpc>
              <a:spcAft>
                <a:spcPts val="0"/>
              </a:spcAft>
            </a:pPr>
            <a:r>
              <a:rPr sz="1150" b="0" lang="ja-JP">
                <a:solidFill>
                  <a:srgbClr val="21374A"/>
                </a:solidFill>
                <a:latin typeface="Yu Gothic"/>
                <a:ea typeface="Yu Gothic"/>
              </a:rPr>
              <a:t>OneLakeのショートカット、ビュー</a:t>
            </a:r>
          </a:p>
        </p:txBody>
      </p:sp>
      <p:sp>
        <p:nvSpPr>
          <p:cNvPr id="46" name="Rounded Rectangle 45">
            <a:extLst>
              <a:ext uri="{C183D7F6-B498-43B3-948B-1728B52AA6E4}">
                <adec:decorative xmlns:adec="http://schemas.microsoft.com/office/drawing/2017/decorative" val="1"/>
              </a:ext>
            </a:extLst>
          </p:cNvPr>
          <p:cNvSpPr/>
          <p:nvPr/>
        </p:nvSpPr>
        <p:spPr>
          <a:xfrm>
            <a:off x="8092440" y="3794760"/>
            <a:ext cx="3547872" cy="1024128"/>
          </a:xfrm>
          <a:prstGeom prst="roundRect">
            <a:avLst>
              <a:gd name="adj" fmla="val 7142"/>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a:extLst>
              <a:ext uri="{C183D7F6-B498-43B3-948B-1728B52AA6E4}">
                <adec:decorative xmlns:adec="http://schemas.microsoft.com/office/drawing/2017/decorative" val="1"/>
              </a:ext>
            </a:extLst>
          </p:cNvPr>
          <p:cNvSpPr/>
          <p:nvPr/>
        </p:nvSpPr>
        <p:spPr>
          <a:xfrm>
            <a:off x="8275320" y="3877055"/>
            <a:ext cx="310896" cy="182880"/>
          </a:xfrm>
          <a:prstGeom prst="roundRect">
            <a:avLst>
              <a:gd name="adj" fmla="val 20000"/>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8705088" y="3858768"/>
            <a:ext cx="2834640" cy="219456"/>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原本（そのまま残す）</a:t>
            </a:r>
          </a:p>
        </p:txBody>
      </p:sp>
      <p:sp>
        <p:nvSpPr>
          <p:cNvPr id="49" name="Rounded Rectangle 48">
            <a:extLst>
              <a:ext uri="{C183D7F6-B498-43B3-948B-1728B52AA6E4}">
                <adec:decorative xmlns:adec="http://schemas.microsoft.com/office/drawing/2017/decorative" val="1"/>
              </a:ext>
            </a:extLst>
          </p:cNvPr>
          <p:cNvSpPr/>
          <p:nvPr/>
        </p:nvSpPr>
        <p:spPr>
          <a:xfrm>
            <a:off x="8275320" y="4110227"/>
            <a:ext cx="310896" cy="182880"/>
          </a:xfrm>
          <a:prstGeom prst="roundRect">
            <a:avLst>
              <a:gd name="adj" fmla="val 20000"/>
            </a:avLst>
          </a:prstGeom>
          <a:solidFill>
            <a:srgbClr val="D8EDE9"/>
          </a:solidFill>
          <a:ln w="19050">
            <a:solidFill>
              <a:srgbClr val="087F83"/>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8705088" y="4091939"/>
            <a:ext cx="2834640" cy="219456"/>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ゼロコピー（参照のみ）</a:t>
            </a:r>
          </a:p>
        </p:txBody>
      </p:sp>
      <p:sp>
        <p:nvSpPr>
          <p:cNvPr id="51" name="Rounded Rectangle 50">
            <a:extLst>
              <a:ext uri="{C183D7F6-B498-43B3-948B-1728B52AA6E4}">
                <adec:decorative xmlns:adec="http://schemas.microsoft.com/office/drawing/2017/decorative" val="1"/>
              </a:ext>
            </a:extLst>
          </p:cNvPr>
          <p:cNvSpPr/>
          <p:nvPr/>
        </p:nvSpPr>
        <p:spPr>
          <a:xfrm>
            <a:off x="8275320" y="4343399"/>
            <a:ext cx="310896" cy="182880"/>
          </a:xfrm>
          <a:prstGeom prst="roundRect">
            <a:avLst>
              <a:gd name="adj" fmla="val 20000"/>
            </a:avLst>
          </a:prstGeom>
          <a:solidFill>
            <a:srgbClr val="ECE6F6"/>
          </a:solidFill>
          <a:ln w="19050">
            <a:solidFill>
              <a:srgbClr val="7352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8705088" y="4325112"/>
            <a:ext cx="2834640" cy="219456"/>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コピーして作る</a:t>
            </a:r>
          </a:p>
        </p:txBody>
      </p:sp>
      <p:sp>
        <p:nvSpPr>
          <p:cNvPr id="53" name="Rounded Rectangle 52">
            <a:extLst>
              <a:ext uri="{C183D7F6-B498-43B3-948B-1728B52AA6E4}">
                <adec:decorative xmlns:adec="http://schemas.microsoft.com/office/drawing/2017/decorative" val="1"/>
              </a:ext>
            </a:extLst>
          </p:cNvPr>
          <p:cNvSpPr/>
          <p:nvPr/>
        </p:nvSpPr>
        <p:spPr>
          <a:xfrm>
            <a:off x="8275320" y="4576571"/>
            <a:ext cx="310896" cy="182880"/>
          </a:xfrm>
          <a:prstGeom prst="roundRect">
            <a:avLst>
              <a:gd name="adj" fmla="val 20000"/>
            </a:avLst>
          </a:prstGeom>
          <a:solidFill>
            <a:srgbClr val="FFFFFF"/>
          </a:solidFill>
          <a:ln w="19050">
            <a:solidFill>
              <a:srgbClr val="1733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8705088" y="4558283"/>
            <a:ext cx="2834640" cy="219456"/>
          </a:xfrm>
          <a:prstGeom prst="rect">
            <a:avLst/>
          </a:prstGeom>
          <a:noFill/>
        </p:spPr>
        <p:txBody>
          <a:bodyPr wrap="square" lIns="0" rIns="0" tIns="0" bIns="0" anchor="ctr">
            <a:spAutoFit/>
          </a:bodyPr>
          <a:lstStyle/>
          <a:p>
            <a:pPr>
              <a:lnSpc>
                <a:spcPts val="1100"/>
              </a:lnSpc>
              <a:spcAft>
                <a:spcPts val="0"/>
              </a:spcAft>
            </a:pPr>
            <a:r>
              <a:rPr sz="1100" b="0" lang="ja-JP">
                <a:solidFill>
                  <a:srgbClr val="21374A"/>
                </a:solidFill>
                <a:latin typeface="Yu Gothic"/>
                <a:ea typeface="Yu Gothic"/>
              </a:rPr>
              <a:t>定義と利用側（データなし）</a:t>
            </a:r>
          </a:p>
        </p:txBody>
      </p:sp>
      <p:sp>
        <p:nvSpPr>
          <p:cNvPr id="55" name="Rounded Rectangle 54">
            <a:extLst>
              <a:ext uri="{C183D7F6-B498-43B3-948B-1728B52AA6E4}">
                <adec:decorative xmlns:adec="http://schemas.microsoft.com/office/drawing/2017/decorative" val="1"/>
              </a:ext>
            </a:extLst>
          </p:cNvPr>
          <p:cNvSpPr/>
          <p:nvPr/>
        </p:nvSpPr>
        <p:spPr>
          <a:xfrm>
            <a:off x="8092440" y="4910328"/>
            <a:ext cx="3547872" cy="804672"/>
          </a:xfrm>
          <a:prstGeom prst="roundRect">
            <a:avLst>
              <a:gd name="adj" fmla="val 9090"/>
            </a:avLst>
          </a:prstGeom>
          <a:solidFill>
            <a:srgbClr val="F8E7EA"/>
          </a:solidFill>
          <a:ln w="12700">
            <a:solidFill>
              <a:srgbClr val="BD435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8229600" y="4910328"/>
            <a:ext cx="3291840" cy="804672"/>
          </a:xfrm>
          <a:prstGeom prst="rect">
            <a:avLst/>
          </a:prstGeom>
          <a:noFill/>
        </p:spPr>
        <p:txBody>
          <a:bodyPr wrap="square" lIns="0" rIns="0" tIns="0" bIns="0" anchor="ctr">
            <a:spAutoFit/>
          </a:bodyPr>
          <a:lstStyle/>
          <a:p>
            <a:pPr>
              <a:lnSpc>
                <a:spcPts val="1260"/>
              </a:lnSpc>
              <a:spcAft>
                <a:spcPts val="0"/>
              </a:spcAft>
            </a:pPr>
            <a:r>
              <a:rPr sz="1050" b="0" lang="ja-JP">
                <a:solidFill>
                  <a:srgbClr val="21374A"/>
                </a:solidFill>
                <a:latin typeface="Yu Gothic"/>
                <a:ea typeface="Yu Gothic"/>
              </a:rPr>
              <a:t>Graphの対象は、Lakehouseと</a:t>
            </a:r>
            <a:br>
              <a:rPr lang="ja-JP" sz="1050"/>
            </a:br>
            <a:r>
              <a:rPr sz="1050" b="0" lang="ja-JP">
                <a:solidFill>
                  <a:srgbClr val="21374A"/>
                </a:solidFill>
                <a:latin typeface="Yu Gothic"/>
                <a:ea typeface="Yu Gothic"/>
              </a:rPr>
              <a:t>ミラーリングDBのDeltaテーブルです。</a:t>
            </a:r>
            <a:br>
              <a:rPr lang="ja-JP" sz="1050"/>
            </a:br>
            <a:r>
              <a:rPr sz="1050" b="0" lang="ja-JP">
                <a:solidFill>
                  <a:srgbClr val="21374A"/>
                </a:solidFill>
                <a:latin typeface="Yu Gothic"/>
                <a:ea typeface="Yu Gothic"/>
              </a:rPr>
              <a:t>セマンティックモデルに結んだOntologyは、</a:t>
            </a:r>
            <a:br>
              <a:rPr lang="ja-JP" sz="1050"/>
            </a:br>
            <a:r>
              <a:rPr sz="1050" b="0" lang="ja-JP">
                <a:solidFill>
                  <a:srgbClr val="21374A"/>
                </a:solidFill>
                <a:latin typeface="Yu Gothic"/>
                <a:ea typeface="Yu Gothic"/>
              </a:rPr>
              <a:t>Graphを作れず、Data Agentも動作しない</a:t>
            </a:r>
            <a:br>
              <a:rPr lang="ja-JP" sz="1050"/>
            </a:br>
            <a:r>
              <a:rPr sz="1050" b="0" lang="ja-JP">
                <a:solidFill>
                  <a:srgbClr val="21374A"/>
                </a:solidFill>
                <a:latin typeface="Yu Gothic"/>
                <a:ea typeface="Yu Gothic"/>
              </a:rPr>
              <a:t>既知の問題があります（2026年9月時点）。</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Fabricの権限の仕組みの上で動き、版も管理できる</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第3章 価値と仕組み  |  権限と運用</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経営データを扱うには、誰が何を見られるかを保つことが前提です。</a:t>
            </a:r>
          </a:p>
          <a:p>
            <a:pPr>
              <a:lnSpc>
                <a:spcPts val="2160"/>
              </a:lnSpc>
              <a:spcAft>
                <a:spcPts val="0"/>
              </a:spcAft>
            </a:pPr>
            <a:r>
              <a:rPr sz="1600" b="0" lang="ja-JP">
                <a:solidFill>
                  <a:srgbClr val="566A78"/>
                </a:solidFill>
                <a:latin typeface="Yu Gothic"/>
                <a:ea typeface="Yu Gothic"/>
              </a:rPr>
              <a:t>Ontologyは、Fabricの既存の権限の仕組みの上で動きます。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権限と版管理は、Microsoft Learnの記載で、このデモでは検証していません。PoCで、対象のデータごとに確認します。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20</a:t>
            </a:r>
          </a:p>
        </p:txBody>
      </p:sp>
      <p:sp>
        <p:nvSpPr>
          <p:cNvPr id="15" name="Rounded Rectangle 14">
            <a:extLst>
              <a:ext uri="{C183D7F6-B498-43B3-948B-1728B52AA6E4}">
                <adec:decorative xmlns:adec="http://schemas.microsoft.com/office/drawing/2017/decorative" val="1"/>
              </a:ext>
            </a:extLst>
          </p:cNvPr>
          <p:cNvSpPr/>
          <p:nvPr/>
        </p:nvSpPr>
        <p:spPr>
          <a:xfrm>
            <a:off x="548640" y="2194560"/>
            <a:ext cx="3611880" cy="3429000"/>
          </a:xfrm>
          <a:prstGeom prst="roundRect">
            <a:avLst>
              <a:gd name="adj" fmla="val 2133"/>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a:extLst>
              <a:ext uri="{C183D7F6-B498-43B3-948B-1728B52AA6E4}">
                <adec:decorative xmlns:adec="http://schemas.microsoft.com/office/drawing/2017/decorative" val="1"/>
              </a:ext>
            </a:extLst>
          </p:cNvPr>
          <p:cNvSpPr/>
          <p:nvPr/>
        </p:nvSpPr>
        <p:spPr>
          <a:xfrm>
            <a:off x="548640" y="2194560"/>
            <a:ext cx="3611880" cy="91440"/>
          </a:xfrm>
          <a:prstGeom prst="roundRect">
            <a:avLst>
              <a:gd name="adj" fmla="val 4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a:extLst>
              <a:ext uri="{C183D7F6-B498-43B3-948B-1728B52AA6E4}">
                <adec:decorative xmlns:adec="http://schemas.microsoft.com/office/drawing/2017/decorative" val="1"/>
              </a:ext>
            </a:extLst>
          </p:cNvPr>
          <p:cNvSpPr/>
          <p:nvPr/>
        </p:nvSpPr>
        <p:spPr>
          <a:xfrm>
            <a:off x="713232" y="2450592"/>
            <a:ext cx="493776" cy="493776"/>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13232" y="2450592"/>
            <a:ext cx="493776" cy="493776"/>
          </a:xfrm>
          <a:prstGeom prst="rect">
            <a:avLst/>
          </a:prstGeom>
          <a:noFill/>
        </p:spPr>
        <p:txBody>
          <a:bodyPr wrap="square" lIns="0" rIns="0" tIns="0" bIns="0" anchor="ctr">
            <a:spAutoFit/>
          </a:bodyPr>
          <a:lstStyle/>
          <a:p>
            <a:pPr algn="ctr">
              <a:lnSpc>
                <a:spcPts val="1500"/>
              </a:lnSpc>
              <a:spcAft>
                <a:spcPts val="0"/>
              </a:spcAft>
            </a:pPr>
            <a:r>
              <a:rPr sz="1500" b="1" lang="ja-JP">
                <a:solidFill>
                  <a:srgbClr val="FFFFFF"/>
                </a:solidFill>
                <a:latin typeface="Yu Gothic"/>
                <a:ea typeface="Yu Gothic"/>
              </a:rPr>
              <a:t>1</a:t>
            </a:r>
          </a:p>
        </p:txBody>
      </p:sp>
      <p:sp>
        <p:nvSpPr>
          <p:cNvPr id="19" name="TextBox 18"/>
          <p:cNvSpPr txBox="1"/>
          <p:nvPr/>
        </p:nvSpPr>
        <p:spPr>
          <a:xfrm>
            <a:off x="777240" y="3108960"/>
            <a:ext cx="3154680" cy="365760"/>
          </a:xfrm>
          <a:prstGeom prst="rect">
            <a:avLst/>
          </a:prstGeom>
          <a:noFill/>
        </p:spPr>
        <p:txBody>
          <a:bodyPr wrap="square" lIns="0" rIns="0" tIns="0" bIns="0">
            <a:spAutoFit/>
          </a:bodyPr>
          <a:lstStyle/>
          <a:p>
            <a:pPr>
              <a:lnSpc>
                <a:spcPts val="2280"/>
              </a:lnSpc>
              <a:spcAft>
                <a:spcPts val="0"/>
              </a:spcAft>
            </a:pPr>
            <a:r>
              <a:rPr sz="1900" b="1" lang="ja-JP">
                <a:solidFill>
                  <a:srgbClr val="17334A"/>
                </a:solidFill>
                <a:latin typeface="Yu Gothic"/>
                <a:ea typeface="Yu Gothic"/>
              </a:rPr>
              <a:t>アクセスの制御</a:t>
            </a:r>
          </a:p>
        </p:txBody>
      </p:sp>
      <p:sp>
        <p:nvSpPr>
          <p:cNvPr id="20" name="TextBox 19"/>
          <p:cNvSpPr txBox="1"/>
          <p:nvPr/>
        </p:nvSpPr>
        <p:spPr>
          <a:xfrm>
            <a:off x="777240" y="3611880"/>
            <a:ext cx="3154680" cy="1920240"/>
          </a:xfrm>
          <a:prstGeom prst="rect">
            <a:avLst/>
          </a:prstGeom>
          <a:noFill/>
        </p:spPr>
        <p:txBody>
          <a:bodyPr wrap="square" lIns="0" rIns="0" tIns="0" bIns="0">
            <a:spAutoFit/>
          </a:bodyPr>
          <a:lstStyle/>
          <a:p>
            <a:pPr>
              <a:lnSpc>
                <a:spcPts val="1820"/>
              </a:lnSpc>
              <a:spcAft>
                <a:spcPts val="0"/>
              </a:spcAft>
            </a:pPr>
            <a:r>
              <a:rPr sz="1300" b="0" lang="ja-JP">
                <a:solidFill>
                  <a:srgbClr val="21374A"/>
                </a:solidFill>
                <a:latin typeface="Yu Gothic"/>
                <a:ea typeface="Yu Gothic"/>
              </a:rPr>
              <a:t>Fabricのワークスペースと</a:t>
            </a:r>
            <a:br>
              <a:rPr lang="ja-JP" sz="1300"/>
            </a:br>
            <a:r>
              <a:rPr sz="1300" b="0" lang="ja-JP">
                <a:solidFill>
                  <a:srgbClr val="21374A"/>
                </a:solidFill>
                <a:latin typeface="Yu Gothic"/>
                <a:ea typeface="Yu Gothic"/>
              </a:rPr>
              <a:t>アイテムの権限で、Ontologyに</a:t>
            </a:r>
            <a:br>
              <a:rPr lang="ja-JP" sz="1300"/>
            </a:br>
            <a:r>
              <a:rPr sz="1300" b="0" lang="ja-JP">
                <a:solidFill>
                  <a:srgbClr val="21374A"/>
                </a:solidFill>
                <a:latin typeface="Yu Gothic"/>
                <a:ea typeface="Yu Gothic"/>
              </a:rPr>
              <a:t>アクセスできる人を制御します。</a:t>
            </a:r>
          </a:p>
        </p:txBody>
      </p:sp>
      <p:sp>
        <p:nvSpPr>
          <p:cNvPr id="21" name="Rounded Rectangle 20">
            <a:extLst>
              <a:ext uri="{C183D7F6-B498-43B3-948B-1728B52AA6E4}">
                <adec:decorative xmlns:adec="http://schemas.microsoft.com/office/drawing/2017/decorative" val="1"/>
              </a:ext>
            </a:extLst>
          </p:cNvPr>
          <p:cNvSpPr/>
          <p:nvPr/>
        </p:nvSpPr>
        <p:spPr>
          <a:xfrm>
            <a:off x="4288536" y="2194560"/>
            <a:ext cx="3611880" cy="3429000"/>
          </a:xfrm>
          <a:prstGeom prst="roundRect">
            <a:avLst>
              <a:gd name="adj" fmla="val 2133"/>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a:extLst>
              <a:ext uri="{C183D7F6-B498-43B3-948B-1728B52AA6E4}">
                <adec:decorative xmlns:adec="http://schemas.microsoft.com/office/drawing/2017/decorative" val="1"/>
              </a:ext>
            </a:extLst>
          </p:cNvPr>
          <p:cNvSpPr/>
          <p:nvPr/>
        </p:nvSpPr>
        <p:spPr>
          <a:xfrm>
            <a:off x="4288536" y="2194560"/>
            <a:ext cx="3611880" cy="91440"/>
          </a:xfrm>
          <a:prstGeom prst="roundRect">
            <a:avLst>
              <a:gd name="adj" fmla="val 40000"/>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a:extLst>
              <a:ext uri="{C183D7F6-B498-43B3-948B-1728B52AA6E4}">
                <adec:decorative xmlns:adec="http://schemas.microsoft.com/office/drawing/2017/decorative" val="1"/>
              </a:ext>
            </a:extLst>
          </p:cNvPr>
          <p:cNvSpPr/>
          <p:nvPr/>
        </p:nvSpPr>
        <p:spPr>
          <a:xfrm>
            <a:off x="4453127" y="2450592"/>
            <a:ext cx="493776" cy="493776"/>
          </a:xfrm>
          <a:prstGeom prst="ellipse">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53127" y="2450592"/>
            <a:ext cx="493776" cy="493776"/>
          </a:xfrm>
          <a:prstGeom prst="rect">
            <a:avLst/>
          </a:prstGeom>
          <a:noFill/>
        </p:spPr>
        <p:txBody>
          <a:bodyPr wrap="square" lIns="0" rIns="0" tIns="0" bIns="0" anchor="ctr">
            <a:spAutoFit/>
          </a:bodyPr>
          <a:lstStyle/>
          <a:p>
            <a:pPr algn="ctr">
              <a:lnSpc>
                <a:spcPts val="1500"/>
              </a:lnSpc>
              <a:spcAft>
                <a:spcPts val="0"/>
              </a:spcAft>
            </a:pPr>
            <a:r>
              <a:rPr sz="1500" b="1" lang="ja-JP">
                <a:solidFill>
                  <a:srgbClr val="FFFFFF"/>
                </a:solidFill>
                <a:latin typeface="Yu Gothic"/>
                <a:ea typeface="Yu Gothic"/>
              </a:rPr>
              <a:t>2</a:t>
            </a:r>
          </a:p>
        </p:txBody>
      </p:sp>
      <p:sp>
        <p:nvSpPr>
          <p:cNvPr id="25" name="TextBox 24"/>
          <p:cNvSpPr txBox="1"/>
          <p:nvPr/>
        </p:nvSpPr>
        <p:spPr>
          <a:xfrm>
            <a:off x="4517136" y="3108960"/>
            <a:ext cx="3154680" cy="365760"/>
          </a:xfrm>
          <a:prstGeom prst="rect">
            <a:avLst/>
          </a:prstGeom>
          <a:noFill/>
        </p:spPr>
        <p:txBody>
          <a:bodyPr wrap="square" lIns="0" rIns="0" tIns="0" bIns="0">
            <a:spAutoFit/>
          </a:bodyPr>
          <a:lstStyle/>
          <a:p>
            <a:pPr>
              <a:lnSpc>
                <a:spcPts val="2280"/>
              </a:lnSpc>
              <a:spcAft>
                <a:spcPts val="0"/>
              </a:spcAft>
            </a:pPr>
            <a:r>
              <a:rPr sz="1900" b="1" lang="ja-JP">
                <a:solidFill>
                  <a:srgbClr val="17334A"/>
                </a:solidFill>
                <a:latin typeface="Yu Gothic"/>
                <a:ea typeface="Yu Gothic"/>
              </a:rPr>
              <a:t>データ側の権限</a:t>
            </a:r>
          </a:p>
        </p:txBody>
      </p:sp>
      <p:sp>
        <p:nvSpPr>
          <p:cNvPr id="26" name="TextBox 25"/>
          <p:cNvSpPr txBox="1"/>
          <p:nvPr/>
        </p:nvSpPr>
        <p:spPr>
          <a:xfrm>
            <a:off x="4517136" y="3611880"/>
            <a:ext cx="3154680" cy="1920240"/>
          </a:xfrm>
          <a:prstGeom prst="rect">
            <a:avLst/>
          </a:prstGeom>
          <a:noFill/>
        </p:spPr>
        <p:txBody>
          <a:bodyPr wrap="square" lIns="0" rIns="0" tIns="0" bIns="0">
            <a:spAutoFit/>
          </a:bodyPr>
          <a:lstStyle/>
          <a:p>
            <a:pPr>
              <a:lnSpc>
                <a:spcPts val="1820"/>
              </a:lnSpc>
              <a:spcAft>
                <a:spcPts val="0"/>
              </a:spcAft>
            </a:pPr>
            <a:r>
              <a:rPr sz="1300" b="0" lang="ja-JP">
                <a:solidFill>
                  <a:srgbClr val="21374A"/>
                </a:solidFill>
                <a:latin typeface="Yu Gothic"/>
                <a:ea typeface="Yu Gothic"/>
              </a:rPr>
              <a:t>Microsoft Learnの記載では、</a:t>
            </a:r>
            <a:br>
              <a:rPr lang="ja-JP" sz="1300"/>
            </a:br>
            <a:r>
              <a:rPr sz="1300" b="0" lang="ja-JP">
                <a:solidFill>
                  <a:srgbClr val="21374A"/>
                </a:solidFill>
                <a:latin typeface="Yu Gothic"/>
                <a:ea typeface="Yu Gothic"/>
              </a:rPr>
              <a:t>結び付けたデータ側の権限</a:t>
            </a:r>
            <a:br>
              <a:rPr lang="ja-JP" sz="1300"/>
            </a:br>
            <a:r>
              <a:rPr sz="1300" b="0" lang="ja-JP">
                <a:solidFill>
                  <a:srgbClr val="21374A"/>
                </a:solidFill>
                <a:latin typeface="Yu Gothic"/>
                <a:ea typeface="Yu Gothic"/>
              </a:rPr>
              <a:t>（OneLake securityなど）が、</a:t>
            </a:r>
            <a:br>
              <a:rPr lang="ja-JP" sz="1300"/>
            </a:br>
            <a:r>
              <a:rPr sz="1300" b="0" lang="ja-JP">
                <a:solidFill>
                  <a:srgbClr val="21374A"/>
                </a:solidFill>
                <a:latin typeface="Yu Gothic"/>
                <a:ea typeface="Yu Gothic"/>
              </a:rPr>
              <a:t>作成時と問い合わせ時に</a:t>
            </a:r>
            <a:br>
              <a:rPr lang="ja-JP" sz="1300"/>
            </a:br>
            <a:r>
              <a:rPr sz="1300" b="0" lang="ja-JP">
                <a:solidFill>
                  <a:srgbClr val="21374A"/>
                </a:solidFill>
                <a:latin typeface="Yu Gothic"/>
                <a:ea typeface="Yu Gothic"/>
              </a:rPr>
              <a:t>尊重されます。このデモでは</a:t>
            </a:r>
            <a:br>
              <a:rPr lang="ja-JP" sz="1300"/>
            </a:br>
            <a:r>
              <a:rPr sz="1300" b="0" lang="ja-JP">
                <a:solidFill>
                  <a:srgbClr val="21374A"/>
                </a:solidFill>
                <a:latin typeface="Yu Gothic"/>
                <a:ea typeface="Yu Gothic"/>
              </a:rPr>
              <a:t>未検証です。コピーして作った表と</a:t>
            </a:r>
            <a:br>
              <a:rPr lang="ja-JP" sz="1300"/>
            </a:br>
            <a:r>
              <a:rPr sz="1300" b="0" lang="ja-JP">
                <a:solidFill>
                  <a:srgbClr val="21374A"/>
                </a:solidFill>
                <a:latin typeface="Yu Gothic"/>
                <a:ea typeface="Yu Gothic"/>
              </a:rPr>
              <a:t>Graphの権限は、別に確認が必要です。</a:t>
            </a:r>
          </a:p>
        </p:txBody>
      </p:sp>
      <p:sp>
        <p:nvSpPr>
          <p:cNvPr id="27" name="Rounded Rectangle 26">
            <a:extLst>
              <a:ext uri="{C183D7F6-B498-43B3-948B-1728B52AA6E4}">
                <adec:decorative xmlns:adec="http://schemas.microsoft.com/office/drawing/2017/decorative" val="1"/>
              </a:ext>
            </a:extLst>
          </p:cNvPr>
          <p:cNvSpPr/>
          <p:nvPr/>
        </p:nvSpPr>
        <p:spPr>
          <a:xfrm>
            <a:off x="8028431" y="2194560"/>
            <a:ext cx="3611880" cy="3429000"/>
          </a:xfrm>
          <a:prstGeom prst="roundRect">
            <a:avLst>
              <a:gd name="adj" fmla="val 2133"/>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a:extLst>
              <a:ext uri="{C183D7F6-B498-43B3-948B-1728B52AA6E4}">
                <adec:decorative xmlns:adec="http://schemas.microsoft.com/office/drawing/2017/decorative" val="1"/>
              </a:ext>
            </a:extLst>
          </p:cNvPr>
          <p:cNvSpPr/>
          <p:nvPr/>
        </p:nvSpPr>
        <p:spPr>
          <a:xfrm>
            <a:off x="8028431" y="2194560"/>
            <a:ext cx="3611880" cy="91440"/>
          </a:xfrm>
          <a:prstGeom prst="roundRect">
            <a:avLst>
              <a:gd name="adj" fmla="val 40000"/>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a:extLst>
              <a:ext uri="{C183D7F6-B498-43B3-948B-1728B52AA6E4}">
                <adec:decorative xmlns:adec="http://schemas.microsoft.com/office/drawing/2017/decorative" val="1"/>
              </a:ext>
            </a:extLst>
          </p:cNvPr>
          <p:cNvSpPr/>
          <p:nvPr/>
        </p:nvSpPr>
        <p:spPr>
          <a:xfrm>
            <a:off x="8193023" y="2450592"/>
            <a:ext cx="493776" cy="493776"/>
          </a:xfrm>
          <a:prstGeom prst="ellipse">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193023" y="2450592"/>
            <a:ext cx="493776" cy="493776"/>
          </a:xfrm>
          <a:prstGeom prst="rect">
            <a:avLst/>
          </a:prstGeom>
          <a:noFill/>
        </p:spPr>
        <p:txBody>
          <a:bodyPr wrap="square" lIns="0" rIns="0" tIns="0" bIns="0" anchor="ctr">
            <a:spAutoFit/>
          </a:bodyPr>
          <a:lstStyle/>
          <a:p>
            <a:pPr algn="ctr">
              <a:lnSpc>
                <a:spcPts val="1500"/>
              </a:lnSpc>
              <a:spcAft>
                <a:spcPts val="0"/>
              </a:spcAft>
            </a:pPr>
            <a:r>
              <a:rPr sz="1500" b="1" lang="ja-JP">
                <a:solidFill>
                  <a:srgbClr val="FFFFFF"/>
                </a:solidFill>
                <a:latin typeface="Yu Gothic"/>
                <a:ea typeface="Yu Gothic"/>
              </a:rPr>
              <a:t>3</a:t>
            </a:r>
          </a:p>
        </p:txBody>
      </p:sp>
      <p:sp>
        <p:nvSpPr>
          <p:cNvPr id="31" name="TextBox 30"/>
          <p:cNvSpPr txBox="1"/>
          <p:nvPr/>
        </p:nvSpPr>
        <p:spPr>
          <a:xfrm>
            <a:off x="8257031" y="3108960"/>
            <a:ext cx="3154680" cy="365760"/>
          </a:xfrm>
          <a:prstGeom prst="rect">
            <a:avLst/>
          </a:prstGeom>
          <a:noFill/>
        </p:spPr>
        <p:txBody>
          <a:bodyPr wrap="square" lIns="0" rIns="0" tIns="0" bIns="0">
            <a:spAutoFit/>
          </a:bodyPr>
          <a:lstStyle/>
          <a:p>
            <a:pPr>
              <a:lnSpc>
                <a:spcPts val="2280"/>
              </a:lnSpc>
              <a:spcAft>
                <a:spcPts val="0"/>
              </a:spcAft>
            </a:pPr>
            <a:r>
              <a:rPr sz="1900" b="1" lang="ja-JP">
                <a:solidFill>
                  <a:srgbClr val="17334A"/>
                </a:solidFill>
                <a:latin typeface="Yu Gothic"/>
                <a:ea typeface="Yu Gothic"/>
              </a:rPr>
              <a:t>変更の管理</a:t>
            </a:r>
          </a:p>
        </p:txBody>
      </p:sp>
      <p:sp>
        <p:nvSpPr>
          <p:cNvPr id="32" name="TextBox 31"/>
          <p:cNvSpPr txBox="1"/>
          <p:nvPr/>
        </p:nvSpPr>
        <p:spPr>
          <a:xfrm>
            <a:off x="8257031" y="3611880"/>
            <a:ext cx="3154680" cy="1920240"/>
          </a:xfrm>
          <a:prstGeom prst="rect">
            <a:avLst/>
          </a:prstGeom>
          <a:noFill/>
        </p:spPr>
        <p:txBody>
          <a:bodyPr wrap="square" lIns="0" rIns="0" tIns="0" bIns="0">
            <a:spAutoFit/>
          </a:bodyPr>
          <a:lstStyle/>
          <a:p>
            <a:pPr>
              <a:lnSpc>
                <a:spcPts val="1820"/>
              </a:lnSpc>
              <a:spcAft>
                <a:spcPts val="0"/>
              </a:spcAft>
            </a:pPr>
            <a:r>
              <a:rPr sz="1300" b="0" lang="ja-JP">
                <a:solidFill>
                  <a:srgbClr val="21374A"/>
                </a:solidFill>
                <a:latin typeface="Yu Gothic"/>
                <a:ea typeface="Yu Gothic"/>
              </a:rPr>
              <a:t>Microsoft Learnの記載では、</a:t>
            </a:r>
            <a:br>
              <a:rPr lang="ja-JP" sz="1300"/>
            </a:br>
            <a:r>
              <a:rPr sz="1300" b="0" lang="ja-JP">
                <a:solidFill>
                  <a:srgbClr val="21374A"/>
                </a:solidFill>
                <a:latin typeface="Yu Gothic"/>
                <a:ea typeface="Yu Gothic"/>
              </a:rPr>
              <a:t>名前付きの版を保存して、前の</a:t>
            </a:r>
            <a:br>
              <a:rPr lang="ja-JP" sz="1300"/>
            </a:br>
            <a:r>
              <a:rPr sz="1300" b="0" lang="ja-JP">
                <a:solidFill>
                  <a:srgbClr val="21374A"/>
                </a:solidFill>
                <a:latin typeface="Yu Gothic"/>
                <a:ea typeface="Yu Gothic"/>
              </a:rPr>
              <a:t>状態に戻せます。</a:t>
            </a:r>
            <a:br>
              <a:rPr lang="ja-JP" sz="1300"/>
            </a:br>
            <a:r>
              <a:rPr sz="1300" b="0" lang="ja-JP">
                <a:solidFill>
                  <a:srgbClr val="21374A"/>
                </a:solidFill>
                <a:latin typeface="Yu Gothic"/>
                <a:ea typeface="Yu Gothic"/>
              </a:rPr>
              <a:t>Ontology agentによる変更は、</a:t>
            </a:r>
            <a:br>
              <a:rPr lang="ja-JP" sz="1300"/>
            </a:br>
            <a:r>
              <a:rPr sz="1300" b="0" lang="ja-JP">
                <a:solidFill>
                  <a:srgbClr val="21374A"/>
                </a:solidFill>
                <a:latin typeface="Yu Gothic"/>
                <a:ea typeface="Yu Gothic"/>
              </a:rPr>
              <a:t>提案を確認してから反映します。</a:t>
            </a:r>
            <a:br>
              <a:rPr lang="ja-JP" sz="1300"/>
            </a:br>
            <a:r>
              <a:rPr sz="1300" b="0" lang="ja-JP">
                <a:solidFill>
                  <a:srgbClr val="21374A"/>
                </a:solidFill>
                <a:latin typeface="Yu Gothic"/>
                <a:ea typeface="Yu Gothic"/>
              </a:rPr>
              <a:t>APIとCI/CDにも対応します。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拡張の機能：名前空間、継承、共有プロパティ、ルール</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第3章 価値と仕組み  |  拡張の仕組み</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事業や部門が増えると、同じ名前の概念や共通の項目が増え、定義が重複しやすくなります。</a:t>
            </a:r>
          </a:p>
          <a:p>
            <a:pPr>
              <a:lnSpc>
                <a:spcPts val="2160"/>
              </a:lnSpc>
              <a:spcAft>
                <a:spcPts val="0"/>
              </a:spcAft>
            </a:pPr>
            <a:r>
              <a:rPr sz="1600" b="0" lang="ja-JP">
                <a:solidFill>
                  <a:srgbClr val="566A78"/>
                </a:solidFill>
                <a:latin typeface="Yu Gothic"/>
                <a:ea typeface="Yu Gothic"/>
              </a:rPr>
              <a:t>それらを整理する4つの機能があります。いずれもPreviewで、このデモでは使っていません。</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最初のPoCでは、これらを使わずに始める進め方をご提案します。必要になった時点で追加します。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21</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2676906" cy="3566160"/>
          </a:xfrm>
          <a:prstGeom prst="roundRect">
            <a:avLst>
              <a:gd name="adj" fmla="val 2732"/>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a:extLst>
              <a:ext uri="{C183D7F6-B498-43B3-948B-1728B52AA6E4}">
                <adec:decorative xmlns:adec="http://schemas.microsoft.com/office/drawing/2017/decorative" val="1"/>
              </a:ext>
            </a:extLst>
          </p:cNvPr>
          <p:cNvSpPr/>
          <p:nvPr/>
        </p:nvSpPr>
        <p:spPr>
          <a:xfrm>
            <a:off x="548640" y="2148840"/>
            <a:ext cx="2676906" cy="91440"/>
          </a:xfrm>
          <a:prstGeom prst="roundRect">
            <a:avLst>
              <a:gd name="adj" fmla="val 4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31520" y="2377440"/>
            <a:ext cx="2311146" cy="329184"/>
          </a:xfrm>
          <a:prstGeom prst="rect">
            <a:avLst/>
          </a:prstGeom>
          <a:noFill/>
        </p:spPr>
        <p:txBody>
          <a:bodyPr wrap="square" lIns="0" rIns="0" tIns="0" bIns="0">
            <a:spAutoFit/>
          </a:bodyPr>
          <a:lstStyle/>
          <a:p>
            <a:pPr>
              <a:lnSpc>
                <a:spcPts val="1800"/>
              </a:lnSpc>
              <a:spcAft>
                <a:spcPts val="0"/>
              </a:spcAft>
            </a:pPr>
            <a:r>
              <a:rPr sz="1800" b="1" lang="ja-JP">
                <a:solidFill>
                  <a:srgbClr val="087F83"/>
                </a:solidFill>
                <a:latin typeface="Yu Gothic"/>
                <a:ea typeface="Yu Gothic"/>
              </a:rPr>
              <a:t>名前空間</a:t>
            </a:r>
          </a:p>
        </p:txBody>
      </p:sp>
      <p:sp>
        <p:nvSpPr>
          <p:cNvPr id="18" name="TextBox 17"/>
          <p:cNvSpPr txBox="1"/>
          <p:nvPr/>
        </p:nvSpPr>
        <p:spPr>
          <a:xfrm>
            <a:off x="731520" y="2788920"/>
            <a:ext cx="2311146" cy="731520"/>
          </a:xfrm>
          <a:prstGeom prst="rect">
            <a:avLst/>
          </a:prstGeom>
          <a:noFill/>
        </p:spPr>
        <p:txBody>
          <a:bodyPr wrap="square" lIns="0" rIns="0" tIns="0" bIns="0">
            <a:spAutoFit/>
          </a:bodyPr>
          <a:lstStyle/>
          <a:p>
            <a:pPr>
              <a:lnSpc>
                <a:spcPts val="1750"/>
              </a:lnSpc>
              <a:spcAft>
                <a:spcPts val="0"/>
              </a:spcAft>
            </a:pPr>
            <a:r>
              <a:rPr sz="1250" b="0" lang="ja-JP">
                <a:solidFill>
                  <a:srgbClr val="21374A"/>
                </a:solidFill>
                <a:latin typeface="Yu Gothic"/>
                <a:ea typeface="Yu Gothic"/>
              </a:rPr>
              <a:t>同じ名前の概念を、</a:t>
            </a:r>
            <a:br>
              <a:rPr lang="ja-JP" sz="1250"/>
            </a:br>
            <a:r>
              <a:rPr sz="1250" b="0" lang="ja-JP">
                <a:solidFill>
                  <a:srgbClr val="21374A"/>
                </a:solidFill>
                <a:latin typeface="Yu Gothic"/>
                <a:ea typeface="Yu Gothic"/>
              </a:rPr>
              <a:t>領域ごとに区別して</a:t>
            </a:r>
            <a:br>
              <a:rPr lang="ja-JP" sz="1250"/>
            </a:br>
            <a:r>
              <a:rPr sz="1250" b="0" lang="ja-JP">
                <a:solidFill>
                  <a:srgbClr val="21374A"/>
                </a:solidFill>
                <a:latin typeface="Yu Gothic"/>
                <a:ea typeface="Yu Gothic"/>
              </a:rPr>
              <a:t>持てます。</a:t>
            </a:r>
          </a:p>
        </p:txBody>
      </p:sp>
      <p:sp>
        <p:nvSpPr>
          <p:cNvPr id="19" name="Rectangle 18">
            <a:extLst>
              <a:ext uri="{C183D7F6-B498-43B3-948B-1728B52AA6E4}">
                <adec:decorative xmlns:adec="http://schemas.microsoft.com/office/drawing/2017/decorative" val="1"/>
              </a:ext>
            </a:extLst>
          </p:cNvPr>
          <p:cNvSpPr/>
          <p:nvPr/>
        </p:nvSpPr>
        <p:spPr>
          <a:xfrm>
            <a:off x="731520" y="3566160"/>
            <a:ext cx="2311146"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31520" y="3639312"/>
            <a:ext cx="2311146"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このデモに当てはめた案</a:t>
            </a:r>
          </a:p>
        </p:txBody>
      </p:sp>
      <p:sp>
        <p:nvSpPr>
          <p:cNvPr id="21" name="TextBox 20"/>
          <p:cNvSpPr txBox="1"/>
          <p:nvPr/>
        </p:nvSpPr>
        <p:spPr>
          <a:xfrm>
            <a:off x="731520" y="3877056"/>
            <a:ext cx="2311146" cy="731520"/>
          </a:xfrm>
          <a:prstGeom prst="rect">
            <a:avLst/>
          </a:prstGeom>
          <a:noFill/>
        </p:spPr>
        <p:txBody>
          <a:bodyPr wrap="square" lIns="0" rIns="0" tIns="0" bIns="0">
            <a:spAutoFit/>
          </a:bodyPr>
          <a:lstStyle/>
          <a:p>
            <a:pPr>
              <a:lnSpc>
                <a:spcPts val="1560"/>
              </a:lnSpc>
              <a:spcAft>
                <a:spcPts val="0"/>
              </a:spcAft>
            </a:pPr>
            <a:r>
              <a:rPr sz="1200" b="1" lang="ja-JP">
                <a:solidFill>
                  <a:srgbClr val="17334A"/>
                </a:solidFill>
                <a:latin typeface="Yu Gothic"/>
                <a:ea typeface="Yu Gothic"/>
              </a:rPr>
              <a:t>共通の9概念をcore、</a:t>
            </a:r>
            <a:br>
              <a:rPr lang="ja-JP" sz="1200"/>
            </a:br>
            <a:r>
              <a:rPr sz="1200" b="1" lang="ja-JP">
                <a:solidFill>
                  <a:srgbClr val="17334A"/>
                </a:solidFill>
                <a:latin typeface="Yu Gothic"/>
                <a:ea typeface="Yu Gothic"/>
              </a:rPr>
              <a:t>事業固有の8概念を</a:t>
            </a:r>
            <a:br>
              <a:rPr lang="ja-JP" sz="1200"/>
            </a:br>
            <a:r>
              <a:rPr sz="1200" b="1" lang="ja-JP">
                <a:solidFill>
                  <a:srgbClr val="17334A"/>
                </a:solidFill>
                <a:latin typeface="Yu Gothic"/>
                <a:ea typeface="Yu Gothic"/>
              </a:rPr>
              <a:t>4つの事業に分ける。</a:t>
            </a:r>
          </a:p>
        </p:txBody>
      </p:sp>
      <p:sp>
        <p:nvSpPr>
          <p:cNvPr id="22" name="TextBox 21"/>
          <p:cNvSpPr txBox="1"/>
          <p:nvPr/>
        </p:nvSpPr>
        <p:spPr>
          <a:xfrm>
            <a:off x="731520" y="4572000"/>
            <a:ext cx="2311146" cy="182880"/>
          </a:xfrm>
          <a:prstGeom prst="rect">
            <a:avLst/>
          </a:prstGeom>
          <a:noFill/>
        </p:spPr>
        <p:txBody>
          <a:bodyPr wrap="square" lIns="0" rIns="0" tIns="0" bIns="0">
            <a:spAutoFit/>
          </a:bodyPr>
          <a:lstStyle/>
          <a:p>
            <a:pPr>
              <a:lnSpc>
                <a:spcPts val="1050"/>
              </a:lnSpc>
              <a:spcAft>
                <a:spcPts val="0"/>
              </a:spcAft>
            </a:pPr>
            <a:r>
              <a:rPr sz="1050" b="1" lang="ja-JP">
                <a:solidFill>
                  <a:srgbClr val="BD4354"/>
                </a:solidFill>
                <a:latin typeface="Yu Gothic"/>
                <a:ea typeface="Yu Gothic"/>
              </a:rPr>
              <a:t>留意</a:t>
            </a:r>
          </a:p>
        </p:txBody>
      </p:sp>
      <p:sp>
        <p:nvSpPr>
          <p:cNvPr id="23" name="TextBox 22"/>
          <p:cNvSpPr txBox="1"/>
          <p:nvPr/>
        </p:nvSpPr>
        <p:spPr>
          <a:xfrm>
            <a:off x="731520" y="4773168"/>
            <a:ext cx="2311146" cy="566928"/>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グラフ上のラベルに、名前</a:t>
            </a:r>
            <a:br>
              <a:rPr lang="ja-JP" sz="1100"/>
            </a:br>
            <a:r>
              <a:rPr sz="1100" b="0" lang="ja-JP">
                <a:solidFill>
                  <a:srgbClr val="21374A"/>
                </a:solidFill>
                <a:latin typeface="Yu Gothic"/>
                <a:ea typeface="Yu Gothic"/>
              </a:rPr>
              <a:t>空間が接頭辞として付く。</a:t>
            </a:r>
          </a:p>
        </p:txBody>
      </p:sp>
      <p:sp>
        <p:nvSpPr>
          <p:cNvPr id="24" name="Rounded Rectangle 23">
            <a:extLst>
              <a:ext uri="{C183D7F6-B498-43B3-948B-1728B52AA6E4}">
                <adec:decorative xmlns:adec="http://schemas.microsoft.com/office/drawing/2017/decorative" val="1"/>
              </a:ext>
            </a:extLst>
          </p:cNvPr>
          <p:cNvSpPr/>
          <p:nvPr/>
        </p:nvSpPr>
        <p:spPr>
          <a:xfrm>
            <a:off x="731520" y="5376672"/>
            <a:ext cx="2311146" cy="256032"/>
          </a:xfrm>
          <a:prstGeom prst="roundRect">
            <a:avLst>
              <a:gd name="adj" fmla="val 50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31520" y="5376672"/>
            <a:ext cx="2311146" cy="256032"/>
          </a:xfrm>
          <a:prstGeom prst="rect">
            <a:avLst/>
          </a:prstGeom>
          <a:noFill/>
        </p:spPr>
        <p:txBody>
          <a:bodyPr wrap="square" lIns="0" rIns="0" tIns="0" bIns="0" anchor="ctr">
            <a:spAutoFit/>
          </a:bodyPr>
          <a:lstStyle/>
          <a:p>
            <a:pPr algn="ctr">
              <a:lnSpc>
                <a:spcPts val="1050"/>
              </a:lnSpc>
              <a:spcAft>
                <a:spcPts val="0"/>
              </a:spcAft>
            </a:pPr>
            <a:r>
              <a:rPr sz="1050" b="1" lang="ja-JP">
                <a:solidFill>
                  <a:srgbClr val="087F83"/>
                </a:solidFill>
                <a:latin typeface="Yu Gothic"/>
                <a:ea typeface="Yu Gothic"/>
              </a:rPr>
              <a:t>Preview・デモでは未実装</a:t>
            </a:r>
          </a:p>
        </p:txBody>
      </p:sp>
      <p:sp>
        <p:nvSpPr>
          <p:cNvPr id="26" name="Rounded Rectangle 25">
            <a:extLst>
              <a:ext uri="{C183D7F6-B498-43B3-948B-1728B52AA6E4}">
                <adec:decorative xmlns:adec="http://schemas.microsoft.com/office/drawing/2017/decorative" val="1"/>
              </a:ext>
            </a:extLst>
          </p:cNvPr>
          <p:cNvSpPr/>
          <p:nvPr/>
        </p:nvSpPr>
        <p:spPr>
          <a:xfrm>
            <a:off x="3353562" y="2148840"/>
            <a:ext cx="2676906" cy="3566160"/>
          </a:xfrm>
          <a:prstGeom prst="roundRect">
            <a:avLst>
              <a:gd name="adj" fmla="val 2732"/>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a:extLst>
              <a:ext uri="{C183D7F6-B498-43B3-948B-1728B52AA6E4}">
                <adec:decorative xmlns:adec="http://schemas.microsoft.com/office/drawing/2017/decorative" val="1"/>
              </a:ext>
            </a:extLst>
          </p:cNvPr>
          <p:cNvSpPr/>
          <p:nvPr/>
        </p:nvSpPr>
        <p:spPr>
          <a:xfrm>
            <a:off x="3353562" y="2148840"/>
            <a:ext cx="2676906" cy="91440"/>
          </a:xfrm>
          <a:prstGeom prst="roundRect">
            <a:avLst>
              <a:gd name="adj" fmla="val 40000"/>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536442" y="2377440"/>
            <a:ext cx="2311146" cy="329184"/>
          </a:xfrm>
          <a:prstGeom prst="rect">
            <a:avLst/>
          </a:prstGeom>
          <a:noFill/>
        </p:spPr>
        <p:txBody>
          <a:bodyPr wrap="square" lIns="0" rIns="0" tIns="0" bIns="0">
            <a:spAutoFit/>
          </a:bodyPr>
          <a:lstStyle/>
          <a:p>
            <a:pPr>
              <a:lnSpc>
                <a:spcPts val="1800"/>
              </a:lnSpc>
              <a:spcAft>
                <a:spcPts val="0"/>
              </a:spcAft>
            </a:pPr>
            <a:r>
              <a:rPr sz="1800" b="1" lang="ja-JP">
                <a:solidFill>
                  <a:srgbClr val="7352AD"/>
                </a:solidFill>
                <a:latin typeface="Yu Gothic"/>
                <a:ea typeface="Yu Gothic"/>
              </a:rPr>
              <a:t>継承</a:t>
            </a:r>
          </a:p>
        </p:txBody>
      </p:sp>
      <p:sp>
        <p:nvSpPr>
          <p:cNvPr id="29" name="TextBox 28"/>
          <p:cNvSpPr txBox="1"/>
          <p:nvPr/>
        </p:nvSpPr>
        <p:spPr>
          <a:xfrm>
            <a:off x="3536442" y="2788920"/>
            <a:ext cx="2311146" cy="731520"/>
          </a:xfrm>
          <a:prstGeom prst="rect">
            <a:avLst/>
          </a:prstGeom>
          <a:noFill/>
        </p:spPr>
        <p:txBody>
          <a:bodyPr wrap="square" lIns="0" rIns="0" tIns="0" bIns="0">
            <a:spAutoFit/>
          </a:bodyPr>
          <a:lstStyle/>
          <a:p>
            <a:pPr>
              <a:lnSpc>
                <a:spcPts val="1750"/>
              </a:lnSpc>
              <a:spcAft>
                <a:spcPts val="0"/>
              </a:spcAft>
            </a:pPr>
            <a:r>
              <a:rPr sz="1250" b="0" lang="ja-JP">
                <a:solidFill>
                  <a:srgbClr val="21374A"/>
                </a:solidFill>
                <a:latin typeface="Yu Gothic"/>
                <a:ea typeface="Yu Gothic"/>
              </a:rPr>
              <a:t>共通の親を定義し、特化した</a:t>
            </a:r>
            <a:br>
              <a:rPr lang="ja-JP" sz="1250"/>
            </a:br>
            <a:r>
              <a:rPr sz="1250" b="0" lang="ja-JP">
                <a:solidFill>
                  <a:srgbClr val="21374A"/>
                </a:solidFill>
                <a:latin typeface="Yu Gothic"/>
                <a:ea typeface="Yu Gothic"/>
              </a:rPr>
              <a:t>概念を派生させます。</a:t>
            </a:r>
          </a:p>
        </p:txBody>
      </p:sp>
      <p:sp>
        <p:nvSpPr>
          <p:cNvPr id="30" name="Rectangle 29">
            <a:extLst>
              <a:ext uri="{C183D7F6-B498-43B3-948B-1728B52AA6E4}">
                <adec:decorative xmlns:adec="http://schemas.microsoft.com/office/drawing/2017/decorative" val="1"/>
              </a:ext>
            </a:extLst>
          </p:cNvPr>
          <p:cNvSpPr/>
          <p:nvPr/>
        </p:nvSpPr>
        <p:spPr>
          <a:xfrm>
            <a:off x="3536442" y="3566160"/>
            <a:ext cx="2311146"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3536442" y="3639312"/>
            <a:ext cx="2311146"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このデモに当てはめた案</a:t>
            </a:r>
          </a:p>
        </p:txBody>
      </p:sp>
      <p:sp>
        <p:nvSpPr>
          <p:cNvPr id="32" name="TextBox 31"/>
          <p:cNvSpPr txBox="1"/>
          <p:nvPr/>
        </p:nvSpPr>
        <p:spPr>
          <a:xfrm>
            <a:off x="3536442" y="3877056"/>
            <a:ext cx="2311146" cy="731520"/>
          </a:xfrm>
          <a:prstGeom prst="rect">
            <a:avLst/>
          </a:prstGeom>
          <a:noFill/>
        </p:spPr>
        <p:txBody>
          <a:bodyPr wrap="square" lIns="0" rIns="0" tIns="0" bIns="0">
            <a:spAutoFit/>
          </a:bodyPr>
          <a:lstStyle/>
          <a:p>
            <a:pPr>
              <a:lnSpc>
                <a:spcPts val="1560"/>
              </a:lnSpc>
              <a:spcAft>
                <a:spcPts val="0"/>
              </a:spcAft>
            </a:pPr>
            <a:r>
              <a:rPr sz="1200" b="1" lang="ja-JP">
                <a:solidFill>
                  <a:srgbClr val="17334A"/>
                </a:solidFill>
                <a:latin typeface="Yu Gothic"/>
                <a:ea typeface="Yu Gothic"/>
              </a:rPr>
              <a:t>事業固有の8概念に共通する</a:t>
            </a:r>
          </a:p>
          <a:p>
            <a:pPr>
              <a:lnSpc>
                <a:spcPts val="1560"/>
              </a:lnSpc>
              <a:spcAft>
                <a:spcPts val="0"/>
              </a:spcAft>
            </a:pPr>
            <a:r>
              <a:rPr sz="1200" b="1" lang="ja-JP">
                <a:solidFill>
                  <a:srgbClr val="17334A"/>
                </a:solidFill>
                <a:latin typeface="Yu Gothic"/>
                <a:ea typeface="Yu Gothic"/>
              </a:rPr>
              <a:t>5つの項目を、親に集める。</a:t>
            </a:r>
          </a:p>
        </p:txBody>
      </p:sp>
      <p:sp>
        <p:nvSpPr>
          <p:cNvPr id="33" name="TextBox 32"/>
          <p:cNvSpPr txBox="1"/>
          <p:nvPr/>
        </p:nvSpPr>
        <p:spPr>
          <a:xfrm>
            <a:off x="3536442" y="4572000"/>
            <a:ext cx="2311146" cy="182880"/>
          </a:xfrm>
          <a:prstGeom prst="rect">
            <a:avLst/>
          </a:prstGeom>
          <a:noFill/>
        </p:spPr>
        <p:txBody>
          <a:bodyPr wrap="square" lIns="0" rIns="0" tIns="0" bIns="0">
            <a:spAutoFit/>
          </a:bodyPr>
          <a:lstStyle/>
          <a:p>
            <a:pPr>
              <a:lnSpc>
                <a:spcPts val="1050"/>
              </a:lnSpc>
              <a:spcAft>
                <a:spcPts val="0"/>
              </a:spcAft>
            </a:pPr>
            <a:r>
              <a:rPr sz="1050" b="1" lang="ja-JP">
                <a:solidFill>
                  <a:srgbClr val="BD4354"/>
                </a:solidFill>
                <a:latin typeface="Yu Gothic"/>
                <a:ea typeface="Yu Gothic"/>
              </a:rPr>
              <a:t>留意</a:t>
            </a:r>
          </a:p>
        </p:txBody>
      </p:sp>
      <p:sp>
        <p:nvSpPr>
          <p:cNvPr id="34" name="TextBox 33"/>
          <p:cNvSpPr txBox="1"/>
          <p:nvPr/>
        </p:nvSpPr>
        <p:spPr>
          <a:xfrm>
            <a:off x="3536442" y="4773168"/>
            <a:ext cx="2311146" cy="566928"/>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親から派生した概念の</a:t>
            </a:r>
            <a:br>
              <a:rPr lang="ja-JP" sz="1100"/>
            </a:br>
            <a:r>
              <a:rPr sz="1100" b="0" lang="ja-JP">
                <a:solidFill>
                  <a:srgbClr val="21374A"/>
                </a:solidFill>
                <a:latin typeface="Yu Gothic"/>
                <a:ea typeface="Yu Gothic"/>
              </a:rPr>
              <a:t>実例の一括取得は、MCPで</a:t>
            </a:r>
            <a:br>
              <a:rPr lang="ja-JP" sz="1100"/>
            </a:br>
            <a:r>
              <a:rPr sz="1100" b="0" lang="ja-JP">
                <a:solidFill>
                  <a:srgbClr val="21374A"/>
                </a:solidFill>
                <a:latin typeface="Yu Gothic"/>
                <a:ea typeface="Yu Gothic"/>
              </a:rPr>
              <a:t>未提供（既知の問題）。</a:t>
            </a:r>
          </a:p>
        </p:txBody>
      </p:sp>
      <p:sp>
        <p:nvSpPr>
          <p:cNvPr id="35" name="Rounded Rectangle 34">
            <a:extLst>
              <a:ext uri="{C183D7F6-B498-43B3-948B-1728B52AA6E4}">
                <adec:decorative xmlns:adec="http://schemas.microsoft.com/office/drawing/2017/decorative" val="1"/>
              </a:ext>
            </a:extLst>
          </p:cNvPr>
          <p:cNvSpPr/>
          <p:nvPr/>
        </p:nvSpPr>
        <p:spPr>
          <a:xfrm>
            <a:off x="3536442" y="5376672"/>
            <a:ext cx="2311146" cy="256032"/>
          </a:xfrm>
          <a:prstGeom prst="roundRect">
            <a:avLst>
              <a:gd name="adj" fmla="val 50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3536442" y="5376672"/>
            <a:ext cx="2311146" cy="256032"/>
          </a:xfrm>
          <a:prstGeom prst="rect">
            <a:avLst/>
          </a:prstGeom>
          <a:noFill/>
        </p:spPr>
        <p:txBody>
          <a:bodyPr wrap="square" lIns="0" rIns="0" tIns="0" bIns="0" anchor="ctr">
            <a:spAutoFit/>
          </a:bodyPr>
          <a:lstStyle/>
          <a:p>
            <a:pPr algn="ctr">
              <a:lnSpc>
                <a:spcPts val="1050"/>
              </a:lnSpc>
              <a:spcAft>
                <a:spcPts val="0"/>
              </a:spcAft>
            </a:pPr>
            <a:r>
              <a:rPr sz="1050" b="1" lang="ja-JP">
                <a:solidFill>
                  <a:srgbClr val="7352AD"/>
                </a:solidFill>
                <a:latin typeface="Yu Gothic"/>
                <a:ea typeface="Yu Gothic"/>
              </a:rPr>
              <a:t>Preview・デモでは未実装</a:t>
            </a:r>
          </a:p>
        </p:txBody>
      </p:sp>
      <p:sp>
        <p:nvSpPr>
          <p:cNvPr id="37" name="Rounded Rectangle 36">
            <a:extLst>
              <a:ext uri="{C183D7F6-B498-43B3-948B-1728B52AA6E4}">
                <adec:decorative xmlns:adec="http://schemas.microsoft.com/office/drawing/2017/decorative" val="1"/>
              </a:ext>
            </a:extLst>
          </p:cNvPr>
          <p:cNvSpPr/>
          <p:nvPr/>
        </p:nvSpPr>
        <p:spPr>
          <a:xfrm>
            <a:off x="6158484" y="2148840"/>
            <a:ext cx="2676906" cy="3566160"/>
          </a:xfrm>
          <a:prstGeom prst="roundRect">
            <a:avLst>
              <a:gd name="adj" fmla="val 2732"/>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a:extLst>
              <a:ext uri="{C183D7F6-B498-43B3-948B-1728B52AA6E4}">
                <adec:decorative xmlns:adec="http://schemas.microsoft.com/office/drawing/2017/decorative" val="1"/>
              </a:ext>
            </a:extLst>
          </p:cNvPr>
          <p:cNvSpPr/>
          <p:nvPr/>
        </p:nvSpPr>
        <p:spPr>
          <a:xfrm>
            <a:off x="6158484" y="2148840"/>
            <a:ext cx="2676906" cy="91440"/>
          </a:xfrm>
          <a:prstGeom prst="roundRect">
            <a:avLst>
              <a:gd name="adj" fmla="val 40000"/>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341364" y="2377440"/>
            <a:ext cx="2311146" cy="329184"/>
          </a:xfrm>
          <a:prstGeom prst="rect">
            <a:avLst/>
          </a:prstGeom>
          <a:noFill/>
        </p:spPr>
        <p:txBody>
          <a:bodyPr wrap="square" lIns="0" rIns="0" tIns="0" bIns="0">
            <a:spAutoFit/>
          </a:bodyPr>
          <a:lstStyle/>
          <a:p>
            <a:pPr>
              <a:lnSpc>
                <a:spcPts val="1800"/>
              </a:lnSpc>
              <a:spcAft>
                <a:spcPts val="0"/>
              </a:spcAft>
            </a:pPr>
            <a:r>
              <a:rPr sz="1800" b="1" lang="ja-JP">
                <a:solidFill>
                  <a:srgbClr val="BD4354"/>
                </a:solidFill>
                <a:latin typeface="Yu Gothic"/>
                <a:ea typeface="Yu Gothic"/>
              </a:rPr>
              <a:t>共有プロパティ</a:t>
            </a:r>
          </a:p>
        </p:txBody>
      </p:sp>
      <p:sp>
        <p:nvSpPr>
          <p:cNvPr id="40" name="TextBox 39"/>
          <p:cNvSpPr txBox="1"/>
          <p:nvPr/>
        </p:nvSpPr>
        <p:spPr>
          <a:xfrm>
            <a:off x="6341364" y="2788920"/>
            <a:ext cx="2311146" cy="731520"/>
          </a:xfrm>
          <a:prstGeom prst="rect">
            <a:avLst/>
          </a:prstGeom>
          <a:noFill/>
        </p:spPr>
        <p:txBody>
          <a:bodyPr wrap="square" lIns="0" rIns="0" tIns="0" bIns="0">
            <a:spAutoFit/>
          </a:bodyPr>
          <a:lstStyle/>
          <a:p>
            <a:pPr>
              <a:lnSpc>
                <a:spcPts val="1750"/>
              </a:lnSpc>
              <a:spcAft>
                <a:spcPts val="0"/>
              </a:spcAft>
            </a:pPr>
            <a:r>
              <a:rPr sz="1250" b="0" lang="ja-JP">
                <a:solidFill>
                  <a:srgbClr val="21374A"/>
                </a:solidFill>
                <a:latin typeface="Yu Gothic"/>
                <a:ea typeface="Yu Gothic"/>
              </a:rPr>
              <a:t>1つの項目の定義を、</a:t>
            </a:r>
            <a:br>
              <a:rPr lang="ja-JP" sz="1250"/>
            </a:br>
            <a:r>
              <a:rPr sz="1250" b="0" lang="ja-JP">
                <a:solidFill>
                  <a:srgbClr val="21374A"/>
                </a:solidFill>
                <a:latin typeface="Yu Gothic"/>
                <a:ea typeface="Yu Gothic"/>
              </a:rPr>
              <a:t>複数の概念で参照します。</a:t>
            </a:r>
          </a:p>
        </p:txBody>
      </p:sp>
      <p:sp>
        <p:nvSpPr>
          <p:cNvPr id="41" name="Rectangle 40">
            <a:extLst>
              <a:ext uri="{C183D7F6-B498-43B3-948B-1728B52AA6E4}">
                <adec:decorative xmlns:adec="http://schemas.microsoft.com/office/drawing/2017/decorative" val="1"/>
              </a:ext>
            </a:extLst>
          </p:cNvPr>
          <p:cNvSpPr/>
          <p:nvPr/>
        </p:nvSpPr>
        <p:spPr>
          <a:xfrm>
            <a:off x="6341364" y="3566160"/>
            <a:ext cx="2311146"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341364" y="3639312"/>
            <a:ext cx="2311146"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このデモに当てはめた案</a:t>
            </a:r>
          </a:p>
        </p:txBody>
      </p:sp>
      <p:sp>
        <p:nvSpPr>
          <p:cNvPr id="43" name="TextBox 42"/>
          <p:cNvSpPr txBox="1"/>
          <p:nvPr/>
        </p:nvSpPr>
        <p:spPr>
          <a:xfrm>
            <a:off x="6341364" y="3877056"/>
            <a:ext cx="2311146" cy="731520"/>
          </a:xfrm>
          <a:prstGeom prst="rect">
            <a:avLst/>
          </a:prstGeom>
          <a:noFill/>
        </p:spPr>
        <p:txBody>
          <a:bodyPr wrap="square" lIns="0" rIns="0" tIns="0" bIns="0">
            <a:spAutoFit/>
          </a:bodyPr>
          <a:lstStyle/>
          <a:p>
            <a:pPr>
              <a:lnSpc>
                <a:spcPts val="1560"/>
              </a:lnSpc>
              <a:spcAft>
                <a:spcPts val="0"/>
              </a:spcAft>
            </a:pPr>
            <a:r>
              <a:rPr sz="1200" b="1" lang="ja-JP">
                <a:solidFill>
                  <a:srgbClr val="17334A"/>
                </a:solidFill>
                <a:latin typeface="Yu Gothic"/>
                <a:ea typeface="Yu Gothic"/>
              </a:rPr>
              <a:t>通貨コードを使う6つの</a:t>
            </a:r>
            <a:br>
              <a:rPr lang="ja-JP" sz="1200"/>
            </a:br>
            <a:r>
              <a:rPr sz="1200" b="1" lang="ja-JP">
                <a:solidFill>
                  <a:srgbClr val="17334A"/>
                </a:solidFill>
                <a:latin typeface="Yu Gothic"/>
                <a:ea typeface="Yu Gothic"/>
              </a:rPr>
              <a:t>概念で、定義を1回にする。</a:t>
            </a:r>
          </a:p>
        </p:txBody>
      </p:sp>
      <p:sp>
        <p:nvSpPr>
          <p:cNvPr id="44" name="TextBox 43"/>
          <p:cNvSpPr txBox="1"/>
          <p:nvPr/>
        </p:nvSpPr>
        <p:spPr>
          <a:xfrm>
            <a:off x="6341364" y="4572000"/>
            <a:ext cx="2311146" cy="182880"/>
          </a:xfrm>
          <a:prstGeom prst="rect">
            <a:avLst/>
          </a:prstGeom>
          <a:noFill/>
        </p:spPr>
        <p:txBody>
          <a:bodyPr wrap="square" lIns="0" rIns="0" tIns="0" bIns="0">
            <a:spAutoFit/>
          </a:bodyPr>
          <a:lstStyle/>
          <a:p>
            <a:pPr>
              <a:lnSpc>
                <a:spcPts val="1050"/>
              </a:lnSpc>
              <a:spcAft>
                <a:spcPts val="0"/>
              </a:spcAft>
            </a:pPr>
            <a:r>
              <a:rPr sz="1050" b="1" lang="ja-JP">
                <a:solidFill>
                  <a:srgbClr val="BD4354"/>
                </a:solidFill>
                <a:latin typeface="Yu Gothic"/>
                <a:ea typeface="Yu Gothic"/>
              </a:rPr>
              <a:t>留意</a:t>
            </a:r>
          </a:p>
        </p:txBody>
      </p:sp>
      <p:sp>
        <p:nvSpPr>
          <p:cNvPr id="45" name="TextBox 44"/>
          <p:cNvSpPr txBox="1"/>
          <p:nvPr/>
        </p:nvSpPr>
        <p:spPr>
          <a:xfrm>
            <a:off x="6341364" y="4773168"/>
            <a:ext cx="2311146" cy="566928"/>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共有プロパティの名前は、</a:t>
            </a:r>
            <a:br>
              <a:rPr lang="ja-JP" sz="1100"/>
            </a:br>
            <a:r>
              <a:rPr sz="1100" b="0" lang="ja-JP">
                <a:solidFill>
                  <a:srgbClr val="21374A"/>
                </a:solidFill>
                <a:latin typeface="Yu Gothic"/>
                <a:ea typeface="Yu Gothic"/>
              </a:rPr>
              <a:t>Ontologyの中で重複できない。</a:t>
            </a:r>
          </a:p>
        </p:txBody>
      </p:sp>
      <p:sp>
        <p:nvSpPr>
          <p:cNvPr id="46" name="Rounded Rectangle 45">
            <a:extLst>
              <a:ext uri="{C183D7F6-B498-43B3-948B-1728B52AA6E4}">
                <adec:decorative xmlns:adec="http://schemas.microsoft.com/office/drawing/2017/decorative" val="1"/>
              </a:ext>
            </a:extLst>
          </p:cNvPr>
          <p:cNvSpPr/>
          <p:nvPr/>
        </p:nvSpPr>
        <p:spPr>
          <a:xfrm>
            <a:off x="6341364" y="5376672"/>
            <a:ext cx="2311146" cy="256032"/>
          </a:xfrm>
          <a:prstGeom prst="roundRect">
            <a:avLst>
              <a:gd name="adj" fmla="val 50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6341364" y="5376672"/>
            <a:ext cx="2311146" cy="256032"/>
          </a:xfrm>
          <a:prstGeom prst="rect">
            <a:avLst/>
          </a:prstGeom>
          <a:noFill/>
        </p:spPr>
        <p:txBody>
          <a:bodyPr wrap="square" lIns="0" rIns="0" tIns="0" bIns="0" anchor="ctr">
            <a:spAutoFit/>
          </a:bodyPr>
          <a:lstStyle/>
          <a:p>
            <a:pPr algn="ctr">
              <a:lnSpc>
                <a:spcPts val="1050"/>
              </a:lnSpc>
              <a:spcAft>
                <a:spcPts val="0"/>
              </a:spcAft>
            </a:pPr>
            <a:r>
              <a:rPr sz="1050" b="1" lang="ja-JP">
                <a:solidFill>
                  <a:srgbClr val="BD4354"/>
                </a:solidFill>
                <a:latin typeface="Yu Gothic"/>
                <a:ea typeface="Yu Gothic"/>
              </a:rPr>
              <a:t>Preview・デモでは未実装</a:t>
            </a:r>
          </a:p>
        </p:txBody>
      </p:sp>
      <p:sp>
        <p:nvSpPr>
          <p:cNvPr id="48" name="Rounded Rectangle 47">
            <a:extLst>
              <a:ext uri="{C183D7F6-B498-43B3-948B-1728B52AA6E4}">
                <adec:decorative xmlns:adec="http://schemas.microsoft.com/office/drawing/2017/decorative" val="1"/>
              </a:ext>
            </a:extLst>
          </p:cNvPr>
          <p:cNvSpPr/>
          <p:nvPr/>
        </p:nvSpPr>
        <p:spPr>
          <a:xfrm>
            <a:off x="8963406" y="2148840"/>
            <a:ext cx="2676906" cy="3566160"/>
          </a:xfrm>
          <a:prstGeom prst="roundRect">
            <a:avLst>
              <a:gd name="adj" fmla="val 2732"/>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a:extLst>
              <a:ext uri="{C183D7F6-B498-43B3-948B-1728B52AA6E4}">
                <adec:decorative xmlns:adec="http://schemas.microsoft.com/office/drawing/2017/decorative" val="1"/>
              </a:ext>
            </a:extLst>
          </p:cNvPr>
          <p:cNvSpPr/>
          <p:nvPr/>
        </p:nvSpPr>
        <p:spPr>
          <a:xfrm>
            <a:off x="8963406" y="2148840"/>
            <a:ext cx="2676906" cy="91440"/>
          </a:xfrm>
          <a:prstGeom prst="roundRect">
            <a:avLst>
              <a:gd name="adj" fmla="val 40000"/>
            </a:avLst>
          </a:prstGeom>
          <a:solidFill>
            <a:srgbClr val="1733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146286" y="2377440"/>
            <a:ext cx="2311146" cy="329184"/>
          </a:xfrm>
          <a:prstGeom prst="rect">
            <a:avLst/>
          </a:prstGeom>
          <a:noFill/>
        </p:spPr>
        <p:txBody>
          <a:bodyPr wrap="square" lIns="0" rIns="0" tIns="0" bIns="0">
            <a:spAutoFit/>
          </a:bodyPr>
          <a:lstStyle/>
          <a:p>
            <a:pPr>
              <a:lnSpc>
                <a:spcPts val="1800"/>
              </a:lnSpc>
              <a:spcAft>
                <a:spcPts val="0"/>
              </a:spcAft>
            </a:pPr>
            <a:r>
              <a:rPr sz="1800" b="1" lang="ja-JP">
                <a:solidFill>
                  <a:srgbClr val="17334A"/>
                </a:solidFill>
                <a:latin typeface="Yu Gothic"/>
                <a:ea typeface="Yu Gothic"/>
              </a:rPr>
              <a:t>ビジネスルール</a:t>
            </a:r>
          </a:p>
        </p:txBody>
      </p:sp>
      <p:sp>
        <p:nvSpPr>
          <p:cNvPr id="51" name="TextBox 50"/>
          <p:cNvSpPr txBox="1"/>
          <p:nvPr/>
        </p:nvSpPr>
        <p:spPr>
          <a:xfrm>
            <a:off x="9146286" y="2788920"/>
            <a:ext cx="2311146" cy="731520"/>
          </a:xfrm>
          <a:prstGeom prst="rect">
            <a:avLst/>
          </a:prstGeom>
          <a:noFill/>
        </p:spPr>
        <p:txBody>
          <a:bodyPr wrap="square" lIns="0" rIns="0" tIns="0" bIns="0">
            <a:spAutoFit/>
          </a:bodyPr>
          <a:lstStyle/>
          <a:p>
            <a:pPr>
              <a:lnSpc>
                <a:spcPts val="1750"/>
              </a:lnSpc>
              <a:spcAft>
                <a:spcPts val="0"/>
              </a:spcAft>
            </a:pPr>
            <a:r>
              <a:rPr sz="1250" b="0" lang="ja-JP">
                <a:solidFill>
                  <a:srgbClr val="21374A"/>
                </a:solidFill>
                <a:latin typeface="Yu Gothic"/>
                <a:ea typeface="Yu Gothic"/>
              </a:rPr>
              <a:t>業務の決まりを文章で</a:t>
            </a:r>
            <a:br>
              <a:rPr lang="ja-JP" sz="1250"/>
            </a:br>
            <a:r>
              <a:rPr sz="1250" b="0" lang="ja-JP">
                <a:solidFill>
                  <a:srgbClr val="21374A"/>
                </a:solidFill>
                <a:latin typeface="Yu Gothic"/>
                <a:ea typeface="Yu Gothic"/>
              </a:rPr>
              <a:t>定義し、概念や関係に</a:t>
            </a:r>
            <a:br>
              <a:rPr lang="ja-JP" sz="1250"/>
            </a:br>
            <a:r>
              <a:rPr sz="1250" b="0" lang="ja-JP">
                <a:solidFill>
                  <a:srgbClr val="21374A"/>
                </a:solidFill>
                <a:latin typeface="Yu Gothic"/>
                <a:ea typeface="Yu Gothic"/>
              </a:rPr>
              <a:t>結び付けます。</a:t>
            </a:r>
          </a:p>
        </p:txBody>
      </p:sp>
      <p:sp>
        <p:nvSpPr>
          <p:cNvPr id="52" name="Rectangle 51">
            <a:extLst>
              <a:ext uri="{C183D7F6-B498-43B3-948B-1728B52AA6E4}">
                <adec:decorative xmlns:adec="http://schemas.microsoft.com/office/drawing/2017/decorative" val="1"/>
              </a:ext>
            </a:extLst>
          </p:cNvPr>
          <p:cNvSpPr/>
          <p:nvPr/>
        </p:nvSpPr>
        <p:spPr>
          <a:xfrm>
            <a:off x="9146286" y="3566160"/>
            <a:ext cx="2311146" cy="9144"/>
          </a:xfrm>
          <a:prstGeom prst="rect">
            <a:avLst/>
          </a:prstGeom>
          <a:solidFill>
            <a:srgbClr val="D3DF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146286" y="3639312"/>
            <a:ext cx="2311146" cy="201168"/>
          </a:xfrm>
          <a:prstGeom prst="rect">
            <a:avLst/>
          </a:prstGeom>
          <a:noFill/>
        </p:spPr>
        <p:txBody>
          <a:bodyPr wrap="square" lIns="0" rIns="0" tIns="0" bIns="0">
            <a:spAutoFit/>
          </a:bodyPr>
          <a:lstStyle/>
          <a:p>
            <a:pPr>
              <a:lnSpc>
                <a:spcPts val="1050"/>
              </a:lnSpc>
              <a:spcAft>
                <a:spcPts val="0"/>
              </a:spcAft>
            </a:pPr>
            <a:r>
              <a:rPr sz="1050" b="1" lang="ja-JP">
                <a:solidFill>
                  <a:srgbClr val="566A78"/>
                </a:solidFill>
                <a:latin typeface="Yu Gothic"/>
                <a:ea typeface="Yu Gothic"/>
              </a:rPr>
              <a:t>このデモに当てはめた案</a:t>
            </a:r>
          </a:p>
        </p:txBody>
      </p:sp>
      <p:sp>
        <p:nvSpPr>
          <p:cNvPr id="54" name="TextBox 53"/>
          <p:cNvSpPr txBox="1"/>
          <p:nvPr/>
        </p:nvSpPr>
        <p:spPr>
          <a:xfrm>
            <a:off x="9146286" y="3877056"/>
            <a:ext cx="2311146" cy="731520"/>
          </a:xfrm>
          <a:prstGeom prst="rect">
            <a:avLst/>
          </a:prstGeom>
          <a:noFill/>
        </p:spPr>
        <p:txBody>
          <a:bodyPr wrap="square" lIns="0" rIns="0" tIns="0" bIns="0">
            <a:spAutoFit/>
          </a:bodyPr>
          <a:lstStyle/>
          <a:p>
            <a:pPr>
              <a:lnSpc>
                <a:spcPts val="1560"/>
              </a:lnSpc>
              <a:spcAft>
                <a:spcPts val="0"/>
              </a:spcAft>
            </a:pPr>
            <a:r>
              <a:rPr sz="1200" b="1" lang="ja-JP">
                <a:solidFill>
                  <a:srgbClr val="17334A"/>
                </a:solidFill>
                <a:latin typeface="Yu Gothic"/>
                <a:ea typeface="Yu Gothic"/>
              </a:rPr>
              <a:t>全額連結と持分管理の区別を、</a:t>
            </a:r>
            <a:br>
              <a:rPr lang="ja-JP" sz="1200"/>
            </a:br>
            <a:r>
              <a:rPr sz="1200" b="1" lang="ja-JP">
                <a:solidFill>
                  <a:srgbClr val="17334A"/>
                </a:solidFill>
                <a:latin typeface="Yu Gothic"/>
                <a:ea typeface="Yu Gothic"/>
              </a:rPr>
              <a:t>指示文からルールへ移す。</a:t>
            </a:r>
          </a:p>
        </p:txBody>
      </p:sp>
      <p:sp>
        <p:nvSpPr>
          <p:cNvPr id="55" name="TextBox 54"/>
          <p:cNvSpPr txBox="1"/>
          <p:nvPr/>
        </p:nvSpPr>
        <p:spPr>
          <a:xfrm>
            <a:off x="9146286" y="4572000"/>
            <a:ext cx="2311146" cy="182880"/>
          </a:xfrm>
          <a:prstGeom prst="rect">
            <a:avLst/>
          </a:prstGeom>
          <a:noFill/>
        </p:spPr>
        <p:txBody>
          <a:bodyPr wrap="square" lIns="0" rIns="0" tIns="0" bIns="0">
            <a:spAutoFit/>
          </a:bodyPr>
          <a:lstStyle/>
          <a:p>
            <a:pPr>
              <a:lnSpc>
                <a:spcPts val="1050"/>
              </a:lnSpc>
              <a:spcAft>
                <a:spcPts val="0"/>
              </a:spcAft>
            </a:pPr>
            <a:r>
              <a:rPr sz="1050" b="1" lang="ja-JP">
                <a:solidFill>
                  <a:srgbClr val="BD4354"/>
                </a:solidFill>
                <a:latin typeface="Yu Gothic"/>
                <a:ea typeface="Yu Gothic"/>
              </a:rPr>
              <a:t>留意</a:t>
            </a:r>
          </a:p>
        </p:txBody>
      </p:sp>
      <p:sp>
        <p:nvSpPr>
          <p:cNvPr id="56" name="TextBox 55"/>
          <p:cNvSpPr txBox="1"/>
          <p:nvPr/>
        </p:nvSpPr>
        <p:spPr>
          <a:xfrm>
            <a:off x="9146286" y="4773168"/>
            <a:ext cx="2311146" cy="566928"/>
          </a:xfrm>
          <a:prstGeom prst="rect">
            <a:avLst/>
          </a:prstGeom>
          <a:noFill/>
        </p:spPr>
        <p:txBody>
          <a:bodyPr wrap="square" lIns="0" rIns="0" tIns="0" bIns="0">
            <a:spAutoFit/>
          </a:bodyPr>
          <a:lstStyle/>
          <a:p>
            <a:pPr>
              <a:lnSpc>
                <a:spcPts val="1380"/>
              </a:lnSpc>
              <a:spcAft>
                <a:spcPts val="0"/>
              </a:spcAft>
            </a:pPr>
            <a:r>
              <a:rPr sz="1100" b="0" lang="ja-JP">
                <a:solidFill>
                  <a:srgbClr val="21374A"/>
                </a:solidFill>
                <a:latin typeface="Yu Gothic"/>
                <a:ea typeface="Yu Gothic"/>
              </a:rPr>
              <a:t>ルールは、エージェントが</a:t>
            </a:r>
            <a:br>
              <a:rPr lang="ja-JP" sz="1100"/>
            </a:br>
            <a:r>
              <a:rPr sz="1100" b="0" lang="ja-JP">
                <a:solidFill>
                  <a:srgbClr val="21374A"/>
                </a:solidFill>
                <a:latin typeface="Yu Gothic"/>
                <a:ea typeface="Yu Gothic"/>
              </a:rPr>
              <a:t>読む説明文で、実行はされない。</a:t>
            </a:r>
          </a:p>
        </p:txBody>
      </p:sp>
      <p:sp>
        <p:nvSpPr>
          <p:cNvPr id="57" name="Rounded Rectangle 56">
            <a:extLst>
              <a:ext uri="{C183D7F6-B498-43B3-948B-1728B52AA6E4}">
                <adec:decorative xmlns:adec="http://schemas.microsoft.com/office/drawing/2017/decorative" val="1"/>
              </a:ext>
            </a:extLst>
          </p:cNvPr>
          <p:cNvSpPr/>
          <p:nvPr/>
        </p:nvSpPr>
        <p:spPr>
          <a:xfrm>
            <a:off x="9146286" y="5376672"/>
            <a:ext cx="2311146" cy="256032"/>
          </a:xfrm>
          <a:prstGeom prst="roundRect">
            <a:avLst>
              <a:gd name="adj" fmla="val 5000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9146286" y="5376672"/>
            <a:ext cx="2311146" cy="256032"/>
          </a:xfrm>
          <a:prstGeom prst="rect">
            <a:avLst/>
          </a:prstGeom>
          <a:noFill/>
        </p:spPr>
        <p:txBody>
          <a:bodyPr wrap="square" lIns="0" rIns="0" tIns="0" bIns="0" anchor="ctr">
            <a:spAutoFit/>
          </a:bodyPr>
          <a:lstStyle/>
          <a:p>
            <a:pPr algn="ctr">
              <a:lnSpc>
                <a:spcPts val="1050"/>
              </a:lnSpc>
              <a:spcAft>
                <a:spcPts val="0"/>
              </a:spcAft>
            </a:pPr>
            <a:r>
              <a:rPr sz="1050" b="1" lang="ja-JP">
                <a:solidFill>
                  <a:srgbClr val="17334A"/>
                </a:solidFill>
                <a:latin typeface="Yu Gothic"/>
                <a:ea typeface="Yu Gothic"/>
              </a:rPr>
              <a:t>Preview・デモでは未実装</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itle 1"/>
          <p:cNvSpPr>
            <a:spLocks noGrp="1"/>
          </p:cNvSpPr>
          <p:nvPr>
            <p:ph type="title"/>
          </p:nvPr>
        </p:nvSpPr>
        <p:spPr>
          <a:xfrm>
            <a:off x="731520" y="1828800"/>
            <a:ext cx="5486400" cy="1828800"/>
          </a:xfrm>
        </p:spPr>
        <p:txBody>
          <a:bodyPr wrap="square" lIns="0" rIns="0" tIns="0" bIns="0" anchor="t">
            <a:noAutofit/>
          </a:bodyPr>
          <a:lstStyle/>
          <a:p>
            <a:pPr algn="l">
              <a:lnSpc>
                <a:spcPts val="4400"/>
              </a:lnSpc>
              <a:spcAft>
                <a:spcPts val="2800"/>
              </a:spcAft>
            </a:pPr>
            <a:r>
              <a:rPr sz="4400" b="1" lang="ja-JP">
                <a:solidFill>
                  <a:srgbClr val="A9DCD9"/>
                </a:solidFill>
                <a:latin typeface="Yu Gothic"/>
                <a:ea typeface="Yu Gothic"/>
              </a:rPr>
              <a:t>第4章</a:t>
            </a:r>
          </a:p>
          <a:p>
            <a:pPr algn="l">
              <a:lnSpc>
                <a:spcPts val="4000"/>
              </a:lnSpc>
              <a:spcAft>
                <a:spcPts val="0"/>
              </a:spcAft>
            </a:pPr>
            <a:r>
              <a:rPr sz="4000" b="1" lang="ja-JP">
                <a:solidFill>
                  <a:srgbClr val="FFFFFF"/>
                </a:solidFill>
                <a:latin typeface="Yu Gothic"/>
                <a:ea typeface="Yu Gothic"/>
              </a:rPr>
              <a:t>進め方</a:t>
            </a:r>
          </a:p>
        </p:txBody>
      </p:sp>
      <p:cxnSp>
        <p:nvCxnSpPr>
          <p:cNvPr id="3" name="Connector 2">
            <a:extLst>
              <a:ext uri="{C183D7F6-B498-43B3-948B-1728B52AA6E4}">
                <adec:decorative xmlns:adec="http://schemas.microsoft.com/office/drawing/2017/decorative" val="1"/>
              </a:ext>
            </a:extLst>
          </p:cNvPr>
          <p:cNvCxnSpPr/>
          <p:nvPr/>
        </p:nvCxnSpPr>
        <p:spPr>
          <a:xfrm flipV="1">
            <a:off x="731519" y="5806440"/>
            <a:ext cx="1188721" cy="38404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a:off x="1920240" y="5806440"/>
            <a:ext cx="1371600" cy="438912"/>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flipV="1">
            <a:off x="3291840" y="5641848"/>
            <a:ext cx="1188719" cy="603504"/>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C183D7F6-B498-43B3-948B-1728B52AA6E4}">
                <adec:decorative xmlns:adec="http://schemas.microsoft.com/office/drawing/2017/decorative" val="1"/>
              </a:ext>
            </a:extLst>
          </p:cNvPr>
          <p:cNvCxnSpPr/>
          <p:nvPr/>
        </p:nvCxnSpPr>
        <p:spPr>
          <a:xfrm>
            <a:off x="4480559" y="5641848"/>
            <a:ext cx="914400" cy="65836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C183D7F6-B498-43B3-948B-1728B52AA6E4}">
                <adec:decorative xmlns:adec="http://schemas.microsoft.com/office/drawing/2017/decorative" val="1"/>
              </a:ext>
            </a:extLst>
          </p:cNvPr>
          <p:cNvCxnSpPr/>
          <p:nvPr/>
        </p:nvCxnSpPr>
        <p:spPr>
          <a:xfrm flipV="1">
            <a:off x="1920240" y="5394960"/>
            <a:ext cx="914400" cy="411480"/>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8" name="Connector 7">
            <a:extLst>
              <a:ext uri="{C183D7F6-B498-43B3-948B-1728B52AA6E4}">
                <adec:decorative xmlns:adec="http://schemas.microsoft.com/office/drawing/2017/decorative" val="1"/>
              </a:ext>
            </a:extLst>
          </p:cNvPr>
          <p:cNvCxnSpPr/>
          <p:nvPr/>
        </p:nvCxnSpPr>
        <p:spPr>
          <a:xfrm>
            <a:off x="2834640" y="5394960"/>
            <a:ext cx="1645919" cy="24688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C183D7F6-B498-43B3-948B-1728B52AA6E4}">
                <adec:decorative xmlns:adec="http://schemas.microsoft.com/office/drawing/2017/decorative" val="1"/>
              </a:ext>
            </a:extLst>
          </p:cNvPr>
          <p:cNvCxnSpPr/>
          <p:nvPr/>
        </p:nvCxnSpPr>
        <p:spPr>
          <a:xfrm>
            <a:off x="3291840" y="6245352"/>
            <a:ext cx="548640" cy="10972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10" name="Connector 9">
            <a:extLst>
              <a:ext uri="{C183D7F6-B498-43B3-948B-1728B52AA6E4}">
                <adec:decorative xmlns:adec="http://schemas.microsoft.com/office/drawing/2017/decorative" val="1"/>
              </a:ext>
            </a:extLst>
          </p:cNvPr>
          <p:cNvCxnSpPr/>
          <p:nvPr/>
        </p:nvCxnSpPr>
        <p:spPr>
          <a:xfrm flipV="1">
            <a:off x="3840480" y="6300216"/>
            <a:ext cx="1554479" cy="54864"/>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sp>
        <p:nvSpPr>
          <p:cNvPr id="11" name="Oval 10">
            <a:extLst>
              <a:ext uri="{C183D7F6-B498-43B3-948B-1728B52AA6E4}">
                <adec:decorative xmlns:adec="http://schemas.microsoft.com/office/drawing/2017/decorative" val="1"/>
              </a:ext>
            </a:extLst>
          </p:cNvPr>
          <p:cNvSpPr/>
          <p:nvPr/>
        </p:nvSpPr>
        <p:spPr>
          <a:xfrm>
            <a:off x="576071" y="6035040"/>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a:extLst>
              <a:ext uri="{C183D7F6-B498-43B3-948B-1728B52AA6E4}">
                <adec:decorative xmlns:adec="http://schemas.microsoft.com/office/drawing/2017/decorative" val="1"/>
              </a:ext>
            </a:extLst>
          </p:cNvPr>
          <p:cNvSpPr/>
          <p:nvPr/>
        </p:nvSpPr>
        <p:spPr>
          <a:xfrm>
            <a:off x="1737360" y="5623560"/>
            <a:ext cx="365760" cy="365760"/>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a:extLst>
              <a:ext uri="{C183D7F6-B498-43B3-948B-1728B52AA6E4}">
                <adec:decorative xmlns:adec="http://schemas.microsoft.com/office/drawing/2017/decorative" val="1"/>
              </a:ext>
            </a:extLst>
          </p:cNvPr>
          <p:cNvSpPr/>
          <p:nvPr/>
        </p:nvSpPr>
        <p:spPr>
          <a:xfrm>
            <a:off x="3081528" y="6035040"/>
            <a:ext cx="420624" cy="420624"/>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a:extLst>
              <a:ext uri="{C183D7F6-B498-43B3-948B-1728B52AA6E4}">
                <adec:decorative xmlns:adec="http://schemas.microsoft.com/office/drawing/2017/decorative" val="1"/>
              </a:ext>
            </a:extLst>
          </p:cNvPr>
          <p:cNvSpPr/>
          <p:nvPr/>
        </p:nvSpPr>
        <p:spPr>
          <a:xfrm>
            <a:off x="4325112" y="5486400"/>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a:extLst>
              <a:ext uri="{C183D7F6-B498-43B3-948B-1728B52AA6E4}">
                <adec:decorative xmlns:adec="http://schemas.microsoft.com/office/drawing/2017/decorative" val="1"/>
              </a:ext>
            </a:extLst>
          </p:cNvPr>
          <p:cNvSpPr/>
          <p:nvPr/>
        </p:nvSpPr>
        <p:spPr>
          <a:xfrm>
            <a:off x="5212079" y="6117336"/>
            <a:ext cx="365760" cy="365760"/>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a:extLst>
              <a:ext uri="{C183D7F6-B498-43B3-948B-1728B52AA6E4}">
                <adec:decorative xmlns:adec="http://schemas.microsoft.com/office/drawing/2017/decorative" val="1"/>
              </a:ext>
            </a:extLst>
          </p:cNvPr>
          <p:cNvSpPr/>
          <p:nvPr/>
        </p:nvSpPr>
        <p:spPr>
          <a:xfrm>
            <a:off x="2624328" y="5184648"/>
            <a:ext cx="420624" cy="420624"/>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a:extLst>
              <a:ext uri="{C183D7F6-B498-43B3-948B-1728B52AA6E4}">
                <adec:decorative xmlns:adec="http://schemas.microsoft.com/office/drawing/2017/decorative" val="1"/>
              </a:ext>
            </a:extLst>
          </p:cNvPr>
          <p:cNvSpPr/>
          <p:nvPr/>
        </p:nvSpPr>
        <p:spPr>
          <a:xfrm>
            <a:off x="3685032" y="6199632"/>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a:extLst>
              <a:ext uri="{C183D7F6-B498-43B3-948B-1728B52AA6E4}">
                <adec:decorative xmlns:adec="http://schemas.microsoft.com/office/drawing/2017/decorative" val="1"/>
              </a:ext>
            </a:extLst>
          </p:cNvPr>
          <p:cNvCxnSpPr/>
          <p:nvPr/>
        </p:nvCxnSpPr>
        <p:spPr>
          <a:xfrm>
            <a:off x="805129" y="776325"/>
            <a:ext cx="304952" cy="94641"/>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19" name="Connector 18">
            <a:extLst>
              <a:ext uri="{C183D7F6-B498-43B3-948B-1728B52AA6E4}">
                <adec:decorative xmlns:adec="http://schemas.microsoft.com/office/drawing/2017/decorative" val="1"/>
              </a:ext>
            </a:extLst>
          </p:cNvPr>
          <p:cNvCxnSpPr/>
          <p:nvPr/>
        </p:nvCxnSpPr>
        <p:spPr>
          <a:xfrm flipH="1">
            <a:off x="910285" y="870966"/>
            <a:ext cx="199796" cy="241858"/>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20" name="Connector 19">
            <a:extLst>
              <a:ext uri="{C183D7F6-B498-43B3-948B-1728B52AA6E4}">
                <adec:decorative xmlns:adec="http://schemas.microsoft.com/office/drawing/2017/decorative" val="1"/>
              </a:ext>
            </a:extLst>
          </p:cNvPr>
          <p:cNvCxnSpPr/>
          <p:nvPr/>
        </p:nvCxnSpPr>
        <p:spPr>
          <a:xfrm>
            <a:off x="805129" y="776325"/>
            <a:ext cx="105156" cy="336499"/>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sp>
        <p:nvSpPr>
          <p:cNvPr id="21" name="Oval 20">
            <a:extLst>
              <a:ext uri="{C183D7F6-B498-43B3-948B-1728B52AA6E4}">
                <adec:decorative xmlns:adec="http://schemas.microsoft.com/office/drawing/2017/decorative" val="1"/>
              </a:ext>
            </a:extLst>
          </p:cNvPr>
          <p:cNvSpPr/>
          <p:nvPr/>
        </p:nvSpPr>
        <p:spPr>
          <a:xfrm>
            <a:off x="736777" y="70797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a:extLst>
              <a:ext uri="{C183D7F6-B498-43B3-948B-1728B52AA6E4}">
                <adec:decorative xmlns:adec="http://schemas.microsoft.com/office/drawing/2017/decorative" val="1"/>
              </a:ext>
            </a:extLst>
          </p:cNvPr>
          <p:cNvSpPr/>
          <p:nvPr/>
        </p:nvSpPr>
        <p:spPr>
          <a:xfrm>
            <a:off x="1041730" y="80261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a:extLst>
              <a:ext uri="{C183D7F6-B498-43B3-948B-1728B52AA6E4}">
                <adec:decorative xmlns:adec="http://schemas.microsoft.com/office/drawing/2017/decorative" val="1"/>
              </a:ext>
            </a:extLst>
          </p:cNvPr>
          <p:cNvSpPr/>
          <p:nvPr/>
        </p:nvSpPr>
        <p:spPr>
          <a:xfrm>
            <a:off x="841933" y="1044473"/>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371600" y="749808"/>
            <a:ext cx="3657600" cy="274320"/>
          </a:xfrm>
          <a:prstGeom prst="rect">
            <a:avLst/>
          </a:prstGeom>
          <a:noFill/>
        </p:spPr>
        <p:txBody>
          <a:bodyPr wrap="square" lIns="0" rIns="0" tIns="0" bIns="0">
            <a:spAutoFit/>
          </a:bodyPr>
          <a:lstStyle/>
          <a:p>
            <a:pPr>
              <a:lnSpc>
                <a:spcPts val="1400"/>
              </a:lnSpc>
              <a:spcAft>
                <a:spcPts val="0"/>
              </a:spcAft>
            </a:pPr>
            <a:r>
              <a:rPr sz="1400" b="1" lang="ja-JP">
                <a:solidFill>
                  <a:srgbClr val="A9DCD9"/>
                </a:solidFill>
                <a:latin typeface="Yu Gothic"/>
                <a:ea typeface="Yu Gothic"/>
              </a:rPr>
              <a:t>章立て</a:t>
            </a:r>
          </a:p>
        </p:txBody>
      </p:sp>
      <p:sp>
        <p:nvSpPr>
          <p:cNvPr id="25" name="TextBox 24"/>
          <p:cNvSpPr txBox="1"/>
          <p:nvPr/>
        </p:nvSpPr>
        <p:spPr>
          <a:xfrm>
            <a:off x="749808" y="4114800"/>
            <a:ext cx="5394960" cy="914400"/>
          </a:xfrm>
          <a:prstGeom prst="rect">
            <a:avLst/>
          </a:prstGeom>
          <a:noFill/>
        </p:spPr>
        <p:txBody>
          <a:bodyPr wrap="square" lIns="0" rIns="0" tIns="0" bIns="0">
            <a:spAutoFit/>
          </a:bodyPr>
          <a:lstStyle/>
          <a:p>
            <a:pPr>
              <a:lnSpc>
                <a:spcPts val="2700"/>
              </a:lnSpc>
              <a:spcAft>
                <a:spcPts val="0"/>
              </a:spcAft>
            </a:pPr>
            <a:r>
              <a:rPr sz="1800" b="0" lang="ja-JP">
                <a:solidFill>
                  <a:srgbClr val="E6EEF2"/>
                </a:solidFill>
                <a:latin typeface="Yu Gothic"/>
                <a:ea typeface="Yu Gothic"/>
              </a:rPr>
              <a:t>小さく始める進め方、PoCの確認項目、</a:t>
            </a:r>
          </a:p>
          <a:p>
            <a:pPr>
              <a:lnSpc>
                <a:spcPts val="2700"/>
              </a:lnSpc>
              <a:spcAft>
                <a:spcPts val="0"/>
              </a:spcAft>
            </a:pPr>
            <a:r>
              <a:rPr sz="1800" b="0" lang="ja-JP">
                <a:solidFill>
                  <a:srgbClr val="E6EEF2"/>
                </a:solidFill>
                <a:latin typeface="Yu Gothic"/>
                <a:ea typeface="Yu Gothic"/>
              </a:rPr>
              <a:t>現時点の留意点、次のステップです。</a:t>
            </a:r>
          </a:p>
        </p:txBody>
      </p:sp>
      <p:sp>
        <p:nvSpPr>
          <p:cNvPr id="26" name="Rounded Rectangle 25">
            <a:extLst>
              <a:ext uri="{C183D7F6-B498-43B3-948B-1728B52AA6E4}">
                <adec:decorative xmlns:adec="http://schemas.microsoft.com/office/drawing/2017/decorative" val="1"/>
              </a:ext>
            </a:extLst>
          </p:cNvPr>
          <p:cNvSpPr/>
          <p:nvPr/>
        </p:nvSpPr>
        <p:spPr>
          <a:xfrm>
            <a:off x="6537960" y="685800"/>
            <a:ext cx="5102352" cy="2570480"/>
          </a:xfrm>
          <a:prstGeom prst="roundRect">
            <a:avLst>
              <a:gd name="adj" fmla="val 569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858000" y="960120"/>
            <a:ext cx="4389120" cy="292608"/>
          </a:xfrm>
          <a:prstGeom prst="rect">
            <a:avLst/>
          </a:prstGeom>
          <a:noFill/>
        </p:spPr>
        <p:txBody>
          <a:bodyPr wrap="square" lIns="0" rIns="0" tIns="0" bIns="0">
            <a:spAutoFit/>
          </a:bodyPr>
          <a:lstStyle/>
          <a:p>
            <a:pPr>
              <a:lnSpc>
                <a:spcPts val="1600"/>
              </a:lnSpc>
              <a:spcAft>
                <a:spcPts val="0"/>
              </a:spcAft>
            </a:pPr>
            <a:r>
              <a:rPr sz="1600" b="1" lang="ja-JP">
                <a:solidFill>
                  <a:srgbClr val="087F83"/>
                </a:solidFill>
                <a:latin typeface="Yu Gothic"/>
                <a:ea typeface="Yu Gothic"/>
              </a:rPr>
              <a:t>この章のページ（4枚）</a:t>
            </a:r>
          </a:p>
        </p:txBody>
      </p:sp>
      <p:sp>
        <p:nvSpPr>
          <p:cNvPr id="28" name="TextBox 27"/>
          <p:cNvSpPr txBox="1"/>
          <p:nvPr/>
        </p:nvSpPr>
        <p:spPr>
          <a:xfrm>
            <a:off x="6858000" y="155448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p.23</a:t>
            </a:r>
          </a:p>
        </p:txBody>
      </p:sp>
      <p:sp>
        <p:nvSpPr>
          <p:cNvPr id="29" name="TextBox 28"/>
          <p:cNvSpPr txBox="1"/>
          <p:nvPr/>
        </p:nvSpPr>
        <p:spPr>
          <a:xfrm>
            <a:off x="7543800" y="155448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質問1つから小さく始めて広げる</a:t>
            </a:r>
          </a:p>
        </p:txBody>
      </p:sp>
      <p:sp>
        <p:nvSpPr>
          <p:cNvPr id="30" name="TextBox 29"/>
          <p:cNvSpPr txBox="1"/>
          <p:nvPr/>
        </p:nvSpPr>
        <p:spPr>
          <a:xfrm>
            <a:off x="6858000" y="196850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p.24</a:t>
            </a:r>
          </a:p>
        </p:txBody>
      </p:sp>
      <p:sp>
        <p:nvSpPr>
          <p:cNvPr id="31" name="TextBox 30"/>
          <p:cNvSpPr txBox="1"/>
          <p:nvPr/>
        </p:nvSpPr>
        <p:spPr>
          <a:xfrm>
            <a:off x="7543800" y="196850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PoCで確認する項目とご準備いただく情報</a:t>
            </a:r>
          </a:p>
        </p:txBody>
      </p:sp>
      <p:sp>
        <p:nvSpPr>
          <p:cNvPr id="32" name="TextBox 31"/>
          <p:cNvSpPr txBox="1"/>
          <p:nvPr/>
        </p:nvSpPr>
        <p:spPr>
          <a:xfrm>
            <a:off x="6858000" y="238252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p.25</a:t>
            </a:r>
          </a:p>
        </p:txBody>
      </p:sp>
      <p:sp>
        <p:nvSpPr>
          <p:cNvPr id="33" name="TextBox 32"/>
          <p:cNvSpPr txBox="1"/>
          <p:nvPr/>
        </p:nvSpPr>
        <p:spPr>
          <a:xfrm>
            <a:off x="7543800" y="238252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現時点の提供状況とご留意いただく点</a:t>
            </a:r>
          </a:p>
        </p:txBody>
      </p:sp>
      <p:sp>
        <p:nvSpPr>
          <p:cNvPr id="34" name="TextBox 33"/>
          <p:cNvSpPr txBox="1"/>
          <p:nvPr/>
        </p:nvSpPr>
        <p:spPr>
          <a:xfrm>
            <a:off x="6858000" y="279654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p.26</a:t>
            </a:r>
          </a:p>
        </p:txBody>
      </p:sp>
      <p:sp>
        <p:nvSpPr>
          <p:cNvPr id="35" name="TextBox 34"/>
          <p:cNvSpPr txBox="1"/>
          <p:nvPr/>
        </p:nvSpPr>
        <p:spPr>
          <a:xfrm>
            <a:off x="7543800" y="279654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貴社の質問とデータでPoCを設計する</a:t>
            </a:r>
          </a:p>
        </p:txBody>
      </p:sp>
      <p:sp>
        <p:nvSpPr>
          <p:cNvPr id="36" name="TextBox 35"/>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A9DCD9"/>
                </a:solidFill>
                <a:latin typeface="Yu Gothic"/>
                <a:ea typeface="Yu Gothic"/>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質問1つから小さく始めて広げる</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第4章 進め方  |  小さく始める</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最初から全体を作る必要はないと考えています。</a:t>
            </a:r>
          </a:p>
          <a:p>
            <a:pPr>
              <a:lnSpc>
                <a:spcPts val="2160"/>
              </a:lnSpc>
              <a:spcAft>
                <a:spcPts val="0"/>
              </a:spcAft>
            </a:pPr>
            <a:r>
              <a:rPr sz="1600" b="0" lang="ja-JP">
                <a:solidFill>
                  <a:srgbClr val="566A78"/>
                </a:solidFill>
                <a:latin typeface="Yu Gothic"/>
                <a:ea typeface="Yu Gothic"/>
              </a:rPr>
              <a:t>答えたい質問を1つ決め、質問に出てくる名詞を概念に、つなぐ動詞を関係にする進め方をご提案します。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工数は、データの状態で大きく変わります。PoCの前に、キーや統合した表の有無を確認します。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23</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6126480"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77240" y="2258568"/>
            <a:ext cx="5029200" cy="274320"/>
          </a:xfrm>
          <a:prstGeom prst="rect">
            <a:avLst/>
          </a:prstGeom>
          <a:noFill/>
        </p:spPr>
        <p:txBody>
          <a:bodyPr wrap="square" lIns="0" rIns="0" tIns="0" bIns="0">
            <a:spAutoFit/>
          </a:bodyPr>
          <a:lstStyle/>
          <a:p>
            <a:pPr>
              <a:lnSpc>
                <a:spcPts val="1500"/>
              </a:lnSpc>
              <a:spcAft>
                <a:spcPts val="0"/>
              </a:spcAft>
            </a:pPr>
            <a:r>
              <a:rPr sz="1500" b="1" lang="ja-JP">
                <a:solidFill>
                  <a:srgbClr val="087F83"/>
                </a:solidFill>
                <a:latin typeface="Yu Gothic"/>
                <a:ea typeface="Yu Gothic"/>
              </a:rPr>
              <a:t>進め方（5ステップ）</a:t>
            </a:r>
          </a:p>
        </p:txBody>
      </p:sp>
      <p:sp>
        <p:nvSpPr>
          <p:cNvPr id="17" name="Oval 16">
            <a:extLst>
              <a:ext uri="{C183D7F6-B498-43B3-948B-1728B52AA6E4}">
                <adec:decorative xmlns:adec="http://schemas.microsoft.com/office/drawing/2017/decorative" val="1"/>
              </a:ext>
            </a:extLst>
          </p:cNvPr>
          <p:cNvSpPr/>
          <p:nvPr/>
        </p:nvSpPr>
        <p:spPr>
          <a:xfrm>
            <a:off x="777240" y="2743200"/>
            <a:ext cx="365760" cy="365760"/>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77240" y="2743200"/>
            <a:ext cx="365760" cy="365760"/>
          </a:xfrm>
          <a:prstGeom prst="rect">
            <a:avLst/>
          </a:prstGeom>
          <a:noFill/>
        </p:spPr>
        <p:txBody>
          <a:bodyPr wrap="square" lIns="0" rIns="0" tIns="0" bIns="0" anchor="ctr">
            <a:spAutoFit/>
          </a:bodyPr>
          <a:lstStyle/>
          <a:p>
            <a:pPr algn="ctr">
              <a:lnSpc>
                <a:spcPts val="1200"/>
              </a:lnSpc>
              <a:spcAft>
                <a:spcPts val="0"/>
              </a:spcAft>
            </a:pPr>
            <a:r>
              <a:rPr sz="1200" b="1" lang="ja-JP">
                <a:solidFill>
                  <a:srgbClr val="FFFFFF"/>
                </a:solidFill>
                <a:latin typeface="Yu Gothic"/>
                <a:ea typeface="Yu Gothic"/>
              </a:rPr>
              <a:t>1</a:t>
            </a:r>
          </a:p>
        </p:txBody>
      </p:sp>
      <p:sp>
        <p:nvSpPr>
          <p:cNvPr id="19" name="TextBox 18"/>
          <p:cNvSpPr txBox="1"/>
          <p:nvPr/>
        </p:nvSpPr>
        <p:spPr>
          <a:xfrm>
            <a:off x="1280160" y="2697480"/>
            <a:ext cx="5212080" cy="256032"/>
          </a:xfrm>
          <a:prstGeom prst="rect">
            <a:avLst/>
          </a:prstGeom>
          <a:noFill/>
        </p:spPr>
        <p:txBody>
          <a:bodyPr wrap="square" lIns="0" rIns="0" tIns="0" bIns="0">
            <a:spAutoFit/>
          </a:bodyPr>
          <a:lstStyle/>
          <a:p>
            <a:pPr>
              <a:lnSpc>
                <a:spcPts val="1400"/>
              </a:lnSpc>
              <a:spcAft>
                <a:spcPts val="0"/>
              </a:spcAft>
            </a:pPr>
            <a:r>
              <a:rPr sz="1400" b="1" lang="ja-JP">
                <a:solidFill>
                  <a:srgbClr val="17334A"/>
                </a:solidFill>
                <a:latin typeface="Yu Gothic"/>
                <a:ea typeface="Yu Gothic"/>
              </a:rPr>
              <a:t>質問を1つ決める</a:t>
            </a:r>
          </a:p>
        </p:txBody>
      </p:sp>
      <p:sp>
        <p:nvSpPr>
          <p:cNvPr id="20" name="TextBox 19"/>
          <p:cNvSpPr txBox="1"/>
          <p:nvPr/>
        </p:nvSpPr>
        <p:spPr>
          <a:xfrm>
            <a:off x="1280160" y="2971800"/>
            <a:ext cx="5212080" cy="219456"/>
          </a:xfrm>
          <a:prstGeom prst="rect">
            <a:avLst/>
          </a:prstGeom>
          <a:noFill/>
        </p:spPr>
        <p:txBody>
          <a:bodyPr wrap="square" lIns="0" rIns="0" tIns="0" bIns="0">
            <a:spAutoFit/>
          </a:bodyPr>
          <a:lstStyle/>
          <a:p>
            <a:pPr>
              <a:lnSpc>
                <a:spcPts val="1150"/>
              </a:lnSpc>
              <a:spcAft>
                <a:spcPts val="0"/>
              </a:spcAft>
            </a:pPr>
            <a:r>
              <a:rPr sz="1150" b="0" lang="ja-JP">
                <a:solidFill>
                  <a:srgbClr val="566A78"/>
                </a:solidFill>
                <a:latin typeface="Yu Gothic"/>
                <a:ea typeface="Yu Gothic"/>
              </a:rPr>
              <a:t>例：どの契約が、どのイベントで減ったか</a:t>
            </a:r>
          </a:p>
        </p:txBody>
      </p:sp>
      <p:sp>
        <p:nvSpPr>
          <p:cNvPr id="21" name="Oval 20">
            <a:extLst>
              <a:ext uri="{C183D7F6-B498-43B3-948B-1728B52AA6E4}">
                <adec:decorative xmlns:adec="http://schemas.microsoft.com/office/drawing/2017/decorative" val="1"/>
              </a:ext>
            </a:extLst>
          </p:cNvPr>
          <p:cNvSpPr/>
          <p:nvPr/>
        </p:nvSpPr>
        <p:spPr>
          <a:xfrm>
            <a:off x="777240" y="3337560"/>
            <a:ext cx="365760" cy="365760"/>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7240" y="3337560"/>
            <a:ext cx="365760" cy="365760"/>
          </a:xfrm>
          <a:prstGeom prst="rect">
            <a:avLst/>
          </a:prstGeom>
          <a:noFill/>
        </p:spPr>
        <p:txBody>
          <a:bodyPr wrap="square" lIns="0" rIns="0" tIns="0" bIns="0" anchor="ctr">
            <a:spAutoFit/>
          </a:bodyPr>
          <a:lstStyle/>
          <a:p>
            <a:pPr algn="ctr">
              <a:lnSpc>
                <a:spcPts val="1200"/>
              </a:lnSpc>
              <a:spcAft>
                <a:spcPts val="0"/>
              </a:spcAft>
            </a:pPr>
            <a:r>
              <a:rPr sz="1200" b="1" lang="ja-JP">
                <a:solidFill>
                  <a:srgbClr val="FFFFFF"/>
                </a:solidFill>
                <a:latin typeface="Yu Gothic"/>
                <a:ea typeface="Yu Gothic"/>
              </a:rPr>
              <a:t>2</a:t>
            </a:r>
          </a:p>
        </p:txBody>
      </p:sp>
      <p:sp>
        <p:nvSpPr>
          <p:cNvPr id="23" name="TextBox 22"/>
          <p:cNvSpPr txBox="1"/>
          <p:nvPr/>
        </p:nvSpPr>
        <p:spPr>
          <a:xfrm>
            <a:off x="1280160" y="3291840"/>
            <a:ext cx="5212080" cy="256032"/>
          </a:xfrm>
          <a:prstGeom prst="rect">
            <a:avLst/>
          </a:prstGeom>
          <a:noFill/>
        </p:spPr>
        <p:txBody>
          <a:bodyPr wrap="square" lIns="0" rIns="0" tIns="0" bIns="0">
            <a:spAutoFit/>
          </a:bodyPr>
          <a:lstStyle/>
          <a:p>
            <a:pPr>
              <a:lnSpc>
                <a:spcPts val="1400"/>
              </a:lnSpc>
              <a:spcAft>
                <a:spcPts val="0"/>
              </a:spcAft>
            </a:pPr>
            <a:r>
              <a:rPr sz="1400" b="1" lang="ja-JP">
                <a:solidFill>
                  <a:srgbClr val="17334A"/>
                </a:solidFill>
                <a:latin typeface="Yu Gothic"/>
                <a:ea typeface="Yu Gothic"/>
              </a:rPr>
              <a:t>名詞を概念にする</a:t>
            </a:r>
          </a:p>
        </p:txBody>
      </p:sp>
      <p:sp>
        <p:nvSpPr>
          <p:cNvPr id="24" name="TextBox 23"/>
          <p:cNvSpPr txBox="1"/>
          <p:nvPr/>
        </p:nvSpPr>
        <p:spPr>
          <a:xfrm>
            <a:off x="1280160" y="3566160"/>
            <a:ext cx="5212080" cy="219456"/>
          </a:xfrm>
          <a:prstGeom prst="rect">
            <a:avLst/>
          </a:prstGeom>
          <a:noFill/>
        </p:spPr>
        <p:txBody>
          <a:bodyPr wrap="square" lIns="0" rIns="0" tIns="0" bIns="0">
            <a:spAutoFit/>
          </a:bodyPr>
          <a:lstStyle/>
          <a:p>
            <a:pPr>
              <a:lnSpc>
                <a:spcPts val="1150"/>
              </a:lnSpc>
              <a:spcAft>
                <a:spcPts val="0"/>
              </a:spcAft>
            </a:pPr>
            <a:r>
              <a:rPr sz="1150" b="0" lang="ja-JP">
                <a:solidFill>
                  <a:srgbClr val="566A78"/>
                </a:solidFill>
                <a:latin typeface="Yu Gothic"/>
                <a:ea typeface="Yu Gothic"/>
              </a:rPr>
              <a:t>質問に出てくる、イベント、影響額、契約、会社</a:t>
            </a:r>
          </a:p>
        </p:txBody>
      </p:sp>
      <p:sp>
        <p:nvSpPr>
          <p:cNvPr id="25" name="Oval 24">
            <a:extLst>
              <a:ext uri="{C183D7F6-B498-43B3-948B-1728B52AA6E4}">
                <adec:decorative xmlns:adec="http://schemas.microsoft.com/office/drawing/2017/decorative" val="1"/>
              </a:ext>
            </a:extLst>
          </p:cNvPr>
          <p:cNvSpPr/>
          <p:nvPr/>
        </p:nvSpPr>
        <p:spPr>
          <a:xfrm>
            <a:off x="777240" y="3931920"/>
            <a:ext cx="365760" cy="365760"/>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77240" y="3931920"/>
            <a:ext cx="365760" cy="365760"/>
          </a:xfrm>
          <a:prstGeom prst="rect">
            <a:avLst/>
          </a:prstGeom>
          <a:noFill/>
        </p:spPr>
        <p:txBody>
          <a:bodyPr wrap="square" lIns="0" rIns="0" tIns="0" bIns="0" anchor="ctr">
            <a:spAutoFit/>
          </a:bodyPr>
          <a:lstStyle/>
          <a:p>
            <a:pPr algn="ctr">
              <a:lnSpc>
                <a:spcPts val="1200"/>
              </a:lnSpc>
              <a:spcAft>
                <a:spcPts val="0"/>
              </a:spcAft>
            </a:pPr>
            <a:r>
              <a:rPr sz="1200" b="1" lang="ja-JP">
                <a:solidFill>
                  <a:srgbClr val="FFFFFF"/>
                </a:solidFill>
                <a:latin typeface="Yu Gothic"/>
                <a:ea typeface="Yu Gothic"/>
              </a:rPr>
              <a:t>3</a:t>
            </a:r>
          </a:p>
        </p:txBody>
      </p:sp>
      <p:sp>
        <p:nvSpPr>
          <p:cNvPr id="27" name="TextBox 26"/>
          <p:cNvSpPr txBox="1"/>
          <p:nvPr/>
        </p:nvSpPr>
        <p:spPr>
          <a:xfrm>
            <a:off x="1280160" y="3886200"/>
            <a:ext cx="5212080" cy="256032"/>
          </a:xfrm>
          <a:prstGeom prst="rect">
            <a:avLst/>
          </a:prstGeom>
          <a:noFill/>
        </p:spPr>
        <p:txBody>
          <a:bodyPr wrap="square" lIns="0" rIns="0" tIns="0" bIns="0">
            <a:spAutoFit/>
          </a:bodyPr>
          <a:lstStyle/>
          <a:p>
            <a:pPr>
              <a:lnSpc>
                <a:spcPts val="1400"/>
              </a:lnSpc>
              <a:spcAft>
                <a:spcPts val="0"/>
              </a:spcAft>
            </a:pPr>
            <a:r>
              <a:rPr sz="1400" b="1" lang="ja-JP">
                <a:solidFill>
                  <a:srgbClr val="17334A"/>
                </a:solidFill>
                <a:latin typeface="Yu Gothic"/>
                <a:ea typeface="Yu Gothic"/>
              </a:rPr>
              <a:t>動詞を関係にする</a:t>
            </a:r>
          </a:p>
        </p:txBody>
      </p:sp>
      <p:sp>
        <p:nvSpPr>
          <p:cNvPr id="28" name="TextBox 27"/>
          <p:cNvSpPr txBox="1"/>
          <p:nvPr/>
        </p:nvSpPr>
        <p:spPr>
          <a:xfrm>
            <a:off x="1280160" y="4160520"/>
            <a:ext cx="5212080" cy="219456"/>
          </a:xfrm>
          <a:prstGeom prst="rect">
            <a:avLst/>
          </a:prstGeom>
          <a:noFill/>
        </p:spPr>
        <p:txBody>
          <a:bodyPr wrap="square" lIns="0" rIns="0" tIns="0" bIns="0">
            <a:spAutoFit/>
          </a:bodyPr>
          <a:lstStyle/>
          <a:p>
            <a:pPr>
              <a:lnSpc>
                <a:spcPts val="1150"/>
              </a:lnSpc>
              <a:spcAft>
                <a:spcPts val="0"/>
              </a:spcAft>
            </a:pPr>
            <a:r>
              <a:rPr sz="1150" b="0" lang="ja-JP">
                <a:solidFill>
                  <a:srgbClr val="566A78"/>
                </a:solidFill>
                <a:latin typeface="Yu Gothic"/>
                <a:ea typeface="Yu Gothic"/>
              </a:rPr>
              <a:t>イベント → 影響額 → 契約 → 会社 のつながり</a:t>
            </a:r>
          </a:p>
        </p:txBody>
      </p:sp>
      <p:sp>
        <p:nvSpPr>
          <p:cNvPr id="29" name="Oval 28">
            <a:extLst>
              <a:ext uri="{C183D7F6-B498-43B3-948B-1728B52AA6E4}">
                <adec:decorative xmlns:adec="http://schemas.microsoft.com/office/drawing/2017/decorative" val="1"/>
              </a:ext>
            </a:extLst>
          </p:cNvPr>
          <p:cNvSpPr/>
          <p:nvPr/>
        </p:nvSpPr>
        <p:spPr>
          <a:xfrm>
            <a:off x="777240" y="4526280"/>
            <a:ext cx="365760" cy="365760"/>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77240" y="4526280"/>
            <a:ext cx="365760" cy="365760"/>
          </a:xfrm>
          <a:prstGeom prst="rect">
            <a:avLst/>
          </a:prstGeom>
          <a:noFill/>
        </p:spPr>
        <p:txBody>
          <a:bodyPr wrap="square" lIns="0" rIns="0" tIns="0" bIns="0" anchor="ctr">
            <a:spAutoFit/>
          </a:bodyPr>
          <a:lstStyle/>
          <a:p>
            <a:pPr algn="ctr">
              <a:lnSpc>
                <a:spcPts val="1200"/>
              </a:lnSpc>
              <a:spcAft>
                <a:spcPts val="0"/>
              </a:spcAft>
            </a:pPr>
            <a:r>
              <a:rPr sz="1200" b="1" lang="ja-JP">
                <a:solidFill>
                  <a:srgbClr val="FFFFFF"/>
                </a:solidFill>
                <a:latin typeface="Yu Gothic"/>
                <a:ea typeface="Yu Gothic"/>
              </a:rPr>
              <a:t>4</a:t>
            </a:r>
          </a:p>
        </p:txBody>
      </p:sp>
      <p:sp>
        <p:nvSpPr>
          <p:cNvPr id="31" name="TextBox 30"/>
          <p:cNvSpPr txBox="1"/>
          <p:nvPr/>
        </p:nvSpPr>
        <p:spPr>
          <a:xfrm>
            <a:off x="1280160" y="4480560"/>
            <a:ext cx="5212080" cy="256032"/>
          </a:xfrm>
          <a:prstGeom prst="rect">
            <a:avLst/>
          </a:prstGeom>
          <a:noFill/>
        </p:spPr>
        <p:txBody>
          <a:bodyPr wrap="square" lIns="0" rIns="0" tIns="0" bIns="0">
            <a:spAutoFit/>
          </a:bodyPr>
          <a:lstStyle/>
          <a:p>
            <a:pPr>
              <a:lnSpc>
                <a:spcPts val="1400"/>
              </a:lnSpc>
              <a:spcAft>
                <a:spcPts val="0"/>
              </a:spcAft>
            </a:pPr>
            <a:r>
              <a:rPr sz="1400" b="1" lang="ja-JP">
                <a:solidFill>
                  <a:srgbClr val="17334A"/>
                </a:solidFill>
                <a:latin typeface="Yu Gothic"/>
                <a:ea typeface="Yu Gothic"/>
              </a:rPr>
              <a:t>表を1つずつ結び、質問で確かめる</a:t>
            </a:r>
          </a:p>
        </p:txBody>
      </p:sp>
      <p:sp>
        <p:nvSpPr>
          <p:cNvPr id="32" name="TextBox 31"/>
          <p:cNvSpPr txBox="1"/>
          <p:nvPr/>
        </p:nvSpPr>
        <p:spPr>
          <a:xfrm>
            <a:off x="1280160" y="4754880"/>
            <a:ext cx="5212080" cy="219456"/>
          </a:xfrm>
          <a:prstGeom prst="rect">
            <a:avLst/>
          </a:prstGeom>
          <a:noFill/>
        </p:spPr>
        <p:txBody>
          <a:bodyPr wrap="square" lIns="0" rIns="0" tIns="0" bIns="0">
            <a:spAutoFit/>
          </a:bodyPr>
          <a:lstStyle/>
          <a:p>
            <a:pPr>
              <a:lnSpc>
                <a:spcPts val="1150"/>
              </a:lnSpc>
              <a:spcAft>
                <a:spcPts val="0"/>
              </a:spcAft>
            </a:pPr>
            <a:r>
              <a:rPr sz="1150" b="0" lang="ja-JP">
                <a:solidFill>
                  <a:srgbClr val="566A78"/>
                </a:solidFill>
                <a:latin typeface="Yu Gothic"/>
                <a:ea typeface="Yu Gothic"/>
              </a:rPr>
              <a:t>概念ごとに、Lakehouseの表とキー列を指定する</a:t>
            </a:r>
          </a:p>
        </p:txBody>
      </p:sp>
      <p:sp>
        <p:nvSpPr>
          <p:cNvPr id="33" name="Oval 32">
            <a:extLst>
              <a:ext uri="{C183D7F6-B498-43B3-948B-1728B52AA6E4}">
                <adec:decorative xmlns:adec="http://schemas.microsoft.com/office/drawing/2017/decorative" val="1"/>
              </a:ext>
            </a:extLst>
          </p:cNvPr>
          <p:cNvSpPr/>
          <p:nvPr/>
        </p:nvSpPr>
        <p:spPr>
          <a:xfrm>
            <a:off x="777240" y="5120640"/>
            <a:ext cx="365760" cy="365760"/>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77240" y="5120640"/>
            <a:ext cx="365760" cy="365760"/>
          </a:xfrm>
          <a:prstGeom prst="rect">
            <a:avLst/>
          </a:prstGeom>
          <a:noFill/>
        </p:spPr>
        <p:txBody>
          <a:bodyPr wrap="square" lIns="0" rIns="0" tIns="0" bIns="0" anchor="ctr">
            <a:spAutoFit/>
          </a:bodyPr>
          <a:lstStyle/>
          <a:p>
            <a:pPr algn="ctr">
              <a:lnSpc>
                <a:spcPts val="1200"/>
              </a:lnSpc>
              <a:spcAft>
                <a:spcPts val="0"/>
              </a:spcAft>
            </a:pPr>
            <a:r>
              <a:rPr sz="1200" b="1" lang="ja-JP">
                <a:solidFill>
                  <a:srgbClr val="FFFFFF"/>
                </a:solidFill>
                <a:latin typeface="Yu Gothic"/>
                <a:ea typeface="Yu Gothic"/>
              </a:rPr>
              <a:t>5</a:t>
            </a:r>
          </a:p>
        </p:txBody>
      </p:sp>
      <p:sp>
        <p:nvSpPr>
          <p:cNvPr id="35" name="TextBox 34"/>
          <p:cNvSpPr txBox="1"/>
          <p:nvPr/>
        </p:nvSpPr>
        <p:spPr>
          <a:xfrm>
            <a:off x="1280160" y="5074920"/>
            <a:ext cx="5212080" cy="256032"/>
          </a:xfrm>
          <a:prstGeom prst="rect">
            <a:avLst/>
          </a:prstGeom>
          <a:noFill/>
        </p:spPr>
        <p:txBody>
          <a:bodyPr wrap="square" lIns="0" rIns="0" tIns="0" bIns="0">
            <a:spAutoFit/>
          </a:bodyPr>
          <a:lstStyle/>
          <a:p>
            <a:pPr>
              <a:lnSpc>
                <a:spcPts val="1400"/>
              </a:lnSpc>
              <a:spcAft>
                <a:spcPts val="0"/>
              </a:spcAft>
            </a:pPr>
            <a:r>
              <a:rPr sz="1400" b="1" lang="ja-JP">
                <a:solidFill>
                  <a:srgbClr val="17334A"/>
                </a:solidFill>
                <a:latin typeface="Yu Gothic"/>
                <a:ea typeface="Yu Gothic"/>
              </a:rPr>
              <a:t>足すのは、その後</a:t>
            </a:r>
          </a:p>
        </p:txBody>
      </p:sp>
      <p:sp>
        <p:nvSpPr>
          <p:cNvPr id="36" name="TextBox 35"/>
          <p:cNvSpPr txBox="1"/>
          <p:nvPr/>
        </p:nvSpPr>
        <p:spPr>
          <a:xfrm>
            <a:off x="1280160" y="5349240"/>
            <a:ext cx="5212080" cy="219456"/>
          </a:xfrm>
          <a:prstGeom prst="rect">
            <a:avLst/>
          </a:prstGeom>
          <a:noFill/>
        </p:spPr>
        <p:txBody>
          <a:bodyPr wrap="square" lIns="0" rIns="0" tIns="0" bIns="0">
            <a:spAutoFit/>
          </a:bodyPr>
          <a:lstStyle/>
          <a:p>
            <a:pPr>
              <a:lnSpc>
                <a:spcPts val="1150"/>
              </a:lnSpc>
              <a:spcAft>
                <a:spcPts val="0"/>
              </a:spcAft>
            </a:pPr>
            <a:r>
              <a:rPr sz="1150" b="0" lang="ja-JP">
                <a:solidFill>
                  <a:srgbClr val="566A78"/>
                </a:solidFill>
                <a:latin typeface="Yu Gothic"/>
                <a:ea typeface="Yu Gothic"/>
              </a:rPr>
              <a:t>概念と関係を増やし、ルールなどの新機能を足す</a:t>
            </a:r>
          </a:p>
        </p:txBody>
      </p:sp>
      <p:sp>
        <p:nvSpPr>
          <p:cNvPr id="37" name="Rounded Rectangle 36">
            <a:extLst>
              <a:ext uri="{C183D7F6-B498-43B3-948B-1728B52AA6E4}">
                <adec:decorative xmlns:adec="http://schemas.microsoft.com/office/drawing/2017/decorative" val="1"/>
              </a:ext>
            </a:extLst>
          </p:cNvPr>
          <p:cNvSpPr/>
          <p:nvPr/>
        </p:nvSpPr>
        <p:spPr>
          <a:xfrm>
            <a:off x="6858000" y="2148840"/>
            <a:ext cx="478231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086600" y="2258568"/>
            <a:ext cx="4297680" cy="274320"/>
          </a:xfrm>
          <a:prstGeom prst="rect">
            <a:avLst/>
          </a:prstGeom>
          <a:noFill/>
        </p:spPr>
        <p:txBody>
          <a:bodyPr wrap="square" lIns="0" rIns="0" tIns="0" bIns="0">
            <a:spAutoFit/>
          </a:bodyPr>
          <a:lstStyle/>
          <a:p>
            <a:pPr>
              <a:lnSpc>
                <a:spcPts val="1500"/>
              </a:lnSpc>
              <a:spcAft>
                <a:spcPts val="0"/>
              </a:spcAft>
            </a:pPr>
            <a:r>
              <a:rPr sz="1500" b="1" lang="ja-JP">
                <a:solidFill>
                  <a:srgbClr val="087F83"/>
                </a:solidFill>
                <a:latin typeface="Yu Gothic"/>
                <a:ea typeface="Yu Gothic"/>
              </a:rPr>
              <a:t>このデモの中で見ると</a:t>
            </a:r>
          </a:p>
        </p:txBody>
      </p:sp>
      <p:sp>
        <p:nvSpPr>
          <p:cNvPr id="39" name="Rounded Rectangle 38">
            <a:extLst>
              <a:ext uri="{C183D7F6-B498-43B3-948B-1728B52AA6E4}">
                <adec:decorative xmlns:adec="http://schemas.microsoft.com/office/drawing/2017/decorative" val="1"/>
              </a:ext>
            </a:extLst>
          </p:cNvPr>
          <p:cNvSpPr/>
          <p:nvPr/>
        </p:nvSpPr>
        <p:spPr>
          <a:xfrm>
            <a:off x="7086600" y="2651760"/>
            <a:ext cx="4343400" cy="731520"/>
          </a:xfrm>
          <a:prstGeom prst="roundRect">
            <a:avLst>
              <a:gd name="adj" fmla="val 875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7223760" y="2651760"/>
            <a:ext cx="1325880" cy="731520"/>
          </a:xfrm>
          <a:prstGeom prst="rect">
            <a:avLst/>
          </a:prstGeom>
          <a:noFill/>
        </p:spPr>
        <p:txBody>
          <a:bodyPr wrap="square" lIns="0" rIns="0" tIns="0" bIns="0" anchor="ctr">
            <a:spAutoFit/>
          </a:bodyPr>
          <a:lstStyle/>
          <a:p>
            <a:pPr>
              <a:lnSpc>
                <a:spcPts val="2100"/>
              </a:lnSpc>
              <a:spcAft>
                <a:spcPts val="0"/>
              </a:spcAft>
            </a:pPr>
            <a:r>
              <a:rPr sz="2100" b="1" lang="ja-JP">
                <a:solidFill>
                  <a:srgbClr val="087F83"/>
                </a:solidFill>
                <a:latin typeface="Yu Gothic"/>
                <a:ea typeface="Yu Gothic"/>
              </a:rPr>
              <a:t>4 / 3</a:t>
            </a:r>
          </a:p>
        </p:txBody>
      </p:sp>
      <p:sp>
        <p:nvSpPr>
          <p:cNvPr id="41" name="TextBox 40"/>
          <p:cNvSpPr txBox="1"/>
          <p:nvPr/>
        </p:nvSpPr>
        <p:spPr>
          <a:xfrm>
            <a:off x="8595360" y="2743200"/>
            <a:ext cx="2743200" cy="237744"/>
          </a:xfrm>
          <a:prstGeom prst="rect">
            <a:avLst/>
          </a:prstGeom>
          <a:noFill/>
        </p:spPr>
        <p:txBody>
          <a:bodyPr wrap="square" lIns="0" rIns="0" tIns="0" bIns="0">
            <a:spAutoFit/>
          </a:bodyPr>
          <a:lstStyle/>
          <a:p>
            <a:pPr>
              <a:lnSpc>
                <a:spcPts val="1250"/>
              </a:lnSpc>
              <a:spcAft>
                <a:spcPts val="0"/>
              </a:spcAft>
            </a:pPr>
            <a:r>
              <a:rPr sz="1250" b="1" lang="ja-JP">
                <a:solidFill>
                  <a:srgbClr val="17334A"/>
                </a:solidFill>
                <a:latin typeface="Yu Gothic"/>
                <a:ea typeface="Yu Gothic"/>
              </a:rPr>
              <a:t>質問④で使った範囲</a:t>
            </a:r>
          </a:p>
        </p:txBody>
      </p:sp>
      <p:sp>
        <p:nvSpPr>
          <p:cNvPr id="42" name="TextBox 41"/>
          <p:cNvSpPr txBox="1"/>
          <p:nvPr/>
        </p:nvSpPr>
        <p:spPr>
          <a:xfrm>
            <a:off x="8595360" y="3035808"/>
            <a:ext cx="2788920" cy="310896"/>
          </a:xfrm>
          <a:prstGeom prst="rect">
            <a:avLst/>
          </a:prstGeom>
          <a:noFill/>
        </p:spPr>
        <p:txBody>
          <a:bodyPr wrap="square" lIns="0" rIns="0" tIns="0" bIns="0">
            <a:spAutoFit/>
          </a:bodyPr>
          <a:lstStyle/>
          <a:p>
            <a:pPr>
              <a:lnSpc>
                <a:spcPts val="1210"/>
              </a:lnSpc>
              <a:spcAft>
                <a:spcPts val="0"/>
              </a:spcAft>
            </a:pPr>
            <a:r>
              <a:rPr sz="1050" b="0" lang="ja-JP">
                <a:solidFill>
                  <a:srgbClr val="21374A"/>
                </a:solidFill>
                <a:latin typeface="Yu Gothic"/>
                <a:ea typeface="Yu Gothic"/>
              </a:rPr>
              <a:t>イベント → 影響額 → 契約 → 会社</a:t>
            </a:r>
          </a:p>
        </p:txBody>
      </p:sp>
      <p:sp>
        <p:nvSpPr>
          <p:cNvPr id="43" name="Rounded Rectangle 42">
            <a:extLst>
              <a:ext uri="{C183D7F6-B498-43B3-948B-1728B52AA6E4}">
                <adec:decorative xmlns:adec="http://schemas.microsoft.com/office/drawing/2017/decorative" val="1"/>
              </a:ext>
            </a:extLst>
          </p:cNvPr>
          <p:cNvSpPr/>
          <p:nvPr/>
        </p:nvSpPr>
        <p:spPr>
          <a:xfrm>
            <a:off x="7086600" y="3456432"/>
            <a:ext cx="4343400" cy="731520"/>
          </a:xfrm>
          <a:prstGeom prst="roundRect">
            <a:avLst>
              <a:gd name="adj" fmla="val 875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223760" y="3456432"/>
            <a:ext cx="1325880" cy="731520"/>
          </a:xfrm>
          <a:prstGeom prst="rect">
            <a:avLst/>
          </a:prstGeom>
          <a:noFill/>
        </p:spPr>
        <p:txBody>
          <a:bodyPr wrap="square" lIns="0" rIns="0" tIns="0" bIns="0" anchor="ctr">
            <a:spAutoFit/>
          </a:bodyPr>
          <a:lstStyle/>
          <a:p>
            <a:pPr>
              <a:lnSpc>
                <a:spcPts val="2100"/>
              </a:lnSpc>
              <a:spcAft>
                <a:spcPts val="0"/>
              </a:spcAft>
            </a:pPr>
            <a:r>
              <a:rPr sz="2100" b="1" lang="ja-JP">
                <a:solidFill>
                  <a:srgbClr val="7352AD"/>
                </a:solidFill>
                <a:latin typeface="Yu Gothic"/>
                <a:ea typeface="Yu Gothic"/>
              </a:rPr>
              <a:t>8 / 7</a:t>
            </a:r>
          </a:p>
        </p:txBody>
      </p:sp>
      <p:sp>
        <p:nvSpPr>
          <p:cNvPr id="45" name="TextBox 44"/>
          <p:cNvSpPr txBox="1"/>
          <p:nvPr/>
        </p:nvSpPr>
        <p:spPr>
          <a:xfrm>
            <a:off x="8595360" y="3547872"/>
            <a:ext cx="2743200" cy="237744"/>
          </a:xfrm>
          <a:prstGeom prst="rect">
            <a:avLst/>
          </a:prstGeom>
          <a:noFill/>
        </p:spPr>
        <p:txBody>
          <a:bodyPr wrap="square" lIns="0" rIns="0" tIns="0" bIns="0">
            <a:spAutoFit/>
          </a:bodyPr>
          <a:lstStyle/>
          <a:p>
            <a:pPr>
              <a:lnSpc>
                <a:spcPts val="1250"/>
              </a:lnSpc>
              <a:spcAft>
                <a:spcPts val="0"/>
              </a:spcAft>
            </a:pPr>
            <a:r>
              <a:rPr sz="1250" b="1" lang="ja-JP">
                <a:solidFill>
                  <a:srgbClr val="17334A"/>
                </a:solidFill>
                <a:latin typeface="Yu Gothic"/>
                <a:ea typeface="Yu Gothic"/>
              </a:rPr>
              <a:t>質問③の根拠までの経路</a:t>
            </a:r>
          </a:p>
        </p:txBody>
      </p:sp>
      <p:sp>
        <p:nvSpPr>
          <p:cNvPr id="46" name="TextBox 45"/>
          <p:cNvSpPr txBox="1"/>
          <p:nvPr/>
        </p:nvSpPr>
        <p:spPr>
          <a:xfrm>
            <a:off x="8595360" y="3840480"/>
            <a:ext cx="2788920" cy="310896"/>
          </a:xfrm>
          <a:prstGeom prst="rect">
            <a:avLst/>
          </a:prstGeom>
          <a:noFill/>
        </p:spPr>
        <p:txBody>
          <a:bodyPr wrap="square" lIns="0" rIns="0" tIns="0" bIns="0">
            <a:spAutoFit/>
          </a:bodyPr>
          <a:lstStyle/>
          <a:p>
            <a:pPr>
              <a:lnSpc>
                <a:spcPts val="1210"/>
              </a:lnSpc>
              <a:spcAft>
                <a:spcPts val="0"/>
              </a:spcAft>
            </a:pPr>
            <a:r>
              <a:rPr sz="1050" b="0" lang="ja-JP">
                <a:solidFill>
                  <a:srgbClr val="21374A"/>
                </a:solidFill>
                <a:latin typeface="Yu Gothic"/>
                <a:ea typeface="Yu Gothic"/>
              </a:rPr>
              <a:t>根拠記録から全社KPIまで（食品の例）</a:t>
            </a:r>
          </a:p>
        </p:txBody>
      </p:sp>
      <p:sp>
        <p:nvSpPr>
          <p:cNvPr id="47" name="Rounded Rectangle 46">
            <a:extLst>
              <a:ext uri="{C183D7F6-B498-43B3-948B-1728B52AA6E4}">
                <adec:decorative xmlns:adec="http://schemas.microsoft.com/office/drawing/2017/decorative" val="1"/>
              </a:ext>
            </a:extLst>
          </p:cNvPr>
          <p:cNvSpPr/>
          <p:nvPr/>
        </p:nvSpPr>
        <p:spPr>
          <a:xfrm>
            <a:off x="7086600" y="4261104"/>
            <a:ext cx="4343400" cy="731520"/>
          </a:xfrm>
          <a:prstGeom prst="roundRect">
            <a:avLst>
              <a:gd name="adj" fmla="val 8750"/>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7223760" y="4261104"/>
            <a:ext cx="1325880" cy="731520"/>
          </a:xfrm>
          <a:prstGeom prst="rect">
            <a:avLst/>
          </a:prstGeom>
          <a:noFill/>
        </p:spPr>
        <p:txBody>
          <a:bodyPr wrap="square" lIns="0" rIns="0" tIns="0" bIns="0" anchor="ctr">
            <a:spAutoFit/>
          </a:bodyPr>
          <a:lstStyle/>
          <a:p>
            <a:pPr>
              <a:lnSpc>
                <a:spcPts val="2100"/>
              </a:lnSpc>
              <a:spcAft>
                <a:spcPts val="0"/>
              </a:spcAft>
            </a:pPr>
            <a:r>
              <a:rPr sz="2100" b="1" lang="ja-JP">
                <a:solidFill>
                  <a:srgbClr val="BD4354"/>
                </a:solidFill>
                <a:latin typeface="Yu Gothic"/>
                <a:ea typeface="Yu Gothic"/>
              </a:rPr>
              <a:t>17 / 39</a:t>
            </a:r>
          </a:p>
        </p:txBody>
      </p:sp>
      <p:sp>
        <p:nvSpPr>
          <p:cNvPr id="49" name="TextBox 48"/>
          <p:cNvSpPr txBox="1"/>
          <p:nvPr/>
        </p:nvSpPr>
        <p:spPr>
          <a:xfrm>
            <a:off x="8595360" y="4352544"/>
            <a:ext cx="2743200" cy="237744"/>
          </a:xfrm>
          <a:prstGeom prst="rect">
            <a:avLst/>
          </a:prstGeom>
          <a:noFill/>
        </p:spPr>
        <p:txBody>
          <a:bodyPr wrap="square" lIns="0" rIns="0" tIns="0" bIns="0">
            <a:spAutoFit/>
          </a:bodyPr>
          <a:lstStyle/>
          <a:p>
            <a:pPr>
              <a:lnSpc>
                <a:spcPts val="1250"/>
              </a:lnSpc>
              <a:spcAft>
                <a:spcPts val="0"/>
              </a:spcAft>
            </a:pPr>
            <a:r>
              <a:rPr sz="1250" b="1" lang="ja-JP">
                <a:solidFill>
                  <a:srgbClr val="17334A"/>
                </a:solidFill>
                <a:latin typeface="Yu Gothic"/>
                <a:ea typeface="Yu Gothic"/>
              </a:rPr>
              <a:t>このデモの全体</a:t>
            </a:r>
          </a:p>
        </p:txBody>
      </p:sp>
      <p:sp>
        <p:nvSpPr>
          <p:cNvPr id="50" name="TextBox 49"/>
          <p:cNvSpPr txBox="1"/>
          <p:nvPr/>
        </p:nvSpPr>
        <p:spPr>
          <a:xfrm>
            <a:off x="8595360" y="4645152"/>
            <a:ext cx="2788920" cy="310896"/>
          </a:xfrm>
          <a:prstGeom prst="rect">
            <a:avLst/>
          </a:prstGeom>
          <a:noFill/>
        </p:spPr>
        <p:txBody>
          <a:bodyPr wrap="square" lIns="0" rIns="0" tIns="0" bIns="0">
            <a:spAutoFit/>
          </a:bodyPr>
          <a:lstStyle/>
          <a:p>
            <a:pPr>
              <a:lnSpc>
                <a:spcPts val="1210"/>
              </a:lnSpc>
              <a:spcAft>
                <a:spcPts val="0"/>
              </a:spcAft>
            </a:pPr>
            <a:r>
              <a:rPr sz="1050" b="0" lang="ja-JP">
                <a:solidFill>
                  <a:srgbClr val="21374A"/>
                </a:solidFill>
                <a:latin typeface="Yu Gothic"/>
                <a:ea typeface="Yu Gothic"/>
              </a:rPr>
              <a:t>事業固有の観測、出荷、日次指標などを含む</a:t>
            </a:r>
          </a:p>
        </p:txBody>
      </p:sp>
      <p:sp>
        <p:nvSpPr>
          <p:cNvPr id="51" name="TextBox 50"/>
          <p:cNvSpPr txBox="1"/>
          <p:nvPr/>
        </p:nvSpPr>
        <p:spPr>
          <a:xfrm>
            <a:off x="7086600" y="5102352"/>
            <a:ext cx="4343400" cy="548640"/>
          </a:xfrm>
          <a:prstGeom prst="rect">
            <a:avLst/>
          </a:prstGeom>
          <a:noFill/>
        </p:spPr>
        <p:txBody>
          <a:bodyPr wrap="square" lIns="0" rIns="0" tIns="0" bIns="0">
            <a:spAutoFit/>
          </a:bodyPr>
          <a:lstStyle/>
          <a:p>
            <a:pPr>
              <a:lnSpc>
                <a:spcPts val="1370"/>
              </a:lnSpc>
              <a:spcAft>
                <a:spcPts val="0"/>
              </a:spcAft>
            </a:pPr>
            <a:r>
              <a:rPr sz="1050" b="0" lang="ja-JP">
                <a:solidFill>
                  <a:srgbClr val="566A78"/>
                </a:solidFill>
                <a:latin typeface="Yu Gothic"/>
                <a:ea typeface="Yu Gothic"/>
              </a:rPr>
              <a:t>数字は「概念の数 / 関係の数」です。4/3と8/7は、この</a:t>
            </a:r>
            <a:br>
              <a:rPr lang="ja-JP" sz="1050"/>
            </a:br>
            <a:r>
              <a:rPr sz="1050" b="0" lang="ja-JP">
                <a:solidFill>
                  <a:srgbClr val="566A78"/>
                </a:solidFill>
                <a:latin typeface="Yu Gothic"/>
                <a:ea typeface="Yu Gothic"/>
              </a:rPr>
              <a:t>デモの一部の範囲で、単独では作成も検証もしていません。</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PoCで確認する項目とご準備いただく情報</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第4章 進め方  |  PoCの進め方</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PoCの目的は、貴社のデータと問いで、同じ形の答えと根拠が出るかを確かめることです。</a:t>
            </a:r>
          </a:p>
          <a:p>
            <a:pPr>
              <a:lnSpc>
                <a:spcPts val="2160"/>
              </a:lnSpc>
              <a:spcAft>
                <a:spcPts val="0"/>
              </a:spcAft>
            </a:pPr>
            <a:r>
              <a:rPr sz="1600" b="0" lang="ja-JP">
                <a:solidFill>
                  <a:srgbClr val="566A78"/>
                </a:solidFill>
                <a:latin typeface="Yu Gothic"/>
                <a:ea typeface="Yu Gothic"/>
              </a:rPr>
              <a:t>評価の基準を先に決めておくと、結果を判断しやすくなります。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イベントの記録が少なくても、基準値との差が大きい月から集めて始められます。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24</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546811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77240" y="2240280"/>
            <a:ext cx="4572000" cy="274320"/>
          </a:xfrm>
          <a:prstGeom prst="rect">
            <a:avLst/>
          </a:prstGeom>
          <a:noFill/>
        </p:spPr>
        <p:txBody>
          <a:bodyPr wrap="square" lIns="0" rIns="0" tIns="0" bIns="0">
            <a:spAutoFit/>
          </a:bodyPr>
          <a:lstStyle/>
          <a:p>
            <a:pPr>
              <a:lnSpc>
                <a:spcPts val="1500"/>
              </a:lnSpc>
              <a:spcAft>
                <a:spcPts val="0"/>
              </a:spcAft>
            </a:pPr>
            <a:r>
              <a:rPr sz="1500" b="1" lang="ja-JP">
                <a:solidFill>
                  <a:srgbClr val="087F83"/>
                </a:solidFill>
                <a:latin typeface="Yu Gothic"/>
                <a:ea typeface="Yu Gothic"/>
              </a:rPr>
              <a:t>確認すること</a:t>
            </a:r>
          </a:p>
        </p:txBody>
      </p:sp>
      <p:sp>
        <p:nvSpPr>
          <p:cNvPr id="17" name="Oval 16">
            <a:extLst>
              <a:ext uri="{C183D7F6-B498-43B3-948B-1728B52AA6E4}">
                <adec:decorative xmlns:adec="http://schemas.microsoft.com/office/drawing/2017/decorative" val="1"/>
              </a:ext>
            </a:extLst>
          </p:cNvPr>
          <p:cNvSpPr/>
          <p:nvPr/>
        </p:nvSpPr>
        <p:spPr>
          <a:xfrm>
            <a:off x="786384" y="2679192"/>
            <a:ext cx="347472" cy="347472"/>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86384" y="2679192"/>
            <a:ext cx="347472" cy="34747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1</a:t>
            </a:r>
          </a:p>
        </p:txBody>
      </p:sp>
      <p:sp>
        <p:nvSpPr>
          <p:cNvPr id="19" name="TextBox 18"/>
          <p:cNvSpPr txBox="1"/>
          <p:nvPr/>
        </p:nvSpPr>
        <p:spPr>
          <a:xfrm>
            <a:off x="1325880" y="2633472"/>
            <a:ext cx="4480560" cy="237744"/>
          </a:xfrm>
          <a:prstGeom prst="rect">
            <a:avLst/>
          </a:prstGeom>
          <a:noFill/>
        </p:spPr>
        <p:txBody>
          <a:bodyPr wrap="square" lIns="0" rIns="0" tIns="0" bIns="0">
            <a:spAutoFit/>
          </a:bodyPr>
          <a:lstStyle/>
          <a:p>
            <a:pPr>
              <a:lnSpc>
                <a:spcPts val="1350"/>
              </a:lnSpc>
              <a:spcAft>
                <a:spcPts val="0"/>
              </a:spcAft>
            </a:pPr>
            <a:r>
              <a:rPr sz="1350" b="1" lang="ja-JP">
                <a:solidFill>
                  <a:srgbClr val="17334A"/>
                </a:solidFill>
                <a:latin typeface="Yu Gothic"/>
                <a:ea typeface="Yu Gothic"/>
              </a:rPr>
              <a:t>答えの正確さ</a:t>
            </a:r>
          </a:p>
        </p:txBody>
      </p:sp>
      <p:sp>
        <p:nvSpPr>
          <p:cNvPr id="20" name="TextBox 19"/>
          <p:cNvSpPr txBox="1"/>
          <p:nvPr/>
        </p:nvSpPr>
        <p:spPr>
          <a:xfrm>
            <a:off x="1325880" y="2880360"/>
            <a:ext cx="4526280" cy="237744"/>
          </a:xfrm>
          <a:prstGeom prst="rect">
            <a:avLst/>
          </a:prstGeom>
          <a:noFill/>
        </p:spPr>
        <p:txBody>
          <a:bodyPr wrap="square" lIns="0" rIns="0" tIns="0" bIns="0">
            <a:spAutoFit/>
          </a:bodyPr>
          <a:lstStyle/>
          <a:p>
            <a:pPr>
              <a:lnSpc>
                <a:spcPts val="1260"/>
              </a:lnSpc>
              <a:spcAft>
                <a:spcPts val="0"/>
              </a:spcAft>
            </a:pPr>
            <a:r>
              <a:rPr sz="1100" b="0" lang="ja-JP">
                <a:solidFill>
                  <a:srgbClr val="21374A"/>
                </a:solidFill>
                <a:latin typeface="Yu Gothic"/>
                <a:ea typeface="Yu Gothic"/>
              </a:rPr>
              <a:t>元データの集計と、金額が一致するか</a:t>
            </a:r>
          </a:p>
        </p:txBody>
      </p:sp>
      <p:sp>
        <p:nvSpPr>
          <p:cNvPr id="21" name="Oval 20">
            <a:extLst>
              <a:ext uri="{C183D7F6-B498-43B3-948B-1728B52AA6E4}">
                <adec:decorative xmlns:adec="http://schemas.microsoft.com/office/drawing/2017/decorative" val="1"/>
              </a:ext>
            </a:extLst>
          </p:cNvPr>
          <p:cNvSpPr/>
          <p:nvPr/>
        </p:nvSpPr>
        <p:spPr>
          <a:xfrm>
            <a:off x="786384" y="3191256"/>
            <a:ext cx="347472" cy="347472"/>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86384" y="3191256"/>
            <a:ext cx="347472" cy="34747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2</a:t>
            </a:r>
          </a:p>
        </p:txBody>
      </p:sp>
      <p:sp>
        <p:nvSpPr>
          <p:cNvPr id="23" name="TextBox 22"/>
          <p:cNvSpPr txBox="1"/>
          <p:nvPr/>
        </p:nvSpPr>
        <p:spPr>
          <a:xfrm>
            <a:off x="1325880" y="3145536"/>
            <a:ext cx="4480560" cy="237744"/>
          </a:xfrm>
          <a:prstGeom prst="rect">
            <a:avLst/>
          </a:prstGeom>
          <a:noFill/>
        </p:spPr>
        <p:txBody>
          <a:bodyPr wrap="square" lIns="0" rIns="0" tIns="0" bIns="0">
            <a:spAutoFit/>
          </a:bodyPr>
          <a:lstStyle/>
          <a:p>
            <a:pPr>
              <a:lnSpc>
                <a:spcPts val="1350"/>
              </a:lnSpc>
              <a:spcAft>
                <a:spcPts val="0"/>
              </a:spcAft>
            </a:pPr>
            <a:r>
              <a:rPr sz="1350" b="1" lang="ja-JP">
                <a:solidFill>
                  <a:srgbClr val="17334A"/>
                </a:solidFill>
                <a:latin typeface="Yu Gothic"/>
                <a:ea typeface="Yu Gothic"/>
              </a:rPr>
              <a:t>根拠への到達</a:t>
            </a:r>
          </a:p>
        </p:txBody>
      </p:sp>
      <p:sp>
        <p:nvSpPr>
          <p:cNvPr id="24" name="TextBox 23"/>
          <p:cNvSpPr txBox="1"/>
          <p:nvPr/>
        </p:nvSpPr>
        <p:spPr>
          <a:xfrm>
            <a:off x="1325880" y="3392424"/>
            <a:ext cx="4526280" cy="237744"/>
          </a:xfrm>
          <a:prstGeom prst="rect">
            <a:avLst/>
          </a:prstGeom>
          <a:noFill/>
        </p:spPr>
        <p:txBody>
          <a:bodyPr wrap="square" lIns="0" rIns="0" tIns="0" bIns="0">
            <a:spAutoFit/>
          </a:bodyPr>
          <a:lstStyle/>
          <a:p>
            <a:pPr>
              <a:lnSpc>
                <a:spcPts val="1260"/>
              </a:lnSpc>
              <a:spcAft>
                <a:spcPts val="0"/>
              </a:spcAft>
            </a:pPr>
            <a:r>
              <a:rPr sz="1100" b="0" lang="ja-JP">
                <a:solidFill>
                  <a:srgbClr val="21374A"/>
                </a:solidFill>
                <a:latin typeface="Yu Gothic"/>
                <a:ea typeface="Yu Gothic"/>
              </a:rPr>
              <a:t>金額から、契約と記録まで関係をたどれるか</a:t>
            </a:r>
          </a:p>
        </p:txBody>
      </p:sp>
      <p:sp>
        <p:nvSpPr>
          <p:cNvPr id="25" name="Oval 24">
            <a:extLst>
              <a:ext uri="{C183D7F6-B498-43B3-948B-1728B52AA6E4}">
                <adec:decorative xmlns:adec="http://schemas.microsoft.com/office/drawing/2017/decorative" val="1"/>
              </a:ext>
            </a:extLst>
          </p:cNvPr>
          <p:cNvSpPr/>
          <p:nvPr/>
        </p:nvSpPr>
        <p:spPr>
          <a:xfrm>
            <a:off x="786384" y="3703320"/>
            <a:ext cx="347472" cy="347472"/>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86384" y="3703320"/>
            <a:ext cx="347472" cy="34747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3</a:t>
            </a:r>
          </a:p>
        </p:txBody>
      </p:sp>
      <p:sp>
        <p:nvSpPr>
          <p:cNvPr id="27" name="TextBox 26"/>
          <p:cNvSpPr txBox="1"/>
          <p:nvPr/>
        </p:nvSpPr>
        <p:spPr>
          <a:xfrm>
            <a:off x="1325880" y="3657600"/>
            <a:ext cx="4480560" cy="237744"/>
          </a:xfrm>
          <a:prstGeom prst="rect">
            <a:avLst/>
          </a:prstGeom>
          <a:noFill/>
        </p:spPr>
        <p:txBody>
          <a:bodyPr wrap="square" lIns="0" rIns="0" tIns="0" bIns="0">
            <a:spAutoFit/>
          </a:bodyPr>
          <a:lstStyle/>
          <a:p>
            <a:pPr>
              <a:lnSpc>
                <a:spcPts val="1350"/>
              </a:lnSpc>
              <a:spcAft>
                <a:spcPts val="0"/>
              </a:spcAft>
            </a:pPr>
            <a:r>
              <a:rPr sz="1350" b="1" lang="ja-JP">
                <a:solidFill>
                  <a:srgbClr val="17334A"/>
                </a:solidFill>
                <a:latin typeface="Yu Gothic"/>
                <a:ea typeface="Yu Gothic"/>
              </a:rPr>
              <a:t>質問の自由度</a:t>
            </a:r>
          </a:p>
        </p:txBody>
      </p:sp>
      <p:sp>
        <p:nvSpPr>
          <p:cNvPr id="28" name="TextBox 27"/>
          <p:cNvSpPr txBox="1"/>
          <p:nvPr/>
        </p:nvSpPr>
        <p:spPr>
          <a:xfrm>
            <a:off x="1325880" y="3904487"/>
            <a:ext cx="4526280" cy="237744"/>
          </a:xfrm>
          <a:prstGeom prst="rect">
            <a:avLst/>
          </a:prstGeom>
          <a:noFill/>
        </p:spPr>
        <p:txBody>
          <a:bodyPr wrap="square" lIns="0" rIns="0" tIns="0" bIns="0">
            <a:spAutoFit/>
          </a:bodyPr>
          <a:lstStyle/>
          <a:p>
            <a:pPr>
              <a:lnSpc>
                <a:spcPts val="1260"/>
              </a:lnSpc>
              <a:spcAft>
                <a:spcPts val="0"/>
              </a:spcAft>
            </a:pPr>
            <a:r>
              <a:rPr sz="1100" b="0" lang="ja-JP">
                <a:solidFill>
                  <a:srgbClr val="21374A"/>
                </a:solidFill>
                <a:latin typeface="Yu Gothic"/>
                <a:ea typeface="Yu Gothic"/>
              </a:rPr>
              <a:t>現場の言葉の短い質問で、同じ答えが得られるか</a:t>
            </a:r>
          </a:p>
        </p:txBody>
      </p:sp>
      <p:sp>
        <p:nvSpPr>
          <p:cNvPr id="29" name="Oval 28">
            <a:extLst>
              <a:ext uri="{C183D7F6-B498-43B3-948B-1728B52AA6E4}">
                <adec:decorative xmlns:adec="http://schemas.microsoft.com/office/drawing/2017/decorative" val="1"/>
              </a:ext>
            </a:extLst>
          </p:cNvPr>
          <p:cNvSpPr/>
          <p:nvPr/>
        </p:nvSpPr>
        <p:spPr>
          <a:xfrm>
            <a:off x="786384" y="4215384"/>
            <a:ext cx="347472" cy="347472"/>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86384" y="4215384"/>
            <a:ext cx="347472" cy="34747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4</a:t>
            </a:r>
          </a:p>
        </p:txBody>
      </p:sp>
      <p:sp>
        <p:nvSpPr>
          <p:cNvPr id="31" name="TextBox 30"/>
          <p:cNvSpPr txBox="1"/>
          <p:nvPr/>
        </p:nvSpPr>
        <p:spPr>
          <a:xfrm>
            <a:off x="1325880" y="4169664"/>
            <a:ext cx="4480560" cy="237744"/>
          </a:xfrm>
          <a:prstGeom prst="rect">
            <a:avLst/>
          </a:prstGeom>
          <a:noFill/>
        </p:spPr>
        <p:txBody>
          <a:bodyPr wrap="square" lIns="0" rIns="0" tIns="0" bIns="0">
            <a:spAutoFit/>
          </a:bodyPr>
          <a:lstStyle/>
          <a:p>
            <a:pPr>
              <a:lnSpc>
                <a:spcPts val="1350"/>
              </a:lnSpc>
              <a:spcAft>
                <a:spcPts val="0"/>
              </a:spcAft>
            </a:pPr>
            <a:r>
              <a:rPr sz="1350" b="1" lang="ja-JP">
                <a:solidFill>
                  <a:srgbClr val="17334A"/>
                </a:solidFill>
                <a:latin typeface="Yu Gothic"/>
                <a:ea typeface="Yu Gothic"/>
              </a:rPr>
              <a:t>権限と秘密度</a:t>
            </a:r>
          </a:p>
        </p:txBody>
      </p:sp>
      <p:sp>
        <p:nvSpPr>
          <p:cNvPr id="32" name="TextBox 31"/>
          <p:cNvSpPr txBox="1"/>
          <p:nvPr/>
        </p:nvSpPr>
        <p:spPr>
          <a:xfrm>
            <a:off x="1325880" y="4416552"/>
            <a:ext cx="4526280" cy="237744"/>
          </a:xfrm>
          <a:prstGeom prst="rect">
            <a:avLst/>
          </a:prstGeom>
          <a:noFill/>
        </p:spPr>
        <p:txBody>
          <a:bodyPr wrap="square" lIns="0" rIns="0" tIns="0" bIns="0">
            <a:spAutoFit/>
          </a:bodyPr>
          <a:lstStyle/>
          <a:p>
            <a:pPr>
              <a:lnSpc>
                <a:spcPts val="1260"/>
              </a:lnSpc>
              <a:spcAft>
                <a:spcPts val="0"/>
              </a:spcAft>
            </a:pPr>
            <a:r>
              <a:rPr sz="1100" b="0" lang="ja-JP">
                <a:solidFill>
                  <a:srgbClr val="21374A"/>
                </a:solidFill>
                <a:latin typeface="Yu Gothic"/>
                <a:ea typeface="Yu Gothic"/>
              </a:rPr>
              <a:t>既存の権限や秘密度ラベルのもとで、想定どおりに動くか</a:t>
            </a:r>
          </a:p>
        </p:txBody>
      </p:sp>
      <p:sp>
        <p:nvSpPr>
          <p:cNvPr id="33" name="Oval 32">
            <a:extLst>
              <a:ext uri="{C183D7F6-B498-43B3-948B-1728B52AA6E4}">
                <adec:decorative xmlns:adec="http://schemas.microsoft.com/office/drawing/2017/decorative" val="1"/>
              </a:ext>
            </a:extLst>
          </p:cNvPr>
          <p:cNvSpPr/>
          <p:nvPr/>
        </p:nvSpPr>
        <p:spPr>
          <a:xfrm>
            <a:off x="786384" y="4727448"/>
            <a:ext cx="347472" cy="347472"/>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86384" y="4727448"/>
            <a:ext cx="347472" cy="34747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5</a:t>
            </a:r>
          </a:p>
        </p:txBody>
      </p:sp>
      <p:sp>
        <p:nvSpPr>
          <p:cNvPr id="35" name="TextBox 34"/>
          <p:cNvSpPr txBox="1"/>
          <p:nvPr/>
        </p:nvSpPr>
        <p:spPr>
          <a:xfrm>
            <a:off x="1325880" y="4681728"/>
            <a:ext cx="4480560" cy="237744"/>
          </a:xfrm>
          <a:prstGeom prst="rect">
            <a:avLst/>
          </a:prstGeom>
          <a:noFill/>
        </p:spPr>
        <p:txBody>
          <a:bodyPr wrap="square" lIns="0" rIns="0" tIns="0" bIns="0">
            <a:spAutoFit/>
          </a:bodyPr>
          <a:lstStyle/>
          <a:p>
            <a:pPr>
              <a:lnSpc>
                <a:spcPts val="1350"/>
              </a:lnSpc>
              <a:spcAft>
                <a:spcPts val="0"/>
              </a:spcAft>
            </a:pPr>
            <a:r>
              <a:rPr sz="1350" b="1" lang="ja-JP">
                <a:solidFill>
                  <a:srgbClr val="17334A"/>
                </a:solidFill>
                <a:latin typeface="Yu Gothic"/>
                <a:ea typeface="Yu Gothic"/>
              </a:rPr>
              <a:t>再現性と運用</a:t>
            </a:r>
          </a:p>
        </p:txBody>
      </p:sp>
      <p:sp>
        <p:nvSpPr>
          <p:cNvPr id="36" name="TextBox 35"/>
          <p:cNvSpPr txBox="1"/>
          <p:nvPr/>
        </p:nvSpPr>
        <p:spPr>
          <a:xfrm>
            <a:off x="1325880" y="4928616"/>
            <a:ext cx="4526280" cy="237744"/>
          </a:xfrm>
          <a:prstGeom prst="rect">
            <a:avLst/>
          </a:prstGeom>
          <a:noFill/>
        </p:spPr>
        <p:txBody>
          <a:bodyPr wrap="square" lIns="0" rIns="0" tIns="0" bIns="0">
            <a:spAutoFit/>
          </a:bodyPr>
          <a:lstStyle/>
          <a:p>
            <a:pPr>
              <a:lnSpc>
                <a:spcPts val="1260"/>
              </a:lnSpc>
              <a:spcAft>
                <a:spcPts val="0"/>
              </a:spcAft>
            </a:pPr>
            <a:r>
              <a:rPr sz="1100" b="0" lang="ja-JP">
                <a:solidFill>
                  <a:srgbClr val="21374A"/>
                </a:solidFill>
                <a:latin typeface="Yu Gothic"/>
                <a:ea typeface="Yu Gothic"/>
              </a:rPr>
              <a:t>同じ質問の回答のぶれ。定義の変更と更新の手順</a:t>
            </a:r>
          </a:p>
        </p:txBody>
      </p:sp>
      <p:sp>
        <p:nvSpPr>
          <p:cNvPr id="37" name="Rounded Rectangle 36">
            <a:extLst>
              <a:ext uri="{C183D7F6-B498-43B3-948B-1728B52AA6E4}">
                <adec:decorative xmlns:adec="http://schemas.microsoft.com/office/drawing/2017/decorative" val="1"/>
              </a:ext>
            </a:extLst>
          </p:cNvPr>
          <p:cNvSpPr/>
          <p:nvPr/>
        </p:nvSpPr>
        <p:spPr>
          <a:xfrm>
            <a:off x="6172200" y="2148840"/>
            <a:ext cx="546811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400800" y="2240280"/>
            <a:ext cx="4572000" cy="274320"/>
          </a:xfrm>
          <a:prstGeom prst="rect">
            <a:avLst/>
          </a:prstGeom>
          <a:noFill/>
        </p:spPr>
        <p:txBody>
          <a:bodyPr wrap="square" lIns="0" rIns="0" tIns="0" bIns="0">
            <a:spAutoFit/>
          </a:bodyPr>
          <a:lstStyle/>
          <a:p>
            <a:pPr>
              <a:lnSpc>
                <a:spcPts val="1500"/>
              </a:lnSpc>
              <a:spcAft>
                <a:spcPts val="0"/>
              </a:spcAft>
            </a:pPr>
            <a:r>
              <a:rPr sz="1500" b="1" lang="ja-JP">
                <a:solidFill>
                  <a:srgbClr val="7352AD"/>
                </a:solidFill>
                <a:latin typeface="Yu Gothic"/>
                <a:ea typeface="Yu Gothic"/>
              </a:rPr>
              <a:t>ご準備いただくこと</a:t>
            </a:r>
          </a:p>
        </p:txBody>
      </p:sp>
      <p:sp>
        <p:nvSpPr>
          <p:cNvPr id="39" name="Oval 38">
            <a:extLst>
              <a:ext uri="{C183D7F6-B498-43B3-948B-1728B52AA6E4}">
                <adec:decorative xmlns:adec="http://schemas.microsoft.com/office/drawing/2017/decorative" val="1"/>
              </a:ext>
            </a:extLst>
          </p:cNvPr>
          <p:cNvSpPr/>
          <p:nvPr/>
        </p:nvSpPr>
        <p:spPr>
          <a:xfrm>
            <a:off x="6409944" y="2679192"/>
            <a:ext cx="347472" cy="347472"/>
          </a:xfrm>
          <a:prstGeom prst="ellipse">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409944" y="2679192"/>
            <a:ext cx="347472" cy="34747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1</a:t>
            </a:r>
          </a:p>
        </p:txBody>
      </p:sp>
      <p:sp>
        <p:nvSpPr>
          <p:cNvPr id="41" name="TextBox 40"/>
          <p:cNvSpPr txBox="1"/>
          <p:nvPr/>
        </p:nvSpPr>
        <p:spPr>
          <a:xfrm>
            <a:off x="6949440" y="2633472"/>
            <a:ext cx="4480560" cy="237744"/>
          </a:xfrm>
          <a:prstGeom prst="rect">
            <a:avLst/>
          </a:prstGeom>
          <a:noFill/>
        </p:spPr>
        <p:txBody>
          <a:bodyPr wrap="square" lIns="0" rIns="0" tIns="0" bIns="0">
            <a:spAutoFit/>
          </a:bodyPr>
          <a:lstStyle/>
          <a:p>
            <a:pPr>
              <a:lnSpc>
                <a:spcPts val="1350"/>
              </a:lnSpc>
              <a:spcAft>
                <a:spcPts val="0"/>
              </a:spcAft>
            </a:pPr>
            <a:r>
              <a:rPr sz="1350" b="1" lang="ja-JP">
                <a:solidFill>
                  <a:srgbClr val="17334A"/>
                </a:solidFill>
                <a:latin typeface="Yu Gothic"/>
                <a:ea typeface="Yu Gothic"/>
              </a:rPr>
              <a:t>代表的な質問</a:t>
            </a:r>
          </a:p>
        </p:txBody>
      </p:sp>
      <p:sp>
        <p:nvSpPr>
          <p:cNvPr id="42" name="TextBox 41"/>
          <p:cNvSpPr txBox="1"/>
          <p:nvPr/>
        </p:nvSpPr>
        <p:spPr>
          <a:xfrm>
            <a:off x="6949440" y="2880360"/>
            <a:ext cx="4526280" cy="237744"/>
          </a:xfrm>
          <a:prstGeom prst="rect">
            <a:avLst/>
          </a:prstGeom>
          <a:noFill/>
        </p:spPr>
        <p:txBody>
          <a:bodyPr wrap="square" lIns="0" rIns="0" tIns="0" bIns="0">
            <a:spAutoFit/>
          </a:bodyPr>
          <a:lstStyle/>
          <a:p>
            <a:pPr>
              <a:lnSpc>
                <a:spcPts val="1260"/>
              </a:lnSpc>
              <a:spcAft>
                <a:spcPts val="0"/>
              </a:spcAft>
            </a:pPr>
            <a:r>
              <a:rPr sz="1100" b="0" lang="ja-JP">
                <a:solidFill>
                  <a:srgbClr val="21374A"/>
                </a:solidFill>
                <a:latin typeface="Yu Gothic"/>
                <a:ea typeface="Yu Gothic"/>
              </a:rPr>
              <a:t>経営会議で実際に問われる質問を、5〜10問（仮）</a:t>
            </a:r>
          </a:p>
        </p:txBody>
      </p:sp>
      <p:sp>
        <p:nvSpPr>
          <p:cNvPr id="43" name="Oval 42">
            <a:extLst>
              <a:ext uri="{C183D7F6-B498-43B3-948B-1728B52AA6E4}">
                <adec:decorative xmlns:adec="http://schemas.microsoft.com/office/drawing/2017/decorative" val="1"/>
              </a:ext>
            </a:extLst>
          </p:cNvPr>
          <p:cNvSpPr/>
          <p:nvPr/>
        </p:nvSpPr>
        <p:spPr>
          <a:xfrm>
            <a:off x="6409944" y="3191256"/>
            <a:ext cx="347472" cy="347472"/>
          </a:xfrm>
          <a:prstGeom prst="ellipse">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6409944" y="3191256"/>
            <a:ext cx="347472" cy="34747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2</a:t>
            </a:r>
          </a:p>
        </p:txBody>
      </p:sp>
      <p:sp>
        <p:nvSpPr>
          <p:cNvPr id="45" name="TextBox 44"/>
          <p:cNvSpPr txBox="1"/>
          <p:nvPr/>
        </p:nvSpPr>
        <p:spPr>
          <a:xfrm>
            <a:off x="6949440" y="3145536"/>
            <a:ext cx="4480560" cy="237744"/>
          </a:xfrm>
          <a:prstGeom prst="rect">
            <a:avLst/>
          </a:prstGeom>
          <a:noFill/>
        </p:spPr>
        <p:txBody>
          <a:bodyPr wrap="square" lIns="0" rIns="0" tIns="0" bIns="0">
            <a:spAutoFit/>
          </a:bodyPr>
          <a:lstStyle/>
          <a:p>
            <a:pPr>
              <a:lnSpc>
                <a:spcPts val="1350"/>
              </a:lnSpc>
              <a:spcAft>
                <a:spcPts val="0"/>
              </a:spcAft>
            </a:pPr>
            <a:r>
              <a:rPr sz="1350" b="1" lang="ja-JP">
                <a:solidFill>
                  <a:srgbClr val="17334A"/>
                </a:solidFill>
                <a:latin typeface="Yu Gothic"/>
                <a:ea typeface="Yu Gothic"/>
              </a:rPr>
              <a:t>対象データ</a:t>
            </a:r>
          </a:p>
        </p:txBody>
      </p:sp>
      <p:sp>
        <p:nvSpPr>
          <p:cNvPr id="46" name="TextBox 45"/>
          <p:cNvSpPr txBox="1"/>
          <p:nvPr/>
        </p:nvSpPr>
        <p:spPr>
          <a:xfrm>
            <a:off x="6949440" y="3392424"/>
            <a:ext cx="4526280" cy="237744"/>
          </a:xfrm>
          <a:prstGeom prst="rect">
            <a:avLst/>
          </a:prstGeom>
          <a:noFill/>
        </p:spPr>
        <p:txBody>
          <a:bodyPr wrap="square" lIns="0" rIns="0" tIns="0" bIns="0">
            <a:spAutoFit/>
          </a:bodyPr>
          <a:lstStyle/>
          <a:p>
            <a:pPr>
              <a:lnSpc>
                <a:spcPts val="1260"/>
              </a:lnSpc>
              <a:spcAft>
                <a:spcPts val="0"/>
              </a:spcAft>
            </a:pPr>
            <a:r>
              <a:rPr sz="1100" b="0" lang="ja-JP">
                <a:solidFill>
                  <a:srgbClr val="21374A"/>
                </a:solidFill>
                <a:latin typeface="Yu Gothic"/>
                <a:ea typeface="Yu Gothic"/>
              </a:rPr>
              <a:t>所在と担当者。最初は1事業、1〜2システム（仮）</a:t>
            </a:r>
          </a:p>
        </p:txBody>
      </p:sp>
      <p:sp>
        <p:nvSpPr>
          <p:cNvPr id="47" name="Oval 46">
            <a:extLst>
              <a:ext uri="{C183D7F6-B498-43B3-948B-1728B52AA6E4}">
                <adec:decorative xmlns:adec="http://schemas.microsoft.com/office/drawing/2017/decorative" val="1"/>
              </a:ext>
            </a:extLst>
          </p:cNvPr>
          <p:cNvSpPr/>
          <p:nvPr/>
        </p:nvSpPr>
        <p:spPr>
          <a:xfrm>
            <a:off x="6409944" y="3703320"/>
            <a:ext cx="347472" cy="347472"/>
          </a:xfrm>
          <a:prstGeom prst="ellipse">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6409944" y="3703320"/>
            <a:ext cx="347472" cy="34747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3</a:t>
            </a:r>
          </a:p>
        </p:txBody>
      </p:sp>
      <p:sp>
        <p:nvSpPr>
          <p:cNvPr id="49" name="TextBox 48"/>
          <p:cNvSpPr txBox="1"/>
          <p:nvPr/>
        </p:nvSpPr>
        <p:spPr>
          <a:xfrm>
            <a:off x="6949440" y="3657600"/>
            <a:ext cx="4480560" cy="237744"/>
          </a:xfrm>
          <a:prstGeom prst="rect">
            <a:avLst/>
          </a:prstGeom>
          <a:noFill/>
        </p:spPr>
        <p:txBody>
          <a:bodyPr wrap="square" lIns="0" rIns="0" tIns="0" bIns="0">
            <a:spAutoFit/>
          </a:bodyPr>
          <a:lstStyle/>
          <a:p>
            <a:pPr>
              <a:lnSpc>
                <a:spcPts val="1350"/>
              </a:lnSpc>
              <a:spcAft>
                <a:spcPts val="0"/>
              </a:spcAft>
            </a:pPr>
            <a:r>
              <a:rPr sz="1350" b="1" lang="ja-JP">
                <a:solidFill>
                  <a:srgbClr val="17334A"/>
                </a:solidFill>
                <a:latin typeface="Yu Gothic"/>
                <a:ea typeface="Yu Gothic"/>
              </a:rPr>
              <a:t>照合用の正解</a:t>
            </a:r>
          </a:p>
        </p:txBody>
      </p:sp>
      <p:sp>
        <p:nvSpPr>
          <p:cNvPr id="50" name="TextBox 49"/>
          <p:cNvSpPr txBox="1"/>
          <p:nvPr/>
        </p:nvSpPr>
        <p:spPr>
          <a:xfrm>
            <a:off x="6949440" y="3904487"/>
            <a:ext cx="4526280" cy="237744"/>
          </a:xfrm>
          <a:prstGeom prst="rect">
            <a:avLst/>
          </a:prstGeom>
          <a:noFill/>
        </p:spPr>
        <p:txBody>
          <a:bodyPr wrap="square" lIns="0" rIns="0" tIns="0" bIns="0">
            <a:spAutoFit/>
          </a:bodyPr>
          <a:lstStyle/>
          <a:p>
            <a:pPr>
              <a:lnSpc>
                <a:spcPts val="1260"/>
              </a:lnSpc>
              <a:spcAft>
                <a:spcPts val="0"/>
              </a:spcAft>
            </a:pPr>
            <a:r>
              <a:rPr sz="1100" b="0" lang="ja-JP">
                <a:solidFill>
                  <a:srgbClr val="21374A"/>
                </a:solidFill>
                <a:latin typeface="Yu Gothic"/>
                <a:ea typeface="Yu Gothic"/>
              </a:rPr>
              <a:t>既存のレポートなど、金額を突き合わせる数字</a:t>
            </a:r>
          </a:p>
        </p:txBody>
      </p:sp>
      <p:sp>
        <p:nvSpPr>
          <p:cNvPr id="51" name="Oval 50">
            <a:extLst>
              <a:ext uri="{C183D7F6-B498-43B3-948B-1728B52AA6E4}">
                <adec:decorative xmlns:adec="http://schemas.microsoft.com/office/drawing/2017/decorative" val="1"/>
              </a:ext>
            </a:extLst>
          </p:cNvPr>
          <p:cNvSpPr/>
          <p:nvPr/>
        </p:nvSpPr>
        <p:spPr>
          <a:xfrm>
            <a:off x="6409944" y="4215384"/>
            <a:ext cx="347472" cy="347472"/>
          </a:xfrm>
          <a:prstGeom prst="ellipse">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409944" y="4215384"/>
            <a:ext cx="347472" cy="34747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4</a:t>
            </a:r>
          </a:p>
        </p:txBody>
      </p:sp>
      <p:sp>
        <p:nvSpPr>
          <p:cNvPr id="53" name="TextBox 52"/>
          <p:cNvSpPr txBox="1"/>
          <p:nvPr/>
        </p:nvSpPr>
        <p:spPr>
          <a:xfrm>
            <a:off x="6949440" y="4169664"/>
            <a:ext cx="4480560" cy="237744"/>
          </a:xfrm>
          <a:prstGeom prst="rect">
            <a:avLst/>
          </a:prstGeom>
          <a:noFill/>
        </p:spPr>
        <p:txBody>
          <a:bodyPr wrap="square" lIns="0" rIns="0" tIns="0" bIns="0">
            <a:spAutoFit/>
          </a:bodyPr>
          <a:lstStyle/>
          <a:p>
            <a:pPr>
              <a:lnSpc>
                <a:spcPts val="1350"/>
              </a:lnSpc>
              <a:spcAft>
                <a:spcPts val="0"/>
              </a:spcAft>
            </a:pPr>
            <a:r>
              <a:rPr sz="1350" b="1" lang="ja-JP">
                <a:solidFill>
                  <a:srgbClr val="17334A"/>
                </a:solidFill>
                <a:latin typeface="Yu Gothic"/>
                <a:ea typeface="Yu Gothic"/>
              </a:rPr>
              <a:t>イベントの記録</a:t>
            </a:r>
          </a:p>
        </p:txBody>
      </p:sp>
      <p:sp>
        <p:nvSpPr>
          <p:cNvPr id="54" name="TextBox 53"/>
          <p:cNvSpPr txBox="1"/>
          <p:nvPr/>
        </p:nvSpPr>
        <p:spPr>
          <a:xfrm>
            <a:off x="6949440" y="4416552"/>
            <a:ext cx="4526280" cy="237744"/>
          </a:xfrm>
          <a:prstGeom prst="rect">
            <a:avLst/>
          </a:prstGeom>
          <a:noFill/>
        </p:spPr>
        <p:txBody>
          <a:bodyPr wrap="square" lIns="0" rIns="0" tIns="0" bIns="0">
            <a:spAutoFit/>
          </a:bodyPr>
          <a:lstStyle/>
          <a:p>
            <a:pPr>
              <a:lnSpc>
                <a:spcPts val="1260"/>
              </a:lnSpc>
              <a:spcAft>
                <a:spcPts val="0"/>
              </a:spcAft>
            </a:pPr>
            <a:r>
              <a:rPr sz="1100" b="0" lang="ja-JP">
                <a:solidFill>
                  <a:srgbClr val="21374A"/>
                </a:solidFill>
                <a:latin typeface="Yu Gothic"/>
                <a:ea typeface="Yu Gothic"/>
              </a:rPr>
              <a:t>差異分析のコメントや事故の記録。20〜30件は仮の目安</a:t>
            </a:r>
          </a:p>
        </p:txBody>
      </p:sp>
      <p:sp>
        <p:nvSpPr>
          <p:cNvPr id="55" name="Oval 54">
            <a:extLst>
              <a:ext uri="{C183D7F6-B498-43B3-948B-1728B52AA6E4}">
                <adec:decorative xmlns:adec="http://schemas.microsoft.com/office/drawing/2017/decorative" val="1"/>
              </a:ext>
            </a:extLst>
          </p:cNvPr>
          <p:cNvSpPr/>
          <p:nvPr/>
        </p:nvSpPr>
        <p:spPr>
          <a:xfrm>
            <a:off x="6409944" y="4727448"/>
            <a:ext cx="347472" cy="347472"/>
          </a:xfrm>
          <a:prstGeom prst="ellipse">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6409944" y="4727448"/>
            <a:ext cx="347472" cy="34747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5</a:t>
            </a:r>
          </a:p>
        </p:txBody>
      </p:sp>
      <p:sp>
        <p:nvSpPr>
          <p:cNvPr id="57" name="TextBox 56"/>
          <p:cNvSpPr txBox="1"/>
          <p:nvPr/>
        </p:nvSpPr>
        <p:spPr>
          <a:xfrm>
            <a:off x="6949440" y="4681728"/>
            <a:ext cx="4480560" cy="237744"/>
          </a:xfrm>
          <a:prstGeom prst="rect">
            <a:avLst/>
          </a:prstGeom>
          <a:noFill/>
        </p:spPr>
        <p:txBody>
          <a:bodyPr wrap="square" lIns="0" rIns="0" tIns="0" bIns="0">
            <a:spAutoFit/>
          </a:bodyPr>
          <a:lstStyle/>
          <a:p>
            <a:pPr>
              <a:lnSpc>
                <a:spcPts val="1350"/>
              </a:lnSpc>
              <a:spcAft>
                <a:spcPts val="0"/>
              </a:spcAft>
            </a:pPr>
            <a:r>
              <a:rPr sz="1350" b="1" lang="ja-JP">
                <a:solidFill>
                  <a:srgbClr val="17334A"/>
                </a:solidFill>
                <a:latin typeface="Yu Gothic"/>
                <a:ea typeface="Yu Gothic"/>
              </a:rPr>
              <a:t>利用環境</a:t>
            </a:r>
          </a:p>
        </p:txBody>
      </p:sp>
      <p:sp>
        <p:nvSpPr>
          <p:cNvPr id="58" name="TextBox 57"/>
          <p:cNvSpPr txBox="1"/>
          <p:nvPr/>
        </p:nvSpPr>
        <p:spPr>
          <a:xfrm>
            <a:off x="6949440" y="4928616"/>
            <a:ext cx="4526280" cy="237744"/>
          </a:xfrm>
          <a:prstGeom prst="rect">
            <a:avLst/>
          </a:prstGeom>
          <a:noFill/>
        </p:spPr>
        <p:txBody>
          <a:bodyPr wrap="square" lIns="0" rIns="0" tIns="0" bIns="0">
            <a:spAutoFit/>
          </a:bodyPr>
          <a:lstStyle/>
          <a:p>
            <a:pPr>
              <a:lnSpc>
                <a:spcPts val="1260"/>
              </a:lnSpc>
              <a:spcAft>
                <a:spcPts val="0"/>
              </a:spcAft>
            </a:pPr>
            <a:r>
              <a:rPr sz="1100" b="0" lang="ja-JP">
                <a:solidFill>
                  <a:srgbClr val="21374A"/>
                </a:solidFill>
                <a:latin typeface="Yu Gothic"/>
                <a:ea typeface="Yu Gothic"/>
              </a:rPr>
              <a:t>Fabricの容量と、Ontology・Data Agentのテナント設定</a:t>
            </a:r>
          </a:p>
        </p:txBody>
      </p:sp>
      <p:sp>
        <p:nvSpPr>
          <p:cNvPr id="59" name="Oval 58">
            <a:extLst>
              <a:ext uri="{C183D7F6-B498-43B3-948B-1728B52AA6E4}">
                <adec:decorative xmlns:adec="http://schemas.microsoft.com/office/drawing/2017/decorative" val="1"/>
              </a:ext>
            </a:extLst>
          </p:cNvPr>
          <p:cNvSpPr/>
          <p:nvPr/>
        </p:nvSpPr>
        <p:spPr>
          <a:xfrm>
            <a:off x="6409944" y="5239512"/>
            <a:ext cx="347472" cy="347472"/>
          </a:xfrm>
          <a:prstGeom prst="ellipse">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6409944" y="5239512"/>
            <a:ext cx="347472" cy="347472"/>
          </a:xfrm>
          <a:prstGeom prst="rect">
            <a:avLst/>
          </a:prstGeom>
          <a:noFill/>
        </p:spPr>
        <p:txBody>
          <a:bodyPr wrap="square" lIns="0" rIns="0" tIns="0" bIns="0" anchor="ctr">
            <a:spAutoFit/>
          </a:bodyPr>
          <a:lstStyle/>
          <a:p>
            <a:pPr algn="ctr">
              <a:lnSpc>
                <a:spcPts val="1150"/>
              </a:lnSpc>
              <a:spcAft>
                <a:spcPts val="0"/>
              </a:spcAft>
            </a:pPr>
            <a:r>
              <a:rPr sz="1150" b="1" lang="ja-JP">
                <a:solidFill>
                  <a:srgbClr val="FFFFFF"/>
                </a:solidFill>
                <a:latin typeface="Yu Gothic"/>
                <a:ea typeface="Yu Gothic"/>
              </a:rPr>
              <a:t>6</a:t>
            </a:r>
          </a:p>
        </p:txBody>
      </p:sp>
      <p:sp>
        <p:nvSpPr>
          <p:cNvPr id="61" name="TextBox 60"/>
          <p:cNvSpPr txBox="1"/>
          <p:nvPr/>
        </p:nvSpPr>
        <p:spPr>
          <a:xfrm>
            <a:off x="6949440" y="5193792"/>
            <a:ext cx="4480560" cy="237744"/>
          </a:xfrm>
          <a:prstGeom prst="rect">
            <a:avLst/>
          </a:prstGeom>
          <a:noFill/>
        </p:spPr>
        <p:txBody>
          <a:bodyPr wrap="square" lIns="0" rIns="0" tIns="0" bIns="0">
            <a:spAutoFit/>
          </a:bodyPr>
          <a:lstStyle/>
          <a:p>
            <a:pPr>
              <a:lnSpc>
                <a:spcPts val="1350"/>
              </a:lnSpc>
              <a:spcAft>
                <a:spcPts val="0"/>
              </a:spcAft>
            </a:pPr>
            <a:r>
              <a:rPr sz="1350" b="1" lang="ja-JP">
                <a:solidFill>
                  <a:srgbClr val="17334A"/>
                </a:solidFill>
                <a:latin typeface="Yu Gothic"/>
                <a:ea typeface="Yu Gothic"/>
              </a:rPr>
              <a:t>評価に参加する方</a:t>
            </a:r>
          </a:p>
        </p:txBody>
      </p:sp>
      <p:sp>
        <p:nvSpPr>
          <p:cNvPr id="62" name="TextBox 61"/>
          <p:cNvSpPr txBox="1"/>
          <p:nvPr/>
        </p:nvSpPr>
        <p:spPr>
          <a:xfrm>
            <a:off x="6949440" y="5440679"/>
            <a:ext cx="4526280" cy="237744"/>
          </a:xfrm>
          <a:prstGeom prst="rect">
            <a:avLst/>
          </a:prstGeom>
          <a:noFill/>
        </p:spPr>
        <p:txBody>
          <a:bodyPr wrap="square" lIns="0" rIns="0" tIns="0" bIns="0">
            <a:spAutoFit/>
          </a:bodyPr>
          <a:lstStyle/>
          <a:p>
            <a:pPr>
              <a:lnSpc>
                <a:spcPts val="1260"/>
              </a:lnSpc>
              <a:spcAft>
                <a:spcPts val="0"/>
              </a:spcAft>
            </a:pPr>
            <a:r>
              <a:rPr sz="1100" b="0" lang="ja-JP">
                <a:solidFill>
                  <a:srgbClr val="21374A"/>
                </a:solidFill>
                <a:latin typeface="Yu Gothic"/>
                <a:ea typeface="Yu Gothic"/>
              </a:rPr>
              <a:t>経営企画、事業部門、IT・データの担当者</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現時点の提供状況とご留意いただく点</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第4章 進め方  |  留意点</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OntologyとData Agentは、現在Previewです。</a:t>
            </a:r>
          </a:p>
          <a:p>
            <a:pPr>
              <a:lnSpc>
                <a:spcPts val="2160"/>
              </a:lnSpc>
              <a:spcAft>
                <a:spcPts val="0"/>
              </a:spcAft>
            </a:pPr>
            <a:r>
              <a:rPr sz="1600" b="0" lang="ja-JP">
                <a:solidFill>
                  <a:srgbClr val="566A78"/>
                </a:solidFill>
                <a:latin typeface="Yu Gothic"/>
                <a:ea typeface="Yu Gothic"/>
              </a:rPr>
              <a:t>次の点を前提に、PoCの範囲と評価の基準を決めることをお勧めします。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回答のばらつきとデータの規模は、貴社のデータを使ったPoCで確かめられます。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25</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a:extLst>
              <a:ext uri="{C183D7F6-B498-43B3-948B-1728B52AA6E4}">
                <adec:decorative xmlns:adec="http://schemas.microsoft.com/office/drawing/2017/decorative" val="1"/>
              </a:ext>
            </a:extLst>
          </p:cNvPr>
          <p:cNvSpPr/>
          <p:nvPr/>
        </p:nvSpPr>
        <p:spPr>
          <a:xfrm>
            <a:off x="566928" y="2286000"/>
            <a:ext cx="64008" cy="1463040"/>
          </a:xfrm>
          <a:prstGeom prst="roundRect">
            <a:avLst>
              <a:gd name="adj" fmla="val 50000"/>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22959" y="2276856"/>
            <a:ext cx="3200400" cy="274320"/>
          </a:xfrm>
          <a:prstGeom prst="rect">
            <a:avLst/>
          </a:prstGeom>
          <a:noFill/>
        </p:spPr>
        <p:txBody>
          <a:bodyPr wrap="square" lIns="0" rIns="0" tIns="0" bIns="0">
            <a:spAutoFit/>
          </a:bodyPr>
          <a:lstStyle/>
          <a:p>
            <a:pPr>
              <a:lnSpc>
                <a:spcPts val="1500"/>
              </a:lnSpc>
              <a:spcAft>
                <a:spcPts val="0"/>
              </a:spcAft>
            </a:pPr>
            <a:r>
              <a:rPr sz="1500" b="1" lang="ja-JP">
                <a:solidFill>
                  <a:srgbClr val="BD4354"/>
                </a:solidFill>
                <a:latin typeface="Yu Gothic"/>
                <a:ea typeface="Yu Gothic"/>
              </a:rPr>
              <a:t>提供状況</a:t>
            </a:r>
          </a:p>
        </p:txBody>
      </p:sp>
      <p:sp>
        <p:nvSpPr>
          <p:cNvPr id="18" name="TextBox 17"/>
          <p:cNvSpPr txBox="1"/>
          <p:nvPr/>
        </p:nvSpPr>
        <p:spPr>
          <a:xfrm>
            <a:off x="822959" y="2606040"/>
            <a:ext cx="3200400" cy="1234440"/>
          </a:xfrm>
          <a:prstGeom prst="rect">
            <a:avLst/>
          </a:prstGeom>
          <a:noFill/>
        </p:spPr>
        <p:txBody>
          <a:bodyPr wrap="square" lIns="0" rIns="0" tIns="0" bIns="0">
            <a:spAutoFit/>
          </a:bodyPr>
          <a:lstStyle/>
          <a:p>
            <a:pPr>
              <a:lnSpc>
                <a:spcPts val="1680"/>
              </a:lnSpc>
              <a:spcAft>
                <a:spcPts val="0"/>
              </a:spcAft>
            </a:pPr>
            <a:r>
              <a:rPr sz="1200" b="0" lang="ja-JP">
                <a:solidFill>
                  <a:srgbClr val="21374A"/>
                </a:solidFill>
                <a:latin typeface="Yu Gothic"/>
                <a:ea typeface="Yu Gothic"/>
              </a:rPr>
              <a:t>OntologyとData AgentはPreview、</a:t>
            </a:r>
            <a:br>
              <a:rPr lang="ja-JP" sz="1200"/>
            </a:br>
            <a:r>
              <a:rPr sz="1200" b="0" lang="ja-JP">
                <a:solidFill>
                  <a:srgbClr val="21374A"/>
                </a:solidFill>
                <a:latin typeface="Yu Gothic"/>
                <a:ea typeface="Yu Gothic"/>
              </a:rPr>
              <a:t>Graphのクエリ用APIはbetaです。</a:t>
            </a:r>
            <a:br>
              <a:rPr lang="ja-JP" sz="1200"/>
            </a:br>
            <a:r>
              <a:rPr sz="1200" b="0" lang="ja-JP">
                <a:solidFill>
                  <a:srgbClr val="21374A"/>
                </a:solidFill>
                <a:latin typeface="Yu Gothic"/>
                <a:ea typeface="Yu Gothic"/>
              </a:rPr>
              <a:t>仕様や制限は変わる場合があります。</a:t>
            </a:r>
          </a:p>
        </p:txBody>
      </p:sp>
      <p:sp>
        <p:nvSpPr>
          <p:cNvPr id="19" name="Rounded Rectangle 18">
            <a:extLst>
              <a:ext uri="{C183D7F6-B498-43B3-948B-1728B52AA6E4}">
                <adec:decorative xmlns:adec="http://schemas.microsoft.com/office/drawing/2017/decorative" val="1"/>
              </a:ext>
            </a:extLst>
          </p:cNvPr>
          <p:cNvSpPr/>
          <p:nvPr/>
        </p:nvSpPr>
        <p:spPr>
          <a:xfrm>
            <a:off x="4288536" y="2148840"/>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a:extLst>
              <a:ext uri="{C183D7F6-B498-43B3-948B-1728B52AA6E4}">
                <adec:decorative xmlns:adec="http://schemas.microsoft.com/office/drawing/2017/decorative" val="1"/>
              </a:ext>
            </a:extLst>
          </p:cNvPr>
          <p:cNvSpPr/>
          <p:nvPr/>
        </p:nvSpPr>
        <p:spPr>
          <a:xfrm>
            <a:off x="4306823" y="2286000"/>
            <a:ext cx="64008" cy="1463040"/>
          </a:xfrm>
          <a:prstGeom prst="roundRect">
            <a:avLst>
              <a:gd name="adj" fmla="val 50000"/>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562855" y="2276856"/>
            <a:ext cx="3200400" cy="274320"/>
          </a:xfrm>
          <a:prstGeom prst="rect">
            <a:avLst/>
          </a:prstGeom>
          <a:noFill/>
        </p:spPr>
        <p:txBody>
          <a:bodyPr wrap="square" lIns="0" rIns="0" tIns="0" bIns="0">
            <a:spAutoFit/>
          </a:bodyPr>
          <a:lstStyle/>
          <a:p>
            <a:pPr>
              <a:lnSpc>
                <a:spcPts val="1500"/>
              </a:lnSpc>
              <a:spcAft>
                <a:spcPts val="0"/>
              </a:spcAft>
            </a:pPr>
            <a:r>
              <a:rPr sz="1500" b="1" lang="ja-JP">
                <a:solidFill>
                  <a:srgbClr val="7352AD"/>
                </a:solidFill>
                <a:latin typeface="Yu Gothic"/>
                <a:ea typeface="Yu Gothic"/>
              </a:rPr>
              <a:t>日本語</a:t>
            </a:r>
          </a:p>
        </p:txBody>
      </p:sp>
      <p:sp>
        <p:nvSpPr>
          <p:cNvPr id="22" name="TextBox 21"/>
          <p:cNvSpPr txBox="1"/>
          <p:nvPr/>
        </p:nvSpPr>
        <p:spPr>
          <a:xfrm>
            <a:off x="4562855" y="2606040"/>
            <a:ext cx="3200400" cy="1234440"/>
          </a:xfrm>
          <a:prstGeom prst="rect">
            <a:avLst/>
          </a:prstGeom>
          <a:noFill/>
        </p:spPr>
        <p:txBody>
          <a:bodyPr wrap="square" lIns="0" rIns="0" tIns="0" bIns="0">
            <a:spAutoFit/>
          </a:bodyPr>
          <a:lstStyle/>
          <a:p>
            <a:pPr>
              <a:lnSpc>
                <a:spcPts val="1680"/>
              </a:lnSpc>
              <a:spcAft>
                <a:spcPts val="0"/>
              </a:spcAft>
            </a:pPr>
            <a:r>
              <a:rPr sz="1200" b="0" lang="ja-JP">
                <a:solidFill>
                  <a:srgbClr val="21374A"/>
                </a:solidFill>
                <a:latin typeface="Yu Gothic"/>
                <a:ea typeface="Yu Gothic"/>
              </a:rPr>
              <a:t>日本語の質問は、動作を確認した</a:t>
            </a:r>
            <a:br>
              <a:rPr lang="ja-JP" sz="1200"/>
            </a:br>
            <a:r>
              <a:rPr sz="1200" b="0" lang="ja-JP">
                <a:solidFill>
                  <a:srgbClr val="21374A"/>
                </a:solidFill>
                <a:latin typeface="Yu Gothic"/>
                <a:ea typeface="Yu Gothic"/>
              </a:rPr>
              <a:t>範囲での対応です。公式の</a:t>
            </a:r>
            <a:br>
              <a:rPr lang="ja-JP" sz="1200"/>
            </a:br>
            <a:r>
              <a:rPr sz="1200" b="0" lang="ja-JP">
                <a:solidFill>
                  <a:srgbClr val="21374A"/>
                </a:solidFill>
                <a:latin typeface="Yu Gothic"/>
                <a:ea typeface="Yu Gothic"/>
              </a:rPr>
              <a:t>サポート保証ではありません。</a:t>
            </a:r>
          </a:p>
        </p:txBody>
      </p:sp>
      <p:sp>
        <p:nvSpPr>
          <p:cNvPr id="23" name="Rounded Rectangle 22">
            <a:extLst>
              <a:ext uri="{C183D7F6-B498-43B3-948B-1728B52AA6E4}">
                <adec:decorative xmlns:adec="http://schemas.microsoft.com/office/drawing/2017/decorative" val="1"/>
              </a:ext>
            </a:extLst>
          </p:cNvPr>
          <p:cNvSpPr/>
          <p:nvPr/>
        </p:nvSpPr>
        <p:spPr>
          <a:xfrm>
            <a:off x="8028431" y="2148840"/>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a:extLst>
              <a:ext uri="{C183D7F6-B498-43B3-948B-1728B52AA6E4}">
                <adec:decorative xmlns:adec="http://schemas.microsoft.com/office/drawing/2017/decorative" val="1"/>
              </a:ext>
            </a:extLst>
          </p:cNvPr>
          <p:cNvSpPr/>
          <p:nvPr/>
        </p:nvSpPr>
        <p:spPr>
          <a:xfrm>
            <a:off x="8046719" y="2286000"/>
            <a:ext cx="64008" cy="1463040"/>
          </a:xfrm>
          <a:prstGeom prst="roundRect">
            <a:avLst>
              <a:gd name="adj" fmla="val 50000"/>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302752" y="2276856"/>
            <a:ext cx="3200400" cy="274320"/>
          </a:xfrm>
          <a:prstGeom prst="rect">
            <a:avLst/>
          </a:prstGeom>
          <a:noFill/>
        </p:spPr>
        <p:txBody>
          <a:bodyPr wrap="square" lIns="0" rIns="0" tIns="0" bIns="0">
            <a:spAutoFit/>
          </a:bodyPr>
          <a:lstStyle/>
          <a:p>
            <a:pPr>
              <a:lnSpc>
                <a:spcPts val="1500"/>
              </a:lnSpc>
              <a:spcAft>
                <a:spcPts val="0"/>
              </a:spcAft>
            </a:pPr>
            <a:r>
              <a:rPr sz="1500" b="1" lang="ja-JP">
                <a:solidFill>
                  <a:srgbClr val="BD4354"/>
                </a:solidFill>
                <a:latin typeface="Yu Gothic"/>
                <a:ea typeface="Yu Gothic"/>
              </a:rPr>
              <a:t>回答のばらつき</a:t>
            </a:r>
          </a:p>
        </p:txBody>
      </p:sp>
      <p:sp>
        <p:nvSpPr>
          <p:cNvPr id="26" name="TextBox 25"/>
          <p:cNvSpPr txBox="1"/>
          <p:nvPr/>
        </p:nvSpPr>
        <p:spPr>
          <a:xfrm>
            <a:off x="8302752" y="2606040"/>
            <a:ext cx="3200400" cy="1234440"/>
          </a:xfrm>
          <a:prstGeom prst="rect">
            <a:avLst/>
          </a:prstGeom>
          <a:noFill/>
        </p:spPr>
        <p:txBody>
          <a:bodyPr wrap="square" lIns="0" rIns="0" tIns="0" bIns="0">
            <a:spAutoFit/>
          </a:bodyPr>
          <a:lstStyle/>
          <a:p>
            <a:pPr>
              <a:lnSpc>
                <a:spcPts val="1680"/>
              </a:lnSpc>
              <a:spcAft>
                <a:spcPts val="0"/>
              </a:spcAft>
            </a:pPr>
            <a:r>
              <a:rPr sz="1200" b="0" lang="ja-JP">
                <a:solidFill>
                  <a:srgbClr val="21374A"/>
                </a:solidFill>
                <a:latin typeface="Yu Gothic"/>
                <a:ea typeface="Yu Gothic"/>
              </a:rPr>
              <a:t>言語モデルのため、文面や優先度の</a:t>
            </a:r>
            <a:br>
              <a:rPr lang="ja-JP" sz="1200"/>
            </a:br>
            <a:r>
              <a:rPr sz="1200" b="0" lang="ja-JP">
                <a:solidFill>
                  <a:srgbClr val="21374A"/>
                </a:solidFill>
                <a:latin typeface="Yu Gothic"/>
                <a:ea typeface="Yu Gothic"/>
              </a:rPr>
              <a:t>線引きは、実行ごとに変わります。表の</a:t>
            </a:r>
            <a:br>
              <a:rPr lang="ja-JP" sz="1200"/>
            </a:br>
            <a:r>
              <a:rPr sz="1200" b="0" lang="ja-JP">
                <a:solidFill>
                  <a:srgbClr val="21374A"/>
                </a:solidFill>
                <a:latin typeface="Yu Gothic"/>
                <a:ea typeface="Yu Gothic"/>
              </a:rPr>
              <a:t>金額は一致しましたが、説明文に誤りが</a:t>
            </a:r>
            <a:br>
              <a:rPr lang="ja-JP" sz="1200"/>
            </a:br>
            <a:r>
              <a:rPr sz="1200" b="0" lang="ja-JP">
                <a:solidFill>
                  <a:srgbClr val="21374A"/>
                </a:solidFill>
                <a:latin typeface="Yu Gothic"/>
                <a:ea typeface="Yu Gothic"/>
              </a:rPr>
              <a:t>出る場合があります。「円高に</a:t>
            </a:r>
            <a:br>
              <a:rPr lang="ja-JP" sz="1200"/>
            </a:br>
            <a:r>
              <a:rPr sz="1200" b="0" lang="ja-JP">
                <a:solidFill>
                  <a:srgbClr val="21374A"/>
                </a:solidFill>
                <a:latin typeface="Yu Gothic"/>
                <a:ea typeface="Yu Gothic"/>
              </a:rPr>
              <a:t>なったら」のような試算は不安定でした。</a:t>
            </a:r>
          </a:p>
        </p:txBody>
      </p:sp>
      <p:sp>
        <p:nvSpPr>
          <p:cNvPr id="27" name="Rounded Rectangle 26">
            <a:extLst>
              <a:ext uri="{C183D7F6-B498-43B3-948B-1728B52AA6E4}">
                <adec:decorative xmlns:adec="http://schemas.microsoft.com/office/drawing/2017/decorative" val="1"/>
              </a:ext>
            </a:extLst>
          </p:cNvPr>
          <p:cNvSpPr/>
          <p:nvPr/>
        </p:nvSpPr>
        <p:spPr>
          <a:xfrm>
            <a:off x="548640" y="3968496"/>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a:extLst>
              <a:ext uri="{C183D7F6-B498-43B3-948B-1728B52AA6E4}">
                <adec:decorative xmlns:adec="http://schemas.microsoft.com/office/drawing/2017/decorative" val="1"/>
              </a:ext>
            </a:extLst>
          </p:cNvPr>
          <p:cNvSpPr/>
          <p:nvPr/>
        </p:nvSpPr>
        <p:spPr>
          <a:xfrm>
            <a:off x="566928" y="4105656"/>
            <a:ext cx="64008" cy="1463040"/>
          </a:xfrm>
          <a:prstGeom prst="roundRect">
            <a:avLst>
              <a:gd name="adj" fmla="val 50000"/>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22959" y="4096511"/>
            <a:ext cx="3200400" cy="274320"/>
          </a:xfrm>
          <a:prstGeom prst="rect">
            <a:avLst/>
          </a:prstGeom>
          <a:noFill/>
        </p:spPr>
        <p:txBody>
          <a:bodyPr wrap="square" lIns="0" rIns="0" tIns="0" bIns="0">
            <a:spAutoFit/>
          </a:bodyPr>
          <a:lstStyle/>
          <a:p>
            <a:pPr>
              <a:lnSpc>
                <a:spcPts val="1500"/>
              </a:lnSpc>
              <a:spcAft>
                <a:spcPts val="0"/>
              </a:spcAft>
            </a:pPr>
            <a:r>
              <a:rPr sz="1500" b="1" lang="ja-JP">
                <a:solidFill>
                  <a:srgbClr val="7352AD"/>
                </a:solidFill>
                <a:latin typeface="Yu Gothic"/>
                <a:ea typeface="Yu Gothic"/>
              </a:rPr>
              <a:t>対応していない範囲</a:t>
            </a:r>
          </a:p>
        </p:txBody>
      </p:sp>
      <p:sp>
        <p:nvSpPr>
          <p:cNvPr id="30" name="TextBox 29"/>
          <p:cNvSpPr txBox="1"/>
          <p:nvPr/>
        </p:nvSpPr>
        <p:spPr>
          <a:xfrm>
            <a:off x="822959" y="4425696"/>
            <a:ext cx="3200400" cy="1234440"/>
          </a:xfrm>
          <a:prstGeom prst="rect">
            <a:avLst/>
          </a:prstGeom>
          <a:noFill/>
        </p:spPr>
        <p:txBody>
          <a:bodyPr wrap="square" lIns="0" rIns="0" tIns="0" bIns="0">
            <a:spAutoFit/>
          </a:bodyPr>
          <a:lstStyle/>
          <a:p>
            <a:pPr>
              <a:lnSpc>
                <a:spcPts val="1680"/>
              </a:lnSpc>
              <a:spcAft>
                <a:spcPts val="0"/>
              </a:spcAft>
            </a:pPr>
            <a:r>
              <a:rPr sz="1200" b="0" lang="ja-JP">
                <a:solidFill>
                  <a:srgbClr val="21374A"/>
                </a:solidFill>
                <a:latin typeface="Yu Gothic"/>
                <a:ea typeface="Yu Gothic"/>
              </a:rPr>
              <a:t>会社から会社への連鎖は、関係の追加が</a:t>
            </a:r>
            <a:br>
              <a:rPr lang="ja-JP" sz="1200"/>
            </a:br>
            <a:r>
              <a:rPr sz="1200" b="0" lang="ja-JP">
                <a:solidFill>
                  <a:srgbClr val="21374A"/>
                </a:solidFill>
                <a:latin typeface="Yu Gothic"/>
                <a:ea typeface="Yu Gothic"/>
              </a:rPr>
              <a:t>必要で未対応です。セマンティックモデルに</a:t>
            </a:r>
            <a:br>
              <a:rPr lang="ja-JP" sz="1200"/>
            </a:br>
            <a:r>
              <a:rPr sz="1200" b="0" lang="ja-JP">
                <a:solidFill>
                  <a:srgbClr val="21374A"/>
                </a:solidFill>
                <a:latin typeface="Yu Gothic"/>
                <a:ea typeface="Yu Gothic"/>
              </a:rPr>
              <a:t>結んだOntologyは、Data Agentが</a:t>
            </a:r>
            <a:br>
              <a:rPr lang="ja-JP" sz="1200"/>
            </a:br>
            <a:r>
              <a:rPr sz="1200" b="0" lang="ja-JP">
                <a:solidFill>
                  <a:srgbClr val="21374A"/>
                </a:solidFill>
                <a:latin typeface="Yu Gothic"/>
                <a:ea typeface="Yu Gothic"/>
              </a:rPr>
              <a:t>動作しない既知の問題があり、グラフ化も</a:t>
            </a:r>
            <a:br>
              <a:rPr lang="ja-JP" sz="1200"/>
            </a:br>
            <a:r>
              <a:rPr sz="1200" b="0" lang="ja-JP">
                <a:solidFill>
                  <a:srgbClr val="21374A"/>
                </a:solidFill>
                <a:latin typeface="Yu Gothic"/>
                <a:ea typeface="Yu Gothic"/>
              </a:rPr>
              <a:t>できません。</a:t>
            </a:r>
          </a:p>
        </p:txBody>
      </p:sp>
      <p:sp>
        <p:nvSpPr>
          <p:cNvPr id="31" name="Rounded Rectangle 30">
            <a:extLst>
              <a:ext uri="{C183D7F6-B498-43B3-948B-1728B52AA6E4}">
                <adec:decorative xmlns:adec="http://schemas.microsoft.com/office/drawing/2017/decorative" val="1"/>
              </a:ext>
            </a:extLst>
          </p:cNvPr>
          <p:cNvSpPr/>
          <p:nvPr/>
        </p:nvSpPr>
        <p:spPr>
          <a:xfrm>
            <a:off x="4288536" y="3968496"/>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a:extLst>
              <a:ext uri="{C183D7F6-B498-43B3-948B-1728B52AA6E4}">
                <adec:decorative xmlns:adec="http://schemas.microsoft.com/office/drawing/2017/decorative" val="1"/>
              </a:ext>
            </a:extLst>
          </p:cNvPr>
          <p:cNvSpPr/>
          <p:nvPr/>
        </p:nvSpPr>
        <p:spPr>
          <a:xfrm>
            <a:off x="4306823" y="4105656"/>
            <a:ext cx="64008" cy="1463040"/>
          </a:xfrm>
          <a:prstGeom prst="roundRect">
            <a:avLst>
              <a:gd name="adj" fmla="val 5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62855" y="4096511"/>
            <a:ext cx="3200400" cy="274320"/>
          </a:xfrm>
          <a:prstGeom prst="rect">
            <a:avLst/>
          </a:prstGeom>
          <a:noFill/>
        </p:spPr>
        <p:txBody>
          <a:bodyPr wrap="square" lIns="0" rIns="0" tIns="0" bIns="0">
            <a:spAutoFit/>
          </a:bodyPr>
          <a:lstStyle/>
          <a:p>
            <a:pPr>
              <a:lnSpc>
                <a:spcPts val="1500"/>
              </a:lnSpc>
              <a:spcAft>
                <a:spcPts val="0"/>
              </a:spcAft>
            </a:pPr>
            <a:r>
              <a:rPr sz="1500" b="1" lang="ja-JP">
                <a:solidFill>
                  <a:srgbClr val="087F83"/>
                </a:solidFill>
                <a:latin typeface="Yu Gothic"/>
                <a:ea typeface="Yu Gothic"/>
              </a:rPr>
              <a:t>データ</a:t>
            </a:r>
          </a:p>
        </p:txBody>
      </p:sp>
      <p:sp>
        <p:nvSpPr>
          <p:cNvPr id="34" name="TextBox 33"/>
          <p:cNvSpPr txBox="1"/>
          <p:nvPr/>
        </p:nvSpPr>
        <p:spPr>
          <a:xfrm>
            <a:off x="4562855" y="4425696"/>
            <a:ext cx="3200400" cy="1234440"/>
          </a:xfrm>
          <a:prstGeom prst="rect">
            <a:avLst/>
          </a:prstGeom>
          <a:noFill/>
        </p:spPr>
        <p:txBody>
          <a:bodyPr wrap="square" lIns="0" rIns="0" tIns="0" bIns="0">
            <a:spAutoFit/>
          </a:bodyPr>
          <a:lstStyle/>
          <a:p>
            <a:pPr>
              <a:lnSpc>
                <a:spcPts val="1680"/>
              </a:lnSpc>
              <a:spcAft>
                <a:spcPts val="0"/>
              </a:spcAft>
            </a:pPr>
            <a:r>
              <a:rPr sz="1200" b="0" lang="ja-JP">
                <a:solidFill>
                  <a:srgbClr val="21374A"/>
                </a:solidFill>
                <a:latin typeface="Yu Gothic"/>
                <a:ea typeface="Yu Gothic"/>
              </a:rPr>
              <a:t>デモのデータは合成データです。</a:t>
            </a:r>
            <a:br>
              <a:rPr lang="ja-JP" sz="1200"/>
            </a:br>
            <a:r>
              <a:rPr sz="1200" b="0" lang="ja-JP">
                <a:solidFill>
                  <a:srgbClr val="21374A"/>
                </a:solidFill>
                <a:latin typeface="Yu Gothic"/>
                <a:ea typeface="Yu Gothic"/>
              </a:rPr>
              <a:t>規模、性能、コストは、貴社の</a:t>
            </a:r>
            <a:br>
              <a:rPr lang="ja-JP" sz="1200"/>
            </a:br>
            <a:r>
              <a:rPr sz="1200" b="0" lang="ja-JP">
                <a:solidFill>
                  <a:srgbClr val="21374A"/>
                </a:solidFill>
                <a:latin typeface="Yu Gothic"/>
                <a:ea typeface="Yu Gothic"/>
              </a:rPr>
              <a:t>データで別途確認が必要です。</a:t>
            </a:r>
          </a:p>
        </p:txBody>
      </p:sp>
      <p:sp>
        <p:nvSpPr>
          <p:cNvPr id="35" name="Rounded Rectangle 34">
            <a:extLst>
              <a:ext uri="{C183D7F6-B498-43B3-948B-1728B52AA6E4}">
                <adec:decorative xmlns:adec="http://schemas.microsoft.com/office/drawing/2017/decorative" val="1"/>
              </a:ext>
            </a:extLst>
          </p:cNvPr>
          <p:cNvSpPr/>
          <p:nvPr/>
        </p:nvSpPr>
        <p:spPr>
          <a:xfrm>
            <a:off x="8028431" y="3968496"/>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a:extLst>
              <a:ext uri="{C183D7F6-B498-43B3-948B-1728B52AA6E4}">
                <adec:decorative xmlns:adec="http://schemas.microsoft.com/office/drawing/2017/decorative" val="1"/>
              </a:ext>
            </a:extLst>
          </p:cNvPr>
          <p:cNvSpPr/>
          <p:nvPr/>
        </p:nvSpPr>
        <p:spPr>
          <a:xfrm>
            <a:off x="8046719" y="4105656"/>
            <a:ext cx="64008" cy="1463040"/>
          </a:xfrm>
          <a:prstGeom prst="roundRect">
            <a:avLst>
              <a:gd name="adj" fmla="val 5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02752" y="4096511"/>
            <a:ext cx="3200400" cy="274320"/>
          </a:xfrm>
          <a:prstGeom prst="rect">
            <a:avLst/>
          </a:prstGeom>
          <a:noFill/>
        </p:spPr>
        <p:txBody>
          <a:bodyPr wrap="square" lIns="0" rIns="0" tIns="0" bIns="0">
            <a:spAutoFit/>
          </a:bodyPr>
          <a:lstStyle/>
          <a:p>
            <a:pPr>
              <a:lnSpc>
                <a:spcPts val="1500"/>
              </a:lnSpc>
              <a:spcAft>
                <a:spcPts val="0"/>
              </a:spcAft>
            </a:pPr>
            <a:r>
              <a:rPr sz="1500" b="1" lang="ja-JP">
                <a:solidFill>
                  <a:srgbClr val="087F83"/>
                </a:solidFill>
                <a:latin typeface="Yu Gothic"/>
                <a:ea typeface="Yu Gothic"/>
              </a:rPr>
              <a:t>従来版の廃止</a:t>
            </a:r>
          </a:p>
        </p:txBody>
      </p:sp>
      <p:sp>
        <p:nvSpPr>
          <p:cNvPr id="38" name="TextBox 37"/>
          <p:cNvSpPr txBox="1"/>
          <p:nvPr/>
        </p:nvSpPr>
        <p:spPr>
          <a:xfrm>
            <a:off x="8302752" y="4425696"/>
            <a:ext cx="3200400" cy="1234440"/>
          </a:xfrm>
          <a:prstGeom prst="rect">
            <a:avLst/>
          </a:prstGeom>
          <a:noFill/>
        </p:spPr>
        <p:txBody>
          <a:bodyPr wrap="square" lIns="0" rIns="0" tIns="0" bIns="0">
            <a:spAutoFit/>
          </a:bodyPr>
          <a:lstStyle/>
          <a:p>
            <a:pPr>
              <a:lnSpc>
                <a:spcPts val="1680"/>
              </a:lnSpc>
              <a:spcAft>
                <a:spcPts val="0"/>
              </a:spcAft>
            </a:pPr>
            <a:r>
              <a:rPr sz="1200" b="0" lang="ja-JP">
                <a:solidFill>
                  <a:srgbClr val="21374A"/>
                </a:solidFill>
                <a:latin typeface="Yu Gothic"/>
                <a:ea typeface="Yu Gothic"/>
              </a:rPr>
              <a:t>Ontologyの従来版（旧体験）は</a:t>
            </a:r>
            <a:br>
              <a:rPr lang="ja-JP" sz="1200"/>
            </a:br>
            <a:r>
              <a:rPr sz="1200" b="0" lang="ja-JP">
                <a:solidFill>
                  <a:srgbClr val="21374A"/>
                </a:solidFill>
                <a:latin typeface="Yu Gothic"/>
                <a:ea typeface="Yu Gothic"/>
              </a:rPr>
              <a:t>2027年1月31日に廃止されます。</a:t>
            </a:r>
            <a:br>
              <a:rPr lang="ja-JP" sz="1200"/>
            </a:br>
            <a:r>
              <a:rPr sz="1200" b="0" lang="ja-JP">
                <a:solidFill>
                  <a:srgbClr val="21374A"/>
                </a:solidFill>
                <a:latin typeface="Yu Gothic"/>
                <a:ea typeface="Yu Gothic"/>
              </a:rPr>
              <a:t>お使いの場合は、新しい体験への</a:t>
            </a:r>
            <a:br>
              <a:rPr lang="ja-JP" sz="1200"/>
            </a:br>
            <a:r>
              <a:rPr sz="1200" b="0" lang="ja-JP">
                <a:solidFill>
                  <a:srgbClr val="21374A"/>
                </a:solidFill>
                <a:latin typeface="Yu Gothic"/>
                <a:ea typeface="Yu Gothic"/>
              </a:rPr>
              <a:t>コピーによる移行が必要です。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itle 1"/>
          <p:cNvSpPr>
            <a:spLocks noGrp="1"/>
          </p:cNvSpPr>
          <p:nvPr>
            <p:ph type="title"/>
          </p:nvPr>
        </p:nvSpPr>
        <p:spPr>
          <a:xfrm>
            <a:off x="731520" y="1234440"/>
            <a:ext cx="10789920" cy="566928"/>
          </a:xfrm>
        </p:spPr>
        <p:txBody>
          <a:bodyPr wrap="square" lIns="0" rIns="0" tIns="0" bIns="0" anchor="t">
            <a:noAutofit/>
          </a:bodyPr>
          <a:lstStyle/>
          <a:p>
            <a:pPr algn="l">
              <a:lnSpc>
                <a:spcPts val="3450"/>
              </a:lnSpc>
              <a:spcAft>
                <a:spcPts val="0"/>
              </a:spcAft>
            </a:pPr>
            <a:r>
              <a:rPr sz="3000" b="1" lang="ja-JP">
                <a:solidFill>
                  <a:srgbClr val="FFFFFF"/>
                </a:solidFill>
                <a:latin typeface="Yu Gothic"/>
                <a:ea typeface="Yu Gothic"/>
              </a:rPr>
              <a:t>貴社の質問とデータでPoCを設計する</a:t>
            </a:r>
          </a:p>
        </p:txBody>
      </p:sp>
      <p:cxnSp>
        <p:nvCxnSpPr>
          <p:cNvPr id="3" name="Connector 2">
            <a:extLst>
              <a:ext uri="{C183D7F6-B498-43B3-948B-1728B52AA6E4}">
                <adec:decorative xmlns:adec="http://schemas.microsoft.com/office/drawing/2017/decorative" val="1"/>
              </a:ext>
            </a:extLst>
          </p:cNvPr>
          <p:cNvCxnSpPr/>
          <p:nvPr/>
        </p:nvCxnSpPr>
        <p:spPr>
          <a:xfrm>
            <a:off x="805129" y="776325"/>
            <a:ext cx="304952" cy="94641"/>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910285" y="870966"/>
            <a:ext cx="199796" cy="241858"/>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805129" y="776325"/>
            <a:ext cx="105156" cy="336499"/>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736777" y="70797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1041730" y="80261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841933" y="1044473"/>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371600" y="749808"/>
            <a:ext cx="7315200" cy="274320"/>
          </a:xfrm>
          <a:prstGeom prst="rect">
            <a:avLst/>
          </a:prstGeom>
          <a:noFill/>
        </p:spPr>
        <p:txBody>
          <a:bodyPr wrap="square" lIns="0" rIns="0" tIns="0" bIns="0">
            <a:spAutoFit/>
          </a:bodyPr>
          <a:lstStyle/>
          <a:p>
            <a:pPr>
              <a:lnSpc>
                <a:spcPts val="1400"/>
              </a:lnSpc>
              <a:spcAft>
                <a:spcPts val="0"/>
              </a:spcAft>
            </a:pPr>
            <a:r>
              <a:rPr sz="1400" b="1" lang="ja-JP">
                <a:solidFill>
                  <a:srgbClr val="A9DCD9"/>
                </a:solidFill>
                <a:latin typeface="Yu Gothic"/>
                <a:ea typeface="Yu Gothic"/>
              </a:rPr>
              <a:t>第4章 進め方  |  次のステップ</a:t>
            </a:r>
          </a:p>
        </p:txBody>
      </p:sp>
      <p:sp>
        <p:nvSpPr>
          <p:cNvPr id="10" name="TextBox 9"/>
          <p:cNvSpPr txBox="1"/>
          <p:nvPr/>
        </p:nvSpPr>
        <p:spPr>
          <a:xfrm>
            <a:off x="749808" y="1920240"/>
            <a:ext cx="10607040" cy="365760"/>
          </a:xfrm>
          <a:prstGeom prst="rect">
            <a:avLst/>
          </a:prstGeom>
          <a:noFill/>
        </p:spPr>
        <p:txBody>
          <a:bodyPr wrap="square" lIns="0" rIns="0" tIns="0" bIns="0">
            <a:spAutoFit/>
          </a:bodyPr>
          <a:lstStyle/>
          <a:p>
            <a:pPr>
              <a:lnSpc>
                <a:spcPts val="2160"/>
              </a:lnSpc>
              <a:spcAft>
                <a:spcPts val="0"/>
              </a:spcAft>
            </a:pPr>
            <a:r>
              <a:rPr sz="1600" b="0" lang="ja-JP">
                <a:solidFill>
                  <a:srgbClr val="E6EEF2"/>
                </a:solidFill>
                <a:latin typeface="Yu Gothic"/>
                <a:ea typeface="Yu Gothic"/>
              </a:rPr>
              <a:t>本日確認した内容をもとに、貴社の問いとデータで、小さく検証する進め方をご提案します。</a:t>
            </a:r>
          </a:p>
        </p:txBody>
      </p:sp>
      <p:sp>
        <p:nvSpPr>
          <p:cNvPr id="11" name="TextBox 10"/>
          <p:cNvSpPr txBox="1"/>
          <p:nvPr/>
        </p:nvSpPr>
        <p:spPr>
          <a:xfrm>
            <a:off x="777240" y="2697480"/>
            <a:ext cx="4937760" cy="292608"/>
          </a:xfrm>
          <a:prstGeom prst="rect">
            <a:avLst/>
          </a:prstGeom>
          <a:noFill/>
        </p:spPr>
        <p:txBody>
          <a:bodyPr wrap="square" lIns="0" rIns="0" tIns="0" bIns="0">
            <a:spAutoFit/>
          </a:bodyPr>
          <a:lstStyle/>
          <a:p>
            <a:pPr>
              <a:lnSpc>
                <a:spcPts val="1600"/>
              </a:lnSpc>
              <a:spcAft>
                <a:spcPts val="0"/>
              </a:spcAft>
            </a:pPr>
            <a:r>
              <a:rPr sz="1600" b="1" lang="ja-JP">
                <a:solidFill>
                  <a:srgbClr val="A9DCD9"/>
                </a:solidFill>
                <a:latin typeface="Yu Gothic"/>
                <a:ea typeface="Yu Gothic"/>
              </a:rPr>
              <a:t>本日の要点</a:t>
            </a:r>
          </a:p>
        </p:txBody>
      </p:sp>
      <p:sp>
        <p:nvSpPr>
          <p:cNvPr id="12" name="Oval 11">
            <a:extLst>
              <a:ext uri="{C183D7F6-B498-43B3-948B-1728B52AA6E4}">
                <adec:decorative xmlns:adec="http://schemas.microsoft.com/office/drawing/2017/decorative" val="1"/>
              </a:ext>
            </a:extLst>
          </p:cNvPr>
          <p:cNvSpPr/>
          <p:nvPr/>
        </p:nvSpPr>
        <p:spPr>
          <a:xfrm>
            <a:off x="804672" y="3218687"/>
            <a:ext cx="402336" cy="402336"/>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04672" y="3218687"/>
            <a:ext cx="402336" cy="402336"/>
          </a:xfrm>
          <a:prstGeom prst="rect">
            <a:avLst/>
          </a:prstGeom>
          <a:noFill/>
        </p:spPr>
        <p:txBody>
          <a:bodyPr wrap="square" lIns="0" rIns="0" tIns="0" bIns="0" anchor="ctr">
            <a:spAutoFit/>
          </a:bodyPr>
          <a:lstStyle/>
          <a:p>
            <a:pPr algn="ctr">
              <a:lnSpc>
                <a:spcPts val="1300"/>
              </a:lnSpc>
              <a:spcAft>
                <a:spcPts val="0"/>
              </a:spcAft>
            </a:pPr>
            <a:r>
              <a:rPr sz="1300" b="1" lang="ja-JP">
                <a:solidFill>
                  <a:srgbClr val="17334A"/>
                </a:solidFill>
                <a:latin typeface="Yu Gothic"/>
                <a:ea typeface="Yu Gothic"/>
              </a:rPr>
              <a:t>1</a:t>
            </a:r>
          </a:p>
        </p:txBody>
      </p:sp>
      <p:sp>
        <p:nvSpPr>
          <p:cNvPr id="14" name="TextBox 13"/>
          <p:cNvSpPr txBox="1"/>
          <p:nvPr/>
        </p:nvSpPr>
        <p:spPr>
          <a:xfrm>
            <a:off x="1371600" y="3108960"/>
            <a:ext cx="4343400" cy="822960"/>
          </a:xfrm>
          <a:prstGeom prst="rect">
            <a:avLst/>
          </a:prstGeom>
          <a:noFill/>
        </p:spPr>
        <p:txBody>
          <a:bodyPr wrap="square" lIns="0" rIns="0" tIns="0" bIns="0" anchor="ctr">
            <a:spAutoFit/>
          </a:bodyPr>
          <a:lstStyle/>
          <a:p>
            <a:pPr>
              <a:lnSpc>
                <a:spcPts val="2020"/>
              </a:lnSpc>
              <a:spcAft>
                <a:spcPts val="0"/>
              </a:spcAft>
            </a:pPr>
            <a:r>
              <a:rPr sz="1500" b="0" lang="ja-JP">
                <a:solidFill>
                  <a:srgbClr val="E6EEF2"/>
                </a:solidFill>
                <a:latin typeface="Yu Gothic"/>
                <a:ea typeface="Yu Gothic"/>
              </a:rPr>
              <a:t>EBITDAの増減を、イベント、契約、</a:t>
            </a:r>
            <a:br>
              <a:rPr lang="ja-JP" sz="1500"/>
            </a:br>
            <a:r>
              <a:rPr sz="1500" b="0" lang="ja-JP">
                <a:solidFill>
                  <a:srgbClr val="E6EEF2"/>
                </a:solidFill>
                <a:latin typeface="Yu Gothic"/>
                <a:ea typeface="Yu Gothic"/>
              </a:rPr>
              <a:t>根拠記録までたどって説明できました。</a:t>
            </a:r>
          </a:p>
        </p:txBody>
      </p:sp>
      <p:sp>
        <p:nvSpPr>
          <p:cNvPr id="15" name="Oval 14">
            <a:extLst>
              <a:ext uri="{C183D7F6-B498-43B3-948B-1728B52AA6E4}">
                <adec:decorative xmlns:adec="http://schemas.microsoft.com/office/drawing/2017/decorative" val="1"/>
              </a:ext>
            </a:extLst>
          </p:cNvPr>
          <p:cNvSpPr/>
          <p:nvPr/>
        </p:nvSpPr>
        <p:spPr>
          <a:xfrm>
            <a:off x="804672" y="4133088"/>
            <a:ext cx="402336" cy="402336"/>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04672" y="4133088"/>
            <a:ext cx="402336" cy="402336"/>
          </a:xfrm>
          <a:prstGeom prst="rect">
            <a:avLst/>
          </a:prstGeom>
          <a:noFill/>
        </p:spPr>
        <p:txBody>
          <a:bodyPr wrap="square" lIns="0" rIns="0" tIns="0" bIns="0" anchor="ctr">
            <a:spAutoFit/>
          </a:bodyPr>
          <a:lstStyle/>
          <a:p>
            <a:pPr algn="ctr">
              <a:lnSpc>
                <a:spcPts val="1300"/>
              </a:lnSpc>
              <a:spcAft>
                <a:spcPts val="0"/>
              </a:spcAft>
            </a:pPr>
            <a:r>
              <a:rPr sz="1300" b="1" lang="ja-JP">
                <a:solidFill>
                  <a:srgbClr val="17334A"/>
                </a:solidFill>
                <a:latin typeface="Yu Gothic"/>
                <a:ea typeface="Yu Gothic"/>
              </a:rPr>
              <a:t>2</a:t>
            </a:r>
          </a:p>
        </p:txBody>
      </p:sp>
      <p:sp>
        <p:nvSpPr>
          <p:cNvPr id="17" name="TextBox 16"/>
          <p:cNvSpPr txBox="1"/>
          <p:nvPr/>
        </p:nvSpPr>
        <p:spPr>
          <a:xfrm>
            <a:off x="1371600" y="4023360"/>
            <a:ext cx="4343400" cy="822960"/>
          </a:xfrm>
          <a:prstGeom prst="rect">
            <a:avLst/>
          </a:prstGeom>
          <a:noFill/>
        </p:spPr>
        <p:txBody>
          <a:bodyPr wrap="square" lIns="0" rIns="0" tIns="0" bIns="0" anchor="ctr">
            <a:spAutoFit/>
          </a:bodyPr>
          <a:lstStyle/>
          <a:p>
            <a:pPr>
              <a:lnSpc>
                <a:spcPts val="2020"/>
              </a:lnSpc>
              <a:spcAft>
                <a:spcPts val="0"/>
              </a:spcAft>
            </a:pPr>
            <a:r>
              <a:rPr sz="1500" b="0" lang="ja-JP">
                <a:solidFill>
                  <a:srgbClr val="E6EEF2"/>
                </a:solidFill>
                <a:latin typeface="Yu Gothic"/>
                <a:ea typeface="Yu Gothic"/>
              </a:rPr>
              <a:t>各社の原本は残したまま、定義と</a:t>
            </a:r>
            <a:br>
              <a:rPr lang="ja-JP" sz="1500"/>
            </a:br>
            <a:r>
              <a:rPr sz="1500" b="0" lang="ja-JP">
                <a:solidFill>
                  <a:srgbClr val="E6EEF2"/>
                </a:solidFill>
                <a:latin typeface="Yu Gothic"/>
                <a:ea typeface="Yu Gothic"/>
              </a:rPr>
              <a:t>関係をData Agentから参照できました</a:t>
            </a:r>
            <a:br>
              <a:rPr lang="ja-JP" sz="1500"/>
            </a:br>
            <a:r>
              <a:rPr sz="1500" b="0" lang="ja-JP">
                <a:solidFill>
                  <a:srgbClr val="E6EEF2"/>
                </a:solidFill>
                <a:latin typeface="Yu Gothic"/>
                <a:ea typeface="Yu Gothic"/>
              </a:rPr>
              <a:t>（コピーした表とGraphを含みます）。</a:t>
            </a:r>
          </a:p>
        </p:txBody>
      </p:sp>
      <p:sp>
        <p:nvSpPr>
          <p:cNvPr id="18" name="Oval 17">
            <a:extLst>
              <a:ext uri="{C183D7F6-B498-43B3-948B-1728B52AA6E4}">
                <adec:decorative xmlns:adec="http://schemas.microsoft.com/office/drawing/2017/decorative" val="1"/>
              </a:ext>
            </a:extLst>
          </p:cNvPr>
          <p:cNvSpPr/>
          <p:nvPr/>
        </p:nvSpPr>
        <p:spPr>
          <a:xfrm>
            <a:off x="804672" y="5047488"/>
            <a:ext cx="402336" cy="402336"/>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04672" y="5047488"/>
            <a:ext cx="402336" cy="402336"/>
          </a:xfrm>
          <a:prstGeom prst="rect">
            <a:avLst/>
          </a:prstGeom>
          <a:noFill/>
        </p:spPr>
        <p:txBody>
          <a:bodyPr wrap="square" lIns="0" rIns="0" tIns="0" bIns="0" anchor="ctr">
            <a:spAutoFit/>
          </a:bodyPr>
          <a:lstStyle/>
          <a:p>
            <a:pPr algn="ctr">
              <a:lnSpc>
                <a:spcPts val="1300"/>
              </a:lnSpc>
              <a:spcAft>
                <a:spcPts val="0"/>
              </a:spcAft>
            </a:pPr>
            <a:r>
              <a:rPr sz="1300" b="1" lang="ja-JP">
                <a:solidFill>
                  <a:srgbClr val="17334A"/>
                </a:solidFill>
                <a:latin typeface="Yu Gothic"/>
                <a:ea typeface="Yu Gothic"/>
              </a:rPr>
              <a:t>3</a:t>
            </a:r>
          </a:p>
        </p:txBody>
      </p:sp>
      <p:sp>
        <p:nvSpPr>
          <p:cNvPr id="20" name="TextBox 19"/>
          <p:cNvSpPr txBox="1"/>
          <p:nvPr/>
        </p:nvSpPr>
        <p:spPr>
          <a:xfrm>
            <a:off x="1371600" y="4937760"/>
            <a:ext cx="4343400" cy="822960"/>
          </a:xfrm>
          <a:prstGeom prst="rect">
            <a:avLst/>
          </a:prstGeom>
          <a:noFill/>
        </p:spPr>
        <p:txBody>
          <a:bodyPr wrap="square" lIns="0" rIns="0" tIns="0" bIns="0" anchor="ctr">
            <a:spAutoFit/>
          </a:bodyPr>
          <a:lstStyle/>
          <a:p>
            <a:pPr>
              <a:lnSpc>
                <a:spcPts val="2020"/>
              </a:lnSpc>
              <a:spcAft>
                <a:spcPts val="0"/>
              </a:spcAft>
            </a:pPr>
            <a:r>
              <a:rPr sz="1500" b="0" lang="ja-JP">
                <a:solidFill>
                  <a:srgbClr val="E6EEF2"/>
                </a:solidFill>
                <a:latin typeface="Yu Gothic"/>
                <a:ea typeface="Yu Gothic"/>
              </a:rPr>
              <a:t>小さな範囲から始める進め方を、</a:t>
            </a:r>
            <a:br>
              <a:rPr lang="ja-JP" sz="1500"/>
            </a:br>
            <a:r>
              <a:rPr sz="1500" b="0" lang="ja-JP">
                <a:solidFill>
                  <a:srgbClr val="E6EEF2"/>
                </a:solidFill>
                <a:latin typeface="Yu Gothic"/>
                <a:ea typeface="Yu Gothic"/>
              </a:rPr>
              <a:t>ご提案します。Previewの留意点は、</a:t>
            </a:r>
            <a:br>
              <a:rPr lang="ja-JP" sz="1500"/>
            </a:br>
            <a:r>
              <a:rPr sz="1500" b="0" lang="ja-JP">
                <a:solidFill>
                  <a:srgbClr val="E6EEF2"/>
                </a:solidFill>
                <a:latin typeface="Yu Gothic"/>
                <a:ea typeface="Yu Gothic"/>
              </a:rPr>
              <a:t>PoCの評価で確認します。</a:t>
            </a:r>
          </a:p>
        </p:txBody>
      </p:sp>
      <p:sp>
        <p:nvSpPr>
          <p:cNvPr id="21" name="Rounded Rectangle 20">
            <a:extLst>
              <a:ext uri="{C183D7F6-B498-43B3-948B-1728B52AA6E4}">
                <adec:decorative xmlns:adec="http://schemas.microsoft.com/office/drawing/2017/decorative" val="1"/>
              </a:ext>
            </a:extLst>
          </p:cNvPr>
          <p:cNvSpPr/>
          <p:nvPr/>
        </p:nvSpPr>
        <p:spPr>
          <a:xfrm>
            <a:off x="6126480" y="2697480"/>
            <a:ext cx="5513832" cy="3200400"/>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00800" y="2834640"/>
            <a:ext cx="4937760" cy="292608"/>
          </a:xfrm>
          <a:prstGeom prst="rect">
            <a:avLst/>
          </a:prstGeom>
          <a:noFill/>
        </p:spPr>
        <p:txBody>
          <a:bodyPr wrap="square" lIns="0" rIns="0" tIns="0" bIns="0">
            <a:spAutoFit/>
          </a:bodyPr>
          <a:lstStyle/>
          <a:p>
            <a:pPr>
              <a:lnSpc>
                <a:spcPts val="1600"/>
              </a:lnSpc>
              <a:spcAft>
                <a:spcPts val="0"/>
              </a:spcAft>
            </a:pPr>
            <a:r>
              <a:rPr sz="1600" b="1" lang="ja-JP">
                <a:solidFill>
                  <a:srgbClr val="087F83"/>
                </a:solidFill>
                <a:latin typeface="Yu Gothic"/>
                <a:ea typeface="Yu Gothic"/>
              </a:rPr>
              <a:t>PoCの進め方</a:t>
            </a:r>
          </a:p>
        </p:txBody>
      </p:sp>
      <p:sp>
        <p:nvSpPr>
          <p:cNvPr id="23" name="Oval 22">
            <a:extLst>
              <a:ext uri="{C183D7F6-B498-43B3-948B-1728B52AA6E4}">
                <adec:decorative xmlns:adec="http://schemas.microsoft.com/office/drawing/2017/decorative" val="1"/>
              </a:ext>
            </a:extLst>
          </p:cNvPr>
          <p:cNvSpPr/>
          <p:nvPr/>
        </p:nvSpPr>
        <p:spPr>
          <a:xfrm>
            <a:off x="6446520" y="3364991"/>
            <a:ext cx="365760" cy="365760"/>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46520" y="3364991"/>
            <a:ext cx="365760" cy="365760"/>
          </a:xfrm>
          <a:prstGeom prst="rect">
            <a:avLst/>
          </a:prstGeom>
          <a:noFill/>
        </p:spPr>
        <p:txBody>
          <a:bodyPr wrap="square" lIns="0" rIns="0" tIns="0" bIns="0" anchor="ctr">
            <a:spAutoFit/>
          </a:bodyPr>
          <a:lstStyle/>
          <a:p>
            <a:pPr algn="ctr">
              <a:lnSpc>
                <a:spcPts val="1200"/>
              </a:lnSpc>
              <a:spcAft>
                <a:spcPts val="0"/>
              </a:spcAft>
            </a:pPr>
            <a:r>
              <a:rPr sz="1200" b="1" lang="ja-JP">
                <a:solidFill>
                  <a:srgbClr val="FFFFFF"/>
                </a:solidFill>
                <a:latin typeface="Yu Gothic"/>
                <a:ea typeface="Yu Gothic"/>
              </a:rPr>
              <a:t>1</a:t>
            </a:r>
          </a:p>
        </p:txBody>
      </p:sp>
      <p:sp>
        <p:nvSpPr>
          <p:cNvPr id="25" name="TextBox 24"/>
          <p:cNvSpPr txBox="1"/>
          <p:nvPr/>
        </p:nvSpPr>
        <p:spPr>
          <a:xfrm>
            <a:off x="6995160" y="3273552"/>
            <a:ext cx="4480560" cy="256032"/>
          </a:xfrm>
          <a:prstGeom prst="rect">
            <a:avLst/>
          </a:prstGeom>
          <a:noFill/>
        </p:spPr>
        <p:txBody>
          <a:bodyPr wrap="square" lIns="0" rIns="0" tIns="0" bIns="0">
            <a:spAutoFit/>
          </a:bodyPr>
          <a:lstStyle/>
          <a:p>
            <a:pPr>
              <a:lnSpc>
                <a:spcPts val="1450"/>
              </a:lnSpc>
              <a:spcAft>
                <a:spcPts val="0"/>
              </a:spcAft>
            </a:pPr>
            <a:r>
              <a:rPr sz="1450" b="1" lang="ja-JP">
                <a:solidFill>
                  <a:srgbClr val="17334A"/>
                </a:solidFill>
                <a:latin typeface="Yu Gothic"/>
                <a:ea typeface="Yu Gothic"/>
              </a:rPr>
              <a:t>質問とデータの確認</a:t>
            </a:r>
          </a:p>
        </p:txBody>
      </p:sp>
      <p:sp>
        <p:nvSpPr>
          <p:cNvPr id="26" name="TextBox 25"/>
          <p:cNvSpPr txBox="1"/>
          <p:nvPr/>
        </p:nvSpPr>
        <p:spPr>
          <a:xfrm>
            <a:off x="6995160" y="3566160"/>
            <a:ext cx="4480560" cy="475488"/>
          </a:xfrm>
          <a:prstGeom prst="rect">
            <a:avLst/>
          </a:prstGeom>
          <a:noFill/>
        </p:spPr>
        <p:txBody>
          <a:bodyPr wrap="square" lIns="0" rIns="0" tIns="0" bIns="0">
            <a:spAutoFit/>
          </a:bodyPr>
          <a:lstStyle/>
          <a:p>
            <a:pPr>
              <a:lnSpc>
                <a:spcPts val="1560"/>
              </a:lnSpc>
              <a:spcAft>
                <a:spcPts val="0"/>
              </a:spcAft>
            </a:pPr>
            <a:r>
              <a:rPr sz="1200" b="0" lang="ja-JP">
                <a:solidFill>
                  <a:srgbClr val="21374A"/>
                </a:solidFill>
                <a:latin typeface="Yu Gothic"/>
                <a:ea typeface="Yu Gothic"/>
              </a:rPr>
              <a:t>代表的な質問を決め、対象データを</a:t>
            </a:r>
            <a:br>
              <a:rPr lang="ja-JP" sz="1200"/>
            </a:br>
            <a:r>
              <a:rPr sz="1200" b="0" lang="ja-JP">
                <a:solidFill>
                  <a:srgbClr val="21374A"/>
                </a:solidFill>
                <a:latin typeface="Yu Gothic"/>
                <a:ea typeface="Yu Gothic"/>
              </a:rPr>
              <a:t>棚卸しします（ワークショップ）</a:t>
            </a:r>
          </a:p>
        </p:txBody>
      </p:sp>
      <p:sp>
        <p:nvSpPr>
          <p:cNvPr id="27" name="Oval 26">
            <a:extLst>
              <a:ext uri="{C183D7F6-B498-43B3-948B-1728B52AA6E4}">
                <adec:decorative xmlns:adec="http://schemas.microsoft.com/office/drawing/2017/decorative" val="1"/>
              </a:ext>
            </a:extLst>
          </p:cNvPr>
          <p:cNvSpPr/>
          <p:nvPr/>
        </p:nvSpPr>
        <p:spPr>
          <a:xfrm>
            <a:off x="6446520" y="4224527"/>
            <a:ext cx="365760" cy="365760"/>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446520" y="4224527"/>
            <a:ext cx="365760" cy="365760"/>
          </a:xfrm>
          <a:prstGeom prst="rect">
            <a:avLst/>
          </a:prstGeom>
          <a:noFill/>
        </p:spPr>
        <p:txBody>
          <a:bodyPr wrap="square" lIns="0" rIns="0" tIns="0" bIns="0" anchor="ctr">
            <a:spAutoFit/>
          </a:bodyPr>
          <a:lstStyle/>
          <a:p>
            <a:pPr algn="ctr">
              <a:lnSpc>
                <a:spcPts val="1200"/>
              </a:lnSpc>
              <a:spcAft>
                <a:spcPts val="0"/>
              </a:spcAft>
            </a:pPr>
            <a:r>
              <a:rPr sz="1200" b="1" lang="ja-JP">
                <a:solidFill>
                  <a:srgbClr val="FFFFFF"/>
                </a:solidFill>
                <a:latin typeface="Yu Gothic"/>
                <a:ea typeface="Yu Gothic"/>
              </a:rPr>
              <a:t>2</a:t>
            </a:r>
          </a:p>
        </p:txBody>
      </p:sp>
      <p:sp>
        <p:nvSpPr>
          <p:cNvPr id="29" name="TextBox 28"/>
          <p:cNvSpPr txBox="1"/>
          <p:nvPr/>
        </p:nvSpPr>
        <p:spPr>
          <a:xfrm>
            <a:off x="6995160" y="4133087"/>
            <a:ext cx="4480560" cy="256032"/>
          </a:xfrm>
          <a:prstGeom prst="rect">
            <a:avLst/>
          </a:prstGeom>
          <a:noFill/>
        </p:spPr>
        <p:txBody>
          <a:bodyPr wrap="square" lIns="0" rIns="0" tIns="0" bIns="0">
            <a:spAutoFit/>
          </a:bodyPr>
          <a:lstStyle/>
          <a:p>
            <a:pPr>
              <a:lnSpc>
                <a:spcPts val="1450"/>
              </a:lnSpc>
              <a:spcAft>
                <a:spcPts val="0"/>
              </a:spcAft>
            </a:pPr>
            <a:r>
              <a:rPr sz="1450" b="1" lang="ja-JP">
                <a:solidFill>
                  <a:srgbClr val="17334A"/>
                </a:solidFill>
                <a:latin typeface="Yu Gothic"/>
                <a:ea typeface="Yu Gothic"/>
              </a:rPr>
              <a:t>最小のOntologyで検証</a:t>
            </a:r>
          </a:p>
        </p:txBody>
      </p:sp>
      <p:sp>
        <p:nvSpPr>
          <p:cNvPr id="30" name="TextBox 29"/>
          <p:cNvSpPr txBox="1"/>
          <p:nvPr/>
        </p:nvSpPr>
        <p:spPr>
          <a:xfrm>
            <a:off x="6995160" y="4425696"/>
            <a:ext cx="4480560" cy="475488"/>
          </a:xfrm>
          <a:prstGeom prst="rect">
            <a:avLst/>
          </a:prstGeom>
          <a:noFill/>
        </p:spPr>
        <p:txBody>
          <a:bodyPr wrap="square" lIns="0" rIns="0" tIns="0" bIns="0">
            <a:spAutoFit/>
          </a:bodyPr>
          <a:lstStyle/>
          <a:p>
            <a:pPr>
              <a:lnSpc>
                <a:spcPts val="1560"/>
              </a:lnSpc>
              <a:spcAft>
                <a:spcPts val="0"/>
              </a:spcAft>
            </a:pPr>
            <a:r>
              <a:rPr sz="1200" b="0" lang="ja-JP">
                <a:solidFill>
                  <a:srgbClr val="21374A"/>
                </a:solidFill>
                <a:latin typeface="Yu Gothic"/>
                <a:ea typeface="Yu Gothic"/>
              </a:rPr>
              <a:t>5〜10問のうち、まず1事業・1問で、</a:t>
            </a:r>
            <a:br>
              <a:rPr lang="ja-JP" sz="1200"/>
            </a:br>
            <a:r>
              <a:rPr sz="1200" b="0" lang="ja-JP">
                <a:solidFill>
                  <a:srgbClr val="21374A"/>
                </a:solidFill>
                <a:latin typeface="Yu Gothic"/>
                <a:ea typeface="Yu Gothic"/>
              </a:rPr>
              <a:t>答え、根拠、再現性を確認します</a:t>
            </a:r>
          </a:p>
        </p:txBody>
      </p:sp>
      <p:sp>
        <p:nvSpPr>
          <p:cNvPr id="31" name="Oval 30">
            <a:extLst>
              <a:ext uri="{C183D7F6-B498-43B3-948B-1728B52AA6E4}">
                <adec:decorative xmlns:adec="http://schemas.microsoft.com/office/drawing/2017/decorative" val="1"/>
              </a:ext>
            </a:extLst>
          </p:cNvPr>
          <p:cNvSpPr/>
          <p:nvPr/>
        </p:nvSpPr>
        <p:spPr>
          <a:xfrm>
            <a:off x="6446520" y="5084064"/>
            <a:ext cx="365760" cy="365760"/>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446520" y="5084064"/>
            <a:ext cx="365760" cy="365760"/>
          </a:xfrm>
          <a:prstGeom prst="rect">
            <a:avLst/>
          </a:prstGeom>
          <a:noFill/>
        </p:spPr>
        <p:txBody>
          <a:bodyPr wrap="square" lIns="0" rIns="0" tIns="0" bIns="0" anchor="ctr">
            <a:spAutoFit/>
          </a:bodyPr>
          <a:lstStyle/>
          <a:p>
            <a:pPr algn="ctr">
              <a:lnSpc>
                <a:spcPts val="1200"/>
              </a:lnSpc>
              <a:spcAft>
                <a:spcPts val="0"/>
              </a:spcAft>
            </a:pPr>
            <a:r>
              <a:rPr sz="1200" b="1" lang="ja-JP">
                <a:solidFill>
                  <a:srgbClr val="FFFFFF"/>
                </a:solidFill>
                <a:latin typeface="Yu Gothic"/>
                <a:ea typeface="Yu Gothic"/>
              </a:rPr>
              <a:t>3</a:t>
            </a:r>
          </a:p>
        </p:txBody>
      </p:sp>
      <p:sp>
        <p:nvSpPr>
          <p:cNvPr id="33" name="TextBox 32"/>
          <p:cNvSpPr txBox="1"/>
          <p:nvPr/>
        </p:nvSpPr>
        <p:spPr>
          <a:xfrm>
            <a:off x="6995160" y="4992624"/>
            <a:ext cx="4480560" cy="256032"/>
          </a:xfrm>
          <a:prstGeom prst="rect">
            <a:avLst/>
          </a:prstGeom>
          <a:noFill/>
        </p:spPr>
        <p:txBody>
          <a:bodyPr wrap="square" lIns="0" rIns="0" tIns="0" bIns="0">
            <a:spAutoFit/>
          </a:bodyPr>
          <a:lstStyle/>
          <a:p>
            <a:pPr>
              <a:lnSpc>
                <a:spcPts val="1450"/>
              </a:lnSpc>
              <a:spcAft>
                <a:spcPts val="0"/>
              </a:spcAft>
            </a:pPr>
            <a:r>
              <a:rPr sz="1450" b="1" lang="ja-JP">
                <a:solidFill>
                  <a:srgbClr val="17334A"/>
                </a:solidFill>
                <a:latin typeface="Yu Gothic"/>
                <a:ea typeface="Yu Gothic"/>
              </a:rPr>
              <a:t>評価と拡張の判断</a:t>
            </a:r>
          </a:p>
        </p:txBody>
      </p:sp>
      <p:sp>
        <p:nvSpPr>
          <p:cNvPr id="34" name="TextBox 33"/>
          <p:cNvSpPr txBox="1"/>
          <p:nvPr/>
        </p:nvSpPr>
        <p:spPr>
          <a:xfrm>
            <a:off x="6995160" y="5285232"/>
            <a:ext cx="4480560" cy="475488"/>
          </a:xfrm>
          <a:prstGeom prst="rect">
            <a:avLst/>
          </a:prstGeom>
          <a:noFill/>
        </p:spPr>
        <p:txBody>
          <a:bodyPr wrap="square" lIns="0" rIns="0" tIns="0" bIns="0">
            <a:spAutoFit/>
          </a:bodyPr>
          <a:lstStyle/>
          <a:p>
            <a:pPr>
              <a:lnSpc>
                <a:spcPts val="1560"/>
              </a:lnSpc>
              <a:spcAft>
                <a:spcPts val="0"/>
              </a:spcAft>
            </a:pPr>
            <a:r>
              <a:rPr sz="1200" b="0" lang="ja-JP">
                <a:solidFill>
                  <a:srgbClr val="21374A"/>
                </a:solidFill>
                <a:latin typeface="Yu Gothic"/>
                <a:ea typeface="Yu Gothic"/>
              </a:rPr>
              <a:t>結果をもとに、対象の事業や機能を広げるかを決めます</a:t>
            </a:r>
          </a:p>
        </p:txBody>
      </p:sp>
      <p:sp>
        <p:nvSpPr>
          <p:cNvPr id="35" name="TextBox 34"/>
          <p:cNvSpPr txBox="1"/>
          <p:nvPr/>
        </p:nvSpPr>
        <p:spPr>
          <a:xfrm>
            <a:off x="777240" y="6035040"/>
            <a:ext cx="10058400" cy="237744"/>
          </a:xfrm>
          <a:prstGeom prst="rect">
            <a:avLst/>
          </a:prstGeom>
          <a:noFill/>
        </p:spPr>
        <p:txBody>
          <a:bodyPr wrap="square" lIns="0" rIns="0" tIns="0" bIns="0">
            <a:spAutoFit/>
          </a:bodyPr>
          <a:lstStyle/>
          <a:p>
            <a:pPr>
              <a:lnSpc>
                <a:spcPts val="1100"/>
              </a:lnSpc>
              <a:spcAft>
                <a:spcPts val="0"/>
              </a:spcAft>
            </a:pPr>
            <a:r>
              <a:rPr sz="1100" b="0" lang="ja-JP">
                <a:solidFill>
                  <a:srgbClr val="E6EEF2"/>
                </a:solidFill>
                <a:latin typeface="Yu Gothic"/>
                <a:ea typeface="Yu Gothic"/>
              </a:rPr>
              <a:t>参考：Microsoft Learn「What is ontology (preview)?」  learn.microsoft.com/fabric/iq/ontology/overview</a:t>
            </a:r>
          </a:p>
        </p:txBody>
      </p:sp>
      <p:sp>
        <p:nvSpPr>
          <p:cNvPr id="36" name="TextBox 35"/>
          <p:cNvSpPr txBox="1"/>
          <p:nvPr/>
        </p:nvSpPr>
        <p:spPr>
          <a:xfrm>
            <a:off x="777240" y="6492240"/>
            <a:ext cx="7315200" cy="201168"/>
          </a:xfrm>
          <a:prstGeom prst="rect">
            <a:avLst/>
          </a:prstGeom>
          <a:noFill/>
        </p:spPr>
        <p:txBody>
          <a:bodyPr wrap="square" lIns="0" rIns="0" tIns="0" bIns="0">
            <a:spAutoFit/>
          </a:bodyPr>
          <a:lstStyle/>
          <a:p>
            <a:pPr>
              <a:lnSpc>
                <a:spcPts val="1050"/>
              </a:lnSpc>
              <a:spcAft>
                <a:spcPts val="0"/>
              </a:spcAft>
            </a:pPr>
            <a:r>
              <a:rPr sz="1050" b="0" lang="ja-JP">
                <a:solidFill>
                  <a:srgbClr val="E6EEF2"/>
                </a:solidFill>
                <a:latin typeface="Yu Gothic"/>
                <a:ea typeface="Yu Gothic"/>
              </a:rPr>
              <a:t>デモのデータは架空です。OntologyはPreviewです。</a:t>
            </a:r>
          </a:p>
        </p:txBody>
      </p:sp>
      <p:sp>
        <p:nvSpPr>
          <p:cNvPr id="37" name="TextBox 36"/>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A9DCD9"/>
                </a:solidFill>
                <a:latin typeface="Yu Gothic"/>
                <a:ea typeface="Yu Gothic"/>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itle 1"/>
          <p:cNvSpPr>
            <a:spLocks noGrp="1"/>
          </p:cNvSpPr>
          <p:nvPr>
            <p:ph type="title"/>
          </p:nvPr>
        </p:nvSpPr>
        <p:spPr>
          <a:xfrm>
            <a:off x="731520" y="2103120"/>
            <a:ext cx="5120640" cy="822960"/>
          </a:xfrm>
        </p:spPr>
        <p:txBody>
          <a:bodyPr wrap="square" lIns="0" rIns="0" tIns="0" bIns="0" anchor="t">
            <a:noAutofit/>
          </a:bodyPr>
          <a:lstStyle/>
          <a:p>
            <a:pPr algn="l">
              <a:lnSpc>
                <a:spcPts val="4400"/>
              </a:lnSpc>
              <a:spcAft>
                <a:spcPts val="0"/>
              </a:spcAft>
            </a:pPr>
            <a:r>
              <a:rPr sz="4400" b="1" lang="ja-JP">
                <a:solidFill>
                  <a:srgbClr val="FFFFFF"/>
                </a:solidFill>
                <a:latin typeface="Yu Gothic"/>
                <a:ea typeface="Yu Gothic"/>
              </a:rPr>
              <a:t>付録</a:t>
            </a:r>
          </a:p>
        </p:txBody>
      </p:sp>
      <p:cxnSp>
        <p:nvCxnSpPr>
          <p:cNvPr id="3" name="Connector 2">
            <a:extLst>
              <a:ext uri="{C183D7F6-B498-43B3-948B-1728B52AA6E4}">
                <adec:decorative xmlns:adec="http://schemas.microsoft.com/office/drawing/2017/decorative" val="1"/>
              </a:ext>
            </a:extLst>
          </p:cNvPr>
          <p:cNvCxnSpPr/>
          <p:nvPr/>
        </p:nvCxnSpPr>
        <p:spPr>
          <a:xfrm flipV="1">
            <a:off x="731519" y="5806440"/>
            <a:ext cx="1188721" cy="38404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a:off x="1920240" y="5806440"/>
            <a:ext cx="1371600" cy="438912"/>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flipV="1">
            <a:off x="3291840" y="5641848"/>
            <a:ext cx="1188719" cy="603504"/>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C183D7F6-B498-43B3-948B-1728B52AA6E4}">
                <adec:decorative xmlns:adec="http://schemas.microsoft.com/office/drawing/2017/decorative" val="1"/>
              </a:ext>
            </a:extLst>
          </p:cNvPr>
          <p:cNvCxnSpPr/>
          <p:nvPr/>
        </p:nvCxnSpPr>
        <p:spPr>
          <a:xfrm>
            <a:off x="4480559" y="5641848"/>
            <a:ext cx="914400" cy="65836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C183D7F6-B498-43B3-948B-1728B52AA6E4}">
                <adec:decorative xmlns:adec="http://schemas.microsoft.com/office/drawing/2017/decorative" val="1"/>
              </a:ext>
            </a:extLst>
          </p:cNvPr>
          <p:cNvCxnSpPr/>
          <p:nvPr/>
        </p:nvCxnSpPr>
        <p:spPr>
          <a:xfrm flipV="1">
            <a:off x="1920240" y="5394960"/>
            <a:ext cx="914400" cy="411480"/>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8" name="Connector 7">
            <a:extLst>
              <a:ext uri="{C183D7F6-B498-43B3-948B-1728B52AA6E4}">
                <adec:decorative xmlns:adec="http://schemas.microsoft.com/office/drawing/2017/decorative" val="1"/>
              </a:ext>
            </a:extLst>
          </p:cNvPr>
          <p:cNvCxnSpPr/>
          <p:nvPr/>
        </p:nvCxnSpPr>
        <p:spPr>
          <a:xfrm>
            <a:off x="2834640" y="5394960"/>
            <a:ext cx="1645919" cy="24688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9" name="Connector 8">
            <a:extLst>
              <a:ext uri="{C183D7F6-B498-43B3-948B-1728B52AA6E4}">
                <adec:decorative xmlns:adec="http://schemas.microsoft.com/office/drawing/2017/decorative" val="1"/>
              </a:ext>
            </a:extLst>
          </p:cNvPr>
          <p:cNvCxnSpPr/>
          <p:nvPr/>
        </p:nvCxnSpPr>
        <p:spPr>
          <a:xfrm>
            <a:off x="3291840" y="6245352"/>
            <a:ext cx="548640" cy="109728"/>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cxnSp>
        <p:nvCxnSpPr>
          <p:cNvPr id="10" name="Connector 9">
            <a:extLst>
              <a:ext uri="{C183D7F6-B498-43B3-948B-1728B52AA6E4}">
                <adec:decorative xmlns:adec="http://schemas.microsoft.com/office/drawing/2017/decorative" val="1"/>
              </a:ext>
            </a:extLst>
          </p:cNvPr>
          <p:cNvCxnSpPr/>
          <p:nvPr/>
        </p:nvCxnSpPr>
        <p:spPr>
          <a:xfrm flipV="1">
            <a:off x="3840480" y="6300216"/>
            <a:ext cx="1554479" cy="54864"/>
          </a:xfrm>
          <a:prstGeom prst="line">
            <a:avLst/>
          </a:prstGeom>
          <a:ln w="19050">
            <a:solidFill>
              <a:srgbClr val="2C516B"/>
            </a:solidFill>
          </a:ln>
        </p:spPr>
        <p:style>
          <a:lnRef idx="2">
            <a:schemeClr val="accent1"/>
          </a:lnRef>
          <a:fillRef idx="0">
            <a:schemeClr val="accent1"/>
          </a:fillRef>
          <a:effectRef idx="1">
            <a:schemeClr val="accent1"/>
          </a:effectRef>
          <a:fontRef idx="minor">
            <a:schemeClr val="tx1"/>
          </a:fontRef>
        </p:style>
      </p:cxnSp>
      <p:sp>
        <p:nvSpPr>
          <p:cNvPr id="11" name="Oval 10">
            <a:extLst>
              <a:ext uri="{C183D7F6-B498-43B3-948B-1728B52AA6E4}">
                <adec:decorative xmlns:adec="http://schemas.microsoft.com/office/drawing/2017/decorative" val="1"/>
              </a:ext>
            </a:extLst>
          </p:cNvPr>
          <p:cNvSpPr/>
          <p:nvPr/>
        </p:nvSpPr>
        <p:spPr>
          <a:xfrm>
            <a:off x="576071" y="6035040"/>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a:extLst>
              <a:ext uri="{C183D7F6-B498-43B3-948B-1728B52AA6E4}">
                <adec:decorative xmlns:adec="http://schemas.microsoft.com/office/drawing/2017/decorative" val="1"/>
              </a:ext>
            </a:extLst>
          </p:cNvPr>
          <p:cNvSpPr/>
          <p:nvPr/>
        </p:nvSpPr>
        <p:spPr>
          <a:xfrm>
            <a:off x="1737360" y="5623560"/>
            <a:ext cx="365760" cy="365760"/>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a:extLst>
              <a:ext uri="{C183D7F6-B498-43B3-948B-1728B52AA6E4}">
                <adec:decorative xmlns:adec="http://schemas.microsoft.com/office/drawing/2017/decorative" val="1"/>
              </a:ext>
            </a:extLst>
          </p:cNvPr>
          <p:cNvSpPr/>
          <p:nvPr/>
        </p:nvSpPr>
        <p:spPr>
          <a:xfrm>
            <a:off x="3081528" y="6035040"/>
            <a:ext cx="420624" cy="420624"/>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a:extLst>
              <a:ext uri="{C183D7F6-B498-43B3-948B-1728B52AA6E4}">
                <adec:decorative xmlns:adec="http://schemas.microsoft.com/office/drawing/2017/decorative" val="1"/>
              </a:ext>
            </a:extLst>
          </p:cNvPr>
          <p:cNvSpPr/>
          <p:nvPr/>
        </p:nvSpPr>
        <p:spPr>
          <a:xfrm>
            <a:off x="4325112" y="5486400"/>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a:extLst>
              <a:ext uri="{C183D7F6-B498-43B3-948B-1728B52AA6E4}">
                <adec:decorative xmlns:adec="http://schemas.microsoft.com/office/drawing/2017/decorative" val="1"/>
              </a:ext>
            </a:extLst>
          </p:cNvPr>
          <p:cNvSpPr/>
          <p:nvPr/>
        </p:nvSpPr>
        <p:spPr>
          <a:xfrm>
            <a:off x="5212079" y="6117336"/>
            <a:ext cx="365760" cy="365760"/>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a:extLst>
              <a:ext uri="{C183D7F6-B498-43B3-948B-1728B52AA6E4}">
                <adec:decorative xmlns:adec="http://schemas.microsoft.com/office/drawing/2017/decorative" val="1"/>
              </a:ext>
            </a:extLst>
          </p:cNvPr>
          <p:cNvSpPr/>
          <p:nvPr/>
        </p:nvSpPr>
        <p:spPr>
          <a:xfrm>
            <a:off x="2624328" y="5184648"/>
            <a:ext cx="420624" cy="420624"/>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a:extLst>
              <a:ext uri="{C183D7F6-B498-43B3-948B-1728B52AA6E4}">
                <adec:decorative xmlns:adec="http://schemas.microsoft.com/office/drawing/2017/decorative" val="1"/>
              </a:ext>
            </a:extLst>
          </p:cNvPr>
          <p:cNvSpPr/>
          <p:nvPr/>
        </p:nvSpPr>
        <p:spPr>
          <a:xfrm>
            <a:off x="3685032" y="6199632"/>
            <a:ext cx="310896" cy="310896"/>
          </a:xfrm>
          <a:prstGeom prst="ellipse">
            <a:avLst/>
          </a:prstGeom>
          <a:solidFill>
            <a:srgbClr val="2C51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a:extLst>
              <a:ext uri="{C183D7F6-B498-43B3-948B-1728B52AA6E4}">
                <adec:decorative xmlns:adec="http://schemas.microsoft.com/office/drawing/2017/decorative" val="1"/>
              </a:ext>
            </a:extLst>
          </p:cNvPr>
          <p:cNvCxnSpPr/>
          <p:nvPr/>
        </p:nvCxnSpPr>
        <p:spPr>
          <a:xfrm>
            <a:off x="805129" y="776325"/>
            <a:ext cx="304952" cy="94641"/>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19" name="Connector 18">
            <a:extLst>
              <a:ext uri="{C183D7F6-B498-43B3-948B-1728B52AA6E4}">
                <adec:decorative xmlns:adec="http://schemas.microsoft.com/office/drawing/2017/decorative" val="1"/>
              </a:ext>
            </a:extLst>
          </p:cNvPr>
          <p:cNvCxnSpPr/>
          <p:nvPr/>
        </p:nvCxnSpPr>
        <p:spPr>
          <a:xfrm flipH="1">
            <a:off x="910285" y="870966"/>
            <a:ext cx="199796" cy="241858"/>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cxnSp>
        <p:nvCxnSpPr>
          <p:cNvPr id="20" name="Connector 19">
            <a:extLst>
              <a:ext uri="{C183D7F6-B498-43B3-948B-1728B52AA6E4}">
                <adec:decorative xmlns:adec="http://schemas.microsoft.com/office/drawing/2017/decorative" val="1"/>
              </a:ext>
            </a:extLst>
          </p:cNvPr>
          <p:cNvCxnSpPr/>
          <p:nvPr/>
        </p:nvCxnSpPr>
        <p:spPr>
          <a:xfrm>
            <a:off x="805129" y="776325"/>
            <a:ext cx="105156" cy="336499"/>
          </a:xfrm>
          <a:prstGeom prst="line">
            <a:avLst/>
          </a:prstGeom>
          <a:ln w="15875">
            <a:solidFill>
              <a:srgbClr val="A9DCD9"/>
            </a:solidFill>
          </a:ln>
        </p:spPr>
        <p:style>
          <a:lnRef idx="2">
            <a:schemeClr val="accent1"/>
          </a:lnRef>
          <a:fillRef idx="0">
            <a:schemeClr val="accent1"/>
          </a:fillRef>
          <a:effectRef idx="1">
            <a:schemeClr val="accent1"/>
          </a:effectRef>
          <a:fontRef idx="minor">
            <a:schemeClr val="tx1"/>
          </a:fontRef>
        </p:style>
      </p:cxnSp>
      <p:sp>
        <p:nvSpPr>
          <p:cNvPr id="21" name="Oval 20">
            <a:extLst>
              <a:ext uri="{C183D7F6-B498-43B3-948B-1728B52AA6E4}">
                <adec:decorative xmlns:adec="http://schemas.microsoft.com/office/drawing/2017/decorative" val="1"/>
              </a:ext>
            </a:extLst>
          </p:cNvPr>
          <p:cNvSpPr/>
          <p:nvPr/>
        </p:nvSpPr>
        <p:spPr>
          <a:xfrm>
            <a:off x="736777" y="70797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a:extLst>
              <a:ext uri="{C183D7F6-B498-43B3-948B-1728B52AA6E4}">
                <adec:decorative xmlns:adec="http://schemas.microsoft.com/office/drawing/2017/decorative" val="1"/>
              </a:ext>
            </a:extLst>
          </p:cNvPr>
          <p:cNvSpPr/>
          <p:nvPr/>
        </p:nvSpPr>
        <p:spPr>
          <a:xfrm>
            <a:off x="1041730" y="802614"/>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a:extLst>
              <a:ext uri="{C183D7F6-B498-43B3-948B-1728B52AA6E4}">
                <adec:decorative xmlns:adec="http://schemas.microsoft.com/office/drawing/2017/decorative" val="1"/>
              </a:ext>
            </a:extLst>
          </p:cNvPr>
          <p:cNvSpPr/>
          <p:nvPr/>
        </p:nvSpPr>
        <p:spPr>
          <a:xfrm>
            <a:off x="841933" y="1044473"/>
            <a:ext cx="136702" cy="136702"/>
          </a:xfrm>
          <a:prstGeom prst="ellipse">
            <a:avLst/>
          </a:prstGeom>
          <a:solidFill>
            <a:srgbClr val="A9DC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371600" y="749808"/>
            <a:ext cx="3657600" cy="274320"/>
          </a:xfrm>
          <a:prstGeom prst="rect">
            <a:avLst/>
          </a:prstGeom>
          <a:noFill/>
        </p:spPr>
        <p:txBody>
          <a:bodyPr wrap="square" lIns="0" rIns="0" tIns="0" bIns="0">
            <a:spAutoFit/>
          </a:bodyPr>
          <a:lstStyle/>
          <a:p>
            <a:pPr>
              <a:lnSpc>
                <a:spcPts val="1400"/>
              </a:lnSpc>
              <a:spcAft>
                <a:spcPts val="0"/>
              </a:spcAft>
            </a:pPr>
            <a:r>
              <a:rPr sz="1400" b="1" lang="ja-JP">
                <a:solidFill>
                  <a:srgbClr val="A9DCD9"/>
                </a:solidFill>
                <a:latin typeface="Yu Gothic"/>
                <a:ea typeface="Yu Gothic"/>
              </a:rPr>
              <a:t>付録</a:t>
            </a:r>
          </a:p>
        </p:txBody>
      </p:sp>
      <p:sp>
        <p:nvSpPr>
          <p:cNvPr id="25" name="TextBox 24"/>
          <p:cNvSpPr txBox="1"/>
          <p:nvPr/>
        </p:nvSpPr>
        <p:spPr>
          <a:xfrm>
            <a:off x="749808" y="4114800"/>
            <a:ext cx="5394960" cy="914400"/>
          </a:xfrm>
          <a:prstGeom prst="rect">
            <a:avLst/>
          </a:prstGeom>
          <a:noFill/>
        </p:spPr>
        <p:txBody>
          <a:bodyPr wrap="square" lIns="0" rIns="0" tIns="0" bIns="0">
            <a:spAutoFit/>
          </a:bodyPr>
          <a:lstStyle/>
          <a:p>
            <a:pPr>
              <a:lnSpc>
                <a:spcPts val="2700"/>
              </a:lnSpc>
              <a:spcAft>
                <a:spcPts val="0"/>
              </a:spcAft>
            </a:pPr>
            <a:r>
              <a:rPr sz="1800" b="0" lang="ja-JP">
                <a:solidFill>
                  <a:srgbClr val="E6EEF2"/>
                </a:solidFill>
                <a:latin typeface="Yu Gothic"/>
                <a:ea typeface="Yu Gothic"/>
              </a:rPr>
              <a:t>デモ環境、概念と関係の一覧、質問と回答、</a:t>
            </a:r>
          </a:p>
          <a:p>
            <a:pPr>
              <a:lnSpc>
                <a:spcPts val="2700"/>
              </a:lnSpc>
              <a:spcAft>
                <a:spcPts val="0"/>
              </a:spcAft>
            </a:pPr>
            <a:r>
              <a:rPr sz="1800" b="0" lang="ja-JP">
                <a:solidFill>
                  <a:srgbClr val="E6EEF2"/>
                </a:solidFill>
                <a:latin typeface="Yu Gothic"/>
                <a:ea typeface="Yu Gothic"/>
              </a:rPr>
              <a:t>よくあるご質問、用語集です。</a:t>
            </a:r>
          </a:p>
        </p:txBody>
      </p:sp>
      <p:sp>
        <p:nvSpPr>
          <p:cNvPr id="26" name="Rounded Rectangle 25">
            <a:extLst>
              <a:ext uri="{C183D7F6-B498-43B3-948B-1728B52AA6E4}">
                <adec:decorative xmlns:adec="http://schemas.microsoft.com/office/drawing/2017/decorative" val="1"/>
              </a:ext>
            </a:extLst>
          </p:cNvPr>
          <p:cNvSpPr/>
          <p:nvPr/>
        </p:nvSpPr>
        <p:spPr>
          <a:xfrm>
            <a:off x="6537960" y="685800"/>
            <a:ext cx="5102352" cy="2984500"/>
          </a:xfrm>
          <a:prstGeom prst="roundRect">
            <a:avLst>
              <a:gd name="adj" fmla="val 4902"/>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858000" y="960120"/>
            <a:ext cx="4389120" cy="292608"/>
          </a:xfrm>
          <a:prstGeom prst="rect">
            <a:avLst/>
          </a:prstGeom>
          <a:noFill/>
        </p:spPr>
        <p:txBody>
          <a:bodyPr wrap="square" lIns="0" rIns="0" tIns="0" bIns="0">
            <a:spAutoFit/>
          </a:bodyPr>
          <a:lstStyle/>
          <a:p>
            <a:pPr>
              <a:lnSpc>
                <a:spcPts val="1600"/>
              </a:lnSpc>
              <a:spcAft>
                <a:spcPts val="0"/>
              </a:spcAft>
            </a:pPr>
            <a:r>
              <a:rPr sz="1600" b="1" lang="ja-JP">
                <a:solidFill>
                  <a:srgbClr val="087F83"/>
                </a:solidFill>
                <a:latin typeface="Yu Gothic"/>
                <a:ea typeface="Yu Gothic"/>
              </a:rPr>
              <a:t>この章のページ（5枚）</a:t>
            </a:r>
          </a:p>
        </p:txBody>
      </p:sp>
      <p:sp>
        <p:nvSpPr>
          <p:cNvPr id="28" name="TextBox 27"/>
          <p:cNvSpPr txBox="1"/>
          <p:nvPr/>
        </p:nvSpPr>
        <p:spPr>
          <a:xfrm>
            <a:off x="6858000" y="155448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p.28</a:t>
            </a:r>
          </a:p>
        </p:txBody>
      </p:sp>
      <p:sp>
        <p:nvSpPr>
          <p:cNvPr id="29" name="TextBox 28"/>
          <p:cNvSpPr txBox="1"/>
          <p:nvPr/>
        </p:nvSpPr>
        <p:spPr>
          <a:xfrm>
            <a:off x="7543800" y="155448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付録1 デモ環境の構成</a:t>
            </a:r>
          </a:p>
        </p:txBody>
      </p:sp>
      <p:sp>
        <p:nvSpPr>
          <p:cNvPr id="30" name="TextBox 29"/>
          <p:cNvSpPr txBox="1"/>
          <p:nvPr/>
        </p:nvSpPr>
        <p:spPr>
          <a:xfrm>
            <a:off x="6858000" y="196850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p.29</a:t>
            </a:r>
          </a:p>
        </p:txBody>
      </p:sp>
      <p:sp>
        <p:nvSpPr>
          <p:cNvPr id="31" name="TextBox 30"/>
          <p:cNvSpPr txBox="1"/>
          <p:nvPr/>
        </p:nvSpPr>
        <p:spPr>
          <a:xfrm>
            <a:off x="7543800" y="196850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付録2 概念17種類と関係39種類の一覧</a:t>
            </a:r>
          </a:p>
        </p:txBody>
      </p:sp>
      <p:sp>
        <p:nvSpPr>
          <p:cNvPr id="32" name="TextBox 31"/>
          <p:cNvSpPr txBox="1"/>
          <p:nvPr/>
        </p:nvSpPr>
        <p:spPr>
          <a:xfrm>
            <a:off x="6858000" y="238252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p.30</a:t>
            </a:r>
          </a:p>
        </p:txBody>
      </p:sp>
      <p:sp>
        <p:nvSpPr>
          <p:cNvPr id="33" name="TextBox 32"/>
          <p:cNvSpPr txBox="1"/>
          <p:nvPr/>
        </p:nvSpPr>
        <p:spPr>
          <a:xfrm>
            <a:off x="7543800" y="238252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付録3 デモで使った質問と回答の要点</a:t>
            </a:r>
          </a:p>
        </p:txBody>
      </p:sp>
      <p:sp>
        <p:nvSpPr>
          <p:cNvPr id="34" name="TextBox 33"/>
          <p:cNvSpPr txBox="1"/>
          <p:nvPr/>
        </p:nvSpPr>
        <p:spPr>
          <a:xfrm>
            <a:off x="6858000" y="279654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p.31</a:t>
            </a:r>
          </a:p>
        </p:txBody>
      </p:sp>
      <p:sp>
        <p:nvSpPr>
          <p:cNvPr id="35" name="TextBox 34"/>
          <p:cNvSpPr txBox="1"/>
          <p:nvPr/>
        </p:nvSpPr>
        <p:spPr>
          <a:xfrm>
            <a:off x="7543800" y="279654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付録4 よくあるご質問</a:t>
            </a:r>
          </a:p>
        </p:txBody>
      </p:sp>
      <p:sp>
        <p:nvSpPr>
          <p:cNvPr id="36" name="TextBox 35"/>
          <p:cNvSpPr txBox="1"/>
          <p:nvPr/>
        </p:nvSpPr>
        <p:spPr>
          <a:xfrm>
            <a:off x="6858000" y="3210560"/>
            <a:ext cx="640080" cy="274320"/>
          </a:xfrm>
          <a:prstGeom prst="rect">
            <a:avLst/>
          </a:prstGeom>
          <a:noFill/>
        </p:spPr>
        <p:txBody>
          <a:bodyPr wrap="square" lIns="0" rIns="0" tIns="0" bIns="0">
            <a:spAutoFit/>
          </a:bodyPr>
          <a:lstStyle/>
          <a:p>
            <a:pPr>
              <a:lnSpc>
                <a:spcPts val="1820"/>
              </a:lnSpc>
              <a:spcAft>
                <a:spcPts val="0"/>
              </a:spcAft>
            </a:pPr>
            <a:r>
              <a:rPr sz="1400" b="1" lang="ja-JP">
                <a:solidFill>
                  <a:srgbClr val="087F83"/>
                </a:solidFill>
                <a:latin typeface="Yu Gothic"/>
                <a:ea typeface="Yu Gothic"/>
              </a:rPr>
              <a:t>p.32</a:t>
            </a:r>
          </a:p>
        </p:txBody>
      </p:sp>
      <p:sp>
        <p:nvSpPr>
          <p:cNvPr id="37" name="TextBox 36"/>
          <p:cNvSpPr txBox="1"/>
          <p:nvPr/>
        </p:nvSpPr>
        <p:spPr>
          <a:xfrm>
            <a:off x="7543800" y="3210560"/>
            <a:ext cx="3977639" cy="249428"/>
          </a:xfrm>
          <a:prstGeom prst="rect">
            <a:avLst/>
          </a:prstGeom>
          <a:noFill/>
        </p:spPr>
        <p:txBody>
          <a:bodyPr wrap="square" lIns="0" rIns="0" tIns="0" bIns="0">
            <a:spAutoFit/>
          </a:bodyPr>
          <a:lstStyle/>
          <a:p>
            <a:pPr>
              <a:lnSpc>
                <a:spcPts val="1820"/>
              </a:lnSpc>
              <a:spcAft>
                <a:spcPts val="0"/>
              </a:spcAft>
            </a:pPr>
            <a:r>
              <a:rPr sz="1400" b="0" lang="ja-JP">
                <a:solidFill>
                  <a:srgbClr val="21374A"/>
                </a:solidFill>
                <a:latin typeface="Yu Gothic"/>
                <a:ea typeface="Yu Gothic"/>
              </a:rPr>
              <a:t>付録5 用語集</a:t>
            </a:r>
          </a:p>
        </p:txBody>
      </p:sp>
      <p:sp>
        <p:nvSpPr>
          <p:cNvPr id="38" name="TextBox 37"/>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A9DCD9"/>
                </a:solidFill>
                <a:latin typeface="Yu Gothic"/>
                <a:ea typeface="Yu Gothic"/>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付録1 デモ環境の構成</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付録  |  デモ環境</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架空の総合商社グループを、Fabric上に再現した環境です。</a:t>
            </a:r>
          </a:p>
          <a:p>
            <a:pPr>
              <a:lnSpc>
                <a:spcPts val="2160"/>
              </a:lnSpc>
              <a:spcAft>
                <a:spcPts val="0"/>
              </a:spcAft>
            </a:pPr>
            <a:r>
              <a:rPr sz="1600" b="0" lang="ja-JP">
                <a:solidFill>
                  <a:srgbClr val="566A78"/>
                </a:solidFill>
                <a:latin typeface="Yu Gothic"/>
                <a:ea typeface="Yu Gothic"/>
              </a:rPr>
              <a:t>データは合成データで、為替だけが欧州中央銀行（ECB）の公表値です。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この環境の規模は、性能やコストの参考になりません。実データでのPoCで確認します。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28</a:t>
            </a:r>
          </a:p>
        </p:txBody>
      </p:sp>
      <p:sp>
        <p:nvSpPr>
          <p:cNvPr id="15" name="TextBox 14"/>
          <p:cNvSpPr txBox="1"/>
          <p:nvPr/>
        </p:nvSpPr>
        <p:spPr>
          <a:xfrm>
            <a:off x="548640" y="2148840"/>
            <a:ext cx="1143000" cy="868680"/>
          </a:xfrm>
          <a:prstGeom prst="rect">
            <a:avLst/>
          </a:prstGeom>
          <a:noFill/>
        </p:spPr>
        <p:txBody>
          <a:bodyPr wrap="square" lIns="0" rIns="0" tIns="0" bIns="0" anchor="ctr">
            <a:spAutoFit/>
          </a:bodyPr>
          <a:lstStyle/>
          <a:p>
            <a:pPr>
              <a:lnSpc>
                <a:spcPts val="1400"/>
              </a:lnSpc>
              <a:spcAft>
                <a:spcPts val="0"/>
              </a:spcAft>
            </a:pPr>
            <a:r>
              <a:rPr sz="1400" b="1" lang="ja-JP">
                <a:solidFill>
                  <a:srgbClr val="087F83"/>
                </a:solidFill>
                <a:latin typeface="Yu Gothic"/>
                <a:ea typeface="Yu Gothic"/>
              </a:rPr>
              <a:t>使う側</a:t>
            </a:r>
          </a:p>
        </p:txBody>
      </p:sp>
      <p:sp>
        <p:nvSpPr>
          <p:cNvPr id="16" name="TextBox 15"/>
          <p:cNvSpPr txBox="1"/>
          <p:nvPr/>
        </p:nvSpPr>
        <p:spPr>
          <a:xfrm>
            <a:off x="548640" y="3200400"/>
            <a:ext cx="1143000" cy="914400"/>
          </a:xfrm>
          <a:prstGeom prst="rect">
            <a:avLst/>
          </a:prstGeom>
          <a:noFill/>
        </p:spPr>
        <p:txBody>
          <a:bodyPr wrap="square" lIns="0" rIns="0" tIns="0" bIns="0" anchor="ctr">
            <a:spAutoFit/>
          </a:bodyPr>
          <a:lstStyle/>
          <a:p>
            <a:pPr>
              <a:lnSpc>
                <a:spcPts val="1400"/>
              </a:lnSpc>
              <a:spcAft>
                <a:spcPts val="0"/>
              </a:spcAft>
            </a:pPr>
            <a:r>
              <a:rPr sz="1400" b="1" lang="ja-JP">
                <a:solidFill>
                  <a:srgbClr val="087F83"/>
                </a:solidFill>
                <a:latin typeface="Yu Gothic"/>
                <a:ea typeface="Yu Gothic"/>
              </a:rPr>
              <a:t>意味と関係</a:t>
            </a:r>
          </a:p>
        </p:txBody>
      </p:sp>
      <p:sp>
        <p:nvSpPr>
          <p:cNvPr id="17" name="TextBox 16"/>
          <p:cNvSpPr txBox="1"/>
          <p:nvPr/>
        </p:nvSpPr>
        <p:spPr>
          <a:xfrm>
            <a:off x="548640" y="4343400"/>
            <a:ext cx="1143000" cy="1371600"/>
          </a:xfrm>
          <a:prstGeom prst="rect">
            <a:avLst/>
          </a:prstGeom>
          <a:noFill/>
        </p:spPr>
        <p:txBody>
          <a:bodyPr wrap="square" lIns="0" rIns="0" tIns="0" bIns="0" anchor="ctr">
            <a:spAutoFit/>
          </a:bodyPr>
          <a:lstStyle/>
          <a:p>
            <a:pPr>
              <a:lnSpc>
                <a:spcPts val="1400"/>
              </a:lnSpc>
              <a:spcAft>
                <a:spcPts val="0"/>
              </a:spcAft>
            </a:pPr>
            <a:r>
              <a:rPr sz="1400" b="1" lang="ja-JP">
                <a:solidFill>
                  <a:srgbClr val="087F83"/>
                </a:solidFill>
                <a:latin typeface="Yu Gothic"/>
                <a:ea typeface="Yu Gothic"/>
              </a:rPr>
              <a:t>データ</a:t>
            </a:r>
          </a:p>
        </p:txBody>
      </p:sp>
      <p:sp>
        <p:nvSpPr>
          <p:cNvPr id="18" name="Rounded Rectangle 17">
            <a:extLst>
              <a:ext uri="{C183D7F6-B498-43B3-948B-1728B52AA6E4}">
                <adec:decorative xmlns:adec="http://schemas.microsoft.com/office/drawing/2017/decorative" val="1"/>
              </a:ext>
            </a:extLst>
          </p:cNvPr>
          <p:cNvSpPr/>
          <p:nvPr/>
        </p:nvSpPr>
        <p:spPr>
          <a:xfrm>
            <a:off x="1783080" y="2148840"/>
            <a:ext cx="2788920" cy="868680"/>
          </a:xfrm>
          <a:prstGeom prst="roundRect">
            <a:avLst>
              <a:gd name="adj" fmla="val 842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920240" y="2148840"/>
            <a:ext cx="2560320" cy="868680"/>
          </a:xfrm>
          <a:prstGeom prst="rect">
            <a:avLst/>
          </a:prstGeom>
          <a:noFill/>
        </p:spPr>
        <p:txBody>
          <a:bodyPr wrap="square" lIns="0" rIns="0" tIns="0" bIns="0" anchor="ctr">
            <a:spAutoFit/>
          </a:bodyPr>
          <a:lstStyle/>
          <a:p>
            <a:pPr>
              <a:lnSpc>
                <a:spcPts val="1750"/>
              </a:lnSpc>
              <a:spcAft>
                <a:spcPts val="0"/>
              </a:spcAft>
            </a:pPr>
            <a:r>
              <a:rPr sz="1400" b="1" lang="ja-JP">
                <a:solidFill>
                  <a:srgbClr val="17334A"/>
                </a:solidFill>
                <a:latin typeface="Yu Gothic"/>
                <a:ea typeface="Yu Gothic"/>
              </a:rPr>
              <a:t>Data Agent</a:t>
            </a:r>
          </a:p>
          <a:p>
            <a:pPr>
              <a:lnSpc>
                <a:spcPts val="1380"/>
              </a:lnSpc>
              <a:spcAft>
                <a:spcPts val="0"/>
              </a:spcAft>
            </a:pPr>
            <a:r>
              <a:rPr sz="1100" b="0" lang="ja-JP">
                <a:solidFill>
                  <a:srgbClr val="566A78"/>
                </a:solidFill>
                <a:latin typeface="Yu Gothic"/>
                <a:ea typeface="Yu Gothic"/>
              </a:rPr>
              <a:t>公開済み・Preview</a:t>
            </a:r>
          </a:p>
        </p:txBody>
      </p:sp>
      <p:sp>
        <p:nvSpPr>
          <p:cNvPr id="20" name="Rounded Rectangle 19">
            <a:extLst>
              <a:ext uri="{C183D7F6-B498-43B3-948B-1728B52AA6E4}">
                <adec:decorative xmlns:adec="http://schemas.microsoft.com/office/drawing/2017/decorative" val="1"/>
              </a:ext>
            </a:extLst>
          </p:cNvPr>
          <p:cNvSpPr/>
          <p:nvPr/>
        </p:nvSpPr>
        <p:spPr>
          <a:xfrm>
            <a:off x="4663440" y="2148840"/>
            <a:ext cx="2788920" cy="868680"/>
          </a:xfrm>
          <a:prstGeom prst="roundRect">
            <a:avLst>
              <a:gd name="adj" fmla="val 842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800600" y="2148840"/>
            <a:ext cx="2560320" cy="868680"/>
          </a:xfrm>
          <a:prstGeom prst="rect">
            <a:avLst/>
          </a:prstGeom>
          <a:noFill/>
        </p:spPr>
        <p:txBody>
          <a:bodyPr wrap="square" lIns="0" rIns="0" tIns="0" bIns="0" anchor="ctr">
            <a:spAutoFit/>
          </a:bodyPr>
          <a:lstStyle/>
          <a:p>
            <a:pPr>
              <a:lnSpc>
                <a:spcPts val="1750"/>
              </a:lnSpc>
              <a:spcAft>
                <a:spcPts val="0"/>
              </a:spcAft>
            </a:pPr>
            <a:r>
              <a:rPr sz="1400" b="1" lang="ja-JP">
                <a:solidFill>
                  <a:srgbClr val="17334A"/>
                </a:solidFill>
                <a:latin typeface="Yu Gothic"/>
                <a:ea typeface="Yu Gothic"/>
              </a:rPr>
              <a:t>Notebook</a:t>
            </a:r>
          </a:p>
          <a:p>
            <a:pPr>
              <a:lnSpc>
                <a:spcPts val="1380"/>
              </a:lnSpc>
              <a:spcAft>
                <a:spcPts val="0"/>
              </a:spcAft>
            </a:pPr>
            <a:r>
              <a:rPr sz="1100" b="0" lang="ja-JP">
                <a:solidFill>
                  <a:srgbClr val="566A78"/>
                </a:solidFill>
                <a:latin typeface="Yu Gothic"/>
                <a:ea typeface="Yu Gothic"/>
              </a:rPr>
              <a:t>根拠から全社KPIまでの経路を表示</a:t>
            </a:r>
          </a:p>
        </p:txBody>
      </p:sp>
      <p:sp>
        <p:nvSpPr>
          <p:cNvPr id="22" name="Rounded Rectangle 21">
            <a:extLst>
              <a:ext uri="{C183D7F6-B498-43B3-948B-1728B52AA6E4}">
                <adec:decorative xmlns:adec="http://schemas.microsoft.com/office/drawing/2017/decorative" val="1"/>
              </a:ext>
            </a:extLst>
          </p:cNvPr>
          <p:cNvSpPr/>
          <p:nvPr/>
        </p:nvSpPr>
        <p:spPr>
          <a:xfrm>
            <a:off x="1783080" y="3200400"/>
            <a:ext cx="2606040" cy="914400"/>
          </a:xfrm>
          <a:prstGeom prst="roundRect">
            <a:avLst>
              <a:gd name="adj" fmla="val 8000"/>
            </a:avLst>
          </a:prstGeom>
          <a:solidFill>
            <a:srgbClr val="FFFFFF"/>
          </a:solidFill>
          <a:ln w="25400">
            <a:solidFill>
              <a:srgbClr val="1733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1920240" y="3200400"/>
            <a:ext cx="2377440" cy="914400"/>
          </a:xfrm>
          <a:prstGeom prst="rect">
            <a:avLst/>
          </a:prstGeom>
          <a:noFill/>
        </p:spPr>
        <p:txBody>
          <a:bodyPr wrap="square" lIns="0" rIns="0" tIns="0" bIns="0" anchor="ctr">
            <a:spAutoFit/>
          </a:bodyPr>
          <a:lstStyle/>
          <a:p>
            <a:pPr>
              <a:lnSpc>
                <a:spcPts val="1810"/>
              </a:lnSpc>
              <a:spcAft>
                <a:spcPts val="0"/>
              </a:spcAft>
            </a:pPr>
            <a:r>
              <a:rPr sz="1450" b="1" lang="ja-JP">
                <a:solidFill>
                  <a:srgbClr val="17334A"/>
                </a:solidFill>
                <a:latin typeface="Yu Gothic"/>
                <a:ea typeface="Yu Gothic"/>
              </a:rPr>
              <a:t>Ontology</a:t>
            </a:r>
          </a:p>
          <a:p>
            <a:pPr>
              <a:lnSpc>
                <a:spcPts val="1500"/>
              </a:lnSpc>
              <a:spcAft>
                <a:spcPts val="0"/>
              </a:spcAft>
            </a:pPr>
            <a:r>
              <a:rPr sz="1200" b="0" lang="ja-JP">
                <a:solidFill>
                  <a:srgbClr val="21374A"/>
                </a:solidFill>
                <a:latin typeface="Yu Gothic"/>
                <a:ea typeface="Yu Gothic"/>
              </a:rPr>
              <a:t>17概念、39関係</a:t>
            </a:r>
          </a:p>
        </p:txBody>
      </p:sp>
      <p:sp>
        <p:nvSpPr>
          <p:cNvPr id="24" name="Rounded Rectangle 23">
            <a:extLst>
              <a:ext uri="{C183D7F6-B498-43B3-948B-1728B52AA6E4}">
                <adec:decorative xmlns:adec="http://schemas.microsoft.com/office/drawing/2017/decorative" val="1"/>
              </a:ext>
            </a:extLst>
          </p:cNvPr>
          <p:cNvSpPr/>
          <p:nvPr/>
        </p:nvSpPr>
        <p:spPr>
          <a:xfrm>
            <a:off x="4846320" y="3200400"/>
            <a:ext cx="2606040" cy="914400"/>
          </a:xfrm>
          <a:prstGeom prst="roundRect">
            <a:avLst>
              <a:gd name="adj" fmla="val 8000"/>
            </a:avLst>
          </a:prstGeom>
          <a:solidFill>
            <a:srgbClr val="ECE6F6"/>
          </a:solidFill>
          <a:ln w="22225">
            <a:solidFill>
              <a:srgbClr val="7352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983480" y="3200400"/>
            <a:ext cx="2377440" cy="914400"/>
          </a:xfrm>
          <a:prstGeom prst="rect">
            <a:avLst/>
          </a:prstGeom>
          <a:noFill/>
        </p:spPr>
        <p:txBody>
          <a:bodyPr wrap="square" lIns="0" rIns="0" tIns="0" bIns="0" anchor="ctr">
            <a:spAutoFit/>
          </a:bodyPr>
          <a:lstStyle/>
          <a:p>
            <a:pPr>
              <a:lnSpc>
                <a:spcPts val="1739"/>
              </a:lnSpc>
              <a:spcAft>
                <a:spcPts val="0"/>
              </a:spcAft>
            </a:pPr>
            <a:r>
              <a:rPr sz="1450" b="1" lang="ja-JP">
                <a:solidFill>
                  <a:srgbClr val="7352AD"/>
                </a:solidFill>
                <a:latin typeface="Yu Gothic"/>
                <a:ea typeface="Yu Gothic"/>
              </a:rPr>
              <a:t>Graph（任意）</a:t>
            </a:r>
          </a:p>
          <a:p>
            <a:pPr>
              <a:lnSpc>
                <a:spcPts val="1320"/>
              </a:lnSpc>
              <a:spcAft>
                <a:spcPts val="0"/>
              </a:spcAft>
            </a:pPr>
            <a:r>
              <a:rPr sz="1100" b="0" lang="ja-JP">
                <a:solidFill>
                  <a:srgbClr val="21374A"/>
                </a:solidFill>
                <a:latin typeface="Yu Gothic"/>
                <a:ea typeface="Yu Gothic"/>
              </a:rPr>
              <a:t>ノード33,960個
エッジ65,684本</a:t>
            </a:r>
          </a:p>
        </p:txBody>
      </p:sp>
      <p:sp>
        <p:nvSpPr>
          <p:cNvPr id="26" name="Rounded Rectangle 25">
            <a:extLst>
              <a:ext uri="{C183D7F6-B498-43B3-948B-1728B52AA6E4}">
                <adec:decorative xmlns:adec="http://schemas.microsoft.com/office/drawing/2017/decorative" val="1"/>
              </a:ext>
            </a:extLst>
          </p:cNvPr>
          <p:cNvSpPr/>
          <p:nvPr/>
        </p:nvSpPr>
        <p:spPr>
          <a:xfrm>
            <a:off x="1783080" y="4343400"/>
            <a:ext cx="2606040" cy="1371600"/>
          </a:xfrm>
          <a:prstGeom prst="roundRect">
            <a:avLst>
              <a:gd name="adj" fmla="val 5333"/>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1920240" y="4343400"/>
            <a:ext cx="2377440" cy="1371600"/>
          </a:xfrm>
          <a:prstGeom prst="rect">
            <a:avLst/>
          </a:prstGeom>
          <a:noFill/>
        </p:spPr>
        <p:txBody>
          <a:bodyPr wrap="square" lIns="0" rIns="0" tIns="0" bIns="0" anchor="ctr">
            <a:spAutoFit/>
          </a:bodyPr>
          <a:lstStyle/>
          <a:p>
            <a:pPr>
              <a:lnSpc>
                <a:spcPts val="1820"/>
              </a:lnSpc>
              <a:spcAft>
                <a:spcPts val="0"/>
              </a:spcAft>
            </a:pPr>
            <a:r>
              <a:rPr sz="1350" b="1" lang="ja-JP">
                <a:solidFill>
                  <a:srgbClr val="17334A"/>
                </a:solidFill>
                <a:latin typeface="Yu Gothic"/>
                <a:ea typeface="Yu Gothic"/>
              </a:rPr>
              <a:t>親のLakehouse</a:t>
            </a:r>
          </a:p>
          <a:p>
            <a:pPr>
              <a:lnSpc>
                <a:spcPts val="1620"/>
              </a:lnSpc>
              <a:spcAft>
                <a:spcPts val="0"/>
              </a:spcAft>
            </a:pPr>
            <a:r>
              <a:rPr sz="1200" b="0" lang="ja-JP">
                <a:solidFill>
                  <a:srgbClr val="21374A"/>
                </a:solidFill>
                <a:latin typeface="Yu Gothic"/>
                <a:ea typeface="Yu Gothic"/>
              </a:rPr>
              <a:t>17表＋ショートカット8本</a:t>
            </a:r>
          </a:p>
          <a:p>
            <a:pPr>
              <a:lnSpc>
                <a:spcPts val="1490"/>
              </a:lnSpc>
              <a:spcAft>
                <a:spcPts val="0"/>
              </a:spcAft>
            </a:pPr>
            <a:r>
              <a:rPr sz="1100" b="0" lang="ja-JP">
                <a:solidFill>
                  <a:srgbClr val="566A78"/>
                </a:solidFill>
                <a:latin typeface="Yu Gothic"/>
                <a:ea typeface="Yu Gothic"/>
              </a:rPr>
              <a:t>Ontologyに結ぶのは12表＋8本</a:t>
            </a:r>
          </a:p>
        </p:txBody>
      </p:sp>
      <p:sp>
        <p:nvSpPr>
          <p:cNvPr id="28" name="Rounded Rectangle 27">
            <a:extLst>
              <a:ext uri="{C183D7F6-B498-43B3-948B-1728B52AA6E4}">
                <adec:decorative xmlns:adec="http://schemas.microsoft.com/office/drawing/2017/decorative" val="1"/>
              </a:ext>
            </a:extLst>
          </p:cNvPr>
          <p:cNvSpPr/>
          <p:nvPr/>
        </p:nvSpPr>
        <p:spPr>
          <a:xfrm>
            <a:off x="4846320" y="4343400"/>
            <a:ext cx="2606040" cy="1371600"/>
          </a:xfrm>
          <a:prstGeom prst="roundRect">
            <a:avLst>
              <a:gd name="adj" fmla="val 5333"/>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83480" y="4343400"/>
            <a:ext cx="2377440" cy="1371600"/>
          </a:xfrm>
          <a:prstGeom prst="rect">
            <a:avLst/>
          </a:prstGeom>
          <a:noFill/>
        </p:spPr>
        <p:txBody>
          <a:bodyPr wrap="square" lIns="0" rIns="0" tIns="0" bIns="0" anchor="ctr">
            <a:spAutoFit/>
          </a:bodyPr>
          <a:lstStyle/>
          <a:p>
            <a:pPr>
              <a:lnSpc>
                <a:spcPts val="1820"/>
              </a:lnSpc>
              <a:spcAft>
                <a:spcPts val="0"/>
              </a:spcAft>
            </a:pPr>
            <a:r>
              <a:rPr sz="1350" b="1" lang="ja-JP">
                <a:solidFill>
                  <a:srgbClr val="17334A"/>
                </a:solidFill>
                <a:latin typeface="Yu Gothic"/>
                <a:ea typeface="Yu Gothic"/>
              </a:rPr>
              <a:t>子会社8社のLakehouse</a:t>
            </a:r>
          </a:p>
          <a:p>
            <a:pPr>
              <a:lnSpc>
                <a:spcPts val="1620"/>
              </a:lnSpc>
              <a:spcAft>
                <a:spcPts val="0"/>
              </a:spcAft>
            </a:pPr>
            <a:r>
              <a:rPr sz="1200" b="0" lang="ja-JP">
                <a:solidFill>
                  <a:srgbClr val="21374A"/>
                </a:solidFill>
                <a:latin typeface="Yu Gothic"/>
                <a:ea typeface="Yu Gothic"/>
              </a:rPr>
              <a:t>78表（原本）</a:t>
            </a:r>
          </a:p>
          <a:p>
            <a:pPr>
              <a:lnSpc>
                <a:spcPts val="1490"/>
              </a:lnSpc>
              <a:spcAft>
                <a:spcPts val="0"/>
              </a:spcAft>
            </a:pPr>
            <a:r>
              <a:rPr sz="1100" b="0" lang="ja-JP">
                <a:solidFill>
                  <a:srgbClr val="566A78"/>
                </a:solidFill>
                <a:latin typeface="Yu Gothic"/>
                <a:ea typeface="Yu Gothic"/>
              </a:rPr>
              <a:t>会社ごとに分離。書き換えない</a:t>
            </a:r>
          </a:p>
        </p:txBody>
      </p:sp>
      <p:cxnSp>
        <p:nvCxnSpPr>
          <p:cNvPr id="30" name="Connector 29">
            <a:extLst>
              <a:ext uri="{C183D7F6-B498-43B3-948B-1728B52AA6E4}">
                <adec:decorative xmlns:adec="http://schemas.microsoft.com/office/drawing/2017/decorative" val="1"/>
              </a:ext>
            </a:extLst>
          </p:cNvPr>
          <p:cNvCxnSpPr/>
          <p:nvPr/>
        </p:nvCxnSpPr>
        <p:spPr>
          <a:xfrm flipV="1">
            <a:off x="3081528" y="3035808"/>
            <a:ext cx="0" cy="146304"/>
          </a:xfrm>
          <a:prstGeom prst="line">
            <a:avLst/>
          </a:prstGeom>
          <a:ln w="25400">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a:extLst>
              <a:ext uri="{C183D7F6-B498-43B3-948B-1728B52AA6E4}">
                <adec:decorative xmlns:adec="http://schemas.microsoft.com/office/drawing/2017/decorative" val="1"/>
              </a:ext>
            </a:extLst>
          </p:cNvPr>
          <p:cNvCxnSpPr/>
          <p:nvPr/>
        </p:nvCxnSpPr>
        <p:spPr>
          <a:xfrm flipV="1">
            <a:off x="6144768" y="3035808"/>
            <a:ext cx="0" cy="146304"/>
          </a:xfrm>
          <a:prstGeom prst="line">
            <a:avLst/>
          </a:prstGeom>
          <a:ln w="25400">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a:extLst>
              <a:ext uri="{C183D7F6-B498-43B3-948B-1728B52AA6E4}">
                <adec:decorative xmlns:adec="http://schemas.microsoft.com/office/drawing/2017/decorative" val="1"/>
              </a:ext>
            </a:extLst>
          </p:cNvPr>
          <p:cNvCxnSpPr/>
          <p:nvPr/>
        </p:nvCxnSpPr>
        <p:spPr>
          <a:xfrm flipV="1">
            <a:off x="3081528" y="4133087"/>
            <a:ext cx="0" cy="192025"/>
          </a:xfrm>
          <a:prstGeom prst="line">
            <a:avLst/>
          </a:prstGeom>
          <a:ln w="25400">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a:extLst>
              <a:ext uri="{C183D7F6-B498-43B3-948B-1728B52AA6E4}">
                <adec:decorative xmlns:adec="http://schemas.microsoft.com/office/drawing/2017/decorative" val="1"/>
              </a:ext>
            </a:extLst>
          </p:cNvPr>
          <p:cNvCxnSpPr/>
          <p:nvPr/>
        </p:nvCxnSpPr>
        <p:spPr>
          <a:xfrm>
            <a:off x="4407408" y="3657600"/>
            <a:ext cx="420624" cy="0"/>
          </a:xfrm>
          <a:prstGeom prst="line">
            <a:avLst/>
          </a:prstGeom>
          <a:ln w="25400">
            <a:solidFill>
              <a:srgbClr val="7352A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a:extLst>
              <a:ext uri="{C183D7F6-B498-43B3-948B-1728B52AA6E4}">
                <adec:decorative xmlns:adec="http://schemas.microsoft.com/office/drawing/2017/decorative" val="1"/>
              </a:ext>
            </a:extLst>
          </p:cNvPr>
          <p:cNvCxnSpPr/>
          <p:nvPr/>
        </p:nvCxnSpPr>
        <p:spPr>
          <a:xfrm flipH="1">
            <a:off x="4407408" y="5029200"/>
            <a:ext cx="420624" cy="0"/>
          </a:xfrm>
          <a:prstGeom prst="line">
            <a:avLst/>
          </a:prstGeom>
          <a:ln w="25400">
            <a:solidFill>
              <a:srgbClr val="6B7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a:extLst>
              <a:ext uri="{C183D7F6-B498-43B3-948B-1728B52AA6E4}">
                <adec:decorative xmlns:adec="http://schemas.microsoft.com/office/drawing/2017/decorative" val="1"/>
              </a:ext>
            </a:extLst>
          </p:cNvPr>
          <p:cNvSpPr/>
          <p:nvPr/>
        </p:nvSpPr>
        <p:spPr>
          <a:xfrm>
            <a:off x="7726679" y="2148840"/>
            <a:ext cx="1920240" cy="804672"/>
          </a:xfrm>
          <a:prstGeom prst="roundRect">
            <a:avLst>
              <a:gd name="adj" fmla="val 909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7863840" y="2212848"/>
            <a:ext cx="1691640" cy="329184"/>
          </a:xfrm>
          <a:prstGeom prst="rect">
            <a:avLst/>
          </a:prstGeom>
          <a:noFill/>
        </p:spPr>
        <p:txBody>
          <a:bodyPr wrap="square" lIns="0" rIns="0" tIns="0" bIns="0">
            <a:spAutoFit/>
          </a:bodyPr>
          <a:lstStyle/>
          <a:p>
            <a:pPr>
              <a:lnSpc>
                <a:spcPts val="1100"/>
              </a:lnSpc>
              <a:spcAft>
                <a:spcPts val="0"/>
              </a:spcAft>
            </a:pPr>
            <a:r>
              <a:rPr sz="1000" b="1" lang="ja-JP">
                <a:solidFill>
                  <a:srgbClr val="566A78"/>
                </a:solidFill>
                <a:latin typeface="Yu Gothic"/>
                <a:ea typeface="Yu Gothic"/>
              </a:rPr>
              <a:t>期間</a:t>
            </a:r>
          </a:p>
        </p:txBody>
      </p:sp>
      <p:sp>
        <p:nvSpPr>
          <p:cNvPr id="37" name="TextBox 36"/>
          <p:cNvSpPr txBox="1"/>
          <p:nvPr/>
        </p:nvSpPr>
        <p:spPr>
          <a:xfrm>
            <a:off x="7863840" y="2560320"/>
            <a:ext cx="1691640" cy="347472"/>
          </a:xfrm>
          <a:prstGeom prst="rect">
            <a:avLst/>
          </a:prstGeom>
          <a:noFill/>
        </p:spPr>
        <p:txBody>
          <a:bodyPr wrap="square" lIns="0" rIns="0" tIns="0" bIns="0">
            <a:spAutoFit/>
          </a:bodyPr>
          <a:lstStyle/>
          <a:p>
            <a:pPr>
              <a:lnSpc>
                <a:spcPts val="1800"/>
              </a:lnSpc>
              <a:spcAft>
                <a:spcPts val="0"/>
              </a:spcAft>
            </a:pPr>
            <a:r>
              <a:rPr sz="1800" b="1" lang="ja-JP">
                <a:solidFill>
                  <a:srgbClr val="087F83"/>
                </a:solidFill>
                <a:latin typeface="Yu Gothic"/>
                <a:ea typeface="Yu Gothic"/>
              </a:rPr>
              <a:t>365日</a:t>
            </a:r>
          </a:p>
        </p:txBody>
      </p:sp>
      <p:sp>
        <p:nvSpPr>
          <p:cNvPr id="38" name="Rounded Rectangle 37">
            <a:extLst>
              <a:ext uri="{C183D7F6-B498-43B3-948B-1728B52AA6E4}">
                <adec:decorative xmlns:adec="http://schemas.microsoft.com/office/drawing/2017/decorative" val="1"/>
              </a:ext>
            </a:extLst>
          </p:cNvPr>
          <p:cNvSpPr/>
          <p:nvPr/>
        </p:nvSpPr>
        <p:spPr>
          <a:xfrm>
            <a:off x="9738359" y="2148840"/>
            <a:ext cx="1920240" cy="804672"/>
          </a:xfrm>
          <a:prstGeom prst="roundRect">
            <a:avLst>
              <a:gd name="adj" fmla="val 909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9875519" y="2212848"/>
            <a:ext cx="1691640" cy="329184"/>
          </a:xfrm>
          <a:prstGeom prst="rect">
            <a:avLst/>
          </a:prstGeom>
          <a:noFill/>
        </p:spPr>
        <p:txBody>
          <a:bodyPr wrap="square" lIns="0" rIns="0" tIns="0" bIns="0">
            <a:spAutoFit/>
          </a:bodyPr>
          <a:lstStyle/>
          <a:p>
            <a:pPr>
              <a:lnSpc>
                <a:spcPts val="1100"/>
              </a:lnSpc>
              <a:spcAft>
                <a:spcPts val="0"/>
              </a:spcAft>
            </a:pPr>
            <a:r>
              <a:rPr sz="1000" b="1" lang="ja-JP">
                <a:solidFill>
                  <a:srgbClr val="566A78"/>
                </a:solidFill>
                <a:latin typeface="Yu Gothic"/>
                <a:ea typeface="Yu Gothic"/>
              </a:rPr>
              <a:t>契約</a:t>
            </a:r>
          </a:p>
        </p:txBody>
      </p:sp>
      <p:sp>
        <p:nvSpPr>
          <p:cNvPr id="40" name="TextBox 39"/>
          <p:cNvSpPr txBox="1"/>
          <p:nvPr/>
        </p:nvSpPr>
        <p:spPr>
          <a:xfrm>
            <a:off x="9875519" y="2560320"/>
            <a:ext cx="1691640" cy="347472"/>
          </a:xfrm>
          <a:prstGeom prst="rect">
            <a:avLst/>
          </a:prstGeom>
          <a:noFill/>
        </p:spPr>
        <p:txBody>
          <a:bodyPr wrap="square" lIns="0" rIns="0" tIns="0" bIns="0">
            <a:spAutoFit/>
          </a:bodyPr>
          <a:lstStyle/>
          <a:p>
            <a:pPr>
              <a:lnSpc>
                <a:spcPts val="1800"/>
              </a:lnSpc>
              <a:spcAft>
                <a:spcPts val="0"/>
              </a:spcAft>
            </a:pPr>
            <a:r>
              <a:rPr sz="1800" b="1" lang="ja-JP">
                <a:solidFill>
                  <a:srgbClr val="087F83"/>
                </a:solidFill>
                <a:latin typeface="Yu Gothic"/>
                <a:ea typeface="Yu Gothic"/>
              </a:rPr>
              <a:t>96件</a:t>
            </a:r>
          </a:p>
        </p:txBody>
      </p:sp>
      <p:sp>
        <p:nvSpPr>
          <p:cNvPr id="41" name="Rounded Rectangle 40">
            <a:extLst>
              <a:ext uri="{C183D7F6-B498-43B3-948B-1728B52AA6E4}">
                <adec:decorative xmlns:adec="http://schemas.microsoft.com/office/drawing/2017/decorative" val="1"/>
              </a:ext>
            </a:extLst>
          </p:cNvPr>
          <p:cNvSpPr/>
          <p:nvPr/>
        </p:nvSpPr>
        <p:spPr>
          <a:xfrm>
            <a:off x="7726679" y="3044952"/>
            <a:ext cx="1920240" cy="804672"/>
          </a:xfrm>
          <a:prstGeom prst="roundRect">
            <a:avLst>
              <a:gd name="adj" fmla="val 909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7863840" y="3108960"/>
            <a:ext cx="1691640" cy="329184"/>
          </a:xfrm>
          <a:prstGeom prst="rect">
            <a:avLst/>
          </a:prstGeom>
          <a:noFill/>
        </p:spPr>
        <p:txBody>
          <a:bodyPr wrap="square" lIns="0" rIns="0" tIns="0" bIns="0">
            <a:spAutoFit/>
          </a:bodyPr>
          <a:lstStyle/>
          <a:p>
            <a:pPr>
              <a:lnSpc>
                <a:spcPts val="1100"/>
              </a:lnSpc>
              <a:spcAft>
                <a:spcPts val="0"/>
              </a:spcAft>
            </a:pPr>
            <a:r>
              <a:rPr sz="1000" b="1" lang="ja-JP">
                <a:solidFill>
                  <a:srgbClr val="566A78"/>
                </a:solidFill>
                <a:latin typeface="Yu Gothic"/>
                <a:ea typeface="Yu Gothic"/>
              </a:rPr>
              <a:t>取引活動</a:t>
            </a:r>
          </a:p>
        </p:txBody>
      </p:sp>
      <p:sp>
        <p:nvSpPr>
          <p:cNvPr id="43" name="TextBox 42"/>
          <p:cNvSpPr txBox="1"/>
          <p:nvPr/>
        </p:nvSpPr>
        <p:spPr>
          <a:xfrm>
            <a:off x="7863840" y="3456432"/>
            <a:ext cx="1691640" cy="347472"/>
          </a:xfrm>
          <a:prstGeom prst="rect">
            <a:avLst/>
          </a:prstGeom>
          <a:noFill/>
        </p:spPr>
        <p:txBody>
          <a:bodyPr wrap="square" lIns="0" rIns="0" tIns="0" bIns="0">
            <a:spAutoFit/>
          </a:bodyPr>
          <a:lstStyle/>
          <a:p>
            <a:pPr>
              <a:lnSpc>
                <a:spcPts val="1800"/>
              </a:lnSpc>
              <a:spcAft>
                <a:spcPts val="0"/>
              </a:spcAft>
            </a:pPr>
            <a:r>
              <a:rPr sz="1800" b="1" lang="ja-JP">
                <a:solidFill>
                  <a:srgbClr val="17334A"/>
                </a:solidFill>
                <a:latin typeface="Yu Gothic"/>
                <a:ea typeface="Yu Gothic"/>
              </a:rPr>
              <a:t>8,760件</a:t>
            </a:r>
          </a:p>
        </p:txBody>
      </p:sp>
      <p:sp>
        <p:nvSpPr>
          <p:cNvPr id="44" name="Rounded Rectangle 43">
            <a:extLst>
              <a:ext uri="{C183D7F6-B498-43B3-948B-1728B52AA6E4}">
                <adec:decorative xmlns:adec="http://schemas.microsoft.com/office/drawing/2017/decorative" val="1"/>
              </a:ext>
            </a:extLst>
          </p:cNvPr>
          <p:cNvSpPr/>
          <p:nvPr/>
        </p:nvSpPr>
        <p:spPr>
          <a:xfrm>
            <a:off x="9738359" y="3044952"/>
            <a:ext cx="1920240" cy="804672"/>
          </a:xfrm>
          <a:prstGeom prst="roundRect">
            <a:avLst>
              <a:gd name="adj" fmla="val 909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9875519" y="3108960"/>
            <a:ext cx="1691640" cy="329184"/>
          </a:xfrm>
          <a:prstGeom prst="rect">
            <a:avLst/>
          </a:prstGeom>
          <a:noFill/>
        </p:spPr>
        <p:txBody>
          <a:bodyPr wrap="square" lIns="0" rIns="0" tIns="0" bIns="0">
            <a:spAutoFit/>
          </a:bodyPr>
          <a:lstStyle/>
          <a:p>
            <a:pPr>
              <a:lnSpc>
                <a:spcPts val="1100"/>
              </a:lnSpc>
              <a:spcAft>
                <a:spcPts val="0"/>
              </a:spcAft>
            </a:pPr>
            <a:r>
              <a:rPr sz="1000" b="1" lang="ja-JP">
                <a:solidFill>
                  <a:srgbClr val="566A78"/>
                </a:solidFill>
                <a:latin typeface="Yu Gothic"/>
                <a:ea typeface="Yu Gothic"/>
              </a:rPr>
              <a:t>根拠記録</a:t>
            </a:r>
          </a:p>
        </p:txBody>
      </p:sp>
      <p:sp>
        <p:nvSpPr>
          <p:cNvPr id="46" name="TextBox 45"/>
          <p:cNvSpPr txBox="1"/>
          <p:nvPr/>
        </p:nvSpPr>
        <p:spPr>
          <a:xfrm>
            <a:off x="9875519" y="3456432"/>
            <a:ext cx="1691640" cy="347472"/>
          </a:xfrm>
          <a:prstGeom prst="rect">
            <a:avLst/>
          </a:prstGeom>
          <a:noFill/>
        </p:spPr>
        <p:txBody>
          <a:bodyPr wrap="square" lIns="0" rIns="0" tIns="0" bIns="0">
            <a:spAutoFit/>
          </a:bodyPr>
          <a:lstStyle/>
          <a:p>
            <a:pPr>
              <a:lnSpc>
                <a:spcPts val="1800"/>
              </a:lnSpc>
              <a:spcAft>
                <a:spcPts val="0"/>
              </a:spcAft>
            </a:pPr>
            <a:r>
              <a:rPr sz="1800" b="1" lang="ja-JP">
                <a:solidFill>
                  <a:srgbClr val="7352AD"/>
                </a:solidFill>
                <a:latin typeface="Yu Gothic"/>
                <a:ea typeface="Yu Gothic"/>
              </a:rPr>
              <a:t>64件</a:t>
            </a:r>
          </a:p>
        </p:txBody>
      </p:sp>
      <p:sp>
        <p:nvSpPr>
          <p:cNvPr id="47" name="Rounded Rectangle 46">
            <a:extLst>
              <a:ext uri="{C183D7F6-B498-43B3-948B-1728B52AA6E4}">
                <adec:decorative xmlns:adec="http://schemas.microsoft.com/office/drawing/2017/decorative" val="1"/>
              </a:ext>
            </a:extLst>
          </p:cNvPr>
          <p:cNvSpPr/>
          <p:nvPr/>
        </p:nvSpPr>
        <p:spPr>
          <a:xfrm>
            <a:off x="7726679" y="3941064"/>
            <a:ext cx="1920240" cy="804672"/>
          </a:xfrm>
          <a:prstGeom prst="roundRect">
            <a:avLst>
              <a:gd name="adj" fmla="val 909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7863840" y="4005072"/>
            <a:ext cx="1691640" cy="329184"/>
          </a:xfrm>
          <a:prstGeom prst="rect">
            <a:avLst/>
          </a:prstGeom>
          <a:noFill/>
        </p:spPr>
        <p:txBody>
          <a:bodyPr wrap="square" lIns="0" rIns="0" tIns="0" bIns="0">
            <a:spAutoFit/>
          </a:bodyPr>
          <a:lstStyle/>
          <a:p>
            <a:pPr>
              <a:lnSpc>
                <a:spcPts val="1100"/>
              </a:lnSpc>
              <a:spcAft>
                <a:spcPts val="0"/>
              </a:spcAft>
            </a:pPr>
            <a:r>
              <a:rPr sz="1000" b="1" lang="ja-JP">
                <a:solidFill>
                  <a:srgbClr val="566A78"/>
                </a:solidFill>
                <a:latin typeface="Yu Gothic"/>
                <a:ea typeface="Yu Gothic"/>
              </a:rPr>
              <a:t>日次指標</a:t>
            </a:r>
          </a:p>
        </p:txBody>
      </p:sp>
      <p:sp>
        <p:nvSpPr>
          <p:cNvPr id="49" name="TextBox 48"/>
          <p:cNvSpPr txBox="1"/>
          <p:nvPr/>
        </p:nvSpPr>
        <p:spPr>
          <a:xfrm>
            <a:off x="7863840" y="4352544"/>
            <a:ext cx="1691640" cy="347472"/>
          </a:xfrm>
          <a:prstGeom prst="rect">
            <a:avLst/>
          </a:prstGeom>
          <a:noFill/>
        </p:spPr>
        <p:txBody>
          <a:bodyPr wrap="square" lIns="0" rIns="0" tIns="0" bIns="0">
            <a:spAutoFit/>
          </a:bodyPr>
          <a:lstStyle/>
          <a:p>
            <a:pPr>
              <a:lnSpc>
                <a:spcPts val="1800"/>
              </a:lnSpc>
              <a:spcAft>
                <a:spcPts val="0"/>
              </a:spcAft>
            </a:pPr>
            <a:r>
              <a:rPr sz="1800" b="1" lang="ja-JP">
                <a:solidFill>
                  <a:srgbClr val="17334A"/>
                </a:solidFill>
                <a:latin typeface="Yu Gothic"/>
                <a:ea typeface="Yu Gothic"/>
              </a:rPr>
              <a:t>17,520件</a:t>
            </a:r>
          </a:p>
        </p:txBody>
      </p:sp>
      <p:sp>
        <p:nvSpPr>
          <p:cNvPr id="50" name="Rounded Rectangle 49">
            <a:extLst>
              <a:ext uri="{C183D7F6-B498-43B3-948B-1728B52AA6E4}">
                <adec:decorative xmlns:adec="http://schemas.microsoft.com/office/drawing/2017/decorative" val="1"/>
              </a:ext>
            </a:extLst>
          </p:cNvPr>
          <p:cNvSpPr/>
          <p:nvPr/>
        </p:nvSpPr>
        <p:spPr>
          <a:xfrm>
            <a:off x="9738359" y="3941064"/>
            <a:ext cx="1920240" cy="804672"/>
          </a:xfrm>
          <a:prstGeom prst="roundRect">
            <a:avLst>
              <a:gd name="adj" fmla="val 909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9875519" y="4005072"/>
            <a:ext cx="1691640" cy="329184"/>
          </a:xfrm>
          <a:prstGeom prst="rect">
            <a:avLst/>
          </a:prstGeom>
          <a:noFill/>
        </p:spPr>
        <p:txBody>
          <a:bodyPr wrap="square" lIns="0" rIns="0" tIns="0" bIns="0">
            <a:spAutoFit/>
          </a:bodyPr>
          <a:lstStyle/>
          <a:p>
            <a:pPr>
              <a:lnSpc>
                <a:spcPts val="1100"/>
              </a:lnSpc>
              <a:spcAft>
                <a:spcPts val="0"/>
              </a:spcAft>
            </a:pPr>
            <a:r>
              <a:rPr sz="1000" b="1" lang="ja-JP">
                <a:solidFill>
                  <a:srgbClr val="566A78"/>
                </a:solidFill>
                <a:latin typeface="Yu Gothic"/>
                <a:ea typeface="Yu Gothic"/>
              </a:rPr>
              <a:t>Ontologyが結ぶ表</a:t>
            </a:r>
          </a:p>
          <a:p>
            <a:pPr>
              <a:lnSpc>
                <a:spcPts val="1100"/>
              </a:lnSpc>
              <a:spcAft>
                <a:spcPts val="0"/>
              </a:spcAft>
            </a:pPr>
            <a:r>
              <a:rPr sz="1000" b="1" lang="ja-JP">
                <a:solidFill>
                  <a:srgbClr val="566A78"/>
                </a:solidFill>
                <a:latin typeface="Yu Gothic"/>
                <a:ea typeface="Yu Gothic"/>
              </a:rPr>
              <a:t>（コピー12、参照8）</a:t>
            </a:r>
          </a:p>
        </p:txBody>
      </p:sp>
      <p:sp>
        <p:nvSpPr>
          <p:cNvPr id="52" name="TextBox 51"/>
          <p:cNvSpPr txBox="1"/>
          <p:nvPr/>
        </p:nvSpPr>
        <p:spPr>
          <a:xfrm>
            <a:off x="9875519" y="4352544"/>
            <a:ext cx="1691640" cy="347472"/>
          </a:xfrm>
          <a:prstGeom prst="rect">
            <a:avLst/>
          </a:prstGeom>
          <a:noFill/>
        </p:spPr>
        <p:txBody>
          <a:bodyPr wrap="square" lIns="0" rIns="0" tIns="0" bIns="0">
            <a:spAutoFit/>
          </a:bodyPr>
          <a:lstStyle/>
          <a:p>
            <a:pPr>
              <a:lnSpc>
                <a:spcPts val="1800"/>
              </a:lnSpc>
              <a:spcAft>
                <a:spcPts val="0"/>
              </a:spcAft>
            </a:pPr>
            <a:r>
              <a:rPr sz="1800" b="1" lang="ja-JP">
                <a:solidFill>
                  <a:srgbClr val="087F83"/>
                </a:solidFill>
                <a:latin typeface="Yu Gothic"/>
                <a:ea typeface="Yu Gothic"/>
              </a:rPr>
              <a:t>20表</a:t>
            </a:r>
          </a:p>
        </p:txBody>
      </p:sp>
      <p:sp>
        <p:nvSpPr>
          <p:cNvPr id="53" name="Rounded Rectangle 52">
            <a:extLst>
              <a:ext uri="{C183D7F6-B498-43B3-948B-1728B52AA6E4}">
                <adec:decorative xmlns:adec="http://schemas.microsoft.com/office/drawing/2017/decorative" val="1"/>
              </a:ext>
            </a:extLst>
          </p:cNvPr>
          <p:cNvSpPr/>
          <p:nvPr/>
        </p:nvSpPr>
        <p:spPr>
          <a:xfrm>
            <a:off x="7726679" y="4837176"/>
            <a:ext cx="1920240" cy="804672"/>
          </a:xfrm>
          <a:prstGeom prst="roundRect">
            <a:avLst>
              <a:gd name="adj" fmla="val 909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7863840" y="4901184"/>
            <a:ext cx="1691640" cy="329184"/>
          </a:xfrm>
          <a:prstGeom prst="rect">
            <a:avLst/>
          </a:prstGeom>
          <a:noFill/>
        </p:spPr>
        <p:txBody>
          <a:bodyPr wrap="square" lIns="0" rIns="0" tIns="0" bIns="0">
            <a:spAutoFit/>
          </a:bodyPr>
          <a:lstStyle/>
          <a:p>
            <a:pPr>
              <a:lnSpc>
                <a:spcPts val="1100"/>
              </a:lnSpc>
              <a:spcAft>
                <a:spcPts val="0"/>
              </a:spcAft>
            </a:pPr>
            <a:r>
              <a:rPr sz="1000" b="1" lang="ja-JP">
                <a:solidFill>
                  <a:srgbClr val="566A78"/>
                </a:solidFill>
                <a:latin typeface="Yu Gothic"/>
                <a:ea typeface="Yu Gothic"/>
              </a:rPr>
              <a:t>全Lakehouseの行数</a:t>
            </a:r>
          </a:p>
          <a:p>
            <a:pPr>
              <a:lnSpc>
                <a:spcPts val="1100"/>
              </a:lnSpc>
              <a:spcAft>
                <a:spcPts val="0"/>
              </a:spcAft>
            </a:pPr>
            <a:r>
              <a:rPr sz="1000" b="1" lang="ja-JP">
                <a:solidFill>
                  <a:srgbClr val="566A78"/>
                </a:solidFill>
                <a:latin typeface="Yu Gothic"/>
                <a:ea typeface="Yu Gothic"/>
              </a:rPr>
              <a:t>（9個、95表）</a:t>
            </a:r>
          </a:p>
        </p:txBody>
      </p:sp>
      <p:sp>
        <p:nvSpPr>
          <p:cNvPr id="55" name="TextBox 54"/>
          <p:cNvSpPr txBox="1"/>
          <p:nvPr/>
        </p:nvSpPr>
        <p:spPr>
          <a:xfrm>
            <a:off x="7863840" y="5248656"/>
            <a:ext cx="1691640" cy="347472"/>
          </a:xfrm>
          <a:prstGeom prst="rect">
            <a:avLst/>
          </a:prstGeom>
          <a:noFill/>
        </p:spPr>
        <p:txBody>
          <a:bodyPr wrap="square" lIns="0" rIns="0" tIns="0" bIns="0">
            <a:spAutoFit/>
          </a:bodyPr>
          <a:lstStyle/>
          <a:p>
            <a:pPr>
              <a:lnSpc>
                <a:spcPts val="1800"/>
              </a:lnSpc>
              <a:spcAft>
                <a:spcPts val="0"/>
              </a:spcAft>
            </a:pPr>
            <a:r>
              <a:rPr sz="1800" b="1" lang="ja-JP">
                <a:solidFill>
                  <a:srgbClr val="7352AD"/>
                </a:solidFill>
                <a:latin typeface="Yu Gothic"/>
                <a:ea typeface="Yu Gothic"/>
              </a:rPr>
              <a:t>90,424行</a:t>
            </a:r>
          </a:p>
        </p:txBody>
      </p:sp>
      <p:sp>
        <p:nvSpPr>
          <p:cNvPr id="56" name="Rounded Rectangle 55">
            <a:extLst>
              <a:ext uri="{C183D7F6-B498-43B3-948B-1728B52AA6E4}">
                <adec:decorative xmlns:adec="http://schemas.microsoft.com/office/drawing/2017/decorative" val="1"/>
              </a:ext>
            </a:extLst>
          </p:cNvPr>
          <p:cNvSpPr/>
          <p:nvPr/>
        </p:nvSpPr>
        <p:spPr>
          <a:xfrm>
            <a:off x="9738359" y="4837176"/>
            <a:ext cx="1920240" cy="804672"/>
          </a:xfrm>
          <a:prstGeom prst="roundRect">
            <a:avLst>
              <a:gd name="adj" fmla="val 909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9875519" y="4901184"/>
            <a:ext cx="1691640" cy="329184"/>
          </a:xfrm>
          <a:prstGeom prst="rect">
            <a:avLst/>
          </a:prstGeom>
          <a:noFill/>
        </p:spPr>
        <p:txBody>
          <a:bodyPr wrap="square" lIns="0" rIns="0" tIns="0" bIns="0">
            <a:spAutoFit/>
          </a:bodyPr>
          <a:lstStyle/>
          <a:p>
            <a:pPr>
              <a:lnSpc>
                <a:spcPts val="1100"/>
              </a:lnSpc>
              <a:spcAft>
                <a:spcPts val="0"/>
              </a:spcAft>
            </a:pPr>
            <a:r>
              <a:rPr sz="1000" b="1" lang="ja-JP">
                <a:solidFill>
                  <a:srgbClr val="566A78"/>
                </a:solidFill>
                <a:latin typeface="Yu Gothic"/>
                <a:ea typeface="Yu Gothic"/>
              </a:rPr>
              <a:t>うち子会社の原本</a:t>
            </a:r>
          </a:p>
        </p:txBody>
      </p:sp>
      <p:sp>
        <p:nvSpPr>
          <p:cNvPr id="58" name="TextBox 57"/>
          <p:cNvSpPr txBox="1"/>
          <p:nvPr/>
        </p:nvSpPr>
        <p:spPr>
          <a:xfrm>
            <a:off x="9875519" y="5248656"/>
            <a:ext cx="1691640" cy="347472"/>
          </a:xfrm>
          <a:prstGeom prst="rect">
            <a:avLst/>
          </a:prstGeom>
          <a:noFill/>
        </p:spPr>
        <p:txBody>
          <a:bodyPr wrap="square" lIns="0" rIns="0" tIns="0" bIns="0">
            <a:spAutoFit/>
          </a:bodyPr>
          <a:lstStyle/>
          <a:p>
            <a:pPr>
              <a:lnSpc>
                <a:spcPts val="1800"/>
              </a:lnSpc>
              <a:spcAft>
                <a:spcPts val="0"/>
              </a:spcAft>
            </a:pPr>
            <a:r>
              <a:rPr sz="1800" b="1" lang="ja-JP">
                <a:solidFill>
                  <a:srgbClr val="17334A"/>
                </a:solidFill>
                <a:latin typeface="Yu Gothic"/>
                <a:ea typeface="Yu Gothic"/>
              </a:rPr>
              <a:t>32,406行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付録2 概念17種類と関係39種類の一覧</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付録  |  概念と関係の一覧</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デモのOntologyに定義した、概念と関係の一覧です。</a:t>
            </a:r>
          </a:p>
          <a:p>
            <a:pPr>
              <a:lnSpc>
                <a:spcPts val="2160"/>
              </a:lnSpc>
              <a:spcAft>
                <a:spcPts val="0"/>
              </a:spcAft>
            </a:pPr>
            <a:r>
              <a:rPr sz="1600" b="0" lang="ja-JP">
                <a:solidFill>
                  <a:srgbClr val="566A78"/>
                </a:solidFill>
                <a:latin typeface="Yu Gothic"/>
                <a:ea typeface="Yu Gothic"/>
              </a:rPr>
              <a:t>関係は、「どの概念から、どの概念へ」の向きで示しています。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関係は全部で39種類です。共通の15種類に、事業固有の観測8種が持つ24種類（8種×3）が加わります。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29</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5440680"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31520" y="2258568"/>
            <a:ext cx="173736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概念</a:t>
            </a:r>
          </a:p>
        </p:txBody>
      </p:sp>
      <p:sp>
        <p:nvSpPr>
          <p:cNvPr id="17" name="TextBox 16"/>
          <p:cNvSpPr txBox="1"/>
          <p:nvPr/>
        </p:nvSpPr>
        <p:spPr>
          <a:xfrm>
            <a:off x="2514600" y="2258568"/>
            <a:ext cx="210312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名称</a:t>
            </a:r>
          </a:p>
        </p:txBody>
      </p:sp>
      <p:sp>
        <p:nvSpPr>
          <p:cNvPr id="18" name="TextBox 17"/>
          <p:cNvSpPr txBox="1"/>
          <p:nvPr/>
        </p:nvSpPr>
        <p:spPr>
          <a:xfrm>
            <a:off x="4114800" y="2258568"/>
            <a:ext cx="1645920" cy="219456"/>
          </a:xfrm>
          <a:prstGeom prst="rect">
            <a:avLst/>
          </a:prstGeom>
          <a:noFill/>
        </p:spPr>
        <p:txBody>
          <a:bodyPr wrap="square" lIns="0" rIns="0" tIns="0" bIns="0">
            <a:spAutoFit/>
          </a:bodyPr>
          <a:lstStyle/>
          <a:p>
            <a:pPr algn="r">
              <a:lnSpc>
                <a:spcPts val="1150"/>
              </a:lnSpc>
              <a:spcAft>
                <a:spcPts val="0"/>
              </a:spcAft>
            </a:pPr>
            <a:r>
              <a:rPr sz="1150" b="1" lang="ja-JP">
                <a:solidFill>
                  <a:srgbClr val="087F83"/>
                </a:solidFill>
                <a:latin typeface="Yu Gothic"/>
                <a:ea typeface="Yu Gothic"/>
              </a:rPr>
              <a:t>実例の数</a:t>
            </a:r>
          </a:p>
        </p:txBody>
      </p:sp>
      <p:sp>
        <p:nvSpPr>
          <p:cNvPr id="19" name="TextBox 18"/>
          <p:cNvSpPr txBox="1"/>
          <p:nvPr/>
        </p:nvSpPr>
        <p:spPr>
          <a:xfrm>
            <a:off x="731520" y="2578608"/>
            <a:ext cx="1783080" cy="246888"/>
          </a:xfrm>
          <a:prstGeom prst="rect">
            <a:avLst/>
          </a:prstGeom>
          <a:noFill/>
        </p:spPr>
        <p:txBody>
          <a:bodyPr wrap="square" lIns="0" rIns="0" tIns="0" bIns="0" anchor="ctr">
            <a:spAutoFit/>
          </a:bodyPr>
          <a:lstStyle/>
          <a:p>
            <a:pPr>
              <a:lnSpc>
                <a:spcPts val="1200"/>
              </a:lnSpc>
              <a:spcAft>
                <a:spcPts val="0"/>
              </a:spcAft>
            </a:pPr>
            <a:r>
              <a:rPr sz="1200" b="1" lang="ja-JP">
                <a:solidFill>
                  <a:srgbClr val="17334A"/>
                </a:solidFill>
                <a:latin typeface="Yu Gothic"/>
                <a:ea typeface="Yu Gothic"/>
              </a:rPr>
              <a:t>会社</a:t>
            </a:r>
          </a:p>
        </p:txBody>
      </p:sp>
      <p:sp>
        <p:nvSpPr>
          <p:cNvPr id="20" name="TextBox 19"/>
          <p:cNvSpPr txBox="1"/>
          <p:nvPr/>
        </p:nvSpPr>
        <p:spPr>
          <a:xfrm>
            <a:off x="2514600" y="2578608"/>
            <a:ext cx="2103120" cy="246888"/>
          </a:xfrm>
          <a:prstGeom prst="rect">
            <a:avLst/>
          </a:prstGeom>
          <a:noFill/>
        </p:spPr>
        <p:txBody>
          <a:bodyPr wrap="square" lIns="0" rIns="0" tIns="0" bIns="0" anchor="ctr">
            <a:spAutoFit/>
          </a:bodyPr>
          <a:lstStyle/>
          <a:p>
            <a:pPr>
              <a:lnSpc>
                <a:spcPts val="1100"/>
              </a:lnSpc>
              <a:spcAft>
                <a:spcPts val="0"/>
              </a:spcAft>
            </a:pPr>
            <a:r>
              <a:rPr sz="1100" b="0" lang="ja-JP">
                <a:solidFill>
                  <a:srgbClr val="566A78"/>
                </a:solidFill>
                <a:latin typeface="Yu Gothic"/>
                <a:ea typeface="Yu Gothic"/>
              </a:rPr>
              <a:t>Company</a:t>
            </a:r>
          </a:p>
        </p:txBody>
      </p:sp>
      <p:sp>
        <p:nvSpPr>
          <p:cNvPr id="21" name="TextBox 20"/>
          <p:cNvSpPr txBox="1"/>
          <p:nvPr/>
        </p:nvSpPr>
        <p:spPr>
          <a:xfrm>
            <a:off x="4114800" y="2578608"/>
            <a:ext cx="1645920" cy="246888"/>
          </a:xfrm>
          <a:prstGeom prst="rect">
            <a:avLst/>
          </a:prstGeom>
          <a:noFill/>
        </p:spPr>
        <p:txBody>
          <a:bodyPr wrap="square" lIns="0" rIns="0" tIns="0" bIns="0" anchor="ctr">
            <a:spAutoFit/>
          </a:bodyPr>
          <a:lstStyle/>
          <a:p>
            <a:pPr algn="r">
              <a:lnSpc>
                <a:spcPts val="1200"/>
              </a:lnSpc>
              <a:spcAft>
                <a:spcPts val="0"/>
              </a:spcAft>
            </a:pPr>
            <a:r>
              <a:rPr sz="1200" b="1" lang="ja-JP">
                <a:solidFill>
                  <a:srgbClr val="21374A"/>
                </a:solidFill>
                <a:latin typeface="Yu Gothic"/>
                <a:ea typeface="Yu Gothic"/>
              </a:rPr>
              <a:t>8</a:t>
            </a:r>
          </a:p>
        </p:txBody>
      </p:sp>
      <p:sp>
        <p:nvSpPr>
          <p:cNvPr id="22" name="Rounded Rectangle 21">
            <a:extLst>
              <a:ext uri="{C183D7F6-B498-43B3-948B-1728B52AA6E4}">
                <adec:decorative xmlns:adec="http://schemas.microsoft.com/office/drawing/2017/decorative" val="1"/>
              </a:ext>
            </a:extLst>
          </p:cNvPr>
          <p:cNvSpPr/>
          <p:nvPr/>
        </p:nvSpPr>
        <p:spPr>
          <a:xfrm>
            <a:off x="621792" y="2857500"/>
            <a:ext cx="5294376" cy="283464"/>
          </a:xfrm>
          <a:prstGeom prst="roundRect">
            <a:avLst>
              <a:gd name="adj" fmla="val 16129"/>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31520" y="2884932"/>
            <a:ext cx="1783080" cy="246888"/>
          </a:xfrm>
          <a:prstGeom prst="rect">
            <a:avLst/>
          </a:prstGeom>
          <a:noFill/>
        </p:spPr>
        <p:txBody>
          <a:bodyPr wrap="square" lIns="0" rIns="0" tIns="0" bIns="0" anchor="ctr">
            <a:spAutoFit/>
          </a:bodyPr>
          <a:lstStyle/>
          <a:p>
            <a:pPr>
              <a:lnSpc>
                <a:spcPts val="1200"/>
              </a:lnSpc>
              <a:spcAft>
                <a:spcPts val="0"/>
              </a:spcAft>
            </a:pPr>
            <a:r>
              <a:rPr sz="1200" b="1" lang="ja-JP">
                <a:solidFill>
                  <a:srgbClr val="17334A"/>
                </a:solidFill>
                <a:latin typeface="Yu Gothic"/>
                <a:ea typeface="Yu Gothic"/>
              </a:rPr>
              <a:t>契約</a:t>
            </a:r>
          </a:p>
        </p:txBody>
      </p:sp>
      <p:sp>
        <p:nvSpPr>
          <p:cNvPr id="24" name="TextBox 23"/>
          <p:cNvSpPr txBox="1"/>
          <p:nvPr/>
        </p:nvSpPr>
        <p:spPr>
          <a:xfrm>
            <a:off x="2514600" y="2884932"/>
            <a:ext cx="2103120" cy="246888"/>
          </a:xfrm>
          <a:prstGeom prst="rect">
            <a:avLst/>
          </a:prstGeom>
          <a:noFill/>
        </p:spPr>
        <p:txBody>
          <a:bodyPr wrap="square" lIns="0" rIns="0" tIns="0" bIns="0" anchor="ctr">
            <a:spAutoFit/>
          </a:bodyPr>
          <a:lstStyle/>
          <a:p>
            <a:pPr>
              <a:lnSpc>
                <a:spcPts val="1100"/>
              </a:lnSpc>
              <a:spcAft>
                <a:spcPts val="0"/>
              </a:spcAft>
            </a:pPr>
            <a:r>
              <a:rPr sz="1100" b="0" lang="ja-JP">
                <a:solidFill>
                  <a:srgbClr val="566A78"/>
                </a:solidFill>
                <a:latin typeface="Yu Gothic"/>
                <a:ea typeface="Yu Gothic"/>
              </a:rPr>
              <a:t>Contract</a:t>
            </a:r>
          </a:p>
        </p:txBody>
      </p:sp>
      <p:sp>
        <p:nvSpPr>
          <p:cNvPr id="25" name="TextBox 24"/>
          <p:cNvSpPr txBox="1"/>
          <p:nvPr/>
        </p:nvSpPr>
        <p:spPr>
          <a:xfrm>
            <a:off x="4114800" y="2884932"/>
            <a:ext cx="1645920" cy="246888"/>
          </a:xfrm>
          <a:prstGeom prst="rect">
            <a:avLst/>
          </a:prstGeom>
          <a:noFill/>
        </p:spPr>
        <p:txBody>
          <a:bodyPr wrap="square" lIns="0" rIns="0" tIns="0" bIns="0" anchor="ctr">
            <a:spAutoFit/>
          </a:bodyPr>
          <a:lstStyle/>
          <a:p>
            <a:pPr algn="r">
              <a:lnSpc>
                <a:spcPts val="1200"/>
              </a:lnSpc>
              <a:spcAft>
                <a:spcPts val="0"/>
              </a:spcAft>
            </a:pPr>
            <a:r>
              <a:rPr sz="1200" b="1" lang="ja-JP">
                <a:solidFill>
                  <a:srgbClr val="21374A"/>
                </a:solidFill>
                <a:latin typeface="Yu Gothic"/>
                <a:ea typeface="Yu Gothic"/>
              </a:rPr>
              <a:t>96</a:t>
            </a:r>
          </a:p>
        </p:txBody>
      </p:sp>
      <p:sp>
        <p:nvSpPr>
          <p:cNvPr id="26" name="TextBox 25"/>
          <p:cNvSpPr txBox="1"/>
          <p:nvPr/>
        </p:nvSpPr>
        <p:spPr>
          <a:xfrm>
            <a:off x="731520" y="3191256"/>
            <a:ext cx="1783080" cy="246888"/>
          </a:xfrm>
          <a:prstGeom prst="rect">
            <a:avLst/>
          </a:prstGeom>
          <a:noFill/>
        </p:spPr>
        <p:txBody>
          <a:bodyPr wrap="square" lIns="0" rIns="0" tIns="0" bIns="0" anchor="ctr">
            <a:spAutoFit/>
          </a:bodyPr>
          <a:lstStyle/>
          <a:p>
            <a:pPr>
              <a:lnSpc>
                <a:spcPts val="1200"/>
              </a:lnSpc>
              <a:spcAft>
                <a:spcPts val="0"/>
              </a:spcAft>
            </a:pPr>
            <a:r>
              <a:rPr sz="1200" b="1" lang="ja-JP">
                <a:solidFill>
                  <a:srgbClr val="17334A"/>
                </a:solidFill>
                <a:latin typeface="Yu Gothic"/>
                <a:ea typeface="Yu Gothic"/>
              </a:rPr>
              <a:t>取引活動</a:t>
            </a:r>
          </a:p>
        </p:txBody>
      </p:sp>
      <p:sp>
        <p:nvSpPr>
          <p:cNvPr id="27" name="TextBox 26"/>
          <p:cNvSpPr txBox="1"/>
          <p:nvPr/>
        </p:nvSpPr>
        <p:spPr>
          <a:xfrm>
            <a:off x="2514600" y="3191256"/>
            <a:ext cx="2103120" cy="246888"/>
          </a:xfrm>
          <a:prstGeom prst="rect">
            <a:avLst/>
          </a:prstGeom>
          <a:noFill/>
        </p:spPr>
        <p:txBody>
          <a:bodyPr wrap="square" lIns="0" rIns="0" tIns="0" bIns="0" anchor="ctr">
            <a:spAutoFit/>
          </a:bodyPr>
          <a:lstStyle/>
          <a:p>
            <a:pPr>
              <a:lnSpc>
                <a:spcPts val="1100"/>
              </a:lnSpc>
              <a:spcAft>
                <a:spcPts val="0"/>
              </a:spcAft>
            </a:pPr>
            <a:r>
              <a:rPr sz="1100" b="0" lang="ja-JP">
                <a:solidFill>
                  <a:srgbClr val="566A78"/>
                </a:solidFill>
                <a:latin typeface="Yu Gothic"/>
                <a:ea typeface="Yu Gothic"/>
              </a:rPr>
              <a:t>Activity</a:t>
            </a:r>
          </a:p>
        </p:txBody>
      </p:sp>
      <p:sp>
        <p:nvSpPr>
          <p:cNvPr id="28" name="TextBox 27"/>
          <p:cNvSpPr txBox="1"/>
          <p:nvPr/>
        </p:nvSpPr>
        <p:spPr>
          <a:xfrm>
            <a:off x="4114800" y="3191256"/>
            <a:ext cx="1645920" cy="246888"/>
          </a:xfrm>
          <a:prstGeom prst="rect">
            <a:avLst/>
          </a:prstGeom>
          <a:noFill/>
        </p:spPr>
        <p:txBody>
          <a:bodyPr wrap="square" lIns="0" rIns="0" tIns="0" bIns="0" anchor="ctr">
            <a:spAutoFit/>
          </a:bodyPr>
          <a:lstStyle/>
          <a:p>
            <a:pPr algn="r">
              <a:lnSpc>
                <a:spcPts val="1200"/>
              </a:lnSpc>
              <a:spcAft>
                <a:spcPts val="0"/>
              </a:spcAft>
            </a:pPr>
            <a:r>
              <a:rPr sz="1200" b="1" lang="ja-JP">
                <a:solidFill>
                  <a:srgbClr val="21374A"/>
                </a:solidFill>
                <a:latin typeface="Yu Gothic"/>
                <a:ea typeface="Yu Gothic"/>
              </a:rPr>
              <a:t>8,760</a:t>
            </a:r>
          </a:p>
        </p:txBody>
      </p:sp>
      <p:sp>
        <p:nvSpPr>
          <p:cNvPr id="29" name="Rounded Rectangle 28">
            <a:extLst>
              <a:ext uri="{C183D7F6-B498-43B3-948B-1728B52AA6E4}">
                <adec:decorative xmlns:adec="http://schemas.microsoft.com/office/drawing/2017/decorative" val="1"/>
              </a:ext>
            </a:extLst>
          </p:cNvPr>
          <p:cNvSpPr/>
          <p:nvPr/>
        </p:nvSpPr>
        <p:spPr>
          <a:xfrm>
            <a:off x="621792" y="3470148"/>
            <a:ext cx="5294376" cy="283464"/>
          </a:xfrm>
          <a:prstGeom prst="roundRect">
            <a:avLst>
              <a:gd name="adj" fmla="val 16129"/>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31520" y="3497580"/>
            <a:ext cx="1783080" cy="246888"/>
          </a:xfrm>
          <a:prstGeom prst="rect">
            <a:avLst/>
          </a:prstGeom>
          <a:noFill/>
        </p:spPr>
        <p:txBody>
          <a:bodyPr wrap="square" lIns="0" rIns="0" tIns="0" bIns="0" anchor="ctr">
            <a:spAutoFit/>
          </a:bodyPr>
          <a:lstStyle/>
          <a:p>
            <a:pPr>
              <a:lnSpc>
                <a:spcPts val="1200"/>
              </a:lnSpc>
              <a:spcAft>
                <a:spcPts val="0"/>
              </a:spcAft>
            </a:pPr>
            <a:r>
              <a:rPr sz="1200" b="1" lang="ja-JP">
                <a:solidFill>
                  <a:srgbClr val="17334A"/>
                </a:solidFill>
                <a:latin typeface="Yu Gothic"/>
                <a:ea typeface="Yu Gothic"/>
              </a:rPr>
              <a:t>出荷</a:t>
            </a:r>
          </a:p>
        </p:txBody>
      </p:sp>
      <p:sp>
        <p:nvSpPr>
          <p:cNvPr id="31" name="TextBox 30"/>
          <p:cNvSpPr txBox="1"/>
          <p:nvPr/>
        </p:nvSpPr>
        <p:spPr>
          <a:xfrm>
            <a:off x="2514600" y="3497580"/>
            <a:ext cx="2103120" cy="246888"/>
          </a:xfrm>
          <a:prstGeom prst="rect">
            <a:avLst/>
          </a:prstGeom>
          <a:noFill/>
        </p:spPr>
        <p:txBody>
          <a:bodyPr wrap="square" lIns="0" rIns="0" tIns="0" bIns="0" anchor="ctr">
            <a:spAutoFit/>
          </a:bodyPr>
          <a:lstStyle/>
          <a:p>
            <a:pPr>
              <a:lnSpc>
                <a:spcPts val="1100"/>
              </a:lnSpc>
              <a:spcAft>
                <a:spcPts val="0"/>
              </a:spcAft>
            </a:pPr>
            <a:r>
              <a:rPr sz="1100" b="0" lang="ja-JP">
                <a:solidFill>
                  <a:srgbClr val="566A78"/>
                </a:solidFill>
                <a:latin typeface="Yu Gothic"/>
                <a:ea typeface="Yu Gothic"/>
              </a:rPr>
              <a:t>Shipment</a:t>
            </a:r>
          </a:p>
        </p:txBody>
      </p:sp>
      <p:sp>
        <p:nvSpPr>
          <p:cNvPr id="32" name="TextBox 31"/>
          <p:cNvSpPr txBox="1"/>
          <p:nvPr/>
        </p:nvSpPr>
        <p:spPr>
          <a:xfrm>
            <a:off x="4114800" y="3497580"/>
            <a:ext cx="1645920" cy="246888"/>
          </a:xfrm>
          <a:prstGeom prst="rect">
            <a:avLst/>
          </a:prstGeom>
          <a:noFill/>
        </p:spPr>
        <p:txBody>
          <a:bodyPr wrap="square" lIns="0" rIns="0" tIns="0" bIns="0" anchor="ctr">
            <a:spAutoFit/>
          </a:bodyPr>
          <a:lstStyle/>
          <a:p>
            <a:pPr algn="r">
              <a:lnSpc>
                <a:spcPts val="1200"/>
              </a:lnSpc>
              <a:spcAft>
                <a:spcPts val="0"/>
              </a:spcAft>
            </a:pPr>
            <a:r>
              <a:rPr sz="1200" b="1" lang="ja-JP">
                <a:solidFill>
                  <a:srgbClr val="21374A"/>
                </a:solidFill>
                <a:latin typeface="Yu Gothic"/>
                <a:ea typeface="Yu Gothic"/>
              </a:rPr>
              <a:t>318</a:t>
            </a:r>
          </a:p>
        </p:txBody>
      </p:sp>
      <p:sp>
        <p:nvSpPr>
          <p:cNvPr id="33" name="TextBox 32"/>
          <p:cNvSpPr txBox="1"/>
          <p:nvPr/>
        </p:nvSpPr>
        <p:spPr>
          <a:xfrm>
            <a:off x="731520" y="3803904"/>
            <a:ext cx="1783080" cy="246888"/>
          </a:xfrm>
          <a:prstGeom prst="rect">
            <a:avLst/>
          </a:prstGeom>
          <a:noFill/>
        </p:spPr>
        <p:txBody>
          <a:bodyPr wrap="square" lIns="0" rIns="0" tIns="0" bIns="0" anchor="ctr">
            <a:spAutoFit/>
          </a:bodyPr>
          <a:lstStyle/>
          <a:p>
            <a:pPr>
              <a:lnSpc>
                <a:spcPts val="1200"/>
              </a:lnSpc>
              <a:spcAft>
                <a:spcPts val="0"/>
              </a:spcAft>
            </a:pPr>
            <a:r>
              <a:rPr sz="1200" b="1" lang="ja-JP">
                <a:solidFill>
                  <a:srgbClr val="17334A"/>
                </a:solidFill>
                <a:latin typeface="Yu Gothic"/>
                <a:ea typeface="Yu Gothic"/>
              </a:rPr>
              <a:t>イベント</a:t>
            </a:r>
          </a:p>
        </p:txBody>
      </p:sp>
      <p:sp>
        <p:nvSpPr>
          <p:cNvPr id="34" name="TextBox 33"/>
          <p:cNvSpPr txBox="1"/>
          <p:nvPr/>
        </p:nvSpPr>
        <p:spPr>
          <a:xfrm>
            <a:off x="2514600" y="3803904"/>
            <a:ext cx="2103120" cy="246888"/>
          </a:xfrm>
          <a:prstGeom prst="rect">
            <a:avLst/>
          </a:prstGeom>
          <a:noFill/>
        </p:spPr>
        <p:txBody>
          <a:bodyPr wrap="square" lIns="0" rIns="0" tIns="0" bIns="0" anchor="ctr">
            <a:spAutoFit/>
          </a:bodyPr>
          <a:lstStyle/>
          <a:p>
            <a:pPr>
              <a:lnSpc>
                <a:spcPts val="1100"/>
              </a:lnSpc>
              <a:spcAft>
                <a:spcPts val="0"/>
              </a:spcAft>
            </a:pPr>
            <a:r>
              <a:rPr sz="1100" b="0" lang="ja-JP">
                <a:solidFill>
                  <a:srgbClr val="566A78"/>
                </a:solidFill>
                <a:latin typeface="Yu Gothic"/>
                <a:ea typeface="Yu Gothic"/>
              </a:rPr>
              <a:t>RiskEvent</a:t>
            </a:r>
          </a:p>
        </p:txBody>
      </p:sp>
      <p:sp>
        <p:nvSpPr>
          <p:cNvPr id="35" name="TextBox 34"/>
          <p:cNvSpPr txBox="1"/>
          <p:nvPr/>
        </p:nvSpPr>
        <p:spPr>
          <a:xfrm>
            <a:off x="4114800" y="3803904"/>
            <a:ext cx="1645920" cy="246888"/>
          </a:xfrm>
          <a:prstGeom prst="rect">
            <a:avLst/>
          </a:prstGeom>
          <a:noFill/>
        </p:spPr>
        <p:txBody>
          <a:bodyPr wrap="square" lIns="0" rIns="0" tIns="0" bIns="0" anchor="ctr">
            <a:spAutoFit/>
          </a:bodyPr>
          <a:lstStyle/>
          <a:p>
            <a:pPr algn="r">
              <a:lnSpc>
                <a:spcPts val="1200"/>
              </a:lnSpc>
              <a:spcAft>
                <a:spcPts val="0"/>
              </a:spcAft>
            </a:pPr>
            <a:r>
              <a:rPr sz="1200" b="1" lang="ja-JP">
                <a:solidFill>
                  <a:srgbClr val="21374A"/>
                </a:solidFill>
                <a:latin typeface="Yu Gothic"/>
                <a:ea typeface="Yu Gothic"/>
              </a:rPr>
              <a:t>10</a:t>
            </a:r>
          </a:p>
        </p:txBody>
      </p:sp>
      <p:sp>
        <p:nvSpPr>
          <p:cNvPr id="36" name="Rounded Rectangle 35">
            <a:extLst>
              <a:ext uri="{C183D7F6-B498-43B3-948B-1728B52AA6E4}">
                <adec:decorative xmlns:adec="http://schemas.microsoft.com/office/drawing/2017/decorative" val="1"/>
              </a:ext>
            </a:extLst>
          </p:cNvPr>
          <p:cNvSpPr/>
          <p:nvPr/>
        </p:nvSpPr>
        <p:spPr>
          <a:xfrm>
            <a:off x="621792" y="4082796"/>
            <a:ext cx="5294376" cy="283464"/>
          </a:xfrm>
          <a:prstGeom prst="roundRect">
            <a:avLst>
              <a:gd name="adj" fmla="val 16129"/>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31520" y="4110228"/>
            <a:ext cx="1783080" cy="246888"/>
          </a:xfrm>
          <a:prstGeom prst="rect">
            <a:avLst/>
          </a:prstGeom>
          <a:noFill/>
        </p:spPr>
        <p:txBody>
          <a:bodyPr wrap="square" lIns="0" rIns="0" tIns="0" bIns="0" anchor="ctr">
            <a:spAutoFit/>
          </a:bodyPr>
          <a:lstStyle/>
          <a:p>
            <a:pPr>
              <a:lnSpc>
                <a:spcPts val="1200"/>
              </a:lnSpc>
              <a:spcAft>
                <a:spcPts val="0"/>
              </a:spcAft>
            </a:pPr>
            <a:r>
              <a:rPr sz="1200" b="1" lang="ja-JP">
                <a:solidFill>
                  <a:srgbClr val="17334A"/>
                </a:solidFill>
                <a:latin typeface="Yu Gothic"/>
                <a:ea typeface="Yu Gothic"/>
              </a:rPr>
              <a:t>根拠</a:t>
            </a:r>
          </a:p>
        </p:txBody>
      </p:sp>
      <p:sp>
        <p:nvSpPr>
          <p:cNvPr id="38" name="TextBox 37"/>
          <p:cNvSpPr txBox="1"/>
          <p:nvPr/>
        </p:nvSpPr>
        <p:spPr>
          <a:xfrm>
            <a:off x="2514600" y="4110228"/>
            <a:ext cx="2103120" cy="246888"/>
          </a:xfrm>
          <a:prstGeom prst="rect">
            <a:avLst/>
          </a:prstGeom>
          <a:noFill/>
        </p:spPr>
        <p:txBody>
          <a:bodyPr wrap="square" lIns="0" rIns="0" tIns="0" bIns="0" anchor="ctr">
            <a:spAutoFit/>
          </a:bodyPr>
          <a:lstStyle/>
          <a:p>
            <a:pPr>
              <a:lnSpc>
                <a:spcPts val="1100"/>
              </a:lnSpc>
              <a:spcAft>
                <a:spcPts val="0"/>
              </a:spcAft>
            </a:pPr>
            <a:r>
              <a:rPr sz="1100" b="0" lang="ja-JP">
                <a:solidFill>
                  <a:srgbClr val="566A78"/>
                </a:solidFill>
                <a:latin typeface="Yu Gothic"/>
                <a:ea typeface="Yu Gothic"/>
              </a:rPr>
              <a:t>Evidence</a:t>
            </a:r>
          </a:p>
        </p:txBody>
      </p:sp>
      <p:sp>
        <p:nvSpPr>
          <p:cNvPr id="39" name="TextBox 38"/>
          <p:cNvSpPr txBox="1"/>
          <p:nvPr/>
        </p:nvSpPr>
        <p:spPr>
          <a:xfrm>
            <a:off x="4114800" y="4110228"/>
            <a:ext cx="1645920" cy="246888"/>
          </a:xfrm>
          <a:prstGeom prst="rect">
            <a:avLst/>
          </a:prstGeom>
          <a:noFill/>
        </p:spPr>
        <p:txBody>
          <a:bodyPr wrap="square" lIns="0" rIns="0" tIns="0" bIns="0" anchor="ctr">
            <a:spAutoFit/>
          </a:bodyPr>
          <a:lstStyle/>
          <a:p>
            <a:pPr algn="r">
              <a:lnSpc>
                <a:spcPts val="1200"/>
              </a:lnSpc>
              <a:spcAft>
                <a:spcPts val="0"/>
              </a:spcAft>
            </a:pPr>
            <a:r>
              <a:rPr sz="1200" b="1" lang="ja-JP">
                <a:solidFill>
                  <a:srgbClr val="21374A"/>
                </a:solidFill>
                <a:latin typeface="Yu Gothic"/>
                <a:ea typeface="Yu Gothic"/>
              </a:rPr>
              <a:t>64</a:t>
            </a:r>
          </a:p>
        </p:txBody>
      </p:sp>
      <p:sp>
        <p:nvSpPr>
          <p:cNvPr id="40" name="TextBox 39"/>
          <p:cNvSpPr txBox="1"/>
          <p:nvPr/>
        </p:nvSpPr>
        <p:spPr>
          <a:xfrm>
            <a:off x="731520" y="4416552"/>
            <a:ext cx="1783080" cy="246888"/>
          </a:xfrm>
          <a:prstGeom prst="rect">
            <a:avLst/>
          </a:prstGeom>
          <a:noFill/>
        </p:spPr>
        <p:txBody>
          <a:bodyPr wrap="square" lIns="0" rIns="0" tIns="0" bIns="0" anchor="ctr">
            <a:spAutoFit/>
          </a:bodyPr>
          <a:lstStyle/>
          <a:p>
            <a:pPr>
              <a:lnSpc>
                <a:spcPts val="1200"/>
              </a:lnSpc>
              <a:spcAft>
                <a:spcPts val="0"/>
              </a:spcAft>
            </a:pPr>
            <a:r>
              <a:rPr sz="1200" b="1" lang="ja-JP">
                <a:solidFill>
                  <a:srgbClr val="17334A"/>
                </a:solidFill>
                <a:latin typeface="Yu Gothic"/>
                <a:ea typeface="Yu Gothic"/>
              </a:rPr>
              <a:t>影響額</a:t>
            </a:r>
          </a:p>
        </p:txBody>
      </p:sp>
      <p:sp>
        <p:nvSpPr>
          <p:cNvPr id="41" name="TextBox 40"/>
          <p:cNvSpPr txBox="1"/>
          <p:nvPr/>
        </p:nvSpPr>
        <p:spPr>
          <a:xfrm>
            <a:off x="2514600" y="4416552"/>
            <a:ext cx="2103120" cy="246888"/>
          </a:xfrm>
          <a:prstGeom prst="rect">
            <a:avLst/>
          </a:prstGeom>
          <a:noFill/>
        </p:spPr>
        <p:txBody>
          <a:bodyPr wrap="square" lIns="0" rIns="0" tIns="0" bIns="0" anchor="ctr">
            <a:spAutoFit/>
          </a:bodyPr>
          <a:lstStyle/>
          <a:p>
            <a:pPr>
              <a:lnSpc>
                <a:spcPts val="1100"/>
              </a:lnSpc>
              <a:spcAft>
                <a:spcPts val="0"/>
              </a:spcAft>
            </a:pPr>
            <a:r>
              <a:rPr sz="1100" b="0" lang="ja-JP">
                <a:solidFill>
                  <a:srgbClr val="566A78"/>
                </a:solidFill>
                <a:latin typeface="Yu Gothic"/>
                <a:ea typeface="Yu Gothic"/>
              </a:rPr>
              <a:t>FinancialEffect</a:t>
            </a:r>
          </a:p>
        </p:txBody>
      </p:sp>
      <p:sp>
        <p:nvSpPr>
          <p:cNvPr id="42" name="TextBox 41"/>
          <p:cNvSpPr txBox="1"/>
          <p:nvPr/>
        </p:nvSpPr>
        <p:spPr>
          <a:xfrm>
            <a:off x="4114800" y="4416552"/>
            <a:ext cx="1645920" cy="246888"/>
          </a:xfrm>
          <a:prstGeom prst="rect">
            <a:avLst/>
          </a:prstGeom>
          <a:noFill/>
        </p:spPr>
        <p:txBody>
          <a:bodyPr wrap="square" lIns="0" rIns="0" tIns="0" bIns="0" anchor="ctr">
            <a:spAutoFit/>
          </a:bodyPr>
          <a:lstStyle/>
          <a:p>
            <a:pPr algn="r">
              <a:lnSpc>
                <a:spcPts val="1200"/>
              </a:lnSpc>
              <a:spcAft>
                <a:spcPts val="0"/>
              </a:spcAft>
            </a:pPr>
            <a:r>
              <a:rPr sz="1200" b="1" lang="ja-JP">
                <a:solidFill>
                  <a:srgbClr val="21374A"/>
                </a:solidFill>
                <a:latin typeface="Yu Gothic"/>
                <a:ea typeface="Yu Gothic"/>
              </a:rPr>
              <a:t>1,344</a:t>
            </a:r>
          </a:p>
        </p:txBody>
      </p:sp>
      <p:sp>
        <p:nvSpPr>
          <p:cNvPr id="43" name="Rounded Rectangle 42">
            <a:extLst>
              <a:ext uri="{C183D7F6-B498-43B3-948B-1728B52AA6E4}">
                <adec:decorative xmlns:adec="http://schemas.microsoft.com/office/drawing/2017/decorative" val="1"/>
              </a:ext>
            </a:extLst>
          </p:cNvPr>
          <p:cNvSpPr/>
          <p:nvPr/>
        </p:nvSpPr>
        <p:spPr>
          <a:xfrm>
            <a:off x="621792" y="4695444"/>
            <a:ext cx="5294376" cy="283464"/>
          </a:xfrm>
          <a:prstGeom prst="roundRect">
            <a:avLst>
              <a:gd name="adj" fmla="val 16129"/>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31520" y="4722876"/>
            <a:ext cx="1783080" cy="246888"/>
          </a:xfrm>
          <a:prstGeom prst="rect">
            <a:avLst/>
          </a:prstGeom>
          <a:noFill/>
        </p:spPr>
        <p:txBody>
          <a:bodyPr wrap="square" lIns="0" rIns="0" tIns="0" bIns="0" anchor="ctr">
            <a:spAutoFit/>
          </a:bodyPr>
          <a:lstStyle/>
          <a:p>
            <a:pPr>
              <a:lnSpc>
                <a:spcPts val="1200"/>
              </a:lnSpc>
              <a:spcAft>
                <a:spcPts val="0"/>
              </a:spcAft>
            </a:pPr>
            <a:r>
              <a:rPr sz="1200" b="1" lang="ja-JP">
                <a:solidFill>
                  <a:srgbClr val="17334A"/>
                </a:solidFill>
                <a:latin typeface="Yu Gothic"/>
                <a:ea typeface="Yu Gothic"/>
              </a:rPr>
              <a:t>日次指標</a:t>
            </a:r>
          </a:p>
        </p:txBody>
      </p:sp>
      <p:sp>
        <p:nvSpPr>
          <p:cNvPr id="45" name="TextBox 44"/>
          <p:cNvSpPr txBox="1"/>
          <p:nvPr/>
        </p:nvSpPr>
        <p:spPr>
          <a:xfrm>
            <a:off x="2514600" y="4722876"/>
            <a:ext cx="2103120" cy="246888"/>
          </a:xfrm>
          <a:prstGeom prst="rect">
            <a:avLst/>
          </a:prstGeom>
          <a:noFill/>
        </p:spPr>
        <p:txBody>
          <a:bodyPr wrap="square" lIns="0" rIns="0" tIns="0" bIns="0" anchor="ctr">
            <a:spAutoFit/>
          </a:bodyPr>
          <a:lstStyle/>
          <a:p>
            <a:pPr>
              <a:lnSpc>
                <a:spcPts val="1100"/>
              </a:lnSpc>
              <a:spcAft>
                <a:spcPts val="0"/>
              </a:spcAft>
            </a:pPr>
            <a:r>
              <a:rPr sz="1100" b="0" lang="ja-JP">
                <a:solidFill>
                  <a:srgbClr val="566A78"/>
                </a:solidFill>
                <a:latin typeface="Yu Gothic"/>
                <a:ea typeface="Yu Gothic"/>
              </a:rPr>
              <a:t>FinancialMetric</a:t>
            </a:r>
          </a:p>
        </p:txBody>
      </p:sp>
      <p:sp>
        <p:nvSpPr>
          <p:cNvPr id="46" name="TextBox 45"/>
          <p:cNvSpPr txBox="1"/>
          <p:nvPr/>
        </p:nvSpPr>
        <p:spPr>
          <a:xfrm>
            <a:off x="4114800" y="4722876"/>
            <a:ext cx="1645920" cy="246888"/>
          </a:xfrm>
          <a:prstGeom prst="rect">
            <a:avLst/>
          </a:prstGeom>
          <a:noFill/>
        </p:spPr>
        <p:txBody>
          <a:bodyPr wrap="square" lIns="0" rIns="0" tIns="0" bIns="0" anchor="ctr">
            <a:spAutoFit/>
          </a:bodyPr>
          <a:lstStyle/>
          <a:p>
            <a:pPr algn="r">
              <a:lnSpc>
                <a:spcPts val="1200"/>
              </a:lnSpc>
              <a:spcAft>
                <a:spcPts val="0"/>
              </a:spcAft>
            </a:pPr>
            <a:r>
              <a:rPr sz="1200" b="1" lang="ja-JP">
                <a:solidFill>
                  <a:srgbClr val="21374A"/>
                </a:solidFill>
                <a:latin typeface="Yu Gothic"/>
                <a:ea typeface="Yu Gothic"/>
              </a:rPr>
              <a:t>17,520</a:t>
            </a:r>
          </a:p>
        </p:txBody>
      </p:sp>
      <p:sp>
        <p:nvSpPr>
          <p:cNvPr id="47" name="TextBox 46"/>
          <p:cNvSpPr txBox="1"/>
          <p:nvPr/>
        </p:nvSpPr>
        <p:spPr>
          <a:xfrm>
            <a:off x="731520" y="5029200"/>
            <a:ext cx="1783080" cy="246888"/>
          </a:xfrm>
          <a:prstGeom prst="rect">
            <a:avLst/>
          </a:prstGeom>
          <a:noFill/>
        </p:spPr>
        <p:txBody>
          <a:bodyPr wrap="square" lIns="0" rIns="0" tIns="0" bIns="0" anchor="ctr">
            <a:spAutoFit/>
          </a:bodyPr>
          <a:lstStyle/>
          <a:p>
            <a:pPr>
              <a:lnSpc>
                <a:spcPts val="1200"/>
              </a:lnSpc>
              <a:spcAft>
                <a:spcPts val="0"/>
              </a:spcAft>
            </a:pPr>
            <a:r>
              <a:rPr sz="1200" b="1" lang="ja-JP">
                <a:solidFill>
                  <a:srgbClr val="17334A"/>
                </a:solidFill>
                <a:latin typeface="Yu Gothic"/>
                <a:ea typeface="Yu Gothic"/>
              </a:rPr>
              <a:t>全社KPI</a:t>
            </a:r>
          </a:p>
        </p:txBody>
      </p:sp>
      <p:sp>
        <p:nvSpPr>
          <p:cNvPr id="48" name="TextBox 47"/>
          <p:cNvSpPr txBox="1"/>
          <p:nvPr/>
        </p:nvSpPr>
        <p:spPr>
          <a:xfrm>
            <a:off x="2514600" y="5029200"/>
            <a:ext cx="2103120" cy="246888"/>
          </a:xfrm>
          <a:prstGeom prst="rect">
            <a:avLst/>
          </a:prstGeom>
          <a:noFill/>
        </p:spPr>
        <p:txBody>
          <a:bodyPr wrap="square" lIns="0" rIns="0" tIns="0" bIns="0" anchor="ctr">
            <a:spAutoFit/>
          </a:bodyPr>
          <a:lstStyle/>
          <a:p>
            <a:pPr>
              <a:lnSpc>
                <a:spcPts val="1100"/>
              </a:lnSpc>
              <a:spcAft>
                <a:spcPts val="0"/>
              </a:spcAft>
            </a:pPr>
            <a:r>
              <a:rPr sz="1100" b="0" lang="ja-JP">
                <a:solidFill>
                  <a:srgbClr val="566A78"/>
                </a:solidFill>
                <a:latin typeface="Yu Gothic"/>
                <a:ea typeface="Yu Gothic"/>
              </a:rPr>
              <a:t>GroupKPI</a:t>
            </a:r>
          </a:p>
        </p:txBody>
      </p:sp>
      <p:sp>
        <p:nvSpPr>
          <p:cNvPr id="49" name="TextBox 48"/>
          <p:cNvSpPr txBox="1"/>
          <p:nvPr/>
        </p:nvSpPr>
        <p:spPr>
          <a:xfrm>
            <a:off x="4114800" y="5029200"/>
            <a:ext cx="1645920" cy="246888"/>
          </a:xfrm>
          <a:prstGeom prst="rect">
            <a:avLst/>
          </a:prstGeom>
          <a:noFill/>
        </p:spPr>
        <p:txBody>
          <a:bodyPr wrap="square" lIns="0" rIns="0" tIns="0" bIns="0" anchor="ctr">
            <a:spAutoFit/>
          </a:bodyPr>
          <a:lstStyle/>
          <a:p>
            <a:pPr algn="r">
              <a:lnSpc>
                <a:spcPts val="1200"/>
              </a:lnSpc>
              <a:spcAft>
                <a:spcPts val="0"/>
              </a:spcAft>
            </a:pPr>
            <a:r>
              <a:rPr sz="1200" b="1" lang="ja-JP">
                <a:solidFill>
                  <a:srgbClr val="21374A"/>
                </a:solidFill>
                <a:latin typeface="Yu Gothic"/>
                <a:ea typeface="Yu Gothic"/>
              </a:rPr>
              <a:t>2,920</a:t>
            </a:r>
          </a:p>
        </p:txBody>
      </p:sp>
      <p:sp>
        <p:nvSpPr>
          <p:cNvPr id="50" name="Rounded Rectangle 49">
            <a:extLst>
              <a:ext uri="{C183D7F6-B498-43B3-948B-1728B52AA6E4}">
                <adec:decorative xmlns:adec="http://schemas.microsoft.com/office/drawing/2017/decorative" val="1"/>
              </a:ext>
            </a:extLst>
          </p:cNvPr>
          <p:cNvSpPr/>
          <p:nvPr/>
        </p:nvSpPr>
        <p:spPr>
          <a:xfrm>
            <a:off x="621792" y="5308092"/>
            <a:ext cx="5294376" cy="283464"/>
          </a:xfrm>
          <a:prstGeom prst="roundRect">
            <a:avLst>
              <a:gd name="adj" fmla="val 16129"/>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731520" y="5335524"/>
            <a:ext cx="1783080" cy="246888"/>
          </a:xfrm>
          <a:prstGeom prst="rect">
            <a:avLst/>
          </a:prstGeom>
          <a:noFill/>
        </p:spPr>
        <p:txBody>
          <a:bodyPr wrap="square" lIns="0" rIns="0" tIns="0" bIns="0" anchor="ctr">
            <a:spAutoFit/>
          </a:bodyPr>
          <a:lstStyle/>
          <a:p>
            <a:pPr>
              <a:lnSpc>
                <a:spcPts val="1200"/>
              </a:lnSpc>
              <a:spcAft>
                <a:spcPts val="0"/>
              </a:spcAft>
            </a:pPr>
            <a:r>
              <a:rPr sz="1200" b="1" lang="ja-JP">
                <a:solidFill>
                  <a:srgbClr val="17334A"/>
                </a:solidFill>
                <a:latin typeface="Yu Gothic"/>
                <a:ea typeface="Yu Gothic"/>
              </a:rPr>
              <a:t>事業固有の観測×8種</a:t>
            </a:r>
          </a:p>
        </p:txBody>
      </p:sp>
      <p:sp>
        <p:nvSpPr>
          <p:cNvPr id="52" name="TextBox 51"/>
          <p:cNvSpPr txBox="1"/>
          <p:nvPr/>
        </p:nvSpPr>
        <p:spPr>
          <a:xfrm>
            <a:off x="2514600" y="5335524"/>
            <a:ext cx="2103120" cy="246888"/>
          </a:xfrm>
          <a:prstGeom prst="rect">
            <a:avLst/>
          </a:prstGeom>
          <a:noFill/>
        </p:spPr>
        <p:txBody>
          <a:bodyPr wrap="square" lIns="0" rIns="0" tIns="0" bIns="0" anchor="ctr">
            <a:spAutoFit/>
          </a:bodyPr>
          <a:lstStyle/>
          <a:p>
            <a:pPr>
              <a:lnSpc>
                <a:spcPts val="1100"/>
              </a:lnSpc>
              <a:spcAft>
                <a:spcPts val="0"/>
              </a:spcAft>
            </a:pPr>
            <a:r>
              <a:rPr sz="1100" b="0" lang="ja-JP">
                <a:solidFill>
                  <a:srgbClr val="566A78"/>
                </a:solidFill>
                <a:latin typeface="Yu Gothic"/>
                <a:ea typeface="Yu Gothic"/>
              </a:rPr>
              <a:t>FoodsJPExtension など</a:t>
            </a:r>
          </a:p>
        </p:txBody>
      </p:sp>
      <p:sp>
        <p:nvSpPr>
          <p:cNvPr id="53" name="TextBox 52"/>
          <p:cNvSpPr txBox="1"/>
          <p:nvPr/>
        </p:nvSpPr>
        <p:spPr>
          <a:xfrm>
            <a:off x="4114800" y="5335524"/>
            <a:ext cx="1645920" cy="246888"/>
          </a:xfrm>
          <a:prstGeom prst="rect">
            <a:avLst/>
          </a:prstGeom>
          <a:noFill/>
        </p:spPr>
        <p:txBody>
          <a:bodyPr wrap="square" lIns="0" rIns="0" tIns="0" bIns="0" anchor="ctr">
            <a:spAutoFit/>
          </a:bodyPr>
          <a:lstStyle/>
          <a:p>
            <a:pPr algn="r">
              <a:lnSpc>
                <a:spcPts val="1100"/>
              </a:lnSpc>
              <a:spcAft>
                <a:spcPts val="0"/>
              </a:spcAft>
            </a:pPr>
            <a:r>
              <a:rPr sz="1100" b="1" lang="ja-JP">
                <a:solidFill>
                  <a:srgbClr val="21374A"/>
                </a:solidFill>
                <a:latin typeface="Yu Gothic"/>
                <a:ea typeface="Yu Gothic"/>
              </a:rPr>
              <a:t>2,920（365×8）</a:t>
            </a:r>
          </a:p>
        </p:txBody>
      </p:sp>
      <p:sp>
        <p:nvSpPr>
          <p:cNvPr id="54" name="Rounded Rectangle 53">
            <a:extLst>
              <a:ext uri="{C183D7F6-B498-43B3-948B-1728B52AA6E4}">
                <adec:decorative xmlns:adec="http://schemas.microsoft.com/office/drawing/2017/decorative" val="1"/>
              </a:ext>
            </a:extLst>
          </p:cNvPr>
          <p:cNvSpPr/>
          <p:nvPr/>
        </p:nvSpPr>
        <p:spPr>
          <a:xfrm>
            <a:off x="6172200" y="2148840"/>
            <a:ext cx="546811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6355080" y="2258568"/>
            <a:ext cx="274320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共通の関係（15種類）</a:t>
            </a:r>
          </a:p>
        </p:txBody>
      </p:sp>
      <p:sp>
        <p:nvSpPr>
          <p:cNvPr id="56" name="TextBox 55"/>
          <p:cNvSpPr txBox="1"/>
          <p:nvPr/>
        </p:nvSpPr>
        <p:spPr>
          <a:xfrm>
            <a:off x="9098280" y="2258568"/>
            <a:ext cx="237744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Fabricの画面での名前</a:t>
            </a:r>
          </a:p>
        </p:txBody>
      </p:sp>
      <p:sp>
        <p:nvSpPr>
          <p:cNvPr id="57" name="TextBox 56"/>
          <p:cNvSpPr txBox="1"/>
          <p:nvPr/>
        </p:nvSpPr>
        <p:spPr>
          <a:xfrm>
            <a:off x="6355080" y="257860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イベント → 取引活動</a:t>
            </a:r>
          </a:p>
        </p:txBody>
      </p:sp>
      <p:sp>
        <p:nvSpPr>
          <p:cNvPr id="58" name="TextBox 57"/>
          <p:cNvSpPr txBox="1"/>
          <p:nvPr/>
        </p:nvSpPr>
        <p:spPr>
          <a:xfrm>
            <a:off x="9098280" y="257860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EventImpactsActivity</a:t>
            </a:r>
          </a:p>
        </p:txBody>
      </p:sp>
      <p:sp>
        <p:nvSpPr>
          <p:cNvPr id="59" name="Rounded Rectangle 58">
            <a:extLst>
              <a:ext uri="{C183D7F6-B498-43B3-948B-1728B52AA6E4}">
                <adec:decorative xmlns:adec="http://schemas.microsoft.com/office/drawing/2017/decorative" val="1"/>
              </a:ext>
            </a:extLst>
          </p:cNvPr>
          <p:cNvSpPr/>
          <p:nvPr/>
        </p:nvSpPr>
        <p:spPr>
          <a:xfrm>
            <a:off x="6245352" y="2770632"/>
            <a:ext cx="5321808" cy="196596"/>
          </a:xfrm>
          <a:prstGeom prst="roundRect">
            <a:avLst>
              <a:gd name="adj" fmla="val 18604"/>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6355080" y="278434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取引活動 → 契約</a:t>
            </a:r>
          </a:p>
        </p:txBody>
      </p:sp>
      <p:sp>
        <p:nvSpPr>
          <p:cNvPr id="61" name="TextBox 60"/>
          <p:cNvSpPr txBox="1"/>
          <p:nvPr/>
        </p:nvSpPr>
        <p:spPr>
          <a:xfrm>
            <a:off x="9098280" y="278434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ActivityUnderContract</a:t>
            </a:r>
          </a:p>
        </p:txBody>
      </p:sp>
      <p:sp>
        <p:nvSpPr>
          <p:cNvPr id="62" name="TextBox 61"/>
          <p:cNvSpPr txBox="1"/>
          <p:nvPr/>
        </p:nvSpPr>
        <p:spPr>
          <a:xfrm>
            <a:off x="6355080" y="299008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出荷 → 取引活動</a:t>
            </a:r>
          </a:p>
        </p:txBody>
      </p:sp>
      <p:sp>
        <p:nvSpPr>
          <p:cNvPr id="63" name="TextBox 62"/>
          <p:cNvSpPr txBox="1"/>
          <p:nvPr/>
        </p:nvSpPr>
        <p:spPr>
          <a:xfrm>
            <a:off x="9098280" y="299008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ShipmentForActivity</a:t>
            </a:r>
          </a:p>
        </p:txBody>
      </p:sp>
      <p:sp>
        <p:nvSpPr>
          <p:cNvPr id="64" name="Rounded Rectangle 63">
            <a:extLst>
              <a:ext uri="{C183D7F6-B498-43B3-948B-1728B52AA6E4}">
                <adec:decorative xmlns:adec="http://schemas.microsoft.com/office/drawing/2017/decorative" val="1"/>
              </a:ext>
            </a:extLst>
          </p:cNvPr>
          <p:cNvSpPr/>
          <p:nvPr/>
        </p:nvSpPr>
        <p:spPr>
          <a:xfrm>
            <a:off x="6245352" y="3182112"/>
            <a:ext cx="5321808" cy="196596"/>
          </a:xfrm>
          <a:prstGeom prst="roundRect">
            <a:avLst>
              <a:gd name="adj" fmla="val 18604"/>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355080" y="319582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出荷 → 契約</a:t>
            </a:r>
          </a:p>
        </p:txBody>
      </p:sp>
      <p:sp>
        <p:nvSpPr>
          <p:cNvPr id="66" name="TextBox 65"/>
          <p:cNvSpPr txBox="1"/>
          <p:nvPr/>
        </p:nvSpPr>
        <p:spPr>
          <a:xfrm>
            <a:off x="9098280" y="319582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ShipmentUnderContract</a:t>
            </a:r>
          </a:p>
        </p:txBody>
      </p:sp>
      <p:sp>
        <p:nvSpPr>
          <p:cNvPr id="67" name="TextBox 66"/>
          <p:cNvSpPr txBox="1"/>
          <p:nvPr/>
        </p:nvSpPr>
        <p:spPr>
          <a:xfrm>
            <a:off x="6355080" y="340156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根拠 → イベント</a:t>
            </a:r>
          </a:p>
        </p:txBody>
      </p:sp>
      <p:sp>
        <p:nvSpPr>
          <p:cNvPr id="68" name="TextBox 67"/>
          <p:cNvSpPr txBox="1"/>
          <p:nvPr/>
        </p:nvSpPr>
        <p:spPr>
          <a:xfrm>
            <a:off x="9098280" y="340156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EvidenceSupportsEvent</a:t>
            </a:r>
          </a:p>
        </p:txBody>
      </p:sp>
      <p:sp>
        <p:nvSpPr>
          <p:cNvPr id="69" name="Rounded Rectangle 68">
            <a:extLst>
              <a:ext uri="{C183D7F6-B498-43B3-948B-1728B52AA6E4}">
                <adec:decorative xmlns:adec="http://schemas.microsoft.com/office/drawing/2017/decorative" val="1"/>
              </a:ext>
            </a:extLst>
          </p:cNvPr>
          <p:cNvSpPr/>
          <p:nvPr/>
        </p:nvSpPr>
        <p:spPr>
          <a:xfrm>
            <a:off x="6245352" y="3593591"/>
            <a:ext cx="5321808" cy="196596"/>
          </a:xfrm>
          <a:prstGeom prst="roundRect">
            <a:avLst>
              <a:gd name="adj" fmla="val 18604"/>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6355080" y="360730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イベント → 影響額</a:t>
            </a:r>
          </a:p>
        </p:txBody>
      </p:sp>
      <p:sp>
        <p:nvSpPr>
          <p:cNvPr id="71" name="TextBox 70"/>
          <p:cNvSpPr txBox="1"/>
          <p:nvPr/>
        </p:nvSpPr>
        <p:spPr>
          <a:xfrm>
            <a:off x="9098280" y="360730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EventHasEffect</a:t>
            </a:r>
          </a:p>
        </p:txBody>
      </p:sp>
      <p:sp>
        <p:nvSpPr>
          <p:cNvPr id="72" name="TextBox 71"/>
          <p:cNvSpPr txBox="1"/>
          <p:nvPr/>
        </p:nvSpPr>
        <p:spPr>
          <a:xfrm>
            <a:off x="6355080" y="381304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影響額 → 根拠</a:t>
            </a:r>
          </a:p>
        </p:txBody>
      </p:sp>
      <p:sp>
        <p:nvSpPr>
          <p:cNvPr id="73" name="TextBox 72"/>
          <p:cNvSpPr txBox="1"/>
          <p:nvPr/>
        </p:nvSpPr>
        <p:spPr>
          <a:xfrm>
            <a:off x="9098280" y="381304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EffectExplainedByEvidence</a:t>
            </a:r>
          </a:p>
        </p:txBody>
      </p:sp>
      <p:sp>
        <p:nvSpPr>
          <p:cNvPr id="74" name="Rounded Rectangle 73">
            <a:extLst>
              <a:ext uri="{C183D7F6-B498-43B3-948B-1728B52AA6E4}">
                <adec:decorative xmlns:adec="http://schemas.microsoft.com/office/drawing/2017/decorative" val="1"/>
              </a:ext>
            </a:extLst>
          </p:cNvPr>
          <p:cNvSpPr/>
          <p:nvPr/>
        </p:nvSpPr>
        <p:spPr>
          <a:xfrm>
            <a:off x="6245352" y="4005072"/>
            <a:ext cx="5321808" cy="196596"/>
          </a:xfrm>
          <a:prstGeom prst="roundRect">
            <a:avLst>
              <a:gd name="adj" fmla="val 18604"/>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6355080" y="4018787"/>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影響額 → 取引活動</a:t>
            </a:r>
          </a:p>
        </p:txBody>
      </p:sp>
      <p:sp>
        <p:nvSpPr>
          <p:cNvPr id="76" name="TextBox 75"/>
          <p:cNvSpPr txBox="1"/>
          <p:nvPr/>
        </p:nvSpPr>
        <p:spPr>
          <a:xfrm>
            <a:off x="9098280" y="4018787"/>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EffectOnActivity</a:t>
            </a:r>
          </a:p>
        </p:txBody>
      </p:sp>
      <p:sp>
        <p:nvSpPr>
          <p:cNvPr id="77" name="TextBox 76"/>
          <p:cNvSpPr txBox="1"/>
          <p:nvPr/>
        </p:nvSpPr>
        <p:spPr>
          <a:xfrm>
            <a:off x="6355080" y="422452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影響額 → 契約</a:t>
            </a:r>
          </a:p>
        </p:txBody>
      </p:sp>
      <p:sp>
        <p:nvSpPr>
          <p:cNvPr id="78" name="TextBox 77"/>
          <p:cNvSpPr txBox="1"/>
          <p:nvPr/>
        </p:nvSpPr>
        <p:spPr>
          <a:xfrm>
            <a:off x="9098280" y="422452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EffectOnContract</a:t>
            </a:r>
          </a:p>
        </p:txBody>
      </p:sp>
      <p:sp>
        <p:nvSpPr>
          <p:cNvPr id="79" name="Rounded Rectangle 78">
            <a:extLst>
              <a:ext uri="{C183D7F6-B498-43B3-948B-1728B52AA6E4}">
                <adec:decorative xmlns:adec="http://schemas.microsoft.com/office/drawing/2017/decorative" val="1"/>
              </a:ext>
            </a:extLst>
          </p:cNvPr>
          <p:cNvSpPr/>
          <p:nvPr/>
        </p:nvSpPr>
        <p:spPr>
          <a:xfrm>
            <a:off x="6245352" y="4416552"/>
            <a:ext cx="5321808" cy="196596"/>
          </a:xfrm>
          <a:prstGeom prst="roundRect">
            <a:avLst>
              <a:gd name="adj" fmla="val 18604"/>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6355080" y="443026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契約 → 会社</a:t>
            </a:r>
          </a:p>
        </p:txBody>
      </p:sp>
      <p:sp>
        <p:nvSpPr>
          <p:cNvPr id="81" name="TextBox 80"/>
          <p:cNvSpPr txBox="1"/>
          <p:nvPr/>
        </p:nvSpPr>
        <p:spPr>
          <a:xfrm>
            <a:off x="9098280" y="443026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ContractOwnedByCompany</a:t>
            </a:r>
          </a:p>
        </p:txBody>
      </p:sp>
      <p:sp>
        <p:nvSpPr>
          <p:cNvPr id="82" name="TextBox 81"/>
          <p:cNvSpPr txBox="1"/>
          <p:nvPr/>
        </p:nvSpPr>
        <p:spPr>
          <a:xfrm>
            <a:off x="6355080" y="463600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取引活動 → 会社</a:t>
            </a:r>
          </a:p>
        </p:txBody>
      </p:sp>
      <p:sp>
        <p:nvSpPr>
          <p:cNvPr id="83" name="TextBox 82"/>
          <p:cNvSpPr txBox="1"/>
          <p:nvPr/>
        </p:nvSpPr>
        <p:spPr>
          <a:xfrm>
            <a:off x="9098280" y="463600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ActivityOwnedByCompany</a:t>
            </a:r>
          </a:p>
        </p:txBody>
      </p:sp>
      <p:sp>
        <p:nvSpPr>
          <p:cNvPr id="84" name="Rounded Rectangle 83">
            <a:extLst>
              <a:ext uri="{C183D7F6-B498-43B3-948B-1728B52AA6E4}">
                <adec:decorative xmlns:adec="http://schemas.microsoft.com/office/drawing/2017/decorative" val="1"/>
              </a:ext>
            </a:extLst>
          </p:cNvPr>
          <p:cNvSpPr/>
          <p:nvPr/>
        </p:nvSpPr>
        <p:spPr>
          <a:xfrm>
            <a:off x="6245352" y="4828032"/>
            <a:ext cx="5321808" cy="196596"/>
          </a:xfrm>
          <a:prstGeom prst="roundRect">
            <a:avLst>
              <a:gd name="adj" fmla="val 18604"/>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6355080" y="484174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影響額 → 会社</a:t>
            </a:r>
          </a:p>
        </p:txBody>
      </p:sp>
      <p:sp>
        <p:nvSpPr>
          <p:cNvPr id="86" name="TextBox 85"/>
          <p:cNvSpPr txBox="1"/>
          <p:nvPr/>
        </p:nvSpPr>
        <p:spPr>
          <a:xfrm>
            <a:off x="9098280" y="484174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EffectOwnedByCompany</a:t>
            </a:r>
          </a:p>
        </p:txBody>
      </p:sp>
      <p:sp>
        <p:nvSpPr>
          <p:cNvPr id="87" name="TextBox 86"/>
          <p:cNvSpPr txBox="1"/>
          <p:nvPr/>
        </p:nvSpPr>
        <p:spPr>
          <a:xfrm>
            <a:off x="6355080" y="504748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日次指標 → 会社</a:t>
            </a:r>
          </a:p>
        </p:txBody>
      </p:sp>
      <p:sp>
        <p:nvSpPr>
          <p:cNvPr id="88" name="TextBox 87"/>
          <p:cNvSpPr txBox="1"/>
          <p:nvPr/>
        </p:nvSpPr>
        <p:spPr>
          <a:xfrm>
            <a:off x="9098280" y="504748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MetricForCompany</a:t>
            </a:r>
          </a:p>
        </p:txBody>
      </p:sp>
      <p:sp>
        <p:nvSpPr>
          <p:cNvPr id="89" name="Rounded Rectangle 88">
            <a:extLst>
              <a:ext uri="{C183D7F6-B498-43B3-948B-1728B52AA6E4}">
                <adec:decorative xmlns:adec="http://schemas.microsoft.com/office/drawing/2017/decorative" val="1"/>
              </a:ext>
            </a:extLst>
          </p:cNvPr>
          <p:cNvSpPr/>
          <p:nvPr/>
        </p:nvSpPr>
        <p:spPr>
          <a:xfrm>
            <a:off x="6245352" y="5239512"/>
            <a:ext cx="5321808" cy="196596"/>
          </a:xfrm>
          <a:prstGeom prst="roundRect">
            <a:avLst>
              <a:gd name="adj" fmla="val 18604"/>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6355080" y="525322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影響額 → 日次指標</a:t>
            </a:r>
          </a:p>
        </p:txBody>
      </p:sp>
      <p:sp>
        <p:nvSpPr>
          <p:cNvPr id="91" name="TextBox 90"/>
          <p:cNvSpPr txBox="1"/>
          <p:nvPr/>
        </p:nvSpPr>
        <p:spPr>
          <a:xfrm>
            <a:off x="9098280" y="525322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EffectRealizedInMetric</a:t>
            </a:r>
          </a:p>
        </p:txBody>
      </p:sp>
      <p:sp>
        <p:nvSpPr>
          <p:cNvPr id="92" name="TextBox 91"/>
          <p:cNvSpPr txBox="1"/>
          <p:nvPr/>
        </p:nvSpPr>
        <p:spPr>
          <a:xfrm>
            <a:off x="6355080" y="5458968"/>
            <a:ext cx="2651760" cy="182880"/>
          </a:xfrm>
          <a:prstGeom prst="rect">
            <a:avLst/>
          </a:prstGeom>
          <a:noFill/>
        </p:spPr>
        <p:txBody>
          <a:bodyPr wrap="square" lIns="0" rIns="0" tIns="0" bIns="0" anchor="ctr">
            <a:spAutoFit/>
          </a:bodyPr>
          <a:lstStyle/>
          <a:p>
            <a:pPr>
              <a:lnSpc>
                <a:spcPts val="1150"/>
              </a:lnSpc>
              <a:spcAft>
                <a:spcPts val="0"/>
              </a:spcAft>
            </a:pPr>
            <a:r>
              <a:rPr sz="1150" b="1" lang="ja-JP">
                <a:solidFill>
                  <a:srgbClr val="17334A"/>
                </a:solidFill>
                <a:latin typeface="Yu Gothic"/>
                <a:ea typeface="Yu Gothic"/>
              </a:rPr>
              <a:t>日次指標 → 全社KPI</a:t>
            </a:r>
          </a:p>
        </p:txBody>
      </p:sp>
      <p:sp>
        <p:nvSpPr>
          <p:cNvPr id="93" name="TextBox 92"/>
          <p:cNvSpPr txBox="1"/>
          <p:nvPr/>
        </p:nvSpPr>
        <p:spPr>
          <a:xfrm>
            <a:off x="9098280" y="5458968"/>
            <a:ext cx="2468880" cy="182880"/>
          </a:xfrm>
          <a:prstGeom prst="rect">
            <a:avLst/>
          </a:prstGeom>
          <a:noFill/>
        </p:spPr>
        <p:txBody>
          <a:bodyPr wrap="square" lIns="0" rIns="0" tIns="0" bIns="0" anchor="ctr">
            <a:spAutoFit/>
          </a:bodyPr>
          <a:lstStyle/>
          <a:p>
            <a:pPr>
              <a:lnSpc>
                <a:spcPts val="1050"/>
              </a:lnSpc>
              <a:spcAft>
                <a:spcPts val="0"/>
              </a:spcAft>
            </a:pPr>
            <a:r>
              <a:rPr sz="1050" b="0" lang="ja-JP">
                <a:solidFill>
                  <a:srgbClr val="566A78"/>
                </a:solidFill>
                <a:latin typeface="Yu Gothic"/>
                <a:ea typeface="Yu Gothic"/>
              </a:rPr>
              <a:t>MetricRollsUpToGroupKPI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付録3 デモで使った質問と回答の要点</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付録  |  質問と回答</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デモで入力した質問と、Data Agentの回答の要点です。</a:t>
            </a:r>
          </a:p>
          <a:p>
            <a:pPr>
              <a:lnSpc>
                <a:spcPts val="2160"/>
              </a:lnSpc>
              <a:spcAft>
                <a:spcPts val="0"/>
              </a:spcAft>
            </a:pPr>
            <a:r>
              <a:rPr sz="1600" b="0" lang="ja-JP">
                <a:solidFill>
                  <a:srgbClr val="566A78"/>
                </a:solidFill>
                <a:latin typeface="Yu Gothic"/>
                <a:ea typeface="Yu Gothic"/>
              </a:rPr>
              <a:t>金額は、元データの集計と照合して確認しました。</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確認の回数は少なく、文面は実行ごとに変わります。PoCでは、質問と正解を決めて、回数を増やして確かめます。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30</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11091672" cy="3566160"/>
          </a:xfrm>
          <a:prstGeom prst="roundRect">
            <a:avLst>
              <a:gd name="adj" fmla="val 2051"/>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31520" y="2240280"/>
            <a:ext cx="73152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区分</a:t>
            </a:r>
          </a:p>
        </p:txBody>
      </p:sp>
      <p:sp>
        <p:nvSpPr>
          <p:cNvPr id="17" name="TextBox 16"/>
          <p:cNvSpPr txBox="1"/>
          <p:nvPr/>
        </p:nvSpPr>
        <p:spPr>
          <a:xfrm>
            <a:off x="1508760" y="2240280"/>
            <a:ext cx="347472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入力した質問</a:t>
            </a:r>
          </a:p>
        </p:txBody>
      </p:sp>
      <p:sp>
        <p:nvSpPr>
          <p:cNvPr id="18" name="TextBox 17"/>
          <p:cNvSpPr txBox="1"/>
          <p:nvPr/>
        </p:nvSpPr>
        <p:spPr>
          <a:xfrm>
            <a:off x="5074920" y="2240280"/>
            <a:ext cx="429768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回答の要点</a:t>
            </a:r>
          </a:p>
        </p:txBody>
      </p:sp>
      <p:sp>
        <p:nvSpPr>
          <p:cNvPr id="19" name="TextBox 18"/>
          <p:cNvSpPr txBox="1"/>
          <p:nvPr/>
        </p:nvSpPr>
        <p:spPr>
          <a:xfrm>
            <a:off x="9418319" y="2240280"/>
            <a:ext cx="210312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元データとの照合</a:t>
            </a:r>
          </a:p>
        </p:txBody>
      </p:sp>
      <p:sp>
        <p:nvSpPr>
          <p:cNvPr id="20" name="Rounded Rectangle 19">
            <a:extLst>
              <a:ext uri="{C183D7F6-B498-43B3-948B-1728B52AA6E4}">
                <adec:decorative xmlns:adec="http://schemas.microsoft.com/office/drawing/2017/decorative" val="1"/>
              </a:ext>
            </a:extLst>
          </p:cNvPr>
          <p:cNvSpPr/>
          <p:nvPr/>
        </p:nvSpPr>
        <p:spPr>
          <a:xfrm>
            <a:off x="731520" y="2633472"/>
            <a:ext cx="566928" cy="237744"/>
          </a:xfrm>
          <a:prstGeom prst="roundRect">
            <a:avLst>
              <a:gd name="adj" fmla="val 5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31520" y="2633472"/>
            <a:ext cx="566928" cy="237744"/>
          </a:xfrm>
          <a:prstGeom prst="rect">
            <a:avLst/>
          </a:prstGeom>
          <a:noFill/>
        </p:spPr>
        <p:txBody>
          <a:bodyPr wrap="square" lIns="0" rIns="0" tIns="0" bIns="0" anchor="ctr">
            <a:spAutoFit/>
          </a:bodyPr>
          <a:lstStyle/>
          <a:p>
            <a:pPr algn="ctr">
              <a:lnSpc>
                <a:spcPts val="1050"/>
              </a:lnSpc>
              <a:spcAft>
                <a:spcPts val="0"/>
              </a:spcAft>
            </a:pPr>
            <a:r>
              <a:rPr sz="1050" b="1" lang="ja-JP">
                <a:solidFill>
                  <a:srgbClr val="FFFFFF"/>
                </a:solidFill>
                <a:latin typeface="Yu Gothic"/>
                <a:ea typeface="Yu Gothic"/>
              </a:rPr>
              <a:t>①</a:t>
            </a:r>
          </a:p>
        </p:txBody>
      </p:sp>
      <p:sp>
        <p:nvSpPr>
          <p:cNvPr id="22" name="TextBox 21"/>
          <p:cNvSpPr txBox="1"/>
          <p:nvPr/>
        </p:nvSpPr>
        <p:spPr>
          <a:xfrm>
            <a:off x="1508760" y="2542032"/>
            <a:ext cx="3520440" cy="402336"/>
          </a:xfrm>
          <a:prstGeom prst="rect">
            <a:avLst/>
          </a:prstGeom>
          <a:noFill/>
        </p:spPr>
        <p:txBody>
          <a:bodyPr wrap="square" lIns="0" rIns="0" tIns="0" bIns="0" anchor="ctr">
            <a:spAutoFit/>
          </a:bodyPr>
          <a:lstStyle/>
          <a:p>
            <a:pPr>
              <a:lnSpc>
                <a:spcPts val="1320"/>
              </a:lnSpc>
              <a:spcAft>
                <a:spcPts val="0"/>
              </a:spcAft>
            </a:pPr>
            <a:r>
              <a:rPr sz="1150" b="1" lang="ja-JP">
                <a:solidFill>
                  <a:srgbClr val="17334A"/>
                </a:solidFill>
                <a:latin typeface="Yu Gothic"/>
                <a:ea typeface="Yu Gothic"/>
              </a:rPr>
              <a:t>今期のEBITDAって、予算に対してどうだった？</a:t>
            </a:r>
          </a:p>
        </p:txBody>
      </p:sp>
      <p:sp>
        <p:nvSpPr>
          <p:cNvPr id="23" name="TextBox 22"/>
          <p:cNvSpPr txBox="1"/>
          <p:nvPr/>
        </p:nvSpPr>
        <p:spPr>
          <a:xfrm>
            <a:off x="5074920" y="2542032"/>
            <a:ext cx="4297680" cy="402336"/>
          </a:xfrm>
          <a:prstGeom prst="rect">
            <a:avLst/>
          </a:prstGeom>
          <a:noFill/>
        </p:spPr>
        <p:txBody>
          <a:bodyPr wrap="square" lIns="0" rIns="0" tIns="0" bIns="0" anchor="ctr">
            <a:spAutoFit/>
          </a:bodyPr>
          <a:lstStyle/>
          <a:p>
            <a:pPr>
              <a:lnSpc>
                <a:spcPts val="1440"/>
              </a:lnSpc>
              <a:spcAft>
                <a:spcPts val="0"/>
              </a:spcAft>
            </a:pPr>
            <a:r>
              <a:rPr sz="1200" b="0" lang="ja-JP">
                <a:solidFill>
                  <a:srgbClr val="21374A"/>
                </a:solidFill>
                <a:latin typeface="Yu Gothic"/>
                <a:ea typeface="Yu Gothic"/>
              </a:rPr>
              <a:t>実績447.57億円、基準値448.60億円、差−1.03億円</a:t>
            </a:r>
          </a:p>
        </p:txBody>
      </p:sp>
      <p:sp>
        <p:nvSpPr>
          <p:cNvPr id="24" name="TextBox 23"/>
          <p:cNvSpPr txBox="1"/>
          <p:nvPr/>
        </p:nvSpPr>
        <p:spPr>
          <a:xfrm>
            <a:off x="9418319" y="2542032"/>
            <a:ext cx="2103120" cy="402336"/>
          </a:xfrm>
          <a:prstGeom prst="rect">
            <a:avLst/>
          </a:prstGeom>
          <a:noFill/>
        </p:spPr>
        <p:txBody>
          <a:bodyPr wrap="square" lIns="0" rIns="0" tIns="0" bIns="0" anchor="ctr">
            <a:spAutoFit/>
          </a:bodyPr>
          <a:lstStyle/>
          <a:p>
            <a:pPr>
              <a:lnSpc>
                <a:spcPts val="1260"/>
              </a:lnSpc>
              <a:spcAft>
                <a:spcPts val="0"/>
              </a:spcAft>
            </a:pPr>
            <a:r>
              <a:rPr sz="1100" b="1" lang="ja-JP">
                <a:solidFill>
                  <a:srgbClr val="087F83"/>
                </a:solidFill>
                <a:latin typeface="Yu Gothic"/>
                <a:ea typeface="Yu Gothic"/>
              </a:rPr>
              <a:t>一致（3回中3回）</a:t>
            </a:r>
          </a:p>
        </p:txBody>
      </p:sp>
      <p:sp>
        <p:nvSpPr>
          <p:cNvPr id="25" name="Rounded Rectangle 24">
            <a:extLst>
              <a:ext uri="{C183D7F6-B498-43B3-948B-1728B52AA6E4}">
                <adec:decorative xmlns:adec="http://schemas.microsoft.com/office/drawing/2017/decorative" val="1"/>
              </a:ext>
            </a:extLst>
          </p:cNvPr>
          <p:cNvSpPr/>
          <p:nvPr/>
        </p:nvSpPr>
        <p:spPr>
          <a:xfrm>
            <a:off x="621792" y="2980944"/>
            <a:ext cx="10945368" cy="438912"/>
          </a:xfrm>
          <a:prstGeom prst="roundRect">
            <a:avLst>
              <a:gd name="adj" fmla="val 10416"/>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a:extLst>
              <a:ext uri="{C183D7F6-B498-43B3-948B-1728B52AA6E4}">
                <adec:decorative xmlns:adec="http://schemas.microsoft.com/office/drawing/2017/decorative" val="1"/>
              </a:ext>
            </a:extLst>
          </p:cNvPr>
          <p:cNvSpPr/>
          <p:nvPr/>
        </p:nvSpPr>
        <p:spPr>
          <a:xfrm>
            <a:off x="731520" y="3090672"/>
            <a:ext cx="566928" cy="237744"/>
          </a:xfrm>
          <a:prstGeom prst="roundRect">
            <a:avLst>
              <a:gd name="adj" fmla="val 5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31520" y="3090672"/>
            <a:ext cx="566928" cy="237744"/>
          </a:xfrm>
          <a:prstGeom prst="rect">
            <a:avLst/>
          </a:prstGeom>
          <a:noFill/>
        </p:spPr>
        <p:txBody>
          <a:bodyPr wrap="square" lIns="0" rIns="0" tIns="0" bIns="0" anchor="ctr">
            <a:spAutoFit/>
          </a:bodyPr>
          <a:lstStyle/>
          <a:p>
            <a:pPr algn="ctr">
              <a:lnSpc>
                <a:spcPts val="1050"/>
              </a:lnSpc>
              <a:spcAft>
                <a:spcPts val="0"/>
              </a:spcAft>
            </a:pPr>
            <a:r>
              <a:rPr sz="1050" b="1" lang="ja-JP">
                <a:solidFill>
                  <a:srgbClr val="FFFFFF"/>
                </a:solidFill>
                <a:latin typeface="Yu Gothic"/>
                <a:ea typeface="Yu Gothic"/>
              </a:rPr>
              <a:t>②</a:t>
            </a:r>
          </a:p>
        </p:txBody>
      </p:sp>
      <p:sp>
        <p:nvSpPr>
          <p:cNvPr id="28" name="TextBox 27"/>
          <p:cNvSpPr txBox="1"/>
          <p:nvPr/>
        </p:nvSpPr>
        <p:spPr>
          <a:xfrm>
            <a:off x="1508760" y="2999232"/>
            <a:ext cx="3520440" cy="402336"/>
          </a:xfrm>
          <a:prstGeom prst="rect">
            <a:avLst/>
          </a:prstGeom>
          <a:noFill/>
        </p:spPr>
        <p:txBody>
          <a:bodyPr wrap="square" lIns="0" rIns="0" tIns="0" bIns="0" anchor="ctr">
            <a:spAutoFit/>
          </a:bodyPr>
          <a:lstStyle/>
          <a:p>
            <a:pPr>
              <a:lnSpc>
                <a:spcPts val="1320"/>
              </a:lnSpc>
              <a:spcAft>
                <a:spcPts val="0"/>
              </a:spcAft>
            </a:pPr>
            <a:r>
              <a:rPr sz="1150" b="1" lang="ja-JP">
                <a:solidFill>
                  <a:srgbClr val="17334A"/>
                </a:solidFill>
                <a:latin typeface="Yu Gothic"/>
                <a:ea typeface="Yu Gothic"/>
              </a:rPr>
              <a:t>一番足を引っ張ったイベントは？</a:t>
            </a:r>
          </a:p>
          <a:p>
            <a:pPr>
              <a:lnSpc>
                <a:spcPts val="1320"/>
              </a:lnSpc>
              <a:spcAft>
                <a:spcPts val="0"/>
              </a:spcAft>
            </a:pPr>
            <a:r>
              <a:rPr sz="1150" b="1" lang="ja-JP">
                <a:solidFill>
                  <a:srgbClr val="17334A"/>
                </a:solidFill>
                <a:latin typeface="Yu Gothic"/>
                <a:ea typeface="Yu Gothic"/>
              </a:rPr>
              <a:t>逆に、一番プラスになったのは？</a:t>
            </a:r>
          </a:p>
        </p:txBody>
      </p:sp>
      <p:sp>
        <p:nvSpPr>
          <p:cNvPr id="29" name="TextBox 28"/>
          <p:cNvSpPr txBox="1"/>
          <p:nvPr/>
        </p:nvSpPr>
        <p:spPr>
          <a:xfrm>
            <a:off x="5074920" y="2999232"/>
            <a:ext cx="4297680" cy="402336"/>
          </a:xfrm>
          <a:prstGeom prst="rect">
            <a:avLst/>
          </a:prstGeom>
          <a:noFill/>
        </p:spPr>
        <p:txBody>
          <a:bodyPr wrap="square" lIns="0" rIns="0" tIns="0" bIns="0" anchor="ctr">
            <a:spAutoFit/>
          </a:bodyPr>
          <a:lstStyle/>
          <a:p>
            <a:pPr>
              <a:lnSpc>
                <a:spcPts val="1440"/>
              </a:lnSpc>
              <a:spcAft>
                <a:spcPts val="0"/>
              </a:spcAft>
            </a:pPr>
            <a:r>
              <a:rPr sz="1200" b="0" lang="ja-JP">
                <a:solidFill>
                  <a:srgbClr val="21374A"/>
                </a:solidFill>
                <a:latin typeface="Yu Gothic"/>
                <a:ea typeface="Yu Gothic"/>
              </a:rPr>
              <a:t>横断混乱 −6.80億円（336件）、横断回復 +5.84億円</a:t>
            </a:r>
          </a:p>
        </p:txBody>
      </p:sp>
      <p:sp>
        <p:nvSpPr>
          <p:cNvPr id="30" name="TextBox 29"/>
          <p:cNvSpPr txBox="1"/>
          <p:nvPr/>
        </p:nvSpPr>
        <p:spPr>
          <a:xfrm>
            <a:off x="9418319" y="2999232"/>
            <a:ext cx="2103120" cy="402336"/>
          </a:xfrm>
          <a:prstGeom prst="rect">
            <a:avLst/>
          </a:prstGeom>
          <a:noFill/>
        </p:spPr>
        <p:txBody>
          <a:bodyPr wrap="square" lIns="0" rIns="0" tIns="0" bIns="0" anchor="ctr">
            <a:spAutoFit/>
          </a:bodyPr>
          <a:lstStyle/>
          <a:p>
            <a:pPr>
              <a:lnSpc>
                <a:spcPts val="1260"/>
              </a:lnSpc>
              <a:spcAft>
                <a:spcPts val="0"/>
              </a:spcAft>
            </a:pPr>
            <a:r>
              <a:rPr sz="1100" b="1" lang="ja-JP">
                <a:solidFill>
                  <a:srgbClr val="087F83"/>
                </a:solidFill>
                <a:latin typeface="Yu Gothic"/>
                <a:ea typeface="Yu Gothic"/>
              </a:rPr>
              <a:t>一致</a:t>
            </a:r>
          </a:p>
        </p:txBody>
      </p:sp>
      <p:sp>
        <p:nvSpPr>
          <p:cNvPr id="31" name="Rounded Rectangle 30">
            <a:extLst>
              <a:ext uri="{C183D7F6-B498-43B3-948B-1728B52AA6E4}">
                <adec:decorative xmlns:adec="http://schemas.microsoft.com/office/drawing/2017/decorative" val="1"/>
              </a:ext>
            </a:extLst>
          </p:cNvPr>
          <p:cNvSpPr/>
          <p:nvPr/>
        </p:nvSpPr>
        <p:spPr>
          <a:xfrm>
            <a:off x="731520" y="3547872"/>
            <a:ext cx="566928" cy="237744"/>
          </a:xfrm>
          <a:prstGeom prst="roundRect">
            <a:avLst>
              <a:gd name="adj" fmla="val 50000"/>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31520" y="3547872"/>
            <a:ext cx="566928" cy="237744"/>
          </a:xfrm>
          <a:prstGeom prst="rect">
            <a:avLst/>
          </a:prstGeom>
          <a:noFill/>
        </p:spPr>
        <p:txBody>
          <a:bodyPr wrap="square" lIns="0" rIns="0" tIns="0" bIns="0" anchor="ctr">
            <a:spAutoFit/>
          </a:bodyPr>
          <a:lstStyle/>
          <a:p>
            <a:pPr algn="ctr">
              <a:lnSpc>
                <a:spcPts val="1050"/>
              </a:lnSpc>
              <a:spcAft>
                <a:spcPts val="0"/>
              </a:spcAft>
            </a:pPr>
            <a:r>
              <a:rPr sz="1050" b="1" lang="ja-JP">
                <a:solidFill>
                  <a:srgbClr val="21374A"/>
                </a:solidFill>
                <a:latin typeface="Yu Gothic"/>
                <a:ea typeface="Yu Gothic"/>
              </a:rPr>
              <a:t>追加</a:t>
            </a:r>
          </a:p>
        </p:txBody>
      </p:sp>
      <p:sp>
        <p:nvSpPr>
          <p:cNvPr id="33" name="TextBox 32"/>
          <p:cNvSpPr txBox="1"/>
          <p:nvPr/>
        </p:nvSpPr>
        <p:spPr>
          <a:xfrm>
            <a:off x="1508760" y="3456432"/>
            <a:ext cx="3520440" cy="402336"/>
          </a:xfrm>
          <a:prstGeom prst="rect">
            <a:avLst/>
          </a:prstGeom>
          <a:noFill/>
        </p:spPr>
        <p:txBody>
          <a:bodyPr wrap="square" lIns="0" rIns="0" tIns="0" bIns="0" anchor="ctr">
            <a:spAutoFit/>
          </a:bodyPr>
          <a:lstStyle/>
          <a:p>
            <a:pPr>
              <a:lnSpc>
                <a:spcPts val="1320"/>
              </a:lnSpc>
              <a:spcAft>
                <a:spcPts val="0"/>
              </a:spcAft>
            </a:pPr>
            <a:r>
              <a:rPr sz="1150" b="1" lang="ja-JP">
                <a:solidFill>
                  <a:srgbClr val="17334A"/>
                </a:solidFill>
                <a:latin typeface="Yu Gothic"/>
                <a:ea typeface="Yu Gothic"/>
              </a:rPr>
              <a:t>金融の子会社は今期どうだった？</a:t>
            </a:r>
          </a:p>
        </p:txBody>
      </p:sp>
      <p:sp>
        <p:nvSpPr>
          <p:cNvPr id="34" name="TextBox 33"/>
          <p:cNvSpPr txBox="1"/>
          <p:nvPr/>
        </p:nvSpPr>
        <p:spPr>
          <a:xfrm>
            <a:off x="5074920" y="3456432"/>
            <a:ext cx="4297680" cy="402336"/>
          </a:xfrm>
          <a:prstGeom prst="rect">
            <a:avLst/>
          </a:prstGeom>
          <a:noFill/>
        </p:spPr>
        <p:txBody>
          <a:bodyPr wrap="square" lIns="0" rIns="0" tIns="0" bIns="0" anchor="ctr">
            <a:spAutoFit/>
          </a:bodyPr>
          <a:lstStyle/>
          <a:p>
            <a:pPr>
              <a:lnSpc>
                <a:spcPts val="1440"/>
              </a:lnSpc>
              <a:spcAft>
                <a:spcPts val="0"/>
              </a:spcAft>
            </a:pPr>
            <a:r>
              <a:rPr sz="1200" b="0" lang="ja-JP">
                <a:solidFill>
                  <a:srgbClr val="21374A"/>
                </a:solidFill>
                <a:latin typeface="Yu Gothic"/>
                <a:ea typeface="Yu Gothic"/>
              </a:rPr>
              <a:t>日本41.25億円、米国44.61億円</a:t>
            </a:r>
            <a:br>
              <a:rPr lang="ja-JP" sz="1200"/>
            </a:br>
            <a:r>
              <a:rPr sz="1200" b="0" lang="ja-JP">
                <a:solidFill>
                  <a:srgbClr val="21374A"/>
                </a:solidFill>
                <a:latin typeface="Yu Gothic"/>
                <a:ea typeface="Yu Gothic"/>
              </a:rPr>
              <a:t>（年間EBITDA、全額連結）</a:t>
            </a:r>
          </a:p>
        </p:txBody>
      </p:sp>
      <p:sp>
        <p:nvSpPr>
          <p:cNvPr id="35" name="TextBox 34"/>
          <p:cNvSpPr txBox="1"/>
          <p:nvPr/>
        </p:nvSpPr>
        <p:spPr>
          <a:xfrm>
            <a:off x="9418319" y="3456432"/>
            <a:ext cx="2103120" cy="402336"/>
          </a:xfrm>
          <a:prstGeom prst="rect">
            <a:avLst/>
          </a:prstGeom>
          <a:noFill/>
        </p:spPr>
        <p:txBody>
          <a:bodyPr wrap="square" lIns="0" rIns="0" tIns="0" bIns="0" anchor="ctr">
            <a:spAutoFit/>
          </a:bodyPr>
          <a:lstStyle/>
          <a:p>
            <a:pPr>
              <a:lnSpc>
                <a:spcPts val="1260"/>
              </a:lnSpc>
              <a:spcAft>
                <a:spcPts val="0"/>
              </a:spcAft>
            </a:pPr>
            <a:r>
              <a:rPr sz="1100" b="1" lang="ja-JP">
                <a:solidFill>
                  <a:srgbClr val="087F83"/>
                </a:solidFill>
                <a:latin typeface="Yu Gothic"/>
                <a:ea typeface="Yu Gothic"/>
              </a:rPr>
              <a:t>一致（3回中3回）</a:t>
            </a:r>
          </a:p>
        </p:txBody>
      </p:sp>
      <p:sp>
        <p:nvSpPr>
          <p:cNvPr id="36" name="Rounded Rectangle 35">
            <a:extLst>
              <a:ext uri="{C183D7F6-B498-43B3-948B-1728B52AA6E4}">
                <adec:decorative xmlns:adec="http://schemas.microsoft.com/office/drawing/2017/decorative" val="1"/>
              </a:ext>
            </a:extLst>
          </p:cNvPr>
          <p:cNvSpPr/>
          <p:nvPr/>
        </p:nvSpPr>
        <p:spPr>
          <a:xfrm>
            <a:off x="621792" y="3895344"/>
            <a:ext cx="10945368" cy="438912"/>
          </a:xfrm>
          <a:prstGeom prst="roundRect">
            <a:avLst>
              <a:gd name="adj" fmla="val 10416"/>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a:extLst>
              <a:ext uri="{C183D7F6-B498-43B3-948B-1728B52AA6E4}">
                <adec:decorative xmlns:adec="http://schemas.microsoft.com/office/drawing/2017/decorative" val="1"/>
              </a:ext>
            </a:extLst>
          </p:cNvPr>
          <p:cNvSpPr/>
          <p:nvPr/>
        </p:nvSpPr>
        <p:spPr>
          <a:xfrm>
            <a:off x="731520" y="4005071"/>
            <a:ext cx="566928" cy="237744"/>
          </a:xfrm>
          <a:prstGeom prst="roundRect">
            <a:avLst>
              <a:gd name="adj" fmla="val 5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31520" y="4005071"/>
            <a:ext cx="566928" cy="237744"/>
          </a:xfrm>
          <a:prstGeom prst="rect">
            <a:avLst/>
          </a:prstGeom>
          <a:noFill/>
        </p:spPr>
        <p:txBody>
          <a:bodyPr wrap="square" lIns="0" rIns="0" tIns="0" bIns="0" anchor="ctr">
            <a:spAutoFit/>
          </a:bodyPr>
          <a:lstStyle/>
          <a:p>
            <a:pPr algn="ctr">
              <a:lnSpc>
                <a:spcPts val="1050"/>
              </a:lnSpc>
              <a:spcAft>
                <a:spcPts val="0"/>
              </a:spcAft>
            </a:pPr>
            <a:r>
              <a:rPr sz="1050" b="1" lang="ja-JP">
                <a:solidFill>
                  <a:srgbClr val="FFFFFF"/>
                </a:solidFill>
                <a:latin typeface="Yu Gothic"/>
                <a:ea typeface="Yu Gothic"/>
              </a:rPr>
              <a:t>③</a:t>
            </a:r>
          </a:p>
        </p:txBody>
      </p:sp>
      <p:sp>
        <p:nvSpPr>
          <p:cNvPr id="39" name="TextBox 38"/>
          <p:cNvSpPr txBox="1"/>
          <p:nvPr/>
        </p:nvSpPr>
        <p:spPr>
          <a:xfrm>
            <a:off x="1508760" y="3913631"/>
            <a:ext cx="3520440" cy="402336"/>
          </a:xfrm>
          <a:prstGeom prst="rect">
            <a:avLst/>
          </a:prstGeom>
          <a:noFill/>
        </p:spPr>
        <p:txBody>
          <a:bodyPr wrap="square" lIns="0" rIns="0" tIns="0" bIns="0" anchor="ctr">
            <a:spAutoFit/>
          </a:bodyPr>
          <a:lstStyle/>
          <a:p>
            <a:pPr>
              <a:lnSpc>
                <a:spcPts val="1320"/>
              </a:lnSpc>
              <a:spcAft>
                <a:spcPts val="0"/>
              </a:spcAft>
            </a:pPr>
            <a:r>
              <a:rPr sz="1150" b="1" lang="ja-JP">
                <a:solidFill>
                  <a:srgbClr val="17334A"/>
                </a:solidFill>
                <a:latin typeface="Yu Gothic"/>
                <a:ea typeface="Yu Gothic"/>
              </a:rPr>
              <a:t>食品の損失は、どの契約に響いたの？</a:t>
            </a:r>
          </a:p>
        </p:txBody>
      </p:sp>
      <p:sp>
        <p:nvSpPr>
          <p:cNvPr id="40" name="TextBox 39"/>
          <p:cNvSpPr txBox="1"/>
          <p:nvPr/>
        </p:nvSpPr>
        <p:spPr>
          <a:xfrm>
            <a:off x="5074920" y="3913631"/>
            <a:ext cx="4297680" cy="402336"/>
          </a:xfrm>
          <a:prstGeom prst="rect">
            <a:avLst/>
          </a:prstGeom>
          <a:noFill/>
        </p:spPr>
        <p:txBody>
          <a:bodyPr wrap="square" lIns="0" rIns="0" tIns="0" bIns="0" anchor="ctr">
            <a:spAutoFit/>
          </a:bodyPr>
          <a:lstStyle/>
          <a:p>
            <a:pPr>
              <a:lnSpc>
                <a:spcPts val="1440"/>
              </a:lnSpc>
              <a:spcAft>
                <a:spcPts val="0"/>
              </a:spcAft>
            </a:pPr>
            <a:r>
              <a:rPr sz="1200" b="0" lang="ja-JP">
                <a:solidFill>
                  <a:srgbClr val="21374A"/>
                </a:solidFill>
                <a:latin typeface="Yu Gothic"/>
                <a:ea typeface="Yu Gothic"/>
              </a:rPr>
              <a:t>6契約、合計−1.14億円（食品損失）</a:t>
            </a:r>
          </a:p>
        </p:txBody>
      </p:sp>
      <p:sp>
        <p:nvSpPr>
          <p:cNvPr id="41" name="TextBox 40"/>
          <p:cNvSpPr txBox="1"/>
          <p:nvPr/>
        </p:nvSpPr>
        <p:spPr>
          <a:xfrm>
            <a:off x="9418319" y="3913631"/>
            <a:ext cx="2103120" cy="402336"/>
          </a:xfrm>
          <a:prstGeom prst="rect">
            <a:avLst/>
          </a:prstGeom>
          <a:noFill/>
        </p:spPr>
        <p:txBody>
          <a:bodyPr wrap="square" lIns="0" rIns="0" tIns="0" bIns="0" anchor="ctr">
            <a:spAutoFit/>
          </a:bodyPr>
          <a:lstStyle/>
          <a:p>
            <a:pPr>
              <a:lnSpc>
                <a:spcPts val="1260"/>
              </a:lnSpc>
              <a:spcAft>
                <a:spcPts val="0"/>
              </a:spcAft>
            </a:pPr>
            <a:r>
              <a:rPr sz="1100" b="1" lang="ja-JP">
                <a:solidFill>
                  <a:srgbClr val="087F83"/>
                </a:solidFill>
                <a:latin typeface="Yu Gothic"/>
                <a:ea typeface="Yu Gothic"/>
              </a:rPr>
              <a:t>一致</a:t>
            </a:r>
          </a:p>
        </p:txBody>
      </p:sp>
      <p:sp>
        <p:nvSpPr>
          <p:cNvPr id="42" name="Rounded Rectangle 41">
            <a:extLst>
              <a:ext uri="{C183D7F6-B498-43B3-948B-1728B52AA6E4}">
                <adec:decorative xmlns:adec="http://schemas.microsoft.com/office/drawing/2017/decorative" val="1"/>
              </a:ext>
            </a:extLst>
          </p:cNvPr>
          <p:cNvSpPr/>
          <p:nvPr/>
        </p:nvSpPr>
        <p:spPr>
          <a:xfrm>
            <a:off x="731520" y="4462271"/>
            <a:ext cx="566928" cy="237744"/>
          </a:xfrm>
          <a:prstGeom prst="roundRect">
            <a:avLst>
              <a:gd name="adj" fmla="val 5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731520" y="4462271"/>
            <a:ext cx="566928" cy="237744"/>
          </a:xfrm>
          <a:prstGeom prst="rect">
            <a:avLst/>
          </a:prstGeom>
          <a:noFill/>
        </p:spPr>
        <p:txBody>
          <a:bodyPr wrap="square" lIns="0" rIns="0" tIns="0" bIns="0" anchor="ctr">
            <a:spAutoFit/>
          </a:bodyPr>
          <a:lstStyle/>
          <a:p>
            <a:pPr algn="ctr">
              <a:lnSpc>
                <a:spcPts val="1050"/>
              </a:lnSpc>
              <a:spcAft>
                <a:spcPts val="0"/>
              </a:spcAft>
            </a:pPr>
            <a:r>
              <a:rPr sz="1050" b="1" lang="ja-JP">
                <a:solidFill>
                  <a:srgbClr val="FFFFFF"/>
                </a:solidFill>
                <a:latin typeface="Yu Gothic"/>
                <a:ea typeface="Yu Gothic"/>
              </a:rPr>
              <a:t>④</a:t>
            </a:r>
          </a:p>
        </p:txBody>
      </p:sp>
      <p:sp>
        <p:nvSpPr>
          <p:cNvPr id="44" name="TextBox 43"/>
          <p:cNvSpPr txBox="1"/>
          <p:nvPr/>
        </p:nvSpPr>
        <p:spPr>
          <a:xfrm>
            <a:off x="1508760" y="4370831"/>
            <a:ext cx="3520440" cy="402336"/>
          </a:xfrm>
          <a:prstGeom prst="rect">
            <a:avLst/>
          </a:prstGeom>
          <a:noFill/>
        </p:spPr>
        <p:txBody>
          <a:bodyPr wrap="square" lIns="0" rIns="0" tIns="0" bIns="0" anchor="ctr">
            <a:spAutoFit/>
          </a:bodyPr>
          <a:lstStyle/>
          <a:p>
            <a:pPr>
              <a:lnSpc>
                <a:spcPts val="1320"/>
              </a:lnSpc>
              <a:spcAft>
                <a:spcPts val="0"/>
              </a:spcAft>
            </a:pPr>
            <a:r>
              <a:rPr sz="1150" b="1" lang="ja-JP">
                <a:solidFill>
                  <a:srgbClr val="17334A"/>
                </a:solidFill>
                <a:latin typeface="Yu Gothic"/>
                <a:ea typeface="Yu Gothic"/>
              </a:rPr>
              <a:t>いま手を打つべき契約ってどれ？</a:t>
            </a:r>
          </a:p>
        </p:txBody>
      </p:sp>
      <p:sp>
        <p:nvSpPr>
          <p:cNvPr id="45" name="TextBox 44"/>
          <p:cNvSpPr txBox="1"/>
          <p:nvPr/>
        </p:nvSpPr>
        <p:spPr>
          <a:xfrm>
            <a:off x="5074920" y="4370831"/>
            <a:ext cx="4297680" cy="402336"/>
          </a:xfrm>
          <a:prstGeom prst="rect">
            <a:avLst/>
          </a:prstGeom>
          <a:noFill/>
        </p:spPr>
        <p:txBody>
          <a:bodyPr wrap="square" lIns="0" rIns="0" tIns="0" bIns="0" anchor="ctr">
            <a:spAutoFit/>
          </a:bodyPr>
          <a:lstStyle/>
          <a:p>
            <a:pPr>
              <a:lnSpc>
                <a:spcPts val="1440"/>
              </a:lnSpc>
              <a:spcAft>
                <a:spcPts val="0"/>
              </a:spcAft>
            </a:pPr>
            <a:r>
              <a:rPr sz="1200" b="0" lang="ja-JP">
                <a:solidFill>
                  <a:srgbClr val="21374A"/>
                </a:solidFill>
                <a:latin typeface="Yu Gothic"/>
                <a:ea typeface="Yu Gothic"/>
              </a:rPr>
              <a:t>高優先4契約（貿易金融）、中優先3契約</a:t>
            </a:r>
          </a:p>
        </p:txBody>
      </p:sp>
      <p:sp>
        <p:nvSpPr>
          <p:cNvPr id="46" name="TextBox 45"/>
          <p:cNvSpPr txBox="1"/>
          <p:nvPr/>
        </p:nvSpPr>
        <p:spPr>
          <a:xfrm>
            <a:off x="9418319" y="4370831"/>
            <a:ext cx="2103120" cy="402336"/>
          </a:xfrm>
          <a:prstGeom prst="rect">
            <a:avLst/>
          </a:prstGeom>
          <a:noFill/>
        </p:spPr>
        <p:txBody>
          <a:bodyPr wrap="square" lIns="0" rIns="0" tIns="0" bIns="0" anchor="ctr">
            <a:spAutoFit/>
          </a:bodyPr>
          <a:lstStyle/>
          <a:p>
            <a:pPr>
              <a:lnSpc>
                <a:spcPts val="1260"/>
              </a:lnSpc>
              <a:spcAft>
                <a:spcPts val="0"/>
              </a:spcAft>
            </a:pPr>
            <a:r>
              <a:rPr sz="1100" b="1" lang="ja-JP">
                <a:solidFill>
                  <a:srgbClr val="BD4354"/>
                </a:solidFill>
                <a:latin typeface="Yu Gothic"/>
                <a:ea typeface="Yu Gothic"/>
              </a:rPr>
              <a:t>金額は一致。優先度は変動</a:t>
            </a:r>
          </a:p>
        </p:txBody>
      </p:sp>
      <p:sp>
        <p:nvSpPr>
          <p:cNvPr id="47" name="Rounded Rectangle 46">
            <a:extLst>
              <a:ext uri="{C183D7F6-B498-43B3-948B-1728B52AA6E4}">
                <adec:decorative xmlns:adec="http://schemas.microsoft.com/office/drawing/2017/decorative" val="1"/>
              </a:ext>
            </a:extLst>
          </p:cNvPr>
          <p:cNvSpPr/>
          <p:nvPr/>
        </p:nvSpPr>
        <p:spPr>
          <a:xfrm>
            <a:off x="621792" y="4809744"/>
            <a:ext cx="10945368" cy="438912"/>
          </a:xfrm>
          <a:prstGeom prst="roundRect">
            <a:avLst>
              <a:gd name="adj" fmla="val 10416"/>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a:extLst>
              <a:ext uri="{C183D7F6-B498-43B3-948B-1728B52AA6E4}">
                <adec:decorative xmlns:adec="http://schemas.microsoft.com/office/drawing/2017/decorative" val="1"/>
              </a:ext>
            </a:extLst>
          </p:cNvPr>
          <p:cNvSpPr/>
          <p:nvPr/>
        </p:nvSpPr>
        <p:spPr>
          <a:xfrm>
            <a:off x="731520" y="4919471"/>
            <a:ext cx="566928" cy="237744"/>
          </a:xfrm>
          <a:prstGeom prst="roundRect">
            <a:avLst>
              <a:gd name="adj" fmla="val 50000"/>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731520" y="4919471"/>
            <a:ext cx="566928" cy="237744"/>
          </a:xfrm>
          <a:prstGeom prst="rect">
            <a:avLst/>
          </a:prstGeom>
          <a:noFill/>
        </p:spPr>
        <p:txBody>
          <a:bodyPr wrap="square" lIns="0" rIns="0" tIns="0" bIns="0" anchor="ctr">
            <a:spAutoFit/>
          </a:bodyPr>
          <a:lstStyle/>
          <a:p>
            <a:pPr algn="ctr">
              <a:lnSpc>
                <a:spcPts val="1050"/>
              </a:lnSpc>
              <a:spcAft>
                <a:spcPts val="0"/>
              </a:spcAft>
            </a:pPr>
            <a:r>
              <a:rPr sz="1050" b="1" lang="ja-JP">
                <a:solidFill>
                  <a:srgbClr val="21374A"/>
                </a:solidFill>
                <a:latin typeface="Yu Gothic"/>
                <a:ea typeface="Yu Gothic"/>
              </a:rPr>
              <a:t>追加</a:t>
            </a:r>
          </a:p>
        </p:txBody>
      </p:sp>
      <p:sp>
        <p:nvSpPr>
          <p:cNvPr id="50" name="TextBox 49"/>
          <p:cNvSpPr txBox="1"/>
          <p:nvPr/>
        </p:nvSpPr>
        <p:spPr>
          <a:xfrm>
            <a:off x="1508760" y="4828031"/>
            <a:ext cx="3520440" cy="402336"/>
          </a:xfrm>
          <a:prstGeom prst="rect">
            <a:avLst/>
          </a:prstGeom>
          <a:noFill/>
        </p:spPr>
        <p:txBody>
          <a:bodyPr wrap="square" lIns="0" rIns="0" tIns="0" bIns="0" anchor="ctr">
            <a:spAutoFit/>
          </a:bodyPr>
          <a:lstStyle/>
          <a:p>
            <a:pPr>
              <a:lnSpc>
                <a:spcPts val="1320"/>
              </a:lnSpc>
              <a:spcAft>
                <a:spcPts val="0"/>
              </a:spcAft>
            </a:pPr>
            <a:r>
              <a:rPr sz="1150" b="1" lang="ja-JP">
                <a:solidFill>
                  <a:srgbClr val="17334A"/>
                </a:solidFill>
                <a:latin typeface="Yu Gothic"/>
                <a:ea typeface="Yu Gothic"/>
              </a:rPr>
              <a:t>全社に同時に響いたマイナスの出来事は？</a:t>
            </a:r>
          </a:p>
          <a:p>
            <a:pPr>
              <a:lnSpc>
                <a:spcPts val="1320"/>
              </a:lnSpc>
              <a:spcAft>
                <a:spcPts val="0"/>
              </a:spcAft>
            </a:pPr>
            <a:r>
              <a:rPr sz="1150" b="1" lang="ja-JP">
                <a:solidFill>
                  <a:srgbClr val="17334A"/>
                </a:solidFill>
                <a:latin typeface="Yu Gothic"/>
                <a:ea typeface="Yu Gothic"/>
              </a:rPr>
              <a:t>会社ごとにどれくらい影響した？</a:t>
            </a:r>
          </a:p>
        </p:txBody>
      </p:sp>
      <p:sp>
        <p:nvSpPr>
          <p:cNvPr id="51" name="TextBox 50"/>
          <p:cNvSpPr txBox="1"/>
          <p:nvPr/>
        </p:nvSpPr>
        <p:spPr>
          <a:xfrm>
            <a:off x="5074920" y="4828031"/>
            <a:ext cx="4297680" cy="402336"/>
          </a:xfrm>
          <a:prstGeom prst="rect">
            <a:avLst/>
          </a:prstGeom>
          <a:noFill/>
        </p:spPr>
        <p:txBody>
          <a:bodyPr wrap="square" lIns="0" rIns="0" tIns="0" bIns="0" anchor="ctr">
            <a:spAutoFit/>
          </a:bodyPr>
          <a:lstStyle/>
          <a:p>
            <a:pPr>
              <a:lnSpc>
                <a:spcPts val="1440"/>
              </a:lnSpc>
              <a:spcAft>
                <a:spcPts val="0"/>
              </a:spcAft>
            </a:pPr>
            <a:r>
              <a:rPr sz="1200" b="0" lang="ja-JP">
                <a:solidFill>
                  <a:srgbClr val="21374A"/>
                </a:solidFill>
                <a:latin typeface="Yu Gothic"/>
                <a:ea typeface="Yu Gothic"/>
              </a:rPr>
              <a:t>横断混乱が8社すべてに影響。各社の</a:t>
            </a:r>
            <a:br>
              <a:rPr lang="ja-JP" sz="1200"/>
            </a:br>
            <a:r>
              <a:rPr sz="1200" b="0" lang="ja-JP">
                <a:solidFill>
                  <a:srgbClr val="21374A"/>
                </a:solidFill>
                <a:latin typeface="Yu Gothic"/>
                <a:ea typeface="Yu Gothic"/>
              </a:rPr>
              <a:t>年間EBITDAの約−1.4〜−1.6%</a:t>
            </a:r>
          </a:p>
        </p:txBody>
      </p:sp>
      <p:sp>
        <p:nvSpPr>
          <p:cNvPr id="52" name="TextBox 51"/>
          <p:cNvSpPr txBox="1"/>
          <p:nvPr/>
        </p:nvSpPr>
        <p:spPr>
          <a:xfrm>
            <a:off x="9418319" y="4828031"/>
            <a:ext cx="2103120" cy="402336"/>
          </a:xfrm>
          <a:prstGeom prst="rect">
            <a:avLst/>
          </a:prstGeom>
          <a:noFill/>
        </p:spPr>
        <p:txBody>
          <a:bodyPr wrap="square" lIns="0" rIns="0" tIns="0" bIns="0" anchor="ctr">
            <a:spAutoFit/>
          </a:bodyPr>
          <a:lstStyle/>
          <a:p>
            <a:pPr>
              <a:lnSpc>
                <a:spcPts val="1260"/>
              </a:lnSpc>
              <a:spcAft>
                <a:spcPts val="0"/>
              </a:spcAft>
            </a:pPr>
            <a:r>
              <a:rPr sz="1100" b="1" lang="ja-JP">
                <a:solidFill>
                  <a:srgbClr val="BD4354"/>
                </a:solidFill>
                <a:latin typeface="Yu Gothic"/>
                <a:ea typeface="Yu Gothic"/>
              </a:rPr>
              <a:t>金額は一致。</a:t>
            </a:r>
          </a:p>
          <a:p>
            <a:pPr>
              <a:lnSpc>
                <a:spcPts val="1260"/>
              </a:lnSpc>
              <a:spcAft>
                <a:spcPts val="0"/>
              </a:spcAft>
            </a:pPr>
            <a:r>
              <a:rPr sz="1100" b="1" lang="ja-JP">
                <a:solidFill>
                  <a:srgbClr val="BD4354"/>
                </a:solidFill>
                <a:latin typeface="Yu Gothic"/>
                <a:ea typeface="Yu Gothic"/>
              </a:rPr>
              <a:t>説明文は要確認</a:t>
            </a:r>
          </a:p>
        </p:txBody>
      </p:sp>
      <p:sp>
        <p:nvSpPr>
          <p:cNvPr id="53" name="Rounded Rectangle 52">
            <a:extLst>
              <a:ext uri="{C183D7F6-B498-43B3-948B-1728B52AA6E4}">
                <adec:decorative xmlns:adec="http://schemas.microsoft.com/office/drawing/2017/decorative" val="1"/>
              </a:ext>
            </a:extLst>
          </p:cNvPr>
          <p:cNvSpPr/>
          <p:nvPr/>
        </p:nvSpPr>
        <p:spPr>
          <a:xfrm>
            <a:off x="731520" y="5376671"/>
            <a:ext cx="566928" cy="237744"/>
          </a:xfrm>
          <a:prstGeom prst="roundRect">
            <a:avLst>
              <a:gd name="adj" fmla="val 50000"/>
            </a:avLst>
          </a:prstGeom>
          <a:solidFill>
            <a:srgbClr val="E5EB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731520" y="5376671"/>
            <a:ext cx="566928" cy="237744"/>
          </a:xfrm>
          <a:prstGeom prst="rect">
            <a:avLst/>
          </a:prstGeom>
          <a:noFill/>
        </p:spPr>
        <p:txBody>
          <a:bodyPr wrap="square" lIns="0" rIns="0" tIns="0" bIns="0" anchor="ctr">
            <a:spAutoFit/>
          </a:bodyPr>
          <a:lstStyle/>
          <a:p>
            <a:pPr algn="ctr">
              <a:lnSpc>
                <a:spcPts val="1050"/>
              </a:lnSpc>
              <a:spcAft>
                <a:spcPts val="0"/>
              </a:spcAft>
            </a:pPr>
            <a:r>
              <a:rPr sz="1050" b="1" lang="ja-JP">
                <a:solidFill>
                  <a:srgbClr val="21374A"/>
                </a:solidFill>
                <a:latin typeface="Yu Gothic"/>
                <a:ea typeface="Yu Gothic"/>
              </a:rPr>
              <a:t>追加</a:t>
            </a:r>
          </a:p>
        </p:txBody>
      </p:sp>
      <p:sp>
        <p:nvSpPr>
          <p:cNvPr id="55" name="TextBox 54"/>
          <p:cNvSpPr txBox="1"/>
          <p:nvPr/>
        </p:nvSpPr>
        <p:spPr>
          <a:xfrm>
            <a:off x="1508760" y="5285231"/>
            <a:ext cx="3520440" cy="402336"/>
          </a:xfrm>
          <a:prstGeom prst="rect">
            <a:avLst/>
          </a:prstGeom>
          <a:noFill/>
        </p:spPr>
        <p:txBody>
          <a:bodyPr wrap="square" lIns="0" rIns="0" tIns="0" bIns="0" anchor="ctr">
            <a:spAutoFit/>
          </a:bodyPr>
          <a:lstStyle/>
          <a:p>
            <a:pPr>
              <a:lnSpc>
                <a:spcPts val="1320"/>
              </a:lnSpc>
              <a:spcAft>
                <a:spcPts val="0"/>
              </a:spcAft>
            </a:pPr>
            <a:r>
              <a:rPr sz="1150" b="1" lang="ja-JP">
                <a:solidFill>
                  <a:srgbClr val="17334A"/>
                </a:solidFill>
                <a:latin typeface="Yu Gothic"/>
                <a:ea typeface="Yu Gothic"/>
              </a:rPr>
              <a:t>このデータで、グループのEBITDAにいちばん</a:t>
            </a:r>
          </a:p>
          <a:p>
            <a:pPr>
              <a:lnSpc>
                <a:spcPts val="1320"/>
              </a:lnSpc>
              <a:spcAft>
                <a:spcPts val="0"/>
              </a:spcAft>
            </a:pPr>
            <a:r>
              <a:rPr sz="1150" b="1" lang="ja-JP">
                <a:solidFill>
                  <a:srgbClr val="17334A"/>
                </a:solidFill>
                <a:latin typeface="Yu Gothic"/>
                <a:ea typeface="Yu Gothic"/>
              </a:rPr>
              <a:t>大きく響いた出来事は？年間の何%くらい？</a:t>
            </a:r>
          </a:p>
        </p:txBody>
      </p:sp>
      <p:sp>
        <p:nvSpPr>
          <p:cNvPr id="56" name="TextBox 55"/>
          <p:cNvSpPr txBox="1"/>
          <p:nvPr/>
        </p:nvSpPr>
        <p:spPr>
          <a:xfrm>
            <a:off x="5074920" y="5285231"/>
            <a:ext cx="4297680" cy="402336"/>
          </a:xfrm>
          <a:prstGeom prst="rect">
            <a:avLst/>
          </a:prstGeom>
          <a:noFill/>
        </p:spPr>
        <p:txBody>
          <a:bodyPr wrap="square" lIns="0" rIns="0" tIns="0" bIns="0" anchor="ctr">
            <a:spAutoFit/>
          </a:bodyPr>
          <a:lstStyle/>
          <a:p>
            <a:pPr>
              <a:lnSpc>
                <a:spcPts val="1440"/>
              </a:lnSpc>
              <a:spcAft>
                <a:spcPts val="0"/>
              </a:spcAft>
            </a:pPr>
            <a:r>
              <a:rPr sz="1200" b="0" lang="ja-JP">
                <a:solidFill>
                  <a:srgbClr val="21374A"/>
                </a:solidFill>
                <a:latin typeface="Yu Gothic"/>
                <a:ea typeface="Yu Gothic"/>
              </a:rPr>
              <a:t>横断混乱 −6.80億円、年間EBITDAの約−1.52%</a:t>
            </a:r>
          </a:p>
        </p:txBody>
      </p:sp>
      <p:sp>
        <p:nvSpPr>
          <p:cNvPr id="57" name="TextBox 56"/>
          <p:cNvSpPr txBox="1"/>
          <p:nvPr/>
        </p:nvSpPr>
        <p:spPr>
          <a:xfrm>
            <a:off x="9418319" y="5285231"/>
            <a:ext cx="2103120" cy="402336"/>
          </a:xfrm>
          <a:prstGeom prst="rect">
            <a:avLst/>
          </a:prstGeom>
          <a:noFill/>
        </p:spPr>
        <p:txBody>
          <a:bodyPr wrap="square" lIns="0" rIns="0" tIns="0" bIns="0" anchor="ctr">
            <a:spAutoFit/>
          </a:bodyPr>
          <a:lstStyle/>
          <a:p>
            <a:pPr>
              <a:lnSpc>
                <a:spcPts val="1260"/>
              </a:lnSpc>
              <a:spcAft>
                <a:spcPts val="0"/>
              </a:spcAft>
            </a:pPr>
            <a:r>
              <a:rPr sz="1100" b="1" lang="ja-JP">
                <a:solidFill>
                  <a:srgbClr val="087F83"/>
                </a:solidFill>
                <a:latin typeface="Yu Gothic"/>
                <a:ea typeface="Yu Gothic"/>
              </a:rPr>
              <a:t>一致</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付録4 よくあるご質問</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付録  |  よくあるご質問</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検討の中で出やすいご質問を、6つにまとめました。</a:t>
            </a:r>
          </a:p>
          <a:p>
            <a:pPr>
              <a:lnSpc>
                <a:spcPts val="2160"/>
              </a:lnSpc>
              <a:spcAft>
                <a:spcPts val="0"/>
              </a:spcAft>
            </a:pPr>
            <a:r>
              <a:rPr sz="1600" b="0" lang="ja-JP">
                <a:solidFill>
                  <a:srgbClr val="566A78"/>
                </a:solidFill>
                <a:latin typeface="Yu Gothic"/>
                <a:ea typeface="Yu Gothic"/>
              </a:rPr>
              <a:t>回答は、デモでの確認と、Microsoft Learnの記載にもとづきます。</a:t>
            </a:r>
          </a:p>
        </p:txBody>
      </p:sp>
      <p:sp>
        <p:nvSpPr>
          <p:cNvPr id="11" name="Rounded Rectangle 10">
            <a:extLst>
              <a:ext uri="{C183D7F6-B498-43B3-948B-1728B52AA6E4}">
                <adec:decorative xmlns:adec="http://schemas.microsoft.com/office/drawing/2017/decorative" val="1"/>
              </a:ext>
            </a:extLst>
          </p:cNvPr>
          <p:cNvSpPr/>
          <p:nvPr/>
        </p:nvSpPr>
        <p:spPr>
          <a:xfrm>
            <a:off x="548640" y="5833872"/>
            <a:ext cx="11091672" cy="493776"/>
          </a:xfrm>
          <a:prstGeom prst="roundRect">
            <a:avLst>
              <a:gd name="adj" fmla="val 18518"/>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5833872"/>
            <a:ext cx="10698480" cy="493776"/>
          </a:xfrm>
          <a:prstGeom prst="rect">
            <a:avLst/>
          </a:prstGeom>
          <a:noFill/>
        </p:spPr>
        <p:txBody>
          <a:bodyPr wrap="square" lIns="0" rIns="0" tIns="0" bIns="0" anchor="ctr">
            <a:spAutoFit/>
          </a:bodyPr>
          <a:lstStyle/>
          <a:p>
            <a:pPr>
              <a:lnSpc>
                <a:spcPts val="1620"/>
              </a:lnSpc>
              <a:spcAft>
                <a:spcPts val="0"/>
              </a:spcAft>
            </a:pPr>
            <a:r>
              <a:rPr sz="1300" b="1" lang="ja-JP">
                <a:solidFill>
                  <a:srgbClr val="17334A"/>
                </a:solidFill>
                <a:latin typeface="Yu Gothic"/>
                <a:ea typeface="Yu Gothic"/>
              </a:rPr>
              <a:t>ここにないご質問は、PoCの前のワークショップでお受けします。</a:t>
            </a:r>
          </a:p>
        </p:txBody>
      </p:sp>
      <p:sp>
        <p:nvSpPr>
          <p:cNvPr id="13" name="TextBox 12"/>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4" name="TextBox 13"/>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31</a:t>
            </a:r>
          </a:p>
        </p:txBody>
      </p:sp>
      <p:sp>
        <p:nvSpPr>
          <p:cNvPr id="15" name="Rounded Rectangle 14">
            <a:extLst>
              <a:ext uri="{C183D7F6-B498-43B3-948B-1728B52AA6E4}">
                <adec:decorative xmlns:adec="http://schemas.microsoft.com/office/drawing/2017/decorative" val="1"/>
              </a:ext>
            </a:extLst>
          </p:cNvPr>
          <p:cNvSpPr/>
          <p:nvPr/>
        </p:nvSpPr>
        <p:spPr>
          <a:xfrm>
            <a:off x="548640" y="2148840"/>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a:extLst>
              <a:ext uri="{C183D7F6-B498-43B3-948B-1728B52AA6E4}">
                <adec:decorative xmlns:adec="http://schemas.microsoft.com/office/drawing/2017/decorative" val="1"/>
              </a:ext>
            </a:extLst>
          </p:cNvPr>
          <p:cNvSpPr/>
          <p:nvPr/>
        </p:nvSpPr>
        <p:spPr>
          <a:xfrm>
            <a:off x="548640" y="2148840"/>
            <a:ext cx="3611880" cy="73152"/>
          </a:xfrm>
          <a:prstGeom prst="roundRect">
            <a:avLst>
              <a:gd name="adj" fmla="val 5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331720"/>
            <a:ext cx="3246120" cy="274320"/>
          </a:xfrm>
          <a:prstGeom prst="rect">
            <a:avLst/>
          </a:prstGeom>
          <a:noFill/>
        </p:spPr>
        <p:txBody>
          <a:bodyPr wrap="square" lIns="0" rIns="0" tIns="0" bIns="0">
            <a:spAutoFit/>
          </a:bodyPr>
          <a:lstStyle/>
          <a:p>
            <a:pPr>
              <a:lnSpc>
                <a:spcPts val="1400"/>
              </a:lnSpc>
              <a:spcAft>
                <a:spcPts val="0"/>
              </a:spcAft>
            </a:pPr>
            <a:r>
              <a:rPr sz="1400" b="1" lang="ja-JP">
                <a:solidFill>
                  <a:srgbClr val="087F83"/>
                </a:solidFill>
                <a:latin typeface="Yu Gothic"/>
                <a:ea typeface="Yu Gothic"/>
              </a:rPr>
              <a:t>Q  SQLやBIでもできる？</a:t>
            </a:r>
          </a:p>
        </p:txBody>
      </p:sp>
      <p:sp>
        <p:nvSpPr>
          <p:cNvPr id="18" name="TextBox 17"/>
          <p:cNvSpPr txBox="1"/>
          <p:nvPr/>
        </p:nvSpPr>
        <p:spPr>
          <a:xfrm>
            <a:off x="749808" y="2697480"/>
            <a:ext cx="3246120" cy="1143000"/>
          </a:xfrm>
          <a:prstGeom prst="rect">
            <a:avLst/>
          </a:prstGeom>
          <a:noFill/>
        </p:spPr>
        <p:txBody>
          <a:bodyPr wrap="square" lIns="0" rIns="0" tIns="0" bIns="0">
            <a:spAutoFit/>
          </a:bodyPr>
          <a:lstStyle/>
          <a:p>
            <a:pPr>
              <a:lnSpc>
                <a:spcPts val="1660"/>
              </a:lnSpc>
              <a:spcAft>
                <a:spcPts val="0"/>
              </a:spcAft>
            </a:pPr>
            <a:r>
              <a:rPr sz="1200" b="0" lang="ja-JP">
                <a:solidFill>
                  <a:srgbClr val="21374A"/>
                </a:solidFill>
                <a:latin typeface="Yu Gothic"/>
                <a:ea typeface="Yu Gothic"/>
              </a:rPr>
              <a:t>集計の数字は、従来の手段でも出せます。</a:t>
            </a:r>
            <a:br>
              <a:rPr lang="ja-JP" sz="1200"/>
            </a:br>
            <a:r>
              <a:rPr sz="1200" b="0" lang="ja-JP">
                <a:solidFill>
                  <a:srgbClr val="21374A"/>
                </a:solidFill>
                <a:latin typeface="Yu Gothic"/>
                <a:ea typeface="Yu Gothic"/>
              </a:rPr>
              <a:t>Ontologyは、概念、関係、ルールを一度</a:t>
            </a:r>
            <a:br>
              <a:rPr lang="ja-JP" sz="1200"/>
            </a:br>
            <a:r>
              <a:rPr sz="1200" b="0" lang="ja-JP">
                <a:solidFill>
                  <a:srgbClr val="21374A"/>
                </a:solidFill>
                <a:latin typeface="Yu Gothic"/>
                <a:ea typeface="Yu Gothic"/>
              </a:rPr>
              <a:t>定義して、質問、利用者、ツールを</a:t>
            </a:r>
            <a:br>
              <a:rPr lang="ja-JP" sz="1200"/>
            </a:br>
            <a:r>
              <a:rPr sz="1200" b="0" lang="ja-JP">
                <a:solidFill>
                  <a:srgbClr val="21374A"/>
                </a:solidFill>
                <a:latin typeface="Yu Gothic"/>
                <a:ea typeface="Yu Gothic"/>
              </a:rPr>
              <a:t>またいで使い回せるようにします。</a:t>
            </a:r>
          </a:p>
        </p:txBody>
      </p:sp>
      <p:sp>
        <p:nvSpPr>
          <p:cNvPr id="19" name="Rounded Rectangle 18">
            <a:extLst>
              <a:ext uri="{C183D7F6-B498-43B3-948B-1728B52AA6E4}">
                <adec:decorative xmlns:adec="http://schemas.microsoft.com/office/drawing/2017/decorative" val="1"/>
              </a:ext>
            </a:extLst>
          </p:cNvPr>
          <p:cNvSpPr/>
          <p:nvPr/>
        </p:nvSpPr>
        <p:spPr>
          <a:xfrm>
            <a:off x="4288536" y="2148840"/>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a:extLst>
              <a:ext uri="{C183D7F6-B498-43B3-948B-1728B52AA6E4}">
                <adec:decorative xmlns:adec="http://schemas.microsoft.com/office/drawing/2017/decorative" val="1"/>
              </a:ext>
            </a:extLst>
          </p:cNvPr>
          <p:cNvSpPr/>
          <p:nvPr/>
        </p:nvSpPr>
        <p:spPr>
          <a:xfrm>
            <a:off x="4288536" y="2148840"/>
            <a:ext cx="3611880" cy="73152"/>
          </a:xfrm>
          <a:prstGeom prst="roundRect">
            <a:avLst>
              <a:gd name="adj" fmla="val 50000"/>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489703" y="2331720"/>
            <a:ext cx="3246120" cy="274320"/>
          </a:xfrm>
          <a:prstGeom prst="rect">
            <a:avLst/>
          </a:prstGeom>
          <a:noFill/>
        </p:spPr>
        <p:txBody>
          <a:bodyPr wrap="square" lIns="0" rIns="0" tIns="0" bIns="0">
            <a:spAutoFit/>
          </a:bodyPr>
          <a:lstStyle/>
          <a:p>
            <a:pPr>
              <a:lnSpc>
                <a:spcPts val="1400"/>
              </a:lnSpc>
              <a:spcAft>
                <a:spcPts val="0"/>
              </a:spcAft>
            </a:pPr>
            <a:r>
              <a:rPr sz="1400" b="1" lang="ja-JP">
                <a:solidFill>
                  <a:srgbClr val="7352AD"/>
                </a:solidFill>
                <a:latin typeface="Yu Gothic"/>
                <a:ea typeface="Yu Gothic"/>
              </a:rPr>
              <a:t>Q  他のデータ基盤は使える？</a:t>
            </a:r>
          </a:p>
        </p:txBody>
      </p:sp>
      <p:sp>
        <p:nvSpPr>
          <p:cNvPr id="22" name="TextBox 21"/>
          <p:cNvSpPr txBox="1"/>
          <p:nvPr/>
        </p:nvSpPr>
        <p:spPr>
          <a:xfrm>
            <a:off x="4489703" y="2697480"/>
            <a:ext cx="3246120" cy="1143000"/>
          </a:xfrm>
          <a:prstGeom prst="rect">
            <a:avLst/>
          </a:prstGeom>
          <a:noFill/>
        </p:spPr>
        <p:txBody>
          <a:bodyPr wrap="square" lIns="0" rIns="0" tIns="0" bIns="0">
            <a:spAutoFit/>
          </a:bodyPr>
          <a:lstStyle/>
          <a:p>
            <a:pPr>
              <a:lnSpc>
                <a:spcPts val="1660"/>
              </a:lnSpc>
              <a:spcAft>
                <a:spcPts val="0"/>
              </a:spcAft>
            </a:pPr>
            <a:r>
              <a:rPr sz="1200" b="0" lang="ja-JP">
                <a:solidFill>
                  <a:srgbClr val="21374A"/>
                </a:solidFill>
                <a:latin typeface="Yu Gothic"/>
                <a:ea typeface="Yu Gothic"/>
              </a:rPr>
              <a:t>OneLakeのショートカットや</a:t>
            </a:r>
            <a:br>
              <a:rPr lang="ja-JP" sz="1200"/>
            </a:br>
            <a:r>
              <a:rPr sz="1200" b="0" lang="ja-JP">
                <a:solidFill>
                  <a:srgbClr val="21374A"/>
                </a:solidFill>
                <a:latin typeface="Yu Gothic"/>
                <a:ea typeface="Yu Gothic"/>
              </a:rPr>
              <a:t>ミラーリングで、外部のデータをFabricに</a:t>
            </a:r>
            <a:br>
              <a:rPr lang="ja-JP" sz="1200"/>
            </a:br>
            <a:r>
              <a:rPr sz="1200" b="0" lang="ja-JP">
                <a:solidFill>
                  <a:srgbClr val="21374A"/>
                </a:solidFill>
                <a:latin typeface="Yu Gothic"/>
                <a:ea typeface="Yu Gothic"/>
              </a:rPr>
              <a:t>参照または複製して取り込める場合が</a:t>
            </a:r>
            <a:br>
              <a:rPr lang="ja-JP" sz="1200"/>
            </a:br>
            <a:r>
              <a:rPr sz="1200" b="0" lang="ja-JP">
                <a:solidFill>
                  <a:srgbClr val="21374A"/>
                </a:solidFill>
                <a:latin typeface="Yu Gothic"/>
                <a:ea typeface="Yu Gothic"/>
              </a:rPr>
              <a:t>あります。対象の基盤、提供状況、</a:t>
            </a:r>
            <a:br>
              <a:rPr lang="ja-JP" sz="1200"/>
            </a:br>
            <a:r>
              <a:rPr sz="1200" b="0" lang="ja-JP">
                <a:solidFill>
                  <a:srgbClr val="21374A"/>
                </a:solidFill>
                <a:latin typeface="Yu Gothic"/>
                <a:ea typeface="Yu Gothic"/>
              </a:rPr>
              <a:t>ネットワークの条件は、個別に確認します。</a:t>
            </a:r>
          </a:p>
        </p:txBody>
      </p:sp>
      <p:sp>
        <p:nvSpPr>
          <p:cNvPr id="23" name="Rounded Rectangle 22">
            <a:extLst>
              <a:ext uri="{C183D7F6-B498-43B3-948B-1728B52AA6E4}">
                <adec:decorative xmlns:adec="http://schemas.microsoft.com/office/drawing/2017/decorative" val="1"/>
              </a:ext>
            </a:extLst>
          </p:cNvPr>
          <p:cNvSpPr/>
          <p:nvPr/>
        </p:nvSpPr>
        <p:spPr>
          <a:xfrm>
            <a:off x="8028431" y="2148840"/>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a:extLst>
              <a:ext uri="{C183D7F6-B498-43B3-948B-1728B52AA6E4}">
                <adec:decorative xmlns:adec="http://schemas.microsoft.com/office/drawing/2017/decorative" val="1"/>
              </a:ext>
            </a:extLst>
          </p:cNvPr>
          <p:cNvSpPr/>
          <p:nvPr/>
        </p:nvSpPr>
        <p:spPr>
          <a:xfrm>
            <a:off x="8028431" y="2148840"/>
            <a:ext cx="3611880" cy="73152"/>
          </a:xfrm>
          <a:prstGeom prst="roundRect">
            <a:avLst>
              <a:gd name="adj" fmla="val 50000"/>
            </a:avLst>
          </a:prstGeom>
          <a:solidFill>
            <a:srgbClr val="BD43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29600" y="2331720"/>
            <a:ext cx="3246120" cy="274320"/>
          </a:xfrm>
          <a:prstGeom prst="rect">
            <a:avLst/>
          </a:prstGeom>
          <a:noFill/>
        </p:spPr>
        <p:txBody>
          <a:bodyPr wrap="square" lIns="0" rIns="0" tIns="0" bIns="0">
            <a:spAutoFit/>
          </a:bodyPr>
          <a:lstStyle/>
          <a:p>
            <a:pPr>
              <a:lnSpc>
                <a:spcPts val="1400"/>
              </a:lnSpc>
              <a:spcAft>
                <a:spcPts val="0"/>
              </a:spcAft>
            </a:pPr>
            <a:r>
              <a:rPr sz="1400" b="1" lang="ja-JP">
                <a:solidFill>
                  <a:srgbClr val="BD4354"/>
                </a:solidFill>
                <a:latin typeface="Yu Gothic"/>
                <a:ea typeface="Yu Gothic"/>
              </a:rPr>
              <a:t>Q  回答は正確？</a:t>
            </a:r>
          </a:p>
        </p:txBody>
      </p:sp>
      <p:sp>
        <p:nvSpPr>
          <p:cNvPr id="26" name="TextBox 25"/>
          <p:cNvSpPr txBox="1"/>
          <p:nvPr/>
        </p:nvSpPr>
        <p:spPr>
          <a:xfrm>
            <a:off x="8229600" y="2697480"/>
            <a:ext cx="3246120" cy="1143000"/>
          </a:xfrm>
          <a:prstGeom prst="rect">
            <a:avLst/>
          </a:prstGeom>
          <a:noFill/>
        </p:spPr>
        <p:txBody>
          <a:bodyPr wrap="square" lIns="0" rIns="0" tIns="0" bIns="0">
            <a:spAutoFit/>
          </a:bodyPr>
          <a:lstStyle/>
          <a:p>
            <a:pPr>
              <a:lnSpc>
                <a:spcPts val="1660"/>
              </a:lnSpc>
              <a:spcAft>
                <a:spcPts val="0"/>
              </a:spcAft>
            </a:pPr>
            <a:r>
              <a:rPr sz="1200" b="0" lang="ja-JP">
                <a:solidFill>
                  <a:srgbClr val="21374A"/>
                </a:solidFill>
                <a:latin typeface="Yu Gothic"/>
                <a:ea typeface="Yu Gothic"/>
              </a:rPr>
              <a:t>デモでは、表の金額が元データの</a:t>
            </a:r>
            <a:br>
              <a:rPr lang="ja-JP" sz="1200"/>
            </a:br>
            <a:r>
              <a:rPr sz="1200" b="0" lang="ja-JP">
                <a:solidFill>
                  <a:srgbClr val="21374A"/>
                </a:solidFill>
                <a:latin typeface="Yu Gothic"/>
                <a:ea typeface="Yu Gothic"/>
              </a:rPr>
              <a:t>集計と一致しました。ただし、文面は</a:t>
            </a:r>
            <a:br>
              <a:rPr lang="ja-JP" sz="1200"/>
            </a:br>
            <a:r>
              <a:rPr sz="1200" b="0" lang="ja-JP">
                <a:solidFill>
                  <a:srgbClr val="21374A"/>
                </a:solidFill>
                <a:latin typeface="Yu Gothic"/>
                <a:ea typeface="Yu Gothic"/>
              </a:rPr>
              <a:t>変わり、説明文に誤りが出た回や、</a:t>
            </a:r>
            <a:br>
              <a:rPr lang="ja-JP" sz="1200"/>
            </a:br>
            <a:r>
              <a:rPr sz="1200" b="0" lang="ja-JP">
                <a:solidFill>
                  <a:srgbClr val="21374A"/>
                </a:solidFill>
                <a:latin typeface="Yu Gothic"/>
                <a:ea typeface="Yu Gothic"/>
              </a:rPr>
              <a:t>結果が安定しない問いもありました。</a:t>
            </a:r>
            <a:br>
              <a:rPr lang="ja-JP" sz="1200"/>
            </a:br>
            <a:r>
              <a:rPr sz="1200" b="0" lang="ja-JP">
                <a:solidFill>
                  <a:srgbClr val="21374A"/>
                </a:solidFill>
                <a:latin typeface="Yu Gothic"/>
                <a:ea typeface="Yu Gothic"/>
              </a:rPr>
              <a:t>PoCで、合格の基準を決めます。</a:t>
            </a:r>
          </a:p>
        </p:txBody>
      </p:sp>
      <p:sp>
        <p:nvSpPr>
          <p:cNvPr id="27" name="Rounded Rectangle 26">
            <a:extLst>
              <a:ext uri="{C183D7F6-B498-43B3-948B-1728B52AA6E4}">
                <adec:decorative xmlns:adec="http://schemas.microsoft.com/office/drawing/2017/decorative" val="1"/>
              </a:ext>
            </a:extLst>
          </p:cNvPr>
          <p:cNvSpPr/>
          <p:nvPr/>
        </p:nvSpPr>
        <p:spPr>
          <a:xfrm>
            <a:off x="548640" y="3968496"/>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a:extLst>
              <a:ext uri="{C183D7F6-B498-43B3-948B-1728B52AA6E4}">
                <adec:decorative xmlns:adec="http://schemas.microsoft.com/office/drawing/2017/decorative" val="1"/>
              </a:ext>
            </a:extLst>
          </p:cNvPr>
          <p:cNvSpPr/>
          <p:nvPr/>
        </p:nvSpPr>
        <p:spPr>
          <a:xfrm>
            <a:off x="548640" y="3968496"/>
            <a:ext cx="3611880" cy="73152"/>
          </a:xfrm>
          <a:prstGeom prst="roundRect">
            <a:avLst>
              <a:gd name="adj" fmla="val 50000"/>
            </a:avLst>
          </a:prstGeom>
          <a:solidFill>
            <a:srgbClr val="1733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51376"/>
            <a:ext cx="3246120" cy="274320"/>
          </a:xfrm>
          <a:prstGeom prst="rect">
            <a:avLst/>
          </a:prstGeom>
          <a:noFill/>
        </p:spPr>
        <p:txBody>
          <a:bodyPr wrap="square" lIns="0" rIns="0" tIns="0" bIns="0">
            <a:spAutoFit/>
          </a:bodyPr>
          <a:lstStyle/>
          <a:p>
            <a:pPr>
              <a:lnSpc>
                <a:spcPts val="1400"/>
              </a:lnSpc>
              <a:spcAft>
                <a:spcPts val="0"/>
              </a:spcAft>
            </a:pPr>
            <a:r>
              <a:rPr sz="1400" b="1" lang="ja-JP">
                <a:solidFill>
                  <a:srgbClr val="17334A"/>
                </a:solidFill>
                <a:latin typeface="Yu Gothic"/>
                <a:ea typeface="Yu Gothic"/>
              </a:rPr>
              <a:t>Q  権限や秘密度ラベルは？</a:t>
            </a:r>
          </a:p>
        </p:txBody>
      </p:sp>
      <p:sp>
        <p:nvSpPr>
          <p:cNvPr id="30" name="TextBox 29"/>
          <p:cNvSpPr txBox="1"/>
          <p:nvPr/>
        </p:nvSpPr>
        <p:spPr>
          <a:xfrm>
            <a:off x="749808" y="4517136"/>
            <a:ext cx="3246120" cy="1143000"/>
          </a:xfrm>
          <a:prstGeom prst="rect">
            <a:avLst/>
          </a:prstGeom>
          <a:noFill/>
        </p:spPr>
        <p:txBody>
          <a:bodyPr wrap="square" lIns="0" rIns="0" tIns="0" bIns="0">
            <a:spAutoFit/>
          </a:bodyPr>
          <a:lstStyle/>
          <a:p>
            <a:pPr>
              <a:lnSpc>
                <a:spcPts val="1660"/>
              </a:lnSpc>
              <a:spcAft>
                <a:spcPts val="0"/>
              </a:spcAft>
            </a:pPr>
            <a:r>
              <a:rPr sz="1200" b="0" lang="ja-JP">
                <a:solidFill>
                  <a:srgbClr val="21374A"/>
                </a:solidFill>
                <a:latin typeface="Yu Gothic"/>
                <a:ea typeface="Yu Gothic"/>
              </a:rPr>
              <a:t>Microsoft Learnの記載では、データ側の</a:t>
            </a:r>
            <a:br>
              <a:rPr lang="ja-JP" sz="1200"/>
            </a:br>
            <a:r>
              <a:rPr sz="1200" b="0" lang="ja-JP">
                <a:solidFill>
                  <a:srgbClr val="21374A"/>
                </a:solidFill>
                <a:latin typeface="Yu Gothic"/>
                <a:ea typeface="Yu Gothic"/>
              </a:rPr>
              <a:t>権限は尊重されます。このデモでは</a:t>
            </a:r>
            <a:br>
              <a:rPr lang="ja-JP" sz="1200"/>
            </a:br>
            <a:r>
              <a:rPr sz="1200" b="0" lang="ja-JP">
                <a:solidFill>
                  <a:srgbClr val="21374A"/>
                </a:solidFill>
                <a:latin typeface="Yu Gothic"/>
                <a:ea typeface="Yu Gothic"/>
              </a:rPr>
              <a:t>未検証で、コピーした表やGraphの権限、</a:t>
            </a:r>
            <a:br>
              <a:rPr lang="ja-JP" sz="1200"/>
            </a:br>
            <a:r>
              <a:rPr sz="1200" b="0" lang="ja-JP">
                <a:solidFill>
                  <a:srgbClr val="21374A"/>
                </a:solidFill>
                <a:latin typeface="Yu Gothic"/>
                <a:ea typeface="Yu Gothic"/>
              </a:rPr>
              <a:t>秘密度ラベルの扱いは、PoCで確認します。</a:t>
            </a:r>
          </a:p>
        </p:txBody>
      </p:sp>
      <p:sp>
        <p:nvSpPr>
          <p:cNvPr id="31" name="Rounded Rectangle 30">
            <a:extLst>
              <a:ext uri="{C183D7F6-B498-43B3-948B-1728B52AA6E4}">
                <adec:decorative xmlns:adec="http://schemas.microsoft.com/office/drawing/2017/decorative" val="1"/>
              </a:ext>
            </a:extLst>
          </p:cNvPr>
          <p:cNvSpPr/>
          <p:nvPr/>
        </p:nvSpPr>
        <p:spPr>
          <a:xfrm>
            <a:off x="4288536" y="3968496"/>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a:extLst>
              <a:ext uri="{C183D7F6-B498-43B3-948B-1728B52AA6E4}">
                <adec:decorative xmlns:adec="http://schemas.microsoft.com/office/drawing/2017/decorative" val="1"/>
              </a:ext>
            </a:extLst>
          </p:cNvPr>
          <p:cNvSpPr/>
          <p:nvPr/>
        </p:nvSpPr>
        <p:spPr>
          <a:xfrm>
            <a:off x="4288536" y="3968496"/>
            <a:ext cx="3611880" cy="73152"/>
          </a:xfrm>
          <a:prstGeom prst="roundRect">
            <a:avLst>
              <a:gd name="adj" fmla="val 50000"/>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489703" y="4151376"/>
            <a:ext cx="3246120" cy="274320"/>
          </a:xfrm>
          <a:prstGeom prst="rect">
            <a:avLst/>
          </a:prstGeom>
          <a:noFill/>
        </p:spPr>
        <p:txBody>
          <a:bodyPr wrap="square" lIns="0" rIns="0" tIns="0" bIns="0">
            <a:spAutoFit/>
          </a:bodyPr>
          <a:lstStyle/>
          <a:p>
            <a:pPr>
              <a:lnSpc>
                <a:spcPts val="1400"/>
              </a:lnSpc>
              <a:spcAft>
                <a:spcPts val="0"/>
              </a:spcAft>
            </a:pPr>
            <a:r>
              <a:rPr sz="1400" b="1" lang="ja-JP">
                <a:solidFill>
                  <a:srgbClr val="087F83"/>
                </a:solidFill>
                <a:latin typeface="Yu Gothic"/>
                <a:ea typeface="Yu Gothic"/>
              </a:rPr>
              <a:t>Q  作るのは大変？</a:t>
            </a:r>
          </a:p>
        </p:txBody>
      </p:sp>
      <p:sp>
        <p:nvSpPr>
          <p:cNvPr id="34" name="TextBox 33"/>
          <p:cNvSpPr txBox="1"/>
          <p:nvPr/>
        </p:nvSpPr>
        <p:spPr>
          <a:xfrm>
            <a:off x="4489703" y="4517136"/>
            <a:ext cx="3246120" cy="1143000"/>
          </a:xfrm>
          <a:prstGeom prst="rect">
            <a:avLst/>
          </a:prstGeom>
          <a:noFill/>
        </p:spPr>
        <p:txBody>
          <a:bodyPr wrap="square" lIns="0" rIns="0" tIns="0" bIns="0">
            <a:spAutoFit/>
          </a:bodyPr>
          <a:lstStyle/>
          <a:p>
            <a:pPr>
              <a:lnSpc>
                <a:spcPts val="1660"/>
              </a:lnSpc>
              <a:spcAft>
                <a:spcPts val="0"/>
              </a:spcAft>
            </a:pPr>
            <a:r>
              <a:rPr sz="1200" b="0" lang="ja-JP">
                <a:solidFill>
                  <a:srgbClr val="21374A"/>
                </a:solidFill>
                <a:latin typeface="Yu Gothic"/>
                <a:ea typeface="Yu Gothic"/>
              </a:rPr>
              <a:t>質問1つに必要な範囲から始める</a:t>
            </a:r>
            <a:br>
              <a:rPr lang="ja-JP" sz="1200"/>
            </a:br>
            <a:r>
              <a:rPr sz="1200" b="0" lang="ja-JP">
                <a:solidFill>
                  <a:srgbClr val="21374A"/>
                </a:solidFill>
                <a:latin typeface="Yu Gothic"/>
                <a:ea typeface="Yu Gothic"/>
              </a:rPr>
              <a:t>進め方をご提案します。工数は、</a:t>
            </a:r>
            <a:br>
              <a:rPr lang="ja-JP" sz="1200"/>
            </a:br>
            <a:r>
              <a:rPr sz="1200" b="0" lang="ja-JP">
                <a:solidFill>
                  <a:srgbClr val="21374A"/>
                </a:solidFill>
                <a:latin typeface="Yu Gothic"/>
                <a:ea typeface="Yu Gothic"/>
              </a:rPr>
              <a:t>キーの整備や統合した表の用意など、</a:t>
            </a:r>
            <a:br>
              <a:rPr lang="ja-JP" sz="1200"/>
            </a:br>
            <a:r>
              <a:rPr sz="1200" b="0" lang="ja-JP">
                <a:solidFill>
                  <a:srgbClr val="21374A"/>
                </a:solidFill>
                <a:latin typeface="Yu Gothic"/>
                <a:ea typeface="Yu Gothic"/>
              </a:rPr>
              <a:t>データの状態で大きく変わります。</a:t>
            </a:r>
          </a:p>
        </p:txBody>
      </p:sp>
      <p:sp>
        <p:nvSpPr>
          <p:cNvPr id="35" name="Rounded Rectangle 34">
            <a:extLst>
              <a:ext uri="{C183D7F6-B498-43B3-948B-1728B52AA6E4}">
                <adec:decorative xmlns:adec="http://schemas.microsoft.com/office/drawing/2017/decorative" val="1"/>
              </a:ext>
            </a:extLst>
          </p:cNvPr>
          <p:cNvSpPr/>
          <p:nvPr/>
        </p:nvSpPr>
        <p:spPr>
          <a:xfrm>
            <a:off x="8028431" y="3968496"/>
            <a:ext cx="3611880" cy="1737360"/>
          </a:xfrm>
          <a:prstGeom prst="roundRect">
            <a:avLst>
              <a:gd name="adj" fmla="val 4210"/>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a:extLst>
              <a:ext uri="{C183D7F6-B498-43B3-948B-1728B52AA6E4}">
                <adec:decorative xmlns:adec="http://schemas.microsoft.com/office/drawing/2017/decorative" val="1"/>
              </a:ext>
            </a:extLst>
          </p:cNvPr>
          <p:cNvSpPr/>
          <p:nvPr/>
        </p:nvSpPr>
        <p:spPr>
          <a:xfrm>
            <a:off x="8028431" y="3968496"/>
            <a:ext cx="3611880" cy="73152"/>
          </a:xfrm>
          <a:prstGeom prst="roundRect">
            <a:avLst>
              <a:gd name="adj" fmla="val 50000"/>
            </a:avLst>
          </a:prstGeom>
          <a:solidFill>
            <a:srgbClr val="7352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151376"/>
            <a:ext cx="3246120" cy="274320"/>
          </a:xfrm>
          <a:prstGeom prst="rect">
            <a:avLst/>
          </a:prstGeom>
          <a:noFill/>
        </p:spPr>
        <p:txBody>
          <a:bodyPr wrap="square" lIns="0" rIns="0" tIns="0" bIns="0">
            <a:spAutoFit/>
          </a:bodyPr>
          <a:lstStyle/>
          <a:p>
            <a:pPr>
              <a:lnSpc>
                <a:spcPts val="1400"/>
              </a:lnSpc>
              <a:spcAft>
                <a:spcPts val="0"/>
              </a:spcAft>
            </a:pPr>
            <a:r>
              <a:rPr sz="1400" b="1" lang="ja-JP">
                <a:solidFill>
                  <a:srgbClr val="7352AD"/>
                </a:solidFill>
                <a:latin typeface="Yu Gothic"/>
                <a:ea typeface="Yu Gothic"/>
              </a:rPr>
              <a:t>Q  日本語の質問は使える？</a:t>
            </a:r>
          </a:p>
        </p:txBody>
      </p:sp>
      <p:sp>
        <p:nvSpPr>
          <p:cNvPr id="38" name="TextBox 37"/>
          <p:cNvSpPr txBox="1"/>
          <p:nvPr/>
        </p:nvSpPr>
        <p:spPr>
          <a:xfrm>
            <a:off x="8229600" y="4517136"/>
            <a:ext cx="3246120" cy="1143000"/>
          </a:xfrm>
          <a:prstGeom prst="rect">
            <a:avLst/>
          </a:prstGeom>
          <a:noFill/>
        </p:spPr>
        <p:txBody>
          <a:bodyPr wrap="square" lIns="0" rIns="0" tIns="0" bIns="0">
            <a:spAutoFit/>
          </a:bodyPr>
          <a:lstStyle/>
          <a:p>
            <a:pPr>
              <a:lnSpc>
                <a:spcPts val="1660"/>
              </a:lnSpc>
              <a:spcAft>
                <a:spcPts val="0"/>
              </a:spcAft>
            </a:pPr>
            <a:r>
              <a:rPr sz="1200" b="0" lang="ja-JP">
                <a:solidFill>
                  <a:srgbClr val="21374A"/>
                </a:solidFill>
                <a:latin typeface="Yu Gothic"/>
                <a:ea typeface="Yu Gothic"/>
              </a:rPr>
              <a:t>このデモでは、日本語で入力して、</a:t>
            </a:r>
            <a:br>
              <a:rPr lang="ja-JP" sz="1200"/>
            </a:br>
            <a:r>
              <a:rPr sz="1200" b="0" lang="ja-JP">
                <a:solidFill>
                  <a:srgbClr val="21374A"/>
                </a:solidFill>
                <a:latin typeface="Yu Gothic"/>
                <a:ea typeface="Yu Gothic"/>
              </a:rPr>
              <a:t>確認した範囲で動作しました。</a:t>
            </a:r>
            <a:br>
              <a:rPr lang="ja-JP" sz="1200"/>
            </a:br>
            <a:r>
              <a:rPr sz="1200" b="0" lang="ja-JP">
                <a:solidFill>
                  <a:srgbClr val="21374A"/>
                </a:solidFill>
                <a:latin typeface="Yu Gothic"/>
                <a:ea typeface="Yu Gothic"/>
              </a:rPr>
              <a:t>公式のサポート保証ではないため、</a:t>
            </a:r>
            <a:br>
              <a:rPr lang="ja-JP" sz="1200"/>
            </a:br>
            <a:r>
              <a:rPr sz="1200" b="0" lang="ja-JP">
                <a:solidFill>
                  <a:srgbClr val="21374A"/>
                </a:solidFill>
                <a:latin typeface="Yu Gothic"/>
                <a:ea typeface="Yu Gothic"/>
              </a:rPr>
              <a:t>PoCで確認します。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itle 1"/>
          <p:cNvSpPr>
            <a:spLocks noGrp="1"/>
          </p:cNvSpPr>
          <p:nvPr>
            <p:ph type="title"/>
          </p:nvPr>
        </p:nvSpPr>
        <p:spPr>
          <a:xfrm>
            <a:off x="548640" y="658368"/>
            <a:ext cx="11091672" cy="566928"/>
          </a:xfrm>
        </p:spPr>
        <p:txBody>
          <a:bodyPr wrap="square" lIns="0" rIns="0" tIns="0" bIns="0" anchor="t">
            <a:noAutofit/>
          </a:bodyPr>
          <a:lstStyle/>
          <a:p>
            <a:pPr algn="l">
              <a:lnSpc>
                <a:spcPts val="3450"/>
              </a:lnSpc>
              <a:spcAft>
                <a:spcPts val="0"/>
              </a:spcAft>
            </a:pPr>
            <a:r>
              <a:rPr sz="3000" b="1" lang="ja-JP">
                <a:solidFill>
                  <a:srgbClr val="17334A"/>
                </a:solidFill>
                <a:latin typeface="Yu Gothic"/>
                <a:ea typeface="Yu Gothic"/>
              </a:rPr>
              <a:t>付録5 用語集</a:t>
            </a:r>
          </a:p>
        </p:txBody>
      </p:sp>
      <p:cxnSp>
        <p:nvCxnSpPr>
          <p:cNvPr id="3" name="Connector 2">
            <a:extLst>
              <a:ext uri="{C183D7F6-B498-43B3-948B-1728B52AA6E4}">
                <adec:decorative xmlns:adec="http://schemas.microsoft.com/office/drawing/2017/decorative" val="1"/>
              </a:ext>
            </a:extLst>
          </p:cNvPr>
          <p:cNvCxnSpPr/>
          <p:nvPr/>
        </p:nvCxnSpPr>
        <p:spPr>
          <a:xfrm>
            <a:off x="599846" y="354787"/>
            <a:ext cx="212141" cy="65837"/>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C183D7F6-B498-43B3-948B-1728B52AA6E4}">
                <adec:decorative xmlns:adec="http://schemas.microsoft.com/office/drawing/2017/decorative" val="1"/>
              </a:ext>
            </a:extLst>
          </p:cNvPr>
          <p:cNvCxnSpPr/>
          <p:nvPr/>
        </p:nvCxnSpPr>
        <p:spPr>
          <a:xfrm flipH="1">
            <a:off x="672998" y="420624"/>
            <a:ext cx="138989" cy="168249"/>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C183D7F6-B498-43B3-948B-1728B52AA6E4}">
                <adec:decorative xmlns:adec="http://schemas.microsoft.com/office/drawing/2017/decorative" val="1"/>
              </a:ext>
            </a:extLst>
          </p:cNvPr>
          <p:cNvCxnSpPr/>
          <p:nvPr/>
        </p:nvCxnSpPr>
        <p:spPr>
          <a:xfrm>
            <a:off x="599846" y="354787"/>
            <a:ext cx="73152" cy="234086"/>
          </a:xfrm>
          <a:prstGeom prst="line">
            <a:avLst/>
          </a:prstGeom>
          <a:ln w="15875">
            <a:solidFill>
              <a:srgbClr val="087F83"/>
            </a:solidFill>
          </a:ln>
        </p:spPr>
        <p:style>
          <a:lnRef idx="2">
            <a:schemeClr val="accent1"/>
          </a:lnRef>
          <a:fillRef idx="0">
            <a:schemeClr val="accent1"/>
          </a:fillRef>
          <a:effectRef idx="1">
            <a:schemeClr val="accent1"/>
          </a:effectRef>
          <a:fontRef idx="minor">
            <a:schemeClr val="tx1"/>
          </a:fontRef>
        </p:style>
      </p:cxnSp>
      <p:sp>
        <p:nvSpPr>
          <p:cNvPr id="6" name="Oval 5">
            <a:extLst>
              <a:ext uri="{C183D7F6-B498-43B3-948B-1728B52AA6E4}">
                <adec:decorative xmlns:adec="http://schemas.microsoft.com/office/drawing/2017/decorative" val="1"/>
              </a:ext>
            </a:extLst>
          </p:cNvPr>
          <p:cNvSpPr/>
          <p:nvPr/>
        </p:nvSpPr>
        <p:spPr>
          <a:xfrm>
            <a:off x="552297" y="307238"/>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a:extLst>
              <a:ext uri="{C183D7F6-B498-43B3-948B-1728B52AA6E4}">
                <adec:decorative xmlns:adec="http://schemas.microsoft.com/office/drawing/2017/decorative" val="1"/>
              </a:ext>
            </a:extLst>
          </p:cNvPr>
          <p:cNvSpPr/>
          <p:nvPr/>
        </p:nvSpPr>
        <p:spPr>
          <a:xfrm>
            <a:off x="764438" y="373075"/>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a:extLst>
              <a:ext uri="{C183D7F6-B498-43B3-948B-1728B52AA6E4}">
                <adec:decorative xmlns:adec="http://schemas.microsoft.com/office/drawing/2017/decorative" val="1"/>
              </a:ext>
            </a:extLst>
          </p:cNvPr>
          <p:cNvSpPr/>
          <p:nvPr/>
        </p:nvSpPr>
        <p:spPr>
          <a:xfrm>
            <a:off x="625449" y="541324"/>
            <a:ext cx="95097" cy="95097"/>
          </a:xfrm>
          <a:prstGeom prst="ellipse">
            <a:avLst/>
          </a:prstGeom>
          <a:solidFill>
            <a:srgbClr val="087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301752"/>
            <a:ext cx="10241280" cy="237744"/>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付録  |  用語集</a:t>
            </a:r>
          </a:p>
        </p:txBody>
      </p:sp>
      <p:sp>
        <p:nvSpPr>
          <p:cNvPr id="10" name="TextBox 9"/>
          <p:cNvSpPr txBox="1"/>
          <p:nvPr/>
        </p:nvSpPr>
        <p:spPr>
          <a:xfrm>
            <a:off x="566928" y="1316736"/>
            <a:ext cx="10972800" cy="640080"/>
          </a:xfrm>
          <a:prstGeom prst="rect">
            <a:avLst/>
          </a:prstGeom>
          <a:noFill/>
        </p:spPr>
        <p:txBody>
          <a:bodyPr wrap="square" lIns="0" rIns="0" tIns="0" bIns="0">
            <a:spAutoFit/>
          </a:bodyPr>
          <a:lstStyle/>
          <a:p>
            <a:pPr>
              <a:lnSpc>
                <a:spcPts val="2160"/>
              </a:lnSpc>
              <a:spcAft>
                <a:spcPts val="0"/>
              </a:spcAft>
            </a:pPr>
            <a:r>
              <a:rPr sz="1600" b="0" lang="ja-JP">
                <a:solidFill>
                  <a:srgbClr val="566A78"/>
                </a:solidFill>
                <a:latin typeface="Yu Gothic"/>
                <a:ea typeface="Yu Gothic"/>
              </a:rPr>
              <a:t>本資料に出てくる主な用語を、短くまとめました。</a:t>
            </a:r>
          </a:p>
          <a:p>
            <a:pPr>
              <a:lnSpc>
                <a:spcPts val="2160"/>
              </a:lnSpc>
              <a:spcAft>
                <a:spcPts val="0"/>
              </a:spcAft>
            </a:pPr>
            <a:r>
              <a:rPr sz="1600" b="0" lang="ja-JP">
                <a:solidFill>
                  <a:srgbClr val="566A78"/>
                </a:solidFill>
                <a:latin typeface="Yu Gothic"/>
                <a:ea typeface="Yu Gothic"/>
              </a:rPr>
              <a:t>デモの数字に関する用語も含みます。</a:t>
            </a:r>
          </a:p>
        </p:txBody>
      </p:sp>
      <p:sp>
        <p:nvSpPr>
          <p:cNvPr id="11" name="TextBox 10"/>
          <p:cNvSpPr txBox="1"/>
          <p:nvPr/>
        </p:nvSpPr>
        <p:spPr>
          <a:xfrm>
            <a:off x="566928" y="6492240"/>
            <a:ext cx="9875520" cy="201168"/>
          </a:xfrm>
          <a:prstGeom prst="rect">
            <a:avLst/>
          </a:prstGeom>
          <a:noFill/>
        </p:spPr>
        <p:txBody>
          <a:bodyPr wrap="square" lIns="0" rIns="0" tIns="0" bIns="0">
            <a:spAutoFit/>
          </a:bodyPr>
          <a:lstStyle/>
          <a:p>
            <a:pPr>
              <a:lnSpc>
                <a:spcPts val="1050"/>
              </a:lnSpc>
              <a:spcAft>
                <a:spcPts val="0"/>
              </a:spcAft>
            </a:pPr>
            <a:r>
              <a:rPr sz="1050" b="0" lang="ja-JP">
                <a:solidFill>
                  <a:srgbClr val="566A78"/>
                </a:solidFill>
                <a:latin typeface="Yu Gothic"/>
                <a:ea typeface="Yu Gothic"/>
              </a:rPr>
              <a:t>デモのデータは架空です（為替のみECB公表値）  |  Ontology、およびOntologyと連携するData AgentはPreview</a:t>
            </a:r>
          </a:p>
        </p:txBody>
      </p:sp>
      <p:sp>
        <p:nvSpPr>
          <p:cNvPr id="12" name="TextBox 11"/>
          <p:cNvSpPr txBox="1"/>
          <p:nvPr/>
        </p:nvSpPr>
        <p:spPr>
          <a:xfrm>
            <a:off x="11091672" y="6437376"/>
            <a:ext cx="548640" cy="274320"/>
          </a:xfrm>
          <a:prstGeom prst="rect">
            <a:avLst/>
          </a:prstGeom>
          <a:noFill/>
        </p:spPr>
        <p:txBody>
          <a:bodyPr wrap="square" lIns="0" rIns="0" tIns="0" bIns="0">
            <a:spAutoFit/>
          </a:bodyPr>
          <a:lstStyle/>
          <a:p>
            <a:pPr algn="r">
              <a:lnSpc>
                <a:spcPts val="1300"/>
              </a:lnSpc>
              <a:spcAft>
                <a:spcPts val="0"/>
              </a:spcAft>
            </a:pPr>
            <a:r>
              <a:rPr sz="1300" b="1" lang="ja-JP">
                <a:solidFill>
                  <a:srgbClr val="087F83"/>
                </a:solidFill>
                <a:latin typeface="Yu Gothic"/>
                <a:ea typeface="Yu Gothic"/>
              </a:rPr>
              <a:t>32</a:t>
            </a:r>
          </a:p>
        </p:txBody>
      </p:sp>
      <p:sp>
        <p:nvSpPr>
          <p:cNvPr id="13" name="Rounded Rectangle 12">
            <a:extLst>
              <a:ext uri="{C183D7F6-B498-43B3-948B-1728B52AA6E4}">
                <adec:decorative xmlns:adec="http://schemas.microsoft.com/office/drawing/2017/decorative" val="1"/>
              </a:ext>
            </a:extLst>
          </p:cNvPr>
          <p:cNvSpPr/>
          <p:nvPr/>
        </p:nvSpPr>
        <p:spPr>
          <a:xfrm>
            <a:off x="548640" y="2148840"/>
            <a:ext cx="5468112" cy="4160520"/>
          </a:xfrm>
          <a:prstGeom prst="roundRect">
            <a:avLst>
              <a:gd name="adj" fmla="val 175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31520" y="2240280"/>
            <a:ext cx="164592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用語</a:t>
            </a:r>
          </a:p>
        </p:txBody>
      </p:sp>
      <p:sp>
        <p:nvSpPr>
          <p:cNvPr id="15" name="TextBox 14"/>
          <p:cNvSpPr txBox="1"/>
          <p:nvPr/>
        </p:nvSpPr>
        <p:spPr>
          <a:xfrm>
            <a:off x="2423160" y="2240280"/>
            <a:ext cx="274320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意味</a:t>
            </a:r>
          </a:p>
        </p:txBody>
      </p:sp>
      <p:sp>
        <p:nvSpPr>
          <p:cNvPr id="16" name="TextBox 15"/>
          <p:cNvSpPr txBox="1"/>
          <p:nvPr/>
        </p:nvSpPr>
        <p:spPr>
          <a:xfrm>
            <a:off x="731520" y="256032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Ontology</a:t>
            </a:r>
          </a:p>
        </p:txBody>
      </p:sp>
      <p:sp>
        <p:nvSpPr>
          <p:cNvPr id="17" name="TextBox 16"/>
          <p:cNvSpPr txBox="1"/>
          <p:nvPr/>
        </p:nvSpPr>
        <p:spPr>
          <a:xfrm>
            <a:off x="2423160" y="256032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業務の概念、関係、ルールを定義して、</a:t>
            </a:r>
            <a:br>
              <a:rPr lang="ja-JP" sz="1150"/>
            </a:br>
            <a:r>
              <a:rPr sz="1150" b="0" lang="ja-JP">
                <a:solidFill>
                  <a:srgbClr val="21374A"/>
                </a:solidFill>
                <a:latin typeface="Yu Gothic"/>
                <a:ea typeface="Yu Gothic"/>
              </a:rPr>
              <a:t>人とAIで共有する層（Preview）。</a:t>
            </a:r>
          </a:p>
        </p:txBody>
      </p:sp>
      <p:sp>
        <p:nvSpPr>
          <p:cNvPr id="18" name="Rounded Rectangle 17">
            <a:extLst>
              <a:ext uri="{C183D7F6-B498-43B3-948B-1728B52AA6E4}">
                <adec:decorative xmlns:adec="http://schemas.microsoft.com/office/drawing/2017/decorative" val="1"/>
              </a:ext>
            </a:extLst>
          </p:cNvPr>
          <p:cNvSpPr/>
          <p:nvPr/>
        </p:nvSpPr>
        <p:spPr>
          <a:xfrm>
            <a:off x="621792" y="3049778"/>
            <a:ext cx="5321808" cy="516890"/>
          </a:xfrm>
          <a:prstGeom prst="roundRect">
            <a:avLst>
              <a:gd name="adj" fmla="val 7076"/>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31520" y="307721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概念</a:t>
            </a:r>
          </a:p>
        </p:txBody>
      </p:sp>
      <p:sp>
        <p:nvSpPr>
          <p:cNvPr id="20" name="TextBox 19"/>
          <p:cNvSpPr txBox="1"/>
          <p:nvPr/>
        </p:nvSpPr>
        <p:spPr>
          <a:xfrm>
            <a:off x="2423160" y="307721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業務に出てくる「もの」「こと」の</a:t>
            </a:r>
            <a:br>
              <a:rPr lang="ja-JP" sz="1150"/>
            </a:br>
            <a:r>
              <a:rPr sz="1150" b="0" lang="ja-JP">
                <a:solidFill>
                  <a:srgbClr val="21374A"/>
                </a:solidFill>
                <a:latin typeface="Yu Gothic"/>
                <a:ea typeface="Yu Gothic"/>
              </a:rPr>
              <a:t>種類。例：会社、契約。</a:t>
            </a:r>
          </a:p>
        </p:txBody>
      </p:sp>
      <p:sp>
        <p:nvSpPr>
          <p:cNvPr id="21" name="TextBox 20"/>
          <p:cNvSpPr txBox="1"/>
          <p:nvPr/>
        </p:nvSpPr>
        <p:spPr>
          <a:xfrm>
            <a:off x="731520" y="359410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関係</a:t>
            </a:r>
          </a:p>
        </p:txBody>
      </p:sp>
      <p:sp>
        <p:nvSpPr>
          <p:cNvPr id="22" name="TextBox 21"/>
          <p:cNvSpPr txBox="1"/>
          <p:nvPr/>
        </p:nvSpPr>
        <p:spPr>
          <a:xfrm>
            <a:off x="2423160" y="359410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概念どうしのつながり。</a:t>
            </a:r>
            <a:br>
              <a:rPr lang="ja-JP" sz="1150"/>
            </a:br>
            <a:r>
              <a:rPr sz="1150" b="0" lang="ja-JP">
                <a:solidFill>
                  <a:srgbClr val="21374A"/>
                </a:solidFill>
                <a:latin typeface="Yu Gothic"/>
                <a:ea typeface="Yu Gothic"/>
              </a:rPr>
              <a:t>例：イベントは影響額を生む。</a:t>
            </a:r>
          </a:p>
        </p:txBody>
      </p:sp>
      <p:sp>
        <p:nvSpPr>
          <p:cNvPr id="23" name="Rounded Rectangle 22">
            <a:extLst>
              <a:ext uri="{C183D7F6-B498-43B3-948B-1728B52AA6E4}">
                <adec:decorative xmlns:adec="http://schemas.microsoft.com/office/drawing/2017/decorative" val="1"/>
              </a:ext>
            </a:extLst>
          </p:cNvPr>
          <p:cNvSpPr/>
          <p:nvPr/>
        </p:nvSpPr>
        <p:spPr>
          <a:xfrm>
            <a:off x="621792" y="4083558"/>
            <a:ext cx="5321808" cy="516890"/>
          </a:xfrm>
          <a:prstGeom prst="roundRect">
            <a:avLst>
              <a:gd name="adj" fmla="val 7076"/>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31520" y="411099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ルール</a:t>
            </a:r>
          </a:p>
        </p:txBody>
      </p:sp>
      <p:sp>
        <p:nvSpPr>
          <p:cNvPr id="25" name="TextBox 24"/>
          <p:cNvSpPr txBox="1"/>
          <p:nvPr/>
        </p:nvSpPr>
        <p:spPr>
          <a:xfrm>
            <a:off x="2423160" y="411099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業務の決まりを文章で定義した</a:t>
            </a:r>
            <a:br>
              <a:rPr lang="ja-JP" sz="1150"/>
            </a:br>
            <a:r>
              <a:rPr sz="1150" b="0" lang="ja-JP">
                <a:solidFill>
                  <a:srgbClr val="21374A"/>
                </a:solidFill>
                <a:latin typeface="Yu Gothic"/>
                <a:ea typeface="Yu Gothic"/>
              </a:rPr>
              <a:t>もの。Ontologyは実行しない。</a:t>
            </a:r>
          </a:p>
        </p:txBody>
      </p:sp>
      <p:sp>
        <p:nvSpPr>
          <p:cNvPr id="26" name="TextBox 25"/>
          <p:cNvSpPr txBox="1"/>
          <p:nvPr/>
        </p:nvSpPr>
        <p:spPr>
          <a:xfrm>
            <a:off x="731520" y="462788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バインディング</a:t>
            </a:r>
          </a:p>
        </p:txBody>
      </p:sp>
      <p:sp>
        <p:nvSpPr>
          <p:cNvPr id="27" name="TextBox 26"/>
          <p:cNvSpPr txBox="1"/>
          <p:nvPr/>
        </p:nvSpPr>
        <p:spPr>
          <a:xfrm>
            <a:off x="2423160" y="462788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概念や関係を、データの表や列に</a:t>
            </a:r>
            <a:br>
              <a:rPr lang="ja-JP" sz="1150"/>
            </a:br>
            <a:r>
              <a:rPr sz="1150" b="0" lang="ja-JP">
                <a:solidFill>
                  <a:srgbClr val="21374A"/>
                </a:solidFill>
                <a:latin typeface="Yu Gothic"/>
                <a:ea typeface="Yu Gothic"/>
              </a:rPr>
              <a:t>結び付けること（結び付け）。</a:t>
            </a:r>
          </a:p>
        </p:txBody>
      </p:sp>
      <p:sp>
        <p:nvSpPr>
          <p:cNvPr id="28" name="Rounded Rectangle 27">
            <a:extLst>
              <a:ext uri="{C183D7F6-B498-43B3-948B-1728B52AA6E4}">
                <adec:decorative xmlns:adec="http://schemas.microsoft.com/office/drawing/2017/decorative" val="1"/>
              </a:ext>
            </a:extLst>
          </p:cNvPr>
          <p:cNvSpPr/>
          <p:nvPr/>
        </p:nvSpPr>
        <p:spPr>
          <a:xfrm>
            <a:off x="621792" y="5117338"/>
            <a:ext cx="5321808" cy="516890"/>
          </a:xfrm>
          <a:prstGeom prst="roundRect">
            <a:avLst>
              <a:gd name="adj" fmla="val 7076"/>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31520" y="514477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Graph</a:t>
            </a:r>
          </a:p>
        </p:txBody>
      </p:sp>
      <p:sp>
        <p:nvSpPr>
          <p:cNvPr id="30" name="TextBox 29"/>
          <p:cNvSpPr txBox="1"/>
          <p:nvPr/>
        </p:nvSpPr>
        <p:spPr>
          <a:xfrm>
            <a:off x="2423160" y="514477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概念の実例と関係を、点と線で持つ</a:t>
            </a:r>
            <a:br>
              <a:rPr lang="ja-JP" sz="1150"/>
            </a:br>
            <a:r>
              <a:rPr sz="1150" b="0" lang="ja-JP">
                <a:solidFill>
                  <a:srgbClr val="21374A"/>
                </a:solidFill>
                <a:latin typeface="Yu Gothic"/>
                <a:ea typeface="Yu Gothic"/>
              </a:rPr>
              <a:t>任意の層。経路をたどる問い用。</a:t>
            </a:r>
          </a:p>
        </p:txBody>
      </p:sp>
      <p:sp>
        <p:nvSpPr>
          <p:cNvPr id="31" name="TextBox 30"/>
          <p:cNvSpPr txBox="1"/>
          <p:nvPr/>
        </p:nvSpPr>
        <p:spPr>
          <a:xfrm>
            <a:off x="731520" y="566166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Data Agent</a:t>
            </a:r>
          </a:p>
        </p:txBody>
      </p:sp>
      <p:sp>
        <p:nvSpPr>
          <p:cNvPr id="32" name="TextBox 31"/>
          <p:cNvSpPr txBox="1"/>
          <p:nvPr/>
        </p:nvSpPr>
        <p:spPr>
          <a:xfrm>
            <a:off x="2423160" y="566166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自然言語の質問に、Fabric内の</a:t>
            </a:r>
            <a:br>
              <a:rPr lang="ja-JP" sz="1150"/>
            </a:br>
            <a:r>
              <a:rPr sz="1150" b="0" lang="ja-JP">
                <a:solidFill>
                  <a:srgbClr val="21374A"/>
                </a:solidFill>
                <a:latin typeface="Yu Gothic"/>
                <a:ea typeface="Yu Gothic"/>
              </a:rPr>
              <a:t>データで答えるエージェント。</a:t>
            </a:r>
          </a:p>
        </p:txBody>
      </p:sp>
      <p:sp>
        <p:nvSpPr>
          <p:cNvPr id="33" name="Rounded Rectangle 32">
            <a:extLst>
              <a:ext uri="{C183D7F6-B498-43B3-948B-1728B52AA6E4}">
                <adec:decorative xmlns:adec="http://schemas.microsoft.com/office/drawing/2017/decorative" val="1"/>
              </a:ext>
            </a:extLst>
          </p:cNvPr>
          <p:cNvSpPr/>
          <p:nvPr/>
        </p:nvSpPr>
        <p:spPr>
          <a:xfrm>
            <a:off x="6172200" y="2148840"/>
            <a:ext cx="5468112" cy="4160520"/>
          </a:xfrm>
          <a:prstGeom prst="roundRect">
            <a:avLst>
              <a:gd name="adj" fmla="val 1758"/>
            </a:avLst>
          </a:prstGeom>
          <a:solidFill>
            <a:srgbClr val="FFFFFF"/>
          </a:solidFill>
          <a:ln w="9525">
            <a:solidFill>
              <a:srgbClr val="D3DF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355080" y="2240280"/>
            <a:ext cx="164592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用語</a:t>
            </a:r>
          </a:p>
        </p:txBody>
      </p:sp>
      <p:sp>
        <p:nvSpPr>
          <p:cNvPr id="35" name="TextBox 34"/>
          <p:cNvSpPr txBox="1"/>
          <p:nvPr/>
        </p:nvSpPr>
        <p:spPr>
          <a:xfrm>
            <a:off x="8046720" y="2240280"/>
            <a:ext cx="2743200" cy="219456"/>
          </a:xfrm>
          <a:prstGeom prst="rect">
            <a:avLst/>
          </a:prstGeom>
          <a:noFill/>
        </p:spPr>
        <p:txBody>
          <a:bodyPr wrap="square" lIns="0" rIns="0" tIns="0" bIns="0">
            <a:spAutoFit/>
          </a:bodyPr>
          <a:lstStyle/>
          <a:p>
            <a:pPr>
              <a:lnSpc>
                <a:spcPts val="1150"/>
              </a:lnSpc>
              <a:spcAft>
                <a:spcPts val="0"/>
              </a:spcAft>
            </a:pPr>
            <a:r>
              <a:rPr sz="1150" b="1" lang="ja-JP">
                <a:solidFill>
                  <a:srgbClr val="087F83"/>
                </a:solidFill>
                <a:latin typeface="Yu Gothic"/>
                <a:ea typeface="Yu Gothic"/>
              </a:rPr>
              <a:t>意味</a:t>
            </a:r>
          </a:p>
        </p:txBody>
      </p:sp>
      <p:sp>
        <p:nvSpPr>
          <p:cNvPr id="36" name="TextBox 35"/>
          <p:cNvSpPr txBox="1"/>
          <p:nvPr/>
        </p:nvSpPr>
        <p:spPr>
          <a:xfrm>
            <a:off x="6355080" y="256032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Lakehouse</a:t>
            </a:r>
          </a:p>
        </p:txBody>
      </p:sp>
      <p:sp>
        <p:nvSpPr>
          <p:cNvPr id="37" name="TextBox 36"/>
          <p:cNvSpPr txBox="1"/>
          <p:nvPr/>
        </p:nvSpPr>
        <p:spPr>
          <a:xfrm>
            <a:off x="8046720" y="256032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OneLake上で、表（Delta形式）と</a:t>
            </a:r>
            <a:br>
              <a:rPr lang="ja-JP" sz="1150"/>
            </a:br>
            <a:r>
              <a:rPr sz="1150" b="0" lang="ja-JP">
                <a:solidFill>
                  <a:srgbClr val="21374A"/>
                </a:solidFill>
                <a:latin typeface="Yu Gothic"/>
                <a:ea typeface="Yu Gothic"/>
              </a:rPr>
              <a:t>ファイルを保管する場所。</a:t>
            </a:r>
          </a:p>
        </p:txBody>
      </p:sp>
      <p:sp>
        <p:nvSpPr>
          <p:cNvPr id="38" name="Rounded Rectangle 37">
            <a:extLst>
              <a:ext uri="{C183D7F6-B498-43B3-948B-1728B52AA6E4}">
                <adec:decorative xmlns:adec="http://schemas.microsoft.com/office/drawing/2017/decorative" val="1"/>
              </a:ext>
            </a:extLst>
          </p:cNvPr>
          <p:cNvSpPr/>
          <p:nvPr/>
        </p:nvSpPr>
        <p:spPr>
          <a:xfrm>
            <a:off x="6245352" y="3049778"/>
            <a:ext cx="5321808" cy="516890"/>
          </a:xfrm>
          <a:prstGeom prst="roundRect">
            <a:avLst>
              <a:gd name="adj" fmla="val 7076"/>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355080" y="307721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ショートカット</a:t>
            </a:r>
          </a:p>
        </p:txBody>
      </p:sp>
      <p:sp>
        <p:nvSpPr>
          <p:cNvPr id="40" name="TextBox 39"/>
          <p:cNvSpPr txBox="1"/>
          <p:nvPr/>
        </p:nvSpPr>
        <p:spPr>
          <a:xfrm>
            <a:off x="8046720" y="307721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別の場所のデータを、</a:t>
            </a:r>
            <a:br>
              <a:rPr lang="ja-JP" sz="1150"/>
            </a:br>
            <a:r>
              <a:rPr sz="1150" b="0" lang="ja-JP">
                <a:solidFill>
                  <a:srgbClr val="21374A"/>
                </a:solidFill>
                <a:latin typeface="Yu Gothic"/>
                <a:ea typeface="Yu Gothic"/>
              </a:rPr>
              <a:t>コピーせずに参照する仕組み。</a:t>
            </a:r>
          </a:p>
        </p:txBody>
      </p:sp>
      <p:sp>
        <p:nvSpPr>
          <p:cNvPr id="41" name="TextBox 40"/>
          <p:cNvSpPr txBox="1"/>
          <p:nvPr/>
        </p:nvSpPr>
        <p:spPr>
          <a:xfrm>
            <a:off x="6355080" y="359410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ゼロコピー</a:t>
            </a:r>
          </a:p>
        </p:txBody>
      </p:sp>
      <p:sp>
        <p:nvSpPr>
          <p:cNvPr id="42" name="TextBox 41"/>
          <p:cNvSpPr txBox="1"/>
          <p:nvPr/>
        </p:nvSpPr>
        <p:spPr>
          <a:xfrm>
            <a:off x="8046720" y="359410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データを複製せず、元の場所の</a:t>
            </a:r>
            <a:br>
              <a:rPr lang="ja-JP" sz="1150"/>
            </a:br>
            <a:r>
              <a:rPr sz="1150" b="0" lang="ja-JP">
                <a:solidFill>
                  <a:srgbClr val="21374A"/>
                </a:solidFill>
                <a:latin typeface="Yu Gothic"/>
                <a:ea typeface="Yu Gothic"/>
              </a:rPr>
              <a:t>データを参照して使うこと。</a:t>
            </a:r>
          </a:p>
        </p:txBody>
      </p:sp>
      <p:sp>
        <p:nvSpPr>
          <p:cNvPr id="43" name="Rounded Rectangle 42">
            <a:extLst>
              <a:ext uri="{C183D7F6-B498-43B3-948B-1728B52AA6E4}">
                <adec:decorative xmlns:adec="http://schemas.microsoft.com/office/drawing/2017/decorative" val="1"/>
              </a:ext>
            </a:extLst>
          </p:cNvPr>
          <p:cNvSpPr/>
          <p:nvPr/>
        </p:nvSpPr>
        <p:spPr>
          <a:xfrm>
            <a:off x="6245352" y="4083558"/>
            <a:ext cx="5321808" cy="516890"/>
          </a:xfrm>
          <a:prstGeom prst="roundRect">
            <a:avLst>
              <a:gd name="adj" fmla="val 7076"/>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6355080" y="411099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基準値／実績</a:t>
            </a:r>
          </a:p>
        </p:txBody>
      </p:sp>
      <p:sp>
        <p:nvSpPr>
          <p:cNvPr id="45" name="TextBox 44"/>
          <p:cNvSpPr txBox="1"/>
          <p:nvPr/>
        </p:nvSpPr>
        <p:spPr>
          <a:xfrm>
            <a:off x="8046720" y="411099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基準値は、イベントの影響を加える前の</a:t>
            </a:r>
            <a:br>
              <a:rPr lang="ja-JP" sz="1150"/>
            </a:br>
            <a:r>
              <a:rPr sz="1150" b="0" lang="ja-JP">
                <a:solidFill>
                  <a:srgbClr val="21374A"/>
                </a:solidFill>
                <a:latin typeface="Yu Gothic"/>
                <a:ea typeface="Yu Gothic"/>
              </a:rPr>
              <a:t>想定値。実績は、影響を反映した値。</a:t>
            </a:r>
          </a:p>
        </p:txBody>
      </p:sp>
      <p:sp>
        <p:nvSpPr>
          <p:cNvPr id="46" name="TextBox 45"/>
          <p:cNvSpPr txBox="1"/>
          <p:nvPr/>
        </p:nvSpPr>
        <p:spPr>
          <a:xfrm>
            <a:off x="6355080" y="462788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全額連結／持分管理</a:t>
            </a:r>
          </a:p>
        </p:txBody>
      </p:sp>
      <p:sp>
        <p:nvSpPr>
          <p:cNvPr id="47" name="TextBox 46"/>
          <p:cNvSpPr txBox="1"/>
          <p:nvPr/>
        </p:nvSpPr>
        <p:spPr>
          <a:xfrm>
            <a:off x="8046720" y="462788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全額連結は、8社を100%で合算。</a:t>
            </a:r>
            <a:br>
              <a:rPr lang="ja-JP" sz="1150"/>
            </a:br>
            <a:r>
              <a:rPr sz="1150" b="0" lang="ja-JP">
                <a:solidFill>
                  <a:srgbClr val="21374A"/>
                </a:solidFill>
                <a:latin typeface="Yu Gothic"/>
                <a:ea typeface="Yu Gothic"/>
              </a:rPr>
              <a:t>持分管理は、所有比率を掛けて合算。</a:t>
            </a:r>
          </a:p>
        </p:txBody>
      </p:sp>
      <p:sp>
        <p:nvSpPr>
          <p:cNvPr id="48" name="Rounded Rectangle 47">
            <a:extLst>
              <a:ext uri="{C183D7F6-B498-43B3-948B-1728B52AA6E4}">
                <adec:decorative xmlns:adec="http://schemas.microsoft.com/office/drawing/2017/decorative" val="1"/>
              </a:ext>
            </a:extLst>
          </p:cNvPr>
          <p:cNvSpPr/>
          <p:nvPr/>
        </p:nvSpPr>
        <p:spPr>
          <a:xfrm>
            <a:off x="6245352" y="5117338"/>
            <a:ext cx="5321808" cy="516890"/>
          </a:xfrm>
          <a:prstGeom prst="roundRect">
            <a:avLst>
              <a:gd name="adj" fmla="val 7076"/>
            </a:avLst>
          </a:prstGeom>
          <a:solidFill>
            <a:srgbClr val="E6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355080" y="514477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PoC</a:t>
            </a:r>
          </a:p>
        </p:txBody>
      </p:sp>
      <p:sp>
        <p:nvSpPr>
          <p:cNvPr id="50" name="TextBox 49"/>
          <p:cNvSpPr txBox="1"/>
          <p:nvPr/>
        </p:nvSpPr>
        <p:spPr>
          <a:xfrm>
            <a:off x="8046720" y="514477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小さな範囲で、実データと質問を</a:t>
            </a:r>
            <a:br>
              <a:rPr lang="ja-JP" sz="1150"/>
            </a:br>
            <a:r>
              <a:rPr sz="1150" b="0" lang="ja-JP">
                <a:solidFill>
                  <a:srgbClr val="21374A"/>
                </a:solidFill>
                <a:latin typeface="Yu Gothic"/>
                <a:ea typeface="Yu Gothic"/>
              </a:rPr>
              <a:t>使って効果を確かめる検証。</a:t>
            </a:r>
          </a:p>
        </p:txBody>
      </p:sp>
      <p:sp>
        <p:nvSpPr>
          <p:cNvPr id="51" name="TextBox 50"/>
          <p:cNvSpPr txBox="1"/>
          <p:nvPr/>
        </p:nvSpPr>
        <p:spPr>
          <a:xfrm>
            <a:off x="6355080" y="5661660"/>
            <a:ext cx="1645920" cy="407162"/>
          </a:xfrm>
          <a:prstGeom prst="rect">
            <a:avLst/>
          </a:prstGeom>
          <a:noFill/>
        </p:spPr>
        <p:txBody>
          <a:bodyPr wrap="square" lIns="0" rIns="0" tIns="0" bIns="0" anchor="ctr">
            <a:spAutoFit/>
          </a:bodyPr>
          <a:lstStyle/>
          <a:p>
            <a:pPr>
              <a:lnSpc>
                <a:spcPts val="1440"/>
              </a:lnSpc>
              <a:spcAft>
                <a:spcPts val="0"/>
              </a:spcAft>
            </a:pPr>
            <a:r>
              <a:rPr sz="1200" b="1" lang="ja-JP">
                <a:solidFill>
                  <a:srgbClr val="17334A"/>
                </a:solidFill>
                <a:latin typeface="Yu Gothic"/>
                <a:ea typeface="Yu Gothic"/>
              </a:rPr>
              <a:t>Preview</a:t>
            </a:r>
          </a:p>
        </p:txBody>
      </p:sp>
      <p:sp>
        <p:nvSpPr>
          <p:cNvPr id="52" name="TextBox 51"/>
          <p:cNvSpPr txBox="1"/>
          <p:nvPr/>
        </p:nvSpPr>
        <p:spPr>
          <a:xfrm>
            <a:off x="8046720" y="5661660"/>
            <a:ext cx="3429000" cy="407162"/>
          </a:xfrm>
          <a:prstGeom prst="rect">
            <a:avLst/>
          </a:prstGeom>
          <a:noFill/>
        </p:spPr>
        <p:txBody>
          <a:bodyPr wrap="square" lIns="0" rIns="0" tIns="0" bIns="0" anchor="ctr">
            <a:spAutoFit/>
          </a:bodyPr>
          <a:lstStyle/>
          <a:p>
            <a:pPr>
              <a:lnSpc>
                <a:spcPts val="1500"/>
              </a:lnSpc>
              <a:spcAft>
                <a:spcPts val="0"/>
              </a:spcAft>
            </a:pPr>
            <a:r>
              <a:rPr sz="1150" b="0" lang="ja-JP">
                <a:solidFill>
                  <a:srgbClr val="21374A"/>
                </a:solidFill>
                <a:latin typeface="Yu Gothic"/>
                <a:ea typeface="Yu Gothic"/>
              </a:rPr>
              <a:t>一般提供の前の段階。仕様や</a:t>
            </a:r>
            <a:br>
              <a:rPr lang="ja-JP" sz="1150"/>
            </a:br>
            <a:r>
              <a:rPr sz="1150" b="0" lang="ja-JP">
                <a:solidFill>
                  <a:srgbClr val="21374A"/>
                </a:solidFill>
                <a:latin typeface="Yu Gothic"/>
                <a:ea typeface="Yu Gothic"/>
              </a:rPr>
              <a:t>制限が変わる場合がある。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Widescreen</PresentationFormat>
  <Paragraphs>0</Paragraphs>
  <Slides>32</Slides>
  <Notes>32</Notes>
  <HiddenSlides>0</HiddenSlides>
  <MMClips>0</MMClips>
  <ScaleCrop>false</ScaleCrop>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Fabric IQ Ontology によるEBITDA要因分析（お客様向け）</dc:title>
  <dc:subject>総合商社モデル（架空データ）のデモと導入の進め方</dc:subject>
  <dc:creator>Microsoft</dc:creator>
  <cp:keywords>Fabric IQ, Ontology, Data Agent, Japanese, Synthetic</cp:keywords>
  <dc:description>Synthetic demo data. Ontology and Data Agent are Preview.</dc:description>
  <cp:lastModifiedBy>Microsoft</cp:lastModifiedBy>
  <cp:revision>1</cp:revision>
  <dcterms:created xsi:type="dcterms:W3CDTF">2026-10-27T10:57:24Z</dcterms:created>
  <dcterms:modified xsi:type="dcterms:W3CDTF">2026-10-27T10:57:24Z</dcterms:modified>
  <cp:category>Customer presentation</cp:category>
  <dc:language>ja-JP</dc:language>
</cp:coreProperties>
</file>